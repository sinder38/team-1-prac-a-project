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40"/>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x="18288000" cy="10287000"/>
  <p:notesSz cx="6858000" cy="9144000"/>
  <p:embeddedFontLst>
    <p:embeddedFont>
      <p:font typeface="Muli Ultra-Bold" charset="1" panose="00000900000000000000"/>
      <p:regular r:id="rId35"/>
    </p:embeddedFont>
    <p:embeddedFont>
      <p:font typeface="Muli Bold" charset="1" panose="00000800000000000000"/>
      <p:regular r:id="rId36"/>
    </p:embeddedFont>
    <p:embeddedFont>
      <p:font typeface="Muli" charset="1" panose="00000500000000000000"/>
      <p:regular r:id="rId37"/>
    </p:embeddedFont>
    <p:embeddedFont>
      <p:font typeface="Canva Sans" charset="1" panose="020B0503030501040103"/>
      <p:regular r:id="rId38"/>
    </p:embeddedFont>
    <p:embeddedFont>
      <p:font typeface="Muli Ultra-Bold Italics" charset="1" panose="00000900000000000000"/>
      <p:regular r:id="rId39"/>
    </p:embeddedFont>
    <p:embeddedFont>
      <p:font typeface="Montserrat Bold" charset="1" panose="00000800000000000000"/>
      <p:regular r:id="rId43"/>
    </p:embeddedFont>
    <p:embeddedFont>
      <p:font typeface="Source Sans 3" charset="1" panose="020B0303030403020204"/>
      <p:regular r:id="rId44"/>
    </p:embeddedFont>
    <p:embeddedFont>
      <p:font typeface="Consolas" charset="1" panose="020B0609020204030204"/>
      <p:regular r:id="rId45"/>
    </p:embeddedFont>
    <p:embeddedFont>
      <p:font typeface="Source Sans 3 Bold" charset="1" panose="020B0303030403020204"/>
      <p:regular r:id="rId46"/>
    </p:embeddedFont>
    <p:embeddedFont>
      <p:font typeface="Canva Sans Bold" charset="1" panose="020B0803030501040103"/>
      <p:regular r:id="rId4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notesMasters/notesMaster1.xml" Type="http://schemas.openxmlformats.org/officeDocument/2006/relationships/notesMaster"/><Relationship Id="rId41" Target="theme/theme2.xml" Type="http://schemas.openxmlformats.org/officeDocument/2006/relationships/theme"/><Relationship Id="rId42" Target="notesSlides/notesSlide1.xml" Type="http://schemas.openxmlformats.org/officeDocument/2006/relationships/notesSlide"/><Relationship Id="rId43" Target="fonts/font43.fntdata" Type="http://schemas.openxmlformats.org/officeDocument/2006/relationships/font"/><Relationship Id="rId44" Target="fonts/font44.fntdata" Type="http://schemas.openxmlformats.org/officeDocument/2006/relationships/font"/><Relationship Id="rId45" Target="fonts/font45.fntdata" Type="http://schemas.openxmlformats.org/officeDocument/2006/relationships/font"/><Relationship Id="rId46" Target="fonts/font46.fntdata" Type="http://schemas.openxmlformats.org/officeDocument/2006/relationships/font"/><Relationship Id="rId47" Target="fonts/font47.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page is for only in case if one slide per person. Otherwise It can be deleted.</a:t>
            </a:r>
          </a:p>
          <a:p>
            <a:r>
              <a:rPr lang="en-US"/>
              <a:t/>
            </a:r>
          </a:p>
          <a:p>
            <a:r>
              <a:rPr lang="en-US"/>
              <a:t>Presentation Note (Fed&amp; Rate):</a:t>
            </a:r>
          </a:p>
          <a:p>
            <a:r>
              <a:rPr lang="en-US"/>
              <a:t>Starting with the Federal Reserve, the current Fed funds target range remains at 3.50% to 3.75%. According to CME FedWatch, markets are assigning a 99.6% probability that the Fed will leave rates unchanged at the June 17 FOMC meeting. This indicates that investors are largely expecting a wait-and-see approach from the Fed.</a:t>
            </a:r>
          </a:p>
          <a:p>
            <a:r>
              <a:rPr lang="en-US"/>
              <a:t/>
            </a:r>
          </a:p>
          <a:p>
            <a:r>
              <a:rPr lang="en-US"/>
              <a:t>Presentation Note (Fed &amp;Rate p2):</a:t>
            </a:r>
          </a:p>
          <a:p>
            <a:r>
              <a:rPr lang="en-US"/>
              <a:t>Looking at Treasury yields, the 2-year, 10-year, and 30-year yields are approximately 4.00%, 4.44%, and 4.97% respectively. The yield curve remains normal, with longer-term yields above shorter-term yields. During the week, Treasury bond prices rose, implying that yields moved lower. Lower yields generally provide some support to growth and technology stocks.</a:t>
            </a:r>
          </a:p>
          <a:p>
            <a:r>
              <a:rPr lang="en-US"/>
              <a:t/>
            </a:r>
          </a:p>
          <a:p>
            <a:r>
              <a:rPr lang="en-US"/>
              <a:t>Presentation Note (Week-ahead section):</a:t>
            </a:r>
          </a:p>
          <a:p>
            <a:r>
              <a:rPr lang="en-US"/>
              <a:t>Looking ahead, the key economic events this week are US JOLTS Job Openings, ISM Services PMI, the US Unemployment Rate, and most importantly, US Nonfarm Payrolls on June 5. The market expects payroll growth of 96,000 compared to the previous reading of 115,000. Since labor market conditions directly influence Federal Reserve policy expectations, this is likely to be the most market-moving event of the week.</a:t>
            </a:r>
          </a:p>
          <a:p>
            <a:r>
              <a:rPr lang="en-US"/>
              <a:t/>
            </a:r>
          </a:p>
          <a:p>
            <a:r>
              <a:rPr lang="en-US"/>
              <a:t>Presentation Notes (Commodities &amp; dollar):</a:t>
            </a:r>
          </a:p>
          <a:p>
            <a:r>
              <a:rPr lang="en-US"/>
              <a:t>For major macro assets, WTI crude oil recorded the largest move, falling 9.57% during the week. Gold increased by 0.81%, while the US Dollar Index weakened by 0.34%. The decline in oil prices may help ease inflation concerns, while lower yields and a weaker dollar are generally supportive for risk assets.</a:t>
            </a:r>
          </a:p>
          <a:p>
            <a:r>
              <a:rPr lang="en-US"/>
              <a:t/>
            </a:r>
          </a:p>
          <a:p>
            <a:r>
              <a:rPr lang="en-US"/>
              <a:t>Presentation Notes (Key earnings):</a:t>
            </a:r>
          </a:p>
          <a:p>
            <a:r>
              <a:rPr lang="en-US"/>
              <a:t>For the biggest earnings of the next week, the main sector-level catalysts are Palo Alto Networks (a company in cybersecurity field), Broadcom (semiconductor manufacturing company), and CrowdStrike (cybersecuity). These companies provide important signals on technology spending, cybersecurity demand, and AI-related investment trends.</a:t>
            </a:r>
          </a:p>
          <a:p>
            <a:r>
              <a:rPr lang="en-US"/>
              <a:t/>
            </a:r>
          </a:p>
          <a:p>
            <a:r>
              <a:rPr lang="en-US"/>
              <a:t>Presentation Notes (Confirmed news event):</a:t>
            </a:r>
          </a:p>
          <a:p>
            <a:r>
              <a:rPr lang="en-US"/>
              <a:t>On the geopolitical front, Reuters reported that President Trump is expected to make a decision regarding Iran and has reiterated demands concerning the Strait of Hormuz and Iran’s nuclear capabilities. Any escalation could affect oil supply expectations and energy markets.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embeddings/oleObject1.bin" Type="http://schemas.openxmlformats.org/officeDocument/2006/relationships/oleObject"/><Relationship Id="rId4" Target="../media/image9.png" Type="http://schemas.openxmlformats.org/officeDocument/2006/relationships/image"/><Relationship Id="rId5" Target="../embeddings/oleObject2.bin" Type="http://schemas.openxmlformats.org/officeDocument/2006/relationships/oleObjec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embeddings/oleObject3.bin" Type="http://schemas.openxmlformats.org/officeDocument/2006/relationships/oleObjec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embeddings/oleObject4.bin" Type="http://schemas.openxmlformats.org/officeDocument/2006/relationships/oleObject"/><Relationship Id="rId4" Target="../media/image12.png" Type="http://schemas.openxmlformats.org/officeDocument/2006/relationships/image"/><Relationship Id="rId5" Target="../embeddings/oleObject5.bin" Type="http://schemas.openxmlformats.org/officeDocument/2006/relationships/oleObjec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2" Target="../notesSlides/notesSlide1.xml" Type="http://schemas.openxmlformats.org/officeDocument/2006/relationships/notesSlide"/><Relationship Id="rId3" Target="../media/image20.pn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 Id="rId6" Target="../media/image15.png" Type="http://schemas.openxmlformats.org/officeDocument/2006/relationships/image"/><Relationship Id="rId7" Target="../media/image16.png" Type="http://schemas.openxmlformats.org/officeDocument/2006/relationships/image"/><Relationship Id="rId8" Target="../media/image17.png" Type="http://schemas.openxmlformats.org/officeDocument/2006/relationships/image"/><Relationship Id="rId9" Target="../media/image18.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png" Type="http://schemas.openxmlformats.org/officeDocument/2006/relationships/image"/><Relationship Id="rId4" Target="../embeddings/oleObject6.bin" Type="http://schemas.openxmlformats.org/officeDocument/2006/relationships/oleObjec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png" Type="http://schemas.openxmlformats.org/officeDocument/2006/relationships/image"/><Relationship Id="rId4" Target="../embeddings/oleObject7.bin" Type="http://schemas.openxmlformats.org/officeDocument/2006/relationships/oleObjec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png" Type="http://schemas.openxmlformats.org/officeDocument/2006/relationships/image"/><Relationship Id="rId4" Target="../embeddings/oleObject8.bin" Type="http://schemas.openxmlformats.org/officeDocument/2006/relationships/oleObjec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jpeg" Type="http://schemas.openxmlformats.org/officeDocument/2006/relationships/image"/><Relationship Id="rId3" Target="../media/image30.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jpeg" Type="http://schemas.openxmlformats.org/officeDocument/2006/relationships/image"/><Relationship Id="rId3" Target="../media/image31.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jpeg" Type="http://schemas.openxmlformats.org/officeDocument/2006/relationships/image"/><Relationship Id="rId3" Target="../media/image32.png" Type="http://schemas.openxmlformats.org/officeDocument/2006/relationships/image"/><Relationship Id="rId4" Target="../media/image33.svg" Type="http://schemas.openxmlformats.org/officeDocument/2006/relationships/image"/><Relationship Id="rId5" Target="../media/image34.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36.png" Type="http://schemas.openxmlformats.org/officeDocument/2006/relationships/image"/><Relationship Id="rId4" Target="../media/image37.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8.png" Type="http://schemas.openxmlformats.org/officeDocument/2006/relationships/image"/><Relationship Id="rId3" Target="../media/image39.png" Type="http://schemas.openxmlformats.org/officeDocument/2006/relationships/image"/><Relationship Id="rId4" Target="../media/image40.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1.png" Type="http://schemas.openxmlformats.org/officeDocument/2006/relationships/image"/><Relationship Id="rId3" Target="../media/image42.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6E7DE"/>
        </a:solidFill>
      </p:bgPr>
    </p:bg>
    <p:spTree>
      <p:nvGrpSpPr>
        <p:cNvPr id="1" name=""/>
        <p:cNvGrpSpPr/>
        <p:nvPr/>
      </p:nvGrpSpPr>
      <p:grpSpPr>
        <a:xfrm>
          <a:off x="0" y="0"/>
          <a:ext cx="0" cy="0"/>
          <a:chOff x="0" y="0"/>
          <a:chExt cx="0" cy="0"/>
        </a:xfrm>
      </p:grpSpPr>
      <p:grpSp>
        <p:nvGrpSpPr>
          <p:cNvPr name="Group 2" id="2"/>
          <p:cNvGrpSpPr/>
          <p:nvPr/>
        </p:nvGrpSpPr>
        <p:grpSpPr>
          <a:xfrm rot="0">
            <a:off x="11267394" y="329173"/>
            <a:ext cx="6658830" cy="9628654"/>
            <a:chOff x="0" y="0"/>
            <a:chExt cx="2252493" cy="3257100"/>
          </a:xfrm>
        </p:grpSpPr>
        <p:sp>
          <p:nvSpPr>
            <p:cNvPr name="Freeform 3" id="3"/>
            <p:cNvSpPr/>
            <p:nvPr/>
          </p:nvSpPr>
          <p:spPr>
            <a:xfrm flipH="false" flipV="false" rot="0">
              <a:off x="0" y="0"/>
              <a:ext cx="2252493" cy="3257100"/>
            </a:xfrm>
            <a:custGeom>
              <a:avLst/>
              <a:gdLst/>
              <a:ahLst/>
              <a:cxnLst/>
              <a:rect r="r" b="b" t="t" l="l"/>
              <a:pathLst>
                <a:path h="3257100" w="2252493">
                  <a:moveTo>
                    <a:pt x="2128033" y="3257100"/>
                  </a:moveTo>
                  <a:lnTo>
                    <a:pt x="124460" y="3257100"/>
                  </a:lnTo>
                  <a:cubicBezTo>
                    <a:pt x="55880" y="3257100"/>
                    <a:pt x="0" y="3201220"/>
                    <a:pt x="0" y="3132640"/>
                  </a:cubicBezTo>
                  <a:lnTo>
                    <a:pt x="0" y="124460"/>
                  </a:lnTo>
                  <a:cubicBezTo>
                    <a:pt x="0" y="55880"/>
                    <a:pt x="55880" y="0"/>
                    <a:pt x="124460" y="0"/>
                  </a:cubicBezTo>
                  <a:lnTo>
                    <a:pt x="2128033" y="0"/>
                  </a:lnTo>
                  <a:cubicBezTo>
                    <a:pt x="2196613" y="0"/>
                    <a:pt x="2252493" y="55880"/>
                    <a:pt x="2252493" y="124460"/>
                  </a:cubicBezTo>
                  <a:lnTo>
                    <a:pt x="2252493" y="3132640"/>
                  </a:lnTo>
                  <a:cubicBezTo>
                    <a:pt x="2252493" y="3201220"/>
                    <a:pt x="2196613" y="3257100"/>
                    <a:pt x="2128033" y="3257100"/>
                  </a:cubicBezTo>
                  <a:close/>
                </a:path>
              </a:pathLst>
            </a:custGeom>
            <a:solidFill>
              <a:srgbClr val="FFFFFF"/>
            </a:solidFill>
          </p:spPr>
        </p:sp>
      </p:grpSp>
      <p:grpSp>
        <p:nvGrpSpPr>
          <p:cNvPr name="Group 4" id="4"/>
          <p:cNvGrpSpPr/>
          <p:nvPr/>
        </p:nvGrpSpPr>
        <p:grpSpPr>
          <a:xfrm rot="0">
            <a:off x="361776" y="329173"/>
            <a:ext cx="10516994" cy="9628654"/>
            <a:chOff x="0" y="0"/>
            <a:chExt cx="3557600" cy="3257100"/>
          </a:xfrm>
        </p:grpSpPr>
        <p:sp>
          <p:nvSpPr>
            <p:cNvPr name="Freeform 5" id="5"/>
            <p:cNvSpPr/>
            <p:nvPr/>
          </p:nvSpPr>
          <p:spPr>
            <a:xfrm flipH="false" flipV="false" rot="0">
              <a:off x="0" y="0"/>
              <a:ext cx="3557601" cy="3257100"/>
            </a:xfrm>
            <a:custGeom>
              <a:avLst/>
              <a:gdLst/>
              <a:ahLst/>
              <a:cxnLst/>
              <a:rect r="r" b="b" t="t" l="l"/>
              <a:pathLst>
                <a:path h="3257100" w="3557601">
                  <a:moveTo>
                    <a:pt x="3433140" y="3257100"/>
                  </a:moveTo>
                  <a:lnTo>
                    <a:pt x="124460" y="3257100"/>
                  </a:lnTo>
                  <a:cubicBezTo>
                    <a:pt x="55880" y="3257100"/>
                    <a:pt x="0" y="3201220"/>
                    <a:pt x="0" y="3132640"/>
                  </a:cubicBezTo>
                  <a:lnTo>
                    <a:pt x="0" y="124460"/>
                  </a:lnTo>
                  <a:cubicBezTo>
                    <a:pt x="0" y="55880"/>
                    <a:pt x="55880" y="0"/>
                    <a:pt x="124460" y="0"/>
                  </a:cubicBezTo>
                  <a:lnTo>
                    <a:pt x="3433140" y="0"/>
                  </a:lnTo>
                  <a:cubicBezTo>
                    <a:pt x="3501720" y="0"/>
                    <a:pt x="3557601" y="55880"/>
                    <a:pt x="3557601" y="124460"/>
                  </a:cubicBezTo>
                  <a:lnTo>
                    <a:pt x="3557601" y="3132640"/>
                  </a:lnTo>
                  <a:cubicBezTo>
                    <a:pt x="3557601" y="3201220"/>
                    <a:pt x="3501720" y="3257100"/>
                    <a:pt x="3433140" y="3257100"/>
                  </a:cubicBezTo>
                  <a:close/>
                </a:path>
              </a:pathLst>
            </a:custGeom>
            <a:solidFill>
              <a:srgbClr val="FFFFFF"/>
            </a:solidFill>
          </p:spPr>
        </p:sp>
      </p:grpSp>
      <p:grpSp>
        <p:nvGrpSpPr>
          <p:cNvPr name="Group 6" id="6"/>
          <p:cNvGrpSpPr>
            <a:grpSpLocks noChangeAspect="true"/>
          </p:cNvGrpSpPr>
          <p:nvPr/>
        </p:nvGrpSpPr>
        <p:grpSpPr>
          <a:xfrm rot="0">
            <a:off x="11661285" y="711638"/>
            <a:ext cx="5909149" cy="8863723"/>
            <a:chOff x="0" y="0"/>
            <a:chExt cx="6350000" cy="9525000"/>
          </a:xfrm>
        </p:grpSpPr>
        <p:sp>
          <p:nvSpPr>
            <p:cNvPr name="Freeform 7" id="7"/>
            <p:cNvSpPr/>
            <p:nvPr/>
          </p:nvSpPr>
          <p:spPr>
            <a:xfrm flipH="false" flipV="false" rot="0">
              <a:off x="0" y="0"/>
              <a:ext cx="6350000" cy="9525000"/>
            </a:xfrm>
            <a:custGeom>
              <a:avLst/>
              <a:gdLst/>
              <a:ahLst/>
              <a:cxnLst/>
              <a:rect r="r" b="b" t="t" l="l"/>
              <a:pathLst>
                <a:path h="9525000" w="6350000">
                  <a:moveTo>
                    <a:pt x="0" y="9042400"/>
                  </a:moveTo>
                  <a:lnTo>
                    <a:pt x="0" y="482600"/>
                  </a:lnTo>
                  <a:cubicBezTo>
                    <a:pt x="0" y="215900"/>
                    <a:pt x="215900" y="0"/>
                    <a:pt x="482600" y="0"/>
                  </a:cubicBezTo>
                  <a:lnTo>
                    <a:pt x="5867400" y="0"/>
                  </a:lnTo>
                  <a:cubicBezTo>
                    <a:pt x="6134100" y="0"/>
                    <a:pt x="6350000" y="217170"/>
                    <a:pt x="6350000" y="482600"/>
                  </a:cubicBezTo>
                  <a:lnTo>
                    <a:pt x="6350000" y="9042400"/>
                  </a:lnTo>
                  <a:cubicBezTo>
                    <a:pt x="6350000" y="9309100"/>
                    <a:pt x="6134100" y="9525000"/>
                    <a:pt x="5867400" y="9525000"/>
                  </a:cubicBezTo>
                  <a:lnTo>
                    <a:pt x="482600" y="9525000"/>
                  </a:lnTo>
                  <a:cubicBezTo>
                    <a:pt x="217170" y="9525000"/>
                    <a:pt x="0" y="9309100"/>
                    <a:pt x="0" y="9042400"/>
                  </a:cubicBezTo>
                  <a:close/>
                </a:path>
              </a:pathLst>
            </a:custGeom>
            <a:blipFill>
              <a:blip r:embed="rId2"/>
              <a:stretch>
                <a:fillRect l="-62" t="0" r="-62" b="0"/>
              </a:stretch>
            </a:blipFill>
          </p:spPr>
        </p:sp>
      </p:grpSp>
      <p:grpSp>
        <p:nvGrpSpPr>
          <p:cNvPr name="Group 8" id="8"/>
          <p:cNvGrpSpPr/>
          <p:nvPr/>
        </p:nvGrpSpPr>
        <p:grpSpPr>
          <a:xfrm rot="0">
            <a:off x="1465531" y="2258561"/>
            <a:ext cx="8309484" cy="3942084"/>
            <a:chOff x="0" y="0"/>
            <a:chExt cx="11079311" cy="5256113"/>
          </a:xfrm>
        </p:grpSpPr>
        <p:sp>
          <p:nvSpPr>
            <p:cNvPr name="TextBox 9" id="9"/>
            <p:cNvSpPr txBox="true"/>
            <p:nvPr/>
          </p:nvSpPr>
          <p:spPr>
            <a:xfrm rot="0">
              <a:off x="0" y="0"/>
              <a:ext cx="11079311" cy="4051300"/>
            </a:xfrm>
            <a:prstGeom prst="rect">
              <a:avLst/>
            </a:prstGeom>
          </p:spPr>
          <p:txBody>
            <a:bodyPr anchor="t" rtlCol="false" tIns="0" lIns="0" bIns="0" rIns="0">
              <a:spAutoFit/>
            </a:bodyPr>
            <a:lstStyle/>
            <a:p>
              <a:pPr algn="l">
                <a:lnSpc>
                  <a:spcPts val="11999"/>
                </a:lnSpc>
              </a:pPr>
              <a:r>
                <a:rPr lang="en-US" sz="9999" spc="-199" b="true">
                  <a:solidFill>
                    <a:srgbClr val="191919"/>
                  </a:solidFill>
                  <a:latin typeface="Muli Ultra-Bold"/>
                  <a:ea typeface="Muli Ultra-Bold"/>
                  <a:cs typeface="Muli Ultra-Bold"/>
                  <a:sym typeface="Muli Ultra-Bold"/>
                </a:rPr>
                <a:t>Weekly</a:t>
              </a:r>
            </a:p>
            <a:p>
              <a:pPr algn="l">
                <a:lnSpc>
                  <a:spcPts val="12000"/>
                </a:lnSpc>
              </a:pPr>
              <a:r>
                <a:rPr lang="en-US" sz="10000" spc="-200" b="true">
                  <a:solidFill>
                    <a:srgbClr val="191919"/>
                  </a:solidFill>
                  <a:latin typeface="Muli Bold"/>
                  <a:ea typeface="Muli Bold"/>
                  <a:cs typeface="Muli Bold"/>
                  <a:sym typeface="Muli Bold"/>
                </a:rPr>
                <a:t>Goal Updates</a:t>
              </a:r>
            </a:p>
          </p:txBody>
        </p:sp>
        <p:sp>
          <p:nvSpPr>
            <p:cNvPr name="TextBox 10" id="10"/>
            <p:cNvSpPr txBox="true"/>
            <p:nvPr/>
          </p:nvSpPr>
          <p:spPr>
            <a:xfrm rot="0">
              <a:off x="0" y="4646513"/>
              <a:ext cx="7528467" cy="609600"/>
            </a:xfrm>
            <a:prstGeom prst="rect">
              <a:avLst/>
            </a:prstGeom>
          </p:spPr>
          <p:txBody>
            <a:bodyPr anchor="t" rtlCol="false" tIns="0" lIns="0" bIns="0" rIns="0">
              <a:spAutoFit/>
            </a:bodyPr>
            <a:lstStyle/>
            <a:p>
              <a:pPr algn="l">
                <a:lnSpc>
                  <a:spcPts val="3600"/>
                </a:lnSpc>
              </a:pPr>
              <a:r>
                <a:rPr lang="en-US" sz="3000">
                  <a:solidFill>
                    <a:srgbClr val="191919"/>
                  </a:solidFill>
                  <a:latin typeface="Muli"/>
                  <a:ea typeface="Muli"/>
                  <a:cs typeface="Muli"/>
                  <a:sym typeface="Muli"/>
                </a:rPr>
                <a:t>TEAM 1- PRAC A - PROJECT</a:t>
              </a:r>
            </a:p>
          </p:txBody>
        </p:sp>
      </p:grpSp>
    </p:spTree>
  </p:cSld>
  <p:clrMapOvr>
    <a:masterClrMapping/>
  </p:clrMapOvr>
</p:sld>
</file>

<file path=ppt/slides/slide2.xml><?xml version="1.0" encoding="utf-8"?>
<p:sld xmlns:p="http://schemas.openxmlformats.org/presentationml/2006/main" xmlns:a="http://schemas.openxmlformats.org/drawingml/2006/main">
  <p:cSld>
    <p:bg>
      <p:bgPr>
        <a:solidFill>
          <a:srgbClr val="F6E7DE"/>
        </a:solidFill>
      </p:bgPr>
    </p:bg>
    <p:spTree>
      <p:nvGrpSpPr>
        <p:cNvPr id="1" name=""/>
        <p:cNvGrpSpPr/>
        <p:nvPr/>
      </p:nvGrpSpPr>
      <p:grpSpPr>
        <a:xfrm>
          <a:off x="0" y="0"/>
          <a:ext cx="0" cy="0"/>
          <a:chOff x="0" y="0"/>
          <a:chExt cx="0" cy="0"/>
        </a:xfrm>
      </p:grpSpPr>
      <p:grpSp>
        <p:nvGrpSpPr>
          <p:cNvPr name="Group 2" id="2"/>
          <p:cNvGrpSpPr/>
          <p:nvPr/>
        </p:nvGrpSpPr>
        <p:grpSpPr>
          <a:xfrm rot="0">
            <a:off x="9144000" y="0"/>
            <a:ext cx="9699204" cy="10287000"/>
            <a:chOff x="0" y="0"/>
            <a:chExt cx="3070990" cy="3257100"/>
          </a:xfrm>
        </p:grpSpPr>
        <p:sp>
          <p:nvSpPr>
            <p:cNvPr name="Freeform 3" id="3"/>
            <p:cNvSpPr/>
            <p:nvPr/>
          </p:nvSpPr>
          <p:spPr>
            <a:xfrm flipH="false" flipV="false" rot="0">
              <a:off x="0" y="0"/>
              <a:ext cx="3070990" cy="3257100"/>
            </a:xfrm>
            <a:custGeom>
              <a:avLst/>
              <a:gdLst/>
              <a:ahLst/>
              <a:cxnLst/>
              <a:rect r="r" b="b" t="t" l="l"/>
              <a:pathLst>
                <a:path h="3257100" w="3070990">
                  <a:moveTo>
                    <a:pt x="2946530" y="3257100"/>
                  </a:moveTo>
                  <a:lnTo>
                    <a:pt x="124460" y="3257100"/>
                  </a:lnTo>
                  <a:cubicBezTo>
                    <a:pt x="55880" y="3257100"/>
                    <a:pt x="0" y="3201220"/>
                    <a:pt x="0" y="3132640"/>
                  </a:cubicBezTo>
                  <a:lnTo>
                    <a:pt x="0" y="124460"/>
                  </a:lnTo>
                  <a:cubicBezTo>
                    <a:pt x="0" y="55880"/>
                    <a:pt x="55880" y="0"/>
                    <a:pt x="124460" y="0"/>
                  </a:cubicBezTo>
                  <a:lnTo>
                    <a:pt x="2946530" y="0"/>
                  </a:lnTo>
                  <a:cubicBezTo>
                    <a:pt x="3015110" y="0"/>
                    <a:pt x="3070990" y="55880"/>
                    <a:pt x="3070990" y="124460"/>
                  </a:cubicBezTo>
                  <a:lnTo>
                    <a:pt x="3070990" y="3132640"/>
                  </a:lnTo>
                  <a:cubicBezTo>
                    <a:pt x="3070990" y="3201220"/>
                    <a:pt x="3015110" y="3257100"/>
                    <a:pt x="2946530" y="3257100"/>
                  </a:cubicBezTo>
                  <a:close/>
                </a:path>
              </a:pathLst>
            </a:custGeom>
            <a:solidFill>
              <a:srgbClr val="FFFFFF"/>
            </a:solidFill>
          </p:spPr>
        </p:sp>
      </p:grpSp>
      <p:sp>
        <p:nvSpPr>
          <p:cNvPr name="AutoShape 4" id="4"/>
          <p:cNvSpPr/>
          <p:nvPr/>
        </p:nvSpPr>
        <p:spPr>
          <a:xfrm rot="-5400000">
            <a:off x="7384058" y="5100638"/>
            <a:ext cx="8229600" cy="0"/>
          </a:xfrm>
          <a:prstGeom prst="line">
            <a:avLst/>
          </a:prstGeom>
          <a:ln cap="rnd" w="85725">
            <a:solidFill>
              <a:srgbClr val="D5D8DB"/>
            </a:solidFill>
            <a:prstDash val="solid"/>
            <a:headEnd type="none" len="sm" w="sm"/>
            <a:tailEnd type="none" len="sm" w="sm"/>
          </a:ln>
        </p:spPr>
      </p:sp>
      <p:grpSp>
        <p:nvGrpSpPr>
          <p:cNvPr name="Group 5" id="5"/>
          <p:cNvGrpSpPr/>
          <p:nvPr/>
        </p:nvGrpSpPr>
        <p:grpSpPr>
          <a:xfrm rot="0">
            <a:off x="11330498" y="1838384"/>
            <a:ext cx="336720" cy="336720"/>
            <a:chOff x="0" y="0"/>
            <a:chExt cx="6350000" cy="6350000"/>
          </a:xfrm>
        </p:grpSpPr>
        <p:sp>
          <p:nvSpPr>
            <p:cNvPr name="Freeform 6" id="6"/>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6F28"/>
            </a:solidFill>
          </p:spPr>
        </p:sp>
      </p:grpSp>
      <p:grpSp>
        <p:nvGrpSpPr>
          <p:cNvPr name="Group 7" id="7"/>
          <p:cNvGrpSpPr/>
          <p:nvPr/>
        </p:nvGrpSpPr>
        <p:grpSpPr>
          <a:xfrm rot="0">
            <a:off x="12578937" y="1461401"/>
            <a:ext cx="3412950" cy="1830672"/>
            <a:chOff x="0" y="0"/>
            <a:chExt cx="4550600" cy="2440896"/>
          </a:xfrm>
        </p:grpSpPr>
        <p:sp>
          <p:nvSpPr>
            <p:cNvPr name="TextBox 8" id="8"/>
            <p:cNvSpPr txBox="true"/>
            <p:nvPr/>
          </p:nvSpPr>
          <p:spPr>
            <a:xfrm rot="0">
              <a:off x="0" y="-19050"/>
              <a:ext cx="4550600" cy="464397"/>
            </a:xfrm>
            <a:prstGeom prst="rect">
              <a:avLst/>
            </a:prstGeom>
          </p:spPr>
          <p:txBody>
            <a:bodyPr anchor="t" rtlCol="false" tIns="0" lIns="0" bIns="0" rIns="0">
              <a:spAutoFit/>
            </a:bodyPr>
            <a:lstStyle/>
            <a:p>
              <a:pPr algn="l" marL="0" indent="0" lvl="0">
                <a:lnSpc>
                  <a:spcPts val="2860"/>
                </a:lnSpc>
              </a:pPr>
              <a:r>
                <a:rPr lang="en-US" b="true" sz="2200" spc="-65">
                  <a:solidFill>
                    <a:srgbClr val="191919"/>
                  </a:solidFill>
                  <a:latin typeface="Muli Ultra-Bold"/>
                  <a:ea typeface="Muli Ultra-Bold"/>
                  <a:cs typeface="Muli Ultra-Bold"/>
                  <a:sym typeface="Muli Ultra-Bold"/>
                </a:rPr>
                <a:t>25th MAY</a:t>
              </a:r>
            </a:p>
          </p:txBody>
        </p:sp>
        <p:sp>
          <p:nvSpPr>
            <p:cNvPr name="TextBox 9" id="9"/>
            <p:cNvSpPr txBox="true"/>
            <p:nvPr/>
          </p:nvSpPr>
          <p:spPr>
            <a:xfrm rot="0">
              <a:off x="0" y="689143"/>
              <a:ext cx="4550600" cy="1751753"/>
            </a:xfrm>
            <a:prstGeom prst="rect">
              <a:avLst/>
            </a:prstGeom>
          </p:spPr>
          <p:txBody>
            <a:bodyPr anchor="t" rtlCol="false" tIns="0" lIns="0" bIns="0" rIns="0">
              <a:spAutoFit/>
            </a:bodyPr>
            <a:lstStyle/>
            <a:p>
              <a:pPr algn="l">
                <a:lnSpc>
                  <a:spcPts val="2659"/>
                </a:lnSpc>
              </a:pPr>
              <a:r>
                <a:rPr lang="en-US" sz="1899">
                  <a:solidFill>
                    <a:srgbClr val="191919"/>
                  </a:solidFill>
                  <a:latin typeface="Muli"/>
                  <a:ea typeface="Muli"/>
                  <a:cs typeface="Muli"/>
                  <a:sym typeface="Muli"/>
                </a:rPr>
                <a:t>+ Assigned to a team</a:t>
              </a:r>
            </a:p>
            <a:p>
              <a:pPr algn="l">
                <a:lnSpc>
                  <a:spcPts val="2659"/>
                </a:lnSpc>
              </a:pPr>
              <a:r>
                <a:rPr lang="en-US" sz="1899">
                  <a:solidFill>
                    <a:srgbClr val="191919"/>
                  </a:solidFill>
                  <a:latin typeface="Muli"/>
                  <a:ea typeface="Muli"/>
                  <a:cs typeface="Muli"/>
                  <a:sym typeface="Muli"/>
                </a:rPr>
                <a:t>+ Assigned roles to each members</a:t>
              </a:r>
            </a:p>
            <a:p>
              <a:pPr algn="l">
                <a:lnSpc>
                  <a:spcPts val="2660"/>
                </a:lnSpc>
                <a:spcBef>
                  <a:spcPct val="0"/>
                </a:spcBef>
              </a:pPr>
              <a:r>
                <a:rPr lang="en-US" sz="1900">
                  <a:solidFill>
                    <a:srgbClr val="191919"/>
                  </a:solidFill>
                  <a:latin typeface="Muli"/>
                  <a:ea typeface="Muli"/>
                  <a:cs typeface="Muli"/>
                  <a:sym typeface="Muli"/>
                </a:rPr>
                <a:t>+ Set up milestones </a:t>
              </a:r>
            </a:p>
          </p:txBody>
        </p:sp>
      </p:grpSp>
      <p:grpSp>
        <p:nvGrpSpPr>
          <p:cNvPr name="Group 10" id="10"/>
          <p:cNvGrpSpPr/>
          <p:nvPr/>
        </p:nvGrpSpPr>
        <p:grpSpPr>
          <a:xfrm rot="0">
            <a:off x="11330498" y="3831129"/>
            <a:ext cx="336720" cy="336720"/>
            <a:chOff x="0" y="0"/>
            <a:chExt cx="6350000" cy="6350000"/>
          </a:xfrm>
        </p:grpSpPr>
        <p:sp>
          <p:nvSpPr>
            <p:cNvPr name="Freeform 11" id="11"/>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6F28"/>
            </a:solidFill>
          </p:spPr>
        </p:sp>
      </p:grpSp>
      <p:grpSp>
        <p:nvGrpSpPr>
          <p:cNvPr name="Group 12" id="12"/>
          <p:cNvGrpSpPr/>
          <p:nvPr/>
        </p:nvGrpSpPr>
        <p:grpSpPr>
          <a:xfrm rot="0">
            <a:off x="12578937" y="3454147"/>
            <a:ext cx="3412950" cy="1828556"/>
            <a:chOff x="0" y="0"/>
            <a:chExt cx="4550600" cy="2438074"/>
          </a:xfrm>
        </p:grpSpPr>
        <p:sp>
          <p:nvSpPr>
            <p:cNvPr name="TextBox 13" id="13"/>
            <p:cNvSpPr txBox="true"/>
            <p:nvPr/>
          </p:nvSpPr>
          <p:spPr>
            <a:xfrm rot="0">
              <a:off x="0" y="-19050"/>
              <a:ext cx="4550600" cy="464397"/>
            </a:xfrm>
            <a:prstGeom prst="rect">
              <a:avLst/>
            </a:prstGeom>
          </p:spPr>
          <p:txBody>
            <a:bodyPr anchor="t" rtlCol="false" tIns="0" lIns="0" bIns="0" rIns="0">
              <a:spAutoFit/>
            </a:bodyPr>
            <a:lstStyle/>
            <a:p>
              <a:pPr algn="l" marL="0" indent="0" lvl="0">
                <a:lnSpc>
                  <a:spcPts val="2860"/>
                </a:lnSpc>
              </a:pPr>
              <a:r>
                <a:rPr lang="en-US" b="true" sz="2200" spc="-65">
                  <a:solidFill>
                    <a:srgbClr val="191919"/>
                  </a:solidFill>
                  <a:latin typeface="Muli Ultra-Bold"/>
                  <a:ea typeface="Muli Ultra-Bold"/>
                  <a:cs typeface="Muli Ultra-Bold"/>
                  <a:sym typeface="Muli Ultra-Bold"/>
                </a:rPr>
                <a:t>26th  May – 1 June 2026</a:t>
              </a:r>
            </a:p>
          </p:txBody>
        </p:sp>
        <p:sp>
          <p:nvSpPr>
            <p:cNvPr name="TextBox 14" id="14"/>
            <p:cNvSpPr txBox="true"/>
            <p:nvPr/>
          </p:nvSpPr>
          <p:spPr>
            <a:xfrm rot="0">
              <a:off x="0" y="686321"/>
              <a:ext cx="4550600" cy="1751753"/>
            </a:xfrm>
            <a:prstGeom prst="rect">
              <a:avLst/>
            </a:prstGeom>
          </p:spPr>
          <p:txBody>
            <a:bodyPr anchor="t" rtlCol="false" tIns="0" lIns="0" bIns="0" rIns="0">
              <a:spAutoFit/>
            </a:bodyPr>
            <a:lstStyle/>
            <a:p>
              <a:pPr algn="l">
                <a:lnSpc>
                  <a:spcPts val="2660"/>
                </a:lnSpc>
                <a:spcBef>
                  <a:spcPct val="0"/>
                </a:spcBef>
              </a:pPr>
              <a:r>
                <a:rPr lang="en-US" sz="1900">
                  <a:solidFill>
                    <a:srgbClr val="191919"/>
                  </a:solidFill>
                  <a:latin typeface="Muli"/>
                  <a:ea typeface="Muli"/>
                  <a:cs typeface="Muli"/>
                  <a:sym typeface="Muli"/>
                </a:rPr>
                <a:t>+c</a:t>
              </a:r>
              <a:r>
                <a:rPr lang="en-US" sz="1900">
                  <a:solidFill>
                    <a:srgbClr val="191919"/>
                  </a:solidFill>
                  <a:latin typeface="Muli"/>
                  <a:ea typeface="Muli"/>
                  <a:cs typeface="Muli"/>
                  <a:sym typeface="Muli"/>
                </a:rPr>
                <a:t>ollects data, runs the agents, queries four AI models, and commits a prediction to GitHub</a:t>
              </a:r>
            </a:p>
          </p:txBody>
        </p:sp>
      </p:grpSp>
      <p:grpSp>
        <p:nvGrpSpPr>
          <p:cNvPr name="Group 15" id="15"/>
          <p:cNvGrpSpPr/>
          <p:nvPr/>
        </p:nvGrpSpPr>
        <p:grpSpPr>
          <a:xfrm rot="0">
            <a:off x="11330498" y="5823875"/>
            <a:ext cx="336720" cy="336720"/>
            <a:chOff x="0" y="0"/>
            <a:chExt cx="6350000" cy="6350000"/>
          </a:xfrm>
        </p:grpSpPr>
        <p:sp>
          <p:nvSpPr>
            <p:cNvPr name="Freeform 16" id="16"/>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6F28"/>
            </a:solidFill>
          </p:spPr>
        </p:sp>
      </p:grpSp>
      <p:grpSp>
        <p:nvGrpSpPr>
          <p:cNvPr name="Group 17" id="17"/>
          <p:cNvGrpSpPr/>
          <p:nvPr/>
        </p:nvGrpSpPr>
        <p:grpSpPr>
          <a:xfrm rot="0">
            <a:off x="12578937" y="5749026"/>
            <a:ext cx="3412950" cy="1828556"/>
            <a:chOff x="0" y="0"/>
            <a:chExt cx="4550600" cy="2438074"/>
          </a:xfrm>
        </p:grpSpPr>
        <p:sp>
          <p:nvSpPr>
            <p:cNvPr name="TextBox 18" id="18"/>
            <p:cNvSpPr txBox="true"/>
            <p:nvPr/>
          </p:nvSpPr>
          <p:spPr>
            <a:xfrm rot="0">
              <a:off x="0" y="-19050"/>
              <a:ext cx="4550600" cy="464397"/>
            </a:xfrm>
            <a:prstGeom prst="rect">
              <a:avLst/>
            </a:prstGeom>
          </p:spPr>
          <p:txBody>
            <a:bodyPr anchor="t" rtlCol="false" tIns="0" lIns="0" bIns="0" rIns="0">
              <a:spAutoFit/>
            </a:bodyPr>
            <a:lstStyle/>
            <a:p>
              <a:pPr algn="l" marL="0" indent="0" lvl="0">
                <a:lnSpc>
                  <a:spcPts val="2860"/>
                </a:lnSpc>
              </a:pPr>
              <a:r>
                <a:rPr lang="en-US" b="true" sz="2200" spc="-65">
                  <a:solidFill>
                    <a:srgbClr val="191919"/>
                  </a:solidFill>
                  <a:latin typeface="Muli Ultra-Bold"/>
                  <a:ea typeface="Muli Ultra-Bold"/>
                  <a:cs typeface="Muli Ultra-Bold"/>
                  <a:sym typeface="Muli Ultra-Bold"/>
                </a:rPr>
                <a:t>31</a:t>
              </a:r>
              <a:r>
                <a:rPr lang="en-US" b="true" sz="2200" spc="-65">
                  <a:solidFill>
                    <a:srgbClr val="191919"/>
                  </a:solidFill>
                  <a:latin typeface="Muli Ultra-Bold"/>
                  <a:ea typeface="Muli Ultra-Bold"/>
                  <a:cs typeface="Muli Ultra-Bold"/>
                  <a:sym typeface="Muli Ultra-Bold"/>
                </a:rPr>
                <a:t>st</a:t>
              </a:r>
              <a:r>
                <a:rPr lang="en-US" b="true" sz="2200" spc="-65">
                  <a:solidFill>
                    <a:srgbClr val="191919"/>
                  </a:solidFill>
                  <a:latin typeface="Muli Ultra-Bold"/>
                  <a:ea typeface="Muli Ultra-Bold"/>
                  <a:cs typeface="Muli Ultra-Bold"/>
                  <a:sym typeface="Muli Ultra-Bold"/>
                </a:rPr>
                <a:t> May</a:t>
              </a:r>
            </a:p>
          </p:txBody>
        </p:sp>
        <p:sp>
          <p:nvSpPr>
            <p:cNvPr name="TextBox 19" id="19"/>
            <p:cNvSpPr txBox="true"/>
            <p:nvPr/>
          </p:nvSpPr>
          <p:spPr>
            <a:xfrm rot="0">
              <a:off x="0" y="686321"/>
              <a:ext cx="4550600" cy="1751753"/>
            </a:xfrm>
            <a:prstGeom prst="rect">
              <a:avLst/>
            </a:prstGeom>
          </p:spPr>
          <p:txBody>
            <a:bodyPr anchor="t" rtlCol="false" tIns="0" lIns="0" bIns="0" rIns="0">
              <a:spAutoFit/>
            </a:bodyPr>
            <a:lstStyle/>
            <a:p>
              <a:pPr algn="l">
                <a:lnSpc>
                  <a:spcPts val="2659"/>
                </a:lnSpc>
              </a:pPr>
              <a:r>
                <a:rPr lang="en-US" sz="1899">
                  <a:solidFill>
                    <a:srgbClr val="191919"/>
                  </a:solidFill>
                  <a:latin typeface="Muli"/>
                  <a:ea typeface="Muli"/>
                  <a:cs typeface="Muli"/>
                  <a:sym typeface="Muli"/>
                </a:rPr>
                <a:t>+ Summarizing Works</a:t>
              </a:r>
            </a:p>
            <a:p>
              <a:pPr algn="l">
                <a:lnSpc>
                  <a:spcPts val="2659"/>
                </a:lnSpc>
              </a:pPr>
              <a:r>
                <a:rPr lang="en-US" sz="1899">
                  <a:solidFill>
                    <a:srgbClr val="191919"/>
                  </a:solidFill>
                  <a:latin typeface="Muli"/>
                  <a:ea typeface="Muli"/>
                  <a:cs typeface="Muli"/>
                  <a:sym typeface="Muli"/>
                </a:rPr>
                <a:t>+ Check the criterias  </a:t>
              </a:r>
            </a:p>
            <a:p>
              <a:pPr algn="l">
                <a:lnSpc>
                  <a:spcPts val="2660"/>
                </a:lnSpc>
                <a:spcBef>
                  <a:spcPct val="0"/>
                </a:spcBef>
              </a:pPr>
              <a:r>
                <a:rPr lang="en-US" sz="1900">
                  <a:solidFill>
                    <a:srgbClr val="191919"/>
                  </a:solidFill>
                  <a:latin typeface="Muli"/>
                  <a:ea typeface="Muli"/>
                  <a:cs typeface="Muli"/>
                  <a:sym typeface="Muli"/>
                </a:rPr>
                <a:t>+ Send the Final report to Dr.Tan</a:t>
              </a:r>
            </a:p>
          </p:txBody>
        </p:sp>
      </p:grpSp>
      <p:grpSp>
        <p:nvGrpSpPr>
          <p:cNvPr name="Group 20" id="20"/>
          <p:cNvGrpSpPr/>
          <p:nvPr/>
        </p:nvGrpSpPr>
        <p:grpSpPr>
          <a:xfrm rot="0">
            <a:off x="11330498" y="7816621"/>
            <a:ext cx="336720" cy="336720"/>
            <a:chOff x="0" y="0"/>
            <a:chExt cx="6350000" cy="6350000"/>
          </a:xfrm>
        </p:grpSpPr>
        <p:sp>
          <p:nvSpPr>
            <p:cNvPr name="Freeform 21" id="21"/>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6F28"/>
            </a:solidFill>
          </p:spPr>
        </p:sp>
      </p:grpSp>
      <p:grpSp>
        <p:nvGrpSpPr>
          <p:cNvPr name="Group 22" id="22"/>
          <p:cNvGrpSpPr/>
          <p:nvPr/>
        </p:nvGrpSpPr>
        <p:grpSpPr>
          <a:xfrm rot="0">
            <a:off x="12578937" y="7816621"/>
            <a:ext cx="3412950" cy="1495181"/>
            <a:chOff x="0" y="0"/>
            <a:chExt cx="4550600" cy="1993574"/>
          </a:xfrm>
        </p:grpSpPr>
        <p:sp>
          <p:nvSpPr>
            <p:cNvPr name="TextBox 23" id="23"/>
            <p:cNvSpPr txBox="true"/>
            <p:nvPr/>
          </p:nvSpPr>
          <p:spPr>
            <a:xfrm rot="0">
              <a:off x="0" y="-19050"/>
              <a:ext cx="4550600" cy="464397"/>
            </a:xfrm>
            <a:prstGeom prst="rect">
              <a:avLst/>
            </a:prstGeom>
          </p:spPr>
          <p:txBody>
            <a:bodyPr anchor="t" rtlCol="false" tIns="0" lIns="0" bIns="0" rIns="0">
              <a:spAutoFit/>
            </a:bodyPr>
            <a:lstStyle/>
            <a:p>
              <a:pPr algn="l" marL="0" indent="0" lvl="0">
                <a:lnSpc>
                  <a:spcPts val="2860"/>
                </a:lnSpc>
              </a:pPr>
              <a:r>
                <a:rPr lang="en-US" b="true" sz="2200" spc="-65">
                  <a:solidFill>
                    <a:srgbClr val="191919"/>
                  </a:solidFill>
                  <a:latin typeface="Muli Ultra-Bold"/>
                  <a:ea typeface="Muli Ultra-Bold"/>
                  <a:cs typeface="Muli Ultra-Bold"/>
                  <a:sym typeface="Muli Ultra-Bold"/>
                </a:rPr>
                <a:t>8th June</a:t>
              </a:r>
            </a:p>
          </p:txBody>
        </p:sp>
        <p:sp>
          <p:nvSpPr>
            <p:cNvPr name="TextBox 24" id="24"/>
            <p:cNvSpPr txBox="true"/>
            <p:nvPr/>
          </p:nvSpPr>
          <p:spPr>
            <a:xfrm rot="0">
              <a:off x="0" y="686321"/>
              <a:ext cx="4550600" cy="1307253"/>
            </a:xfrm>
            <a:prstGeom prst="rect">
              <a:avLst/>
            </a:prstGeom>
          </p:spPr>
          <p:txBody>
            <a:bodyPr anchor="t" rtlCol="false" tIns="0" lIns="0" bIns="0" rIns="0">
              <a:spAutoFit/>
            </a:bodyPr>
            <a:lstStyle/>
            <a:p>
              <a:pPr algn="l">
                <a:lnSpc>
                  <a:spcPts val="2660"/>
                </a:lnSpc>
                <a:spcBef>
                  <a:spcPct val="0"/>
                </a:spcBef>
              </a:pPr>
              <a:r>
                <a:rPr lang="en-US" sz="1900">
                  <a:solidFill>
                    <a:srgbClr val="191919"/>
                  </a:solidFill>
                  <a:latin typeface="Muli"/>
                  <a:ea typeface="Muli"/>
                  <a:cs typeface="Muli"/>
                  <a:sym typeface="Muli"/>
                </a:rPr>
                <a:t>+ Presentation about team works and what team have accomplished</a:t>
              </a:r>
            </a:p>
          </p:txBody>
        </p:sp>
      </p:grpSp>
      <p:sp>
        <p:nvSpPr>
          <p:cNvPr name="TextBox 25" id="25"/>
          <p:cNvSpPr txBox="true"/>
          <p:nvPr/>
        </p:nvSpPr>
        <p:spPr>
          <a:xfrm rot="0">
            <a:off x="1028700" y="4292557"/>
            <a:ext cx="5676900" cy="1228725"/>
          </a:xfrm>
          <a:prstGeom prst="rect">
            <a:avLst/>
          </a:prstGeom>
        </p:spPr>
        <p:txBody>
          <a:bodyPr anchor="t" rtlCol="false" tIns="0" lIns="0" bIns="0" rIns="0">
            <a:spAutoFit/>
          </a:bodyPr>
          <a:lstStyle/>
          <a:p>
            <a:pPr algn="l" marL="0" indent="0" lvl="0">
              <a:lnSpc>
                <a:spcPts val="9600"/>
              </a:lnSpc>
            </a:pPr>
            <a:r>
              <a:rPr lang="en-US" b="true" sz="8000" spc="-160">
                <a:solidFill>
                  <a:srgbClr val="191919"/>
                </a:solidFill>
                <a:latin typeface="Muli Ultra-Bold"/>
                <a:ea typeface="Muli Ultra-Bold"/>
                <a:cs typeface="Muli Ultra-Bold"/>
                <a:sym typeface="Muli Ultra-Bold"/>
              </a:rPr>
              <a:t>Timeline</a:t>
            </a:r>
          </a:p>
        </p:txBody>
      </p:sp>
      <p:sp>
        <p:nvSpPr>
          <p:cNvPr name="TextBox 26" id="26"/>
          <p:cNvSpPr txBox="true"/>
          <p:nvPr/>
        </p:nvSpPr>
        <p:spPr>
          <a:xfrm rot="0">
            <a:off x="108521" y="66040"/>
            <a:ext cx="348655" cy="353060"/>
          </a:xfrm>
          <a:prstGeom prst="rect">
            <a:avLst/>
          </a:prstGeom>
        </p:spPr>
        <p:txBody>
          <a:bodyPr anchor="t" rtlCol="false" tIns="0" lIns="0" bIns="0" rIns="0">
            <a:spAutoFit/>
          </a:bodyPr>
          <a:lstStyle/>
          <a:p>
            <a:pPr algn="ctr">
              <a:lnSpc>
                <a:spcPts val="2859"/>
              </a:lnSpc>
              <a:spcBef>
                <a:spcPct val="0"/>
              </a:spcBef>
            </a:pPr>
            <a:r>
              <a:rPr lang="en-US" b="true" sz="2199" spc="-65">
                <a:solidFill>
                  <a:srgbClr val="000000"/>
                </a:solidFill>
                <a:latin typeface="Muli Ultra-Bold"/>
                <a:ea typeface="Muli Ultra-Bold"/>
                <a:cs typeface="Muli Ultra-Bold"/>
                <a:sym typeface="Muli Ultra-Bold"/>
              </a:rPr>
              <a:t>R1</a:t>
            </a:r>
          </a:p>
        </p:txBody>
      </p:sp>
      <p:sp>
        <p:nvSpPr>
          <p:cNvPr name="TextBox 27" id="27"/>
          <p:cNvSpPr txBox="true"/>
          <p:nvPr/>
        </p:nvSpPr>
        <p:spPr>
          <a:xfrm rot="0">
            <a:off x="282848" y="8260398"/>
            <a:ext cx="8411464" cy="1986280"/>
          </a:xfrm>
          <a:prstGeom prst="rect">
            <a:avLst/>
          </a:prstGeom>
        </p:spPr>
        <p:txBody>
          <a:bodyPr anchor="t" rtlCol="false" tIns="0" lIns="0" bIns="0" rIns="0">
            <a:spAutoFit/>
          </a:bodyPr>
          <a:lstStyle/>
          <a:p>
            <a:pPr algn="l">
              <a:lnSpc>
                <a:spcPts val="1430"/>
              </a:lnSpc>
            </a:pPr>
            <a:r>
              <a:rPr lang="en-US" sz="1100" spc="-33">
                <a:solidFill>
                  <a:srgbClr val="222222"/>
                </a:solidFill>
                <a:latin typeface="Muli"/>
                <a:ea typeface="Muli"/>
                <a:cs typeface="Muli"/>
                <a:sym typeface="Muli"/>
              </a:rPr>
              <a:t>Welcome to Team 1's Market Intelligence synthesis. I am presenting as the Product Owner alongside my co-PO, Georgi. </a:t>
            </a:r>
          </a:p>
          <a:p>
            <a:pPr algn="l">
              <a:lnSpc>
                <a:spcPts val="1430"/>
              </a:lnSpc>
            </a:pPr>
          </a:p>
          <a:p>
            <a:pPr algn="l">
              <a:lnSpc>
                <a:spcPts val="1430"/>
              </a:lnSpc>
            </a:pPr>
            <a:r>
              <a:rPr lang="en-US" sz="1100" spc="-33">
                <a:solidFill>
                  <a:srgbClr val="222222"/>
                </a:solidFill>
                <a:latin typeface="Muli"/>
                <a:ea typeface="Muli"/>
                <a:cs typeface="Muli"/>
                <a:sym typeface="Muli"/>
              </a:rPr>
              <a:t>As required for the Product Owner role, I will first address our team's performance tracking: our calibration score from last week's sprint was [Insert Score here, e.g., 85% / OR write "N/A for Sprint 1" if this is your first official prediction]. </a:t>
            </a:r>
          </a:p>
          <a:p>
            <a:pPr algn="l">
              <a:lnSpc>
                <a:spcPts val="1430"/>
              </a:lnSpc>
            </a:pPr>
          </a:p>
          <a:p>
            <a:pPr algn="l">
              <a:lnSpc>
                <a:spcPts val="1430"/>
              </a:lnSpc>
            </a:pPr>
            <a:r>
              <a:rPr lang="en-US" sz="1100" spc="-33">
                <a:solidFill>
                  <a:srgbClr val="222222"/>
                </a:solidFill>
                <a:latin typeface="Muli"/>
                <a:ea typeface="Muli"/>
                <a:cs typeface="Muli"/>
                <a:sym typeface="Muli"/>
              </a:rPr>
              <a:t>As outlined in our timeline, our sprint kicked off on May 25th with team formation and milestone planning. From May 26th up until today, May 31st, we executed a rigorous process of collecting data, running agents, and querying four distinct AI models. </a:t>
            </a:r>
          </a:p>
          <a:p>
            <a:pPr algn="l">
              <a:lnSpc>
                <a:spcPts val="1430"/>
              </a:lnSpc>
            </a:pPr>
          </a:p>
          <a:p>
            <a:pPr algn="l">
              <a:lnSpc>
                <a:spcPts val="1430"/>
              </a:lnSpc>
            </a:pPr>
            <a:r>
              <a:rPr lang="en-US" sz="1100" spc="-33">
                <a:solidFill>
                  <a:srgbClr val="222222"/>
                </a:solidFill>
                <a:latin typeface="Muli"/>
                <a:ea typeface="Muli"/>
                <a:cs typeface="Muli"/>
                <a:sym typeface="Muli"/>
              </a:rPr>
              <a:t>Our Sprint Goal this week is to create a clear, evidence-based prediction workflow for the SPX, NDX, and IWM, supported by quantitative market data, AI model comparison, and ultimately, critical human judgement. </a:t>
            </a:r>
          </a:p>
          <a:p>
            <a:pPr algn="l">
              <a:lnSpc>
                <a:spcPts val="1430"/>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6E7DE"/>
        </a:solidFill>
      </p:bgPr>
    </p:bg>
    <p:spTree>
      <p:nvGrpSpPr>
        <p:cNvPr id="1" name=""/>
        <p:cNvGrpSpPr/>
        <p:nvPr/>
      </p:nvGrpSpPr>
      <p:grpSpPr>
        <a:xfrm>
          <a:off x="0" y="0"/>
          <a:ext cx="0" cy="0"/>
          <a:chOff x="0" y="0"/>
          <a:chExt cx="0" cy="0"/>
        </a:xfrm>
      </p:grpSpPr>
      <p:grpSp>
        <p:nvGrpSpPr>
          <p:cNvPr name="Group 2" id="2"/>
          <p:cNvGrpSpPr/>
          <p:nvPr/>
        </p:nvGrpSpPr>
        <p:grpSpPr>
          <a:xfrm rot="0">
            <a:off x="1028700" y="2704048"/>
            <a:ext cx="5162513" cy="4878904"/>
            <a:chOff x="0" y="0"/>
            <a:chExt cx="1746332" cy="1650395"/>
          </a:xfrm>
        </p:grpSpPr>
        <p:sp>
          <p:nvSpPr>
            <p:cNvPr name="Freeform 3" id="3"/>
            <p:cNvSpPr/>
            <p:nvPr/>
          </p:nvSpPr>
          <p:spPr>
            <a:xfrm flipH="false" flipV="false" rot="0">
              <a:off x="0" y="0"/>
              <a:ext cx="1746332" cy="1650395"/>
            </a:xfrm>
            <a:custGeom>
              <a:avLst/>
              <a:gdLst/>
              <a:ahLst/>
              <a:cxnLst/>
              <a:rect r="r" b="b" t="t" l="l"/>
              <a:pathLst>
                <a:path h="1650395" w="1746332">
                  <a:moveTo>
                    <a:pt x="1621872" y="1650395"/>
                  </a:moveTo>
                  <a:lnTo>
                    <a:pt x="124460" y="1650395"/>
                  </a:lnTo>
                  <a:cubicBezTo>
                    <a:pt x="55880" y="1650395"/>
                    <a:pt x="0" y="1594515"/>
                    <a:pt x="0" y="1525935"/>
                  </a:cubicBezTo>
                  <a:lnTo>
                    <a:pt x="0" y="124460"/>
                  </a:lnTo>
                  <a:cubicBezTo>
                    <a:pt x="0" y="55880"/>
                    <a:pt x="55880" y="0"/>
                    <a:pt x="124460" y="0"/>
                  </a:cubicBezTo>
                  <a:lnTo>
                    <a:pt x="1621872" y="0"/>
                  </a:lnTo>
                  <a:cubicBezTo>
                    <a:pt x="1690452" y="0"/>
                    <a:pt x="1746332" y="55880"/>
                    <a:pt x="1746332" y="124460"/>
                  </a:cubicBezTo>
                  <a:lnTo>
                    <a:pt x="1746332" y="1525935"/>
                  </a:lnTo>
                  <a:cubicBezTo>
                    <a:pt x="1746332" y="1594515"/>
                    <a:pt x="1690452" y="1650395"/>
                    <a:pt x="1621872" y="1650395"/>
                  </a:cubicBezTo>
                  <a:close/>
                </a:path>
              </a:pathLst>
            </a:custGeom>
            <a:solidFill>
              <a:srgbClr val="FFFFFF"/>
            </a:solidFill>
          </p:spPr>
        </p:sp>
      </p:grpSp>
      <p:sp>
        <p:nvSpPr>
          <p:cNvPr name="TextBox 4" id="4"/>
          <p:cNvSpPr txBox="true"/>
          <p:nvPr/>
        </p:nvSpPr>
        <p:spPr>
          <a:xfrm rot="0">
            <a:off x="1028700" y="1019175"/>
            <a:ext cx="10696557" cy="1228725"/>
          </a:xfrm>
          <a:prstGeom prst="rect">
            <a:avLst/>
          </a:prstGeom>
        </p:spPr>
        <p:txBody>
          <a:bodyPr anchor="t" rtlCol="false" tIns="0" lIns="0" bIns="0" rIns="0">
            <a:spAutoFit/>
          </a:bodyPr>
          <a:lstStyle/>
          <a:p>
            <a:pPr algn="l" marL="0" indent="0" lvl="0">
              <a:lnSpc>
                <a:spcPts val="9600"/>
              </a:lnSpc>
            </a:pPr>
            <a:r>
              <a:rPr lang="en-US" b="true" sz="8000" spc="-160">
                <a:solidFill>
                  <a:srgbClr val="191919"/>
                </a:solidFill>
                <a:latin typeface="Muli Ultra-Bold"/>
                <a:ea typeface="Muli Ultra-Bold"/>
                <a:cs typeface="Muli Ultra-Bold"/>
                <a:sym typeface="Muli Ultra-Bold"/>
              </a:rPr>
              <a:t>Overview of Goals</a:t>
            </a:r>
          </a:p>
        </p:txBody>
      </p:sp>
      <p:grpSp>
        <p:nvGrpSpPr>
          <p:cNvPr name="Group 5" id="5"/>
          <p:cNvGrpSpPr/>
          <p:nvPr/>
        </p:nvGrpSpPr>
        <p:grpSpPr>
          <a:xfrm rot="0">
            <a:off x="6562743" y="2704048"/>
            <a:ext cx="5162513" cy="4878904"/>
            <a:chOff x="0" y="0"/>
            <a:chExt cx="1746332" cy="1650395"/>
          </a:xfrm>
        </p:grpSpPr>
        <p:sp>
          <p:nvSpPr>
            <p:cNvPr name="Freeform 6" id="6"/>
            <p:cNvSpPr/>
            <p:nvPr/>
          </p:nvSpPr>
          <p:spPr>
            <a:xfrm flipH="false" flipV="false" rot="0">
              <a:off x="0" y="0"/>
              <a:ext cx="1746332" cy="1650395"/>
            </a:xfrm>
            <a:custGeom>
              <a:avLst/>
              <a:gdLst/>
              <a:ahLst/>
              <a:cxnLst/>
              <a:rect r="r" b="b" t="t" l="l"/>
              <a:pathLst>
                <a:path h="1650395" w="1746332">
                  <a:moveTo>
                    <a:pt x="1621872" y="1650395"/>
                  </a:moveTo>
                  <a:lnTo>
                    <a:pt x="124460" y="1650395"/>
                  </a:lnTo>
                  <a:cubicBezTo>
                    <a:pt x="55880" y="1650395"/>
                    <a:pt x="0" y="1594515"/>
                    <a:pt x="0" y="1525935"/>
                  </a:cubicBezTo>
                  <a:lnTo>
                    <a:pt x="0" y="124460"/>
                  </a:lnTo>
                  <a:cubicBezTo>
                    <a:pt x="0" y="55880"/>
                    <a:pt x="55880" y="0"/>
                    <a:pt x="124460" y="0"/>
                  </a:cubicBezTo>
                  <a:lnTo>
                    <a:pt x="1621872" y="0"/>
                  </a:lnTo>
                  <a:cubicBezTo>
                    <a:pt x="1690452" y="0"/>
                    <a:pt x="1746332" y="55880"/>
                    <a:pt x="1746332" y="124460"/>
                  </a:cubicBezTo>
                  <a:lnTo>
                    <a:pt x="1746332" y="1525935"/>
                  </a:lnTo>
                  <a:cubicBezTo>
                    <a:pt x="1746332" y="1594515"/>
                    <a:pt x="1690452" y="1650395"/>
                    <a:pt x="1621872" y="1650395"/>
                  </a:cubicBezTo>
                  <a:close/>
                </a:path>
              </a:pathLst>
            </a:custGeom>
            <a:solidFill>
              <a:srgbClr val="FFFFFF"/>
            </a:solidFill>
          </p:spPr>
        </p:sp>
      </p:grpSp>
      <p:grpSp>
        <p:nvGrpSpPr>
          <p:cNvPr name="Group 7" id="7"/>
          <p:cNvGrpSpPr/>
          <p:nvPr/>
        </p:nvGrpSpPr>
        <p:grpSpPr>
          <a:xfrm rot="0">
            <a:off x="7096316" y="4701509"/>
            <a:ext cx="4095368" cy="866713"/>
            <a:chOff x="0" y="0"/>
            <a:chExt cx="5460491" cy="1155617"/>
          </a:xfrm>
        </p:grpSpPr>
        <p:sp>
          <p:nvSpPr>
            <p:cNvPr name="TextBox 8" id="8"/>
            <p:cNvSpPr txBox="true"/>
            <p:nvPr/>
          </p:nvSpPr>
          <p:spPr>
            <a:xfrm rot="0">
              <a:off x="0" y="-28575"/>
              <a:ext cx="5460491" cy="426508"/>
            </a:xfrm>
            <a:prstGeom prst="rect">
              <a:avLst/>
            </a:prstGeom>
          </p:spPr>
          <p:txBody>
            <a:bodyPr anchor="t" rtlCol="false" tIns="0" lIns="0" bIns="0" rIns="0">
              <a:spAutoFit/>
            </a:bodyPr>
            <a:lstStyle/>
            <a:p>
              <a:pPr algn="ctr" marL="0" indent="0" lvl="0">
                <a:lnSpc>
                  <a:spcPts val="2600"/>
                </a:lnSpc>
              </a:pPr>
              <a:r>
                <a:rPr lang="en-US" b="true" sz="2000" spc="20">
                  <a:solidFill>
                    <a:srgbClr val="191919"/>
                  </a:solidFill>
                  <a:latin typeface="Muli Bold"/>
                  <a:ea typeface="Muli Bold"/>
                  <a:cs typeface="Muli Bold"/>
                  <a:sym typeface="Muli Bold"/>
                </a:rPr>
                <a:t>IMPLEMENT NEW SYSTEM</a:t>
              </a:r>
            </a:p>
          </p:txBody>
        </p:sp>
        <p:sp>
          <p:nvSpPr>
            <p:cNvPr name="TextBox 9" id="9"/>
            <p:cNvSpPr txBox="true"/>
            <p:nvPr/>
          </p:nvSpPr>
          <p:spPr>
            <a:xfrm rot="0">
              <a:off x="0" y="800440"/>
              <a:ext cx="5460491" cy="355177"/>
            </a:xfrm>
            <a:prstGeom prst="rect">
              <a:avLst/>
            </a:prstGeom>
          </p:spPr>
          <p:txBody>
            <a:bodyPr anchor="t" rtlCol="false" tIns="0" lIns="0" bIns="0" rIns="0">
              <a:spAutoFit/>
            </a:bodyPr>
            <a:lstStyle/>
            <a:p>
              <a:pPr algn="ctr">
                <a:lnSpc>
                  <a:spcPts val="2379"/>
                </a:lnSpc>
                <a:spcBef>
                  <a:spcPct val="0"/>
                </a:spcBef>
              </a:pPr>
              <a:r>
                <a:rPr lang="en-US" sz="1700">
                  <a:solidFill>
                    <a:srgbClr val="191919"/>
                  </a:solidFill>
                  <a:latin typeface="Muli"/>
                  <a:ea typeface="Muli"/>
                  <a:cs typeface="Muli"/>
                  <a:sym typeface="Muli"/>
                </a:rPr>
                <a:t>Install system and train users</a:t>
              </a:r>
            </a:p>
          </p:txBody>
        </p:sp>
      </p:grpSp>
      <p:grpSp>
        <p:nvGrpSpPr>
          <p:cNvPr name="Group 10" id="10"/>
          <p:cNvGrpSpPr/>
          <p:nvPr/>
        </p:nvGrpSpPr>
        <p:grpSpPr>
          <a:xfrm rot="0">
            <a:off x="8727248" y="3223863"/>
            <a:ext cx="833504" cy="833504"/>
            <a:chOff x="0" y="0"/>
            <a:chExt cx="1111339" cy="1111339"/>
          </a:xfrm>
        </p:grpSpPr>
        <p:grpSp>
          <p:nvGrpSpPr>
            <p:cNvPr name="Group 11" id="11"/>
            <p:cNvGrpSpPr>
              <a:grpSpLocks noChangeAspect="true"/>
            </p:cNvGrpSpPr>
            <p:nvPr/>
          </p:nvGrpSpPr>
          <p:grpSpPr>
            <a:xfrm rot="0">
              <a:off x="0" y="0"/>
              <a:ext cx="1111339" cy="1111339"/>
              <a:chOff x="0" y="0"/>
              <a:chExt cx="6355080" cy="6355080"/>
            </a:xfrm>
          </p:grpSpPr>
          <p:sp>
            <p:nvSpPr>
              <p:cNvPr name="Freeform 12" id="12"/>
              <p:cNvSpPr/>
              <p:nvPr/>
            </p:nvSpPr>
            <p:spPr>
              <a:xfrm flipH="false" flipV="false" rot="0">
                <a:off x="0" y="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FF6F28"/>
              </a:solidFill>
            </p:spPr>
          </p:sp>
        </p:grpSp>
        <p:sp>
          <p:nvSpPr>
            <p:cNvPr name="TextBox 13" id="13"/>
            <p:cNvSpPr txBox="true"/>
            <p:nvPr/>
          </p:nvSpPr>
          <p:spPr>
            <a:xfrm rot="0">
              <a:off x="246393" y="313946"/>
              <a:ext cx="618552" cy="464397"/>
            </a:xfrm>
            <a:prstGeom prst="rect">
              <a:avLst/>
            </a:prstGeom>
          </p:spPr>
          <p:txBody>
            <a:bodyPr anchor="t" rtlCol="false" tIns="0" lIns="0" bIns="0" rIns="0">
              <a:spAutoFit/>
            </a:bodyPr>
            <a:lstStyle/>
            <a:p>
              <a:pPr algn="ctr" marL="0" indent="0" lvl="0">
                <a:lnSpc>
                  <a:spcPts val="2860"/>
                </a:lnSpc>
              </a:pPr>
              <a:r>
                <a:rPr lang="en-US" b="true" sz="2199" spc="-65">
                  <a:solidFill>
                    <a:srgbClr val="FF7B26"/>
                  </a:solidFill>
                  <a:latin typeface="Muli Ultra-Bold"/>
                  <a:ea typeface="Muli Ultra-Bold"/>
                  <a:cs typeface="Muli Ultra-Bold"/>
                  <a:sym typeface="Muli Ultra-Bold"/>
                </a:rPr>
                <a:t>2</a:t>
              </a:r>
            </a:p>
          </p:txBody>
        </p:sp>
      </p:grpSp>
      <p:grpSp>
        <p:nvGrpSpPr>
          <p:cNvPr name="Group 14" id="14"/>
          <p:cNvGrpSpPr/>
          <p:nvPr/>
        </p:nvGrpSpPr>
        <p:grpSpPr>
          <a:xfrm rot="0">
            <a:off x="12096787" y="2704048"/>
            <a:ext cx="5162513" cy="4878904"/>
            <a:chOff x="0" y="0"/>
            <a:chExt cx="1746332" cy="1650395"/>
          </a:xfrm>
        </p:grpSpPr>
        <p:sp>
          <p:nvSpPr>
            <p:cNvPr name="Freeform 15" id="15"/>
            <p:cNvSpPr/>
            <p:nvPr/>
          </p:nvSpPr>
          <p:spPr>
            <a:xfrm flipH="false" flipV="false" rot="0">
              <a:off x="0" y="0"/>
              <a:ext cx="1746332" cy="1650395"/>
            </a:xfrm>
            <a:custGeom>
              <a:avLst/>
              <a:gdLst/>
              <a:ahLst/>
              <a:cxnLst/>
              <a:rect r="r" b="b" t="t" l="l"/>
              <a:pathLst>
                <a:path h="1650395" w="1746332">
                  <a:moveTo>
                    <a:pt x="1621872" y="1650395"/>
                  </a:moveTo>
                  <a:lnTo>
                    <a:pt x="124460" y="1650395"/>
                  </a:lnTo>
                  <a:cubicBezTo>
                    <a:pt x="55880" y="1650395"/>
                    <a:pt x="0" y="1594515"/>
                    <a:pt x="0" y="1525935"/>
                  </a:cubicBezTo>
                  <a:lnTo>
                    <a:pt x="0" y="124460"/>
                  </a:lnTo>
                  <a:cubicBezTo>
                    <a:pt x="0" y="55880"/>
                    <a:pt x="55880" y="0"/>
                    <a:pt x="124460" y="0"/>
                  </a:cubicBezTo>
                  <a:lnTo>
                    <a:pt x="1621872" y="0"/>
                  </a:lnTo>
                  <a:cubicBezTo>
                    <a:pt x="1690452" y="0"/>
                    <a:pt x="1746332" y="55880"/>
                    <a:pt x="1746332" y="124460"/>
                  </a:cubicBezTo>
                  <a:lnTo>
                    <a:pt x="1746332" y="1525935"/>
                  </a:lnTo>
                  <a:cubicBezTo>
                    <a:pt x="1746332" y="1594515"/>
                    <a:pt x="1690452" y="1650395"/>
                    <a:pt x="1621872" y="1650395"/>
                  </a:cubicBezTo>
                  <a:close/>
                </a:path>
              </a:pathLst>
            </a:custGeom>
            <a:solidFill>
              <a:srgbClr val="FFFFFF"/>
            </a:solidFill>
          </p:spPr>
        </p:sp>
      </p:grpSp>
      <p:grpSp>
        <p:nvGrpSpPr>
          <p:cNvPr name="Group 16" id="16"/>
          <p:cNvGrpSpPr/>
          <p:nvPr/>
        </p:nvGrpSpPr>
        <p:grpSpPr>
          <a:xfrm rot="0">
            <a:off x="12630359" y="4701509"/>
            <a:ext cx="4095368" cy="1190563"/>
            <a:chOff x="0" y="0"/>
            <a:chExt cx="5460491" cy="1587417"/>
          </a:xfrm>
        </p:grpSpPr>
        <p:sp>
          <p:nvSpPr>
            <p:cNvPr name="TextBox 17" id="17"/>
            <p:cNvSpPr txBox="true"/>
            <p:nvPr/>
          </p:nvSpPr>
          <p:spPr>
            <a:xfrm rot="0">
              <a:off x="0" y="-28575"/>
              <a:ext cx="5460491" cy="858308"/>
            </a:xfrm>
            <a:prstGeom prst="rect">
              <a:avLst/>
            </a:prstGeom>
          </p:spPr>
          <p:txBody>
            <a:bodyPr anchor="t" rtlCol="false" tIns="0" lIns="0" bIns="0" rIns="0">
              <a:spAutoFit/>
            </a:bodyPr>
            <a:lstStyle/>
            <a:p>
              <a:pPr algn="ctr" marL="0" indent="0" lvl="0">
                <a:lnSpc>
                  <a:spcPts val="2600"/>
                </a:lnSpc>
              </a:pPr>
              <a:r>
                <a:rPr lang="en-US" b="true" sz="2000" spc="20">
                  <a:solidFill>
                    <a:srgbClr val="191919"/>
                  </a:solidFill>
                  <a:latin typeface="Muli Bold"/>
                  <a:ea typeface="Muli Bold"/>
                  <a:cs typeface="Muli Bold"/>
                  <a:sym typeface="Muli Bold"/>
                </a:rPr>
                <a:t>ASSESS NEW SYSTEM AND PROGRAM</a:t>
              </a:r>
            </a:p>
          </p:txBody>
        </p:sp>
        <p:sp>
          <p:nvSpPr>
            <p:cNvPr name="TextBox 18" id="18"/>
            <p:cNvSpPr txBox="true"/>
            <p:nvPr/>
          </p:nvSpPr>
          <p:spPr>
            <a:xfrm rot="0">
              <a:off x="0" y="1232240"/>
              <a:ext cx="5460491" cy="355177"/>
            </a:xfrm>
            <a:prstGeom prst="rect">
              <a:avLst/>
            </a:prstGeom>
          </p:spPr>
          <p:txBody>
            <a:bodyPr anchor="t" rtlCol="false" tIns="0" lIns="0" bIns="0" rIns="0">
              <a:spAutoFit/>
            </a:bodyPr>
            <a:lstStyle/>
            <a:p>
              <a:pPr algn="ctr">
                <a:lnSpc>
                  <a:spcPts val="2379"/>
                </a:lnSpc>
                <a:spcBef>
                  <a:spcPct val="0"/>
                </a:spcBef>
              </a:pPr>
              <a:r>
                <a:rPr lang="en-US" sz="1700">
                  <a:solidFill>
                    <a:srgbClr val="191919"/>
                  </a:solidFill>
                  <a:latin typeface="Muli"/>
                  <a:ea typeface="Muli"/>
                  <a:cs typeface="Muli"/>
                  <a:sym typeface="Muli"/>
                </a:rPr>
                <a:t>Identify areas for improvement</a:t>
              </a:r>
            </a:p>
          </p:txBody>
        </p:sp>
      </p:grpSp>
      <p:grpSp>
        <p:nvGrpSpPr>
          <p:cNvPr name="Group 19" id="19"/>
          <p:cNvGrpSpPr/>
          <p:nvPr/>
        </p:nvGrpSpPr>
        <p:grpSpPr>
          <a:xfrm rot="0">
            <a:off x="14261291" y="3223863"/>
            <a:ext cx="833504" cy="833504"/>
            <a:chOff x="0" y="0"/>
            <a:chExt cx="1111339" cy="1111339"/>
          </a:xfrm>
        </p:grpSpPr>
        <p:grpSp>
          <p:nvGrpSpPr>
            <p:cNvPr name="Group 20" id="20"/>
            <p:cNvGrpSpPr>
              <a:grpSpLocks noChangeAspect="true"/>
            </p:cNvGrpSpPr>
            <p:nvPr/>
          </p:nvGrpSpPr>
          <p:grpSpPr>
            <a:xfrm rot="0">
              <a:off x="0" y="0"/>
              <a:ext cx="1111339" cy="1111339"/>
              <a:chOff x="0" y="0"/>
              <a:chExt cx="6355080" cy="6355080"/>
            </a:xfrm>
          </p:grpSpPr>
          <p:sp>
            <p:nvSpPr>
              <p:cNvPr name="Freeform 21" id="21"/>
              <p:cNvSpPr/>
              <p:nvPr/>
            </p:nvSpPr>
            <p:spPr>
              <a:xfrm flipH="false" flipV="false" rot="0">
                <a:off x="0" y="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FF6F28"/>
              </a:solidFill>
            </p:spPr>
          </p:sp>
        </p:grpSp>
        <p:sp>
          <p:nvSpPr>
            <p:cNvPr name="TextBox 22" id="22"/>
            <p:cNvSpPr txBox="true"/>
            <p:nvPr/>
          </p:nvSpPr>
          <p:spPr>
            <a:xfrm rot="0">
              <a:off x="246393" y="313946"/>
              <a:ext cx="618552" cy="464397"/>
            </a:xfrm>
            <a:prstGeom prst="rect">
              <a:avLst/>
            </a:prstGeom>
          </p:spPr>
          <p:txBody>
            <a:bodyPr anchor="t" rtlCol="false" tIns="0" lIns="0" bIns="0" rIns="0">
              <a:spAutoFit/>
            </a:bodyPr>
            <a:lstStyle/>
            <a:p>
              <a:pPr algn="ctr" marL="0" indent="0" lvl="0">
                <a:lnSpc>
                  <a:spcPts val="2860"/>
                </a:lnSpc>
              </a:pPr>
              <a:r>
                <a:rPr lang="en-US" b="true" sz="2199" spc="-65">
                  <a:solidFill>
                    <a:srgbClr val="FF7B26"/>
                  </a:solidFill>
                  <a:latin typeface="Muli Ultra-Bold"/>
                  <a:ea typeface="Muli Ultra-Bold"/>
                  <a:cs typeface="Muli Ultra-Bold"/>
                  <a:sym typeface="Muli Ultra-Bold"/>
                </a:rPr>
                <a:t>3</a:t>
              </a:r>
            </a:p>
          </p:txBody>
        </p:sp>
      </p:grpSp>
      <p:grpSp>
        <p:nvGrpSpPr>
          <p:cNvPr name="Group 23" id="23"/>
          <p:cNvGrpSpPr/>
          <p:nvPr/>
        </p:nvGrpSpPr>
        <p:grpSpPr>
          <a:xfrm rot="0">
            <a:off x="6562743" y="8461753"/>
            <a:ext cx="5162513" cy="796547"/>
            <a:chOff x="0" y="0"/>
            <a:chExt cx="64531414" cy="9956838"/>
          </a:xfrm>
        </p:grpSpPr>
        <p:sp>
          <p:nvSpPr>
            <p:cNvPr name="Freeform 24" id="24"/>
            <p:cNvSpPr/>
            <p:nvPr/>
          </p:nvSpPr>
          <p:spPr>
            <a:xfrm flipH="false" flipV="false" rot="0">
              <a:off x="-12700" y="-12700"/>
              <a:ext cx="64556816" cy="9982238"/>
            </a:xfrm>
            <a:custGeom>
              <a:avLst/>
              <a:gdLst/>
              <a:ahLst/>
              <a:cxnLst/>
              <a:rect r="r" b="b" t="t" l="l"/>
              <a:pathLst>
                <a:path h="9982238" w="64556816">
                  <a:moveTo>
                    <a:pt x="63694481" y="0"/>
                  </a:moveTo>
                  <a:lnTo>
                    <a:pt x="862330" y="0"/>
                  </a:lnTo>
                  <a:cubicBezTo>
                    <a:pt x="389890" y="0"/>
                    <a:pt x="0" y="389890"/>
                    <a:pt x="0" y="862330"/>
                  </a:cubicBezTo>
                  <a:lnTo>
                    <a:pt x="0" y="9119908"/>
                  </a:lnTo>
                  <a:cubicBezTo>
                    <a:pt x="0" y="9592348"/>
                    <a:pt x="389890" y="9982238"/>
                    <a:pt x="862330" y="9982238"/>
                  </a:cubicBezTo>
                  <a:lnTo>
                    <a:pt x="63694481" y="9982238"/>
                  </a:lnTo>
                  <a:cubicBezTo>
                    <a:pt x="64166924" y="9982238"/>
                    <a:pt x="64556816" y="9592348"/>
                    <a:pt x="64556816" y="9119908"/>
                  </a:cubicBezTo>
                  <a:lnTo>
                    <a:pt x="64556816" y="862330"/>
                  </a:lnTo>
                  <a:cubicBezTo>
                    <a:pt x="64556816" y="389890"/>
                    <a:pt x="64166924" y="0"/>
                    <a:pt x="63694481" y="0"/>
                  </a:cubicBezTo>
                  <a:close/>
                  <a:moveTo>
                    <a:pt x="64366316" y="927100"/>
                  </a:moveTo>
                  <a:lnTo>
                    <a:pt x="64366316" y="9119908"/>
                  </a:lnTo>
                  <a:cubicBezTo>
                    <a:pt x="64366316" y="9486937"/>
                    <a:pt x="64061516" y="9791737"/>
                    <a:pt x="63694481" y="9791737"/>
                  </a:cubicBezTo>
                  <a:lnTo>
                    <a:pt x="862330" y="9791737"/>
                  </a:lnTo>
                  <a:cubicBezTo>
                    <a:pt x="495300" y="9791737"/>
                    <a:pt x="190500" y="9486937"/>
                    <a:pt x="190500" y="9119908"/>
                  </a:cubicBezTo>
                  <a:lnTo>
                    <a:pt x="190500" y="862330"/>
                  </a:lnTo>
                  <a:cubicBezTo>
                    <a:pt x="190500" y="495300"/>
                    <a:pt x="495300" y="190500"/>
                    <a:pt x="862330" y="190500"/>
                  </a:cubicBezTo>
                  <a:lnTo>
                    <a:pt x="63694481" y="190500"/>
                  </a:lnTo>
                  <a:cubicBezTo>
                    <a:pt x="64061516" y="190500"/>
                    <a:pt x="64366316" y="495300"/>
                    <a:pt x="64366316" y="862330"/>
                  </a:cubicBezTo>
                  <a:lnTo>
                    <a:pt x="64366316" y="927100"/>
                  </a:lnTo>
                  <a:close/>
                </a:path>
              </a:pathLst>
            </a:custGeom>
            <a:solidFill>
              <a:srgbClr val="FF6F28"/>
            </a:solidFill>
          </p:spPr>
        </p:sp>
      </p:grpSp>
      <p:grpSp>
        <p:nvGrpSpPr>
          <p:cNvPr name="Group 25" id="25"/>
          <p:cNvGrpSpPr/>
          <p:nvPr/>
        </p:nvGrpSpPr>
        <p:grpSpPr>
          <a:xfrm rot="0">
            <a:off x="7269541" y="8686541"/>
            <a:ext cx="346970" cy="346970"/>
            <a:chOff x="0" y="0"/>
            <a:chExt cx="462627" cy="462627"/>
          </a:xfrm>
        </p:grpSpPr>
        <p:grpSp>
          <p:nvGrpSpPr>
            <p:cNvPr name="Group 26" id="26"/>
            <p:cNvGrpSpPr/>
            <p:nvPr/>
          </p:nvGrpSpPr>
          <p:grpSpPr>
            <a:xfrm rot="0">
              <a:off x="0" y="0"/>
              <a:ext cx="462627" cy="462627"/>
              <a:chOff x="0" y="0"/>
              <a:chExt cx="6350000" cy="6350000"/>
            </a:xfrm>
          </p:grpSpPr>
          <p:sp>
            <p:nvSpPr>
              <p:cNvPr name="Freeform 27" id="27"/>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6F28"/>
              </a:solidFill>
            </p:spPr>
          </p:sp>
        </p:grpSp>
        <p:sp>
          <p:nvSpPr>
            <p:cNvPr name="Freeform 28" id="28"/>
            <p:cNvSpPr/>
            <p:nvPr/>
          </p:nvSpPr>
          <p:spPr>
            <a:xfrm flipH="false" flipV="false" rot="0">
              <a:off x="115880" y="138967"/>
              <a:ext cx="230867" cy="184694"/>
            </a:xfrm>
            <a:custGeom>
              <a:avLst/>
              <a:gdLst/>
              <a:ahLst/>
              <a:cxnLst/>
              <a:rect r="r" b="b" t="t" l="l"/>
              <a:pathLst>
                <a:path h="184694" w="230867">
                  <a:moveTo>
                    <a:pt x="0" y="0"/>
                  </a:moveTo>
                  <a:lnTo>
                    <a:pt x="230867" y="0"/>
                  </a:lnTo>
                  <a:lnTo>
                    <a:pt x="230867" y="184693"/>
                  </a:lnTo>
                  <a:lnTo>
                    <a:pt x="0" y="18469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TextBox 29" id="29"/>
          <p:cNvSpPr txBox="true"/>
          <p:nvPr/>
        </p:nvSpPr>
        <p:spPr>
          <a:xfrm rot="0">
            <a:off x="7899369" y="8673971"/>
            <a:ext cx="2857975" cy="353060"/>
          </a:xfrm>
          <a:prstGeom prst="rect">
            <a:avLst/>
          </a:prstGeom>
        </p:spPr>
        <p:txBody>
          <a:bodyPr anchor="t" rtlCol="false" tIns="0" lIns="0" bIns="0" rIns="0">
            <a:spAutoFit/>
          </a:bodyPr>
          <a:lstStyle/>
          <a:p>
            <a:pPr algn="ctr" marL="0" indent="0" lvl="0">
              <a:lnSpc>
                <a:spcPts val="2860"/>
              </a:lnSpc>
            </a:pPr>
            <a:r>
              <a:rPr lang="en-US" b="true" sz="2199" spc="-65">
                <a:solidFill>
                  <a:srgbClr val="191919"/>
                </a:solidFill>
                <a:latin typeface="Muli Ultra-Bold"/>
                <a:ea typeface="Muli Ultra-Bold"/>
                <a:cs typeface="Muli Ultra-Bold"/>
                <a:sym typeface="Muli Ultra-Bold"/>
              </a:rPr>
              <a:t>DONE</a:t>
            </a:r>
          </a:p>
        </p:txBody>
      </p:sp>
      <p:grpSp>
        <p:nvGrpSpPr>
          <p:cNvPr name="Group 30" id="30"/>
          <p:cNvGrpSpPr/>
          <p:nvPr/>
        </p:nvGrpSpPr>
        <p:grpSpPr>
          <a:xfrm rot="0">
            <a:off x="12096787" y="8461753"/>
            <a:ext cx="5162513" cy="796547"/>
            <a:chOff x="0" y="0"/>
            <a:chExt cx="64531414" cy="9956838"/>
          </a:xfrm>
        </p:grpSpPr>
        <p:sp>
          <p:nvSpPr>
            <p:cNvPr name="Freeform 31" id="31"/>
            <p:cNvSpPr/>
            <p:nvPr/>
          </p:nvSpPr>
          <p:spPr>
            <a:xfrm flipH="false" flipV="false" rot="0">
              <a:off x="-12700" y="-12700"/>
              <a:ext cx="64556816" cy="9982238"/>
            </a:xfrm>
            <a:custGeom>
              <a:avLst/>
              <a:gdLst/>
              <a:ahLst/>
              <a:cxnLst/>
              <a:rect r="r" b="b" t="t" l="l"/>
              <a:pathLst>
                <a:path h="9982238" w="64556816">
                  <a:moveTo>
                    <a:pt x="63694481" y="0"/>
                  </a:moveTo>
                  <a:lnTo>
                    <a:pt x="862330" y="0"/>
                  </a:lnTo>
                  <a:cubicBezTo>
                    <a:pt x="389890" y="0"/>
                    <a:pt x="0" y="389890"/>
                    <a:pt x="0" y="862330"/>
                  </a:cubicBezTo>
                  <a:lnTo>
                    <a:pt x="0" y="9119908"/>
                  </a:lnTo>
                  <a:cubicBezTo>
                    <a:pt x="0" y="9592348"/>
                    <a:pt x="389890" y="9982238"/>
                    <a:pt x="862330" y="9982238"/>
                  </a:cubicBezTo>
                  <a:lnTo>
                    <a:pt x="63694481" y="9982238"/>
                  </a:lnTo>
                  <a:cubicBezTo>
                    <a:pt x="64166924" y="9982238"/>
                    <a:pt x="64556816" y="9592348"/>
                    <a:pt x="64556816" y="9119908"/>
                  </a:cubicBezTo>
                  <a:lnTo>
                    <a:pt x="64556816" y="862330"/>
                  </a:lnTo>
                  <a:cubicBezTo>
                    <a:pt x="64556816" y="389890"/>
                    <a:pt x="64166924" y="0"/>
                    <a:pt x="63694481" y="0"/>
                  </a:cubicBezTo>
                  <a:close/>
                  <a:moveTo>
                    <a:pt x="64366316" y="927100"/>
                  </a:moveTo>
                  <a:lnTo>
                    <a:pt x="64366316" y="9119908"/>
                  </a:lnTo>
                  <a:cubicBezTo>
                    <a:pt x="64366316" y="9486937"/>
                    <a:pt x="64061516" y="9791737"/>
                    <a:pt x="63694481" y="9791737"/>
                  </a:cubicBezTo>
                  <a:lnTo>
                    <a:pt x="862330" y="9791737"/>
                  </a:lnTo>
                  <a:cubicBezTo>
                    <a:pt x="495300" y="9791737"/>
                    <a:pt x="190500" y="9486937"/>
                    <a:pt x="190500" y="9119908"/>
                  </a:cubicBezTo>
                  <a:lnTo>
                    <a:pt x="190500" y="862330"/>
                  </a:lnTo>
                  <a:cubicBezTo>
                    <a:pt x="190500" y="495300"/>
                    <a:pt x="495300" y="190500"/>
                    <a:pt x="862330" y="190500"/>
                  </a:cubicBezTo>
                  <a:lnTo>
                    <a:pt x="63694481" y="190500"/>
                  </a:lnTo>
                  <a:cubicBezTo>
                    <a:pt x="64061516" y="190500"/>
                    <a:pt x="64366316" y="495300"/>
                    <a:pt x="64366316" y="862330"/>
                  </a:cubicBezTo>
                  <a:lnTo>
                    <a:pt x="64366316" y="927100"/>
                  </a:lnTo>
                  <a:close/>
                </a:path>
              </a:pathLst>
            </a:custGeom>
            <a:solidFill>
              <a:srgbClr val="FF6F28"/>
            </a:solidFill>
          </p:spPr>
        </p:sp>
      </p:grpSp>
      <p:sp>
        <p:nvSpPr>
          <p:cNvPr name="TextBox 32" id="32"/>
          <p:cNvSpPr txBox="true"/>
          <p:nvPr/>
        </p:nvSpPr>
        <p:spPr>
          <a:xfrm rot="0">
            <a:off x="13433412" y="8673971"/>
            <a:ext cx="2857975" cy="353060"/>
          </a:xfrm>
          <a:prstGeom prst="rect">
            <a:avLst/>
          </a:prstGeom>
        </p:spPr>
        <p:txBody>
          <a:bodyPr anchor="t" rtlCol="false" tIns="0" lIns="0" bIns="0" rIns="0">
            <a:spAutoFit/>
          </a:bodyPr>
          <a:lstStyle/>
          <a:p>
            <a:pPr algn="ctr" marL="0" indent="0" lvl="0">
              <a:lnSpc>
                <a:spcPts val="2860"/>
              </a:lnSpc>
            </a:pPr>
            <a:r>
              <a:rPr lang="en-US" b="true" sz="2199" spc="-65">
                <a:solidFill>
                  <a:srgbClr val="191919"/>
                </a:solidFill>
                <a:latin typeface="Muli Ultra-Bold"/>
                <a:ea typeface="Muli Ultra-Bold"/>
                <a:cs typeface="Muli Ultra-Bold"/>
                <a:sym typeface="Muli Ultra-Bold"/>
              </a:rPr>
              <a:t>ONGOING</a:t>
            </a:r>
          </a:p>
        </p:txBody>
      </p:sp>
      <p:grpSp>
        <p:nvGrpSpPr>
          <p:cNvPr name="Group 33" id="33"/>
          <p:cNvGrpSpPr/>
          <p:nvPr/>
        </p:nvGrpSpPr>
        <p:grpSpPr>
          <a:xfrm rot="0">
            <a:off x="12803584" y="8686541"/>
            <a:ext cx="346970" cy="346970"/>
            <a:chOff x="0" y="0"/>
            <a:chExt cx="6350000" cy="6350000"/>
          </a:xfrm>
        </p:grpSpPr>
        <p:sp>
          <p:nvSpPr>
            <p:cNvPr name="Freeform 34" id="34"/>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6F28"/>
            </a:solidFill>
          </p:spPr>
        </p:sp>
      </p:grpSp>
      <p:sp>
        <p:nvSpPr>
          <p:cNvPr name="Freeform 35" id="35"/>
          <p:cNvSpPr/>
          <p:nvPr/>
        </p:nvSpPr>
        <p:spPr>
          <a:xfrm flipH="false" flipV="false" rot="0">
            <a:off x="12901840" y="8784797"/>
            <a:ext cx="150459" cy="150459"/>
          </a:xfrm>
          <a:custGeom>
            <a:avLst/>
            <a:gdLst/>
            <a:ahLst/>
            <a:cxnLst/>
            <a:rect r="r" b="b" t="t" l="l"/>
            <a:pathLst>
              <a:path h="150459" w="150459">
                <a:moveTo>
                  <a:pt x="0" y="0"/>
                </a:moveTo>
                <a:lnTo>
                  <a:pt x="150459" y="0"/>
                </a:lnTo>
                <a:lnTo>
                  <a:pt x="150459" y="150459"/>
                </a:lnTo>
                <a:lnTo>
                  <a:pt x="0" y="1504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36" id="36"/>
          <p:cNvGrpSpPr/>
          <p:nvPr/>
        </p:nvGrpSpPr>
        <p:grpSpPr>
          <a:xfrm rot="0">
            <a:off x="8860025" y="6495187"/>
            <a:ext cx="567950" cy="567950"/>
            <a:chOff x="0" y="0"/>
            <a:chExt cx="757267" cy="757267"/>
          </a:xfrm>
        </p:grpSpPr>
        <p:grpSp>
          <p:nvGrpSpPr>
            <p:cNvPr name="Group 37" id="37"/>
            <p:cNvGrpSpPr/>
            <p:nvPr/>
          </p:nvGrpSpPr>
          <p:grpSpPr>
            <a:xfrm rot="0">
              <a:off x="0" y="0"/>
              <a:ext cx="757267" cy="757267"/>
              <a:chOff x="0" y="0"/>
              <a:chExt cx="6350000" cy="6350000"/>
            </a:xfrm>
          </p:grpSpPr>
          <p:sp>
            <p:nvSpPr>
              <p:cNvPr name="Freeform 38" id="38"/>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6F28"/>
              </a:solidFill>
            </p:spPr>
          </p:sp>
        </p:grpSp>
        <p:sp>
          <p:nvSpPr>
            <p:cNvPr name="Freeform 39" id="39"/>
            <p:cNvSpPr/>
            <p:nvPr/>
          </p:nvSpPr>
          <p:spPr>
            <a:xfrm flipH="false" flipV="false" rot="0">
              <a:off x="197756" y="197756"/>
              <a:ext cx="361754" cy="361754"/>
            </a:xfrm>
            <a:custGeom>
              <a:avLst/>
              <a:gdLst/>
              <a:ahLst/>
              <a:cxnLst/>
              <a:rect r="r" b="b" t="t" l="l"/>
              <a:pathLst>
                <a:path h="361754" w="361754">
                  <a:moveTo>
                    <a:pt x="0" y="0"/>
                  </a:moveTo>
                  <a:lnTo>
                    <a:pt x="361755" y="0"/>
                  </a:lnTo>
                  <a:lnTo>
                    <a:pt x="361755" y="361755"/>
                  </a:lnTo>
                  <a:lnTo>
                    <a:pt x="0" y="3617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40" id="40"/>
          <p:cNvGrpSpPr/>
          <p:nvPr/>
        </p:nvGrpSpPr>
        <p:grpSpPr>
          <a:xfrm rot="0">
            <a:off x="14394068" y="6495187"/>
            <a:ext cx="567950" cy="567950"/>
            <a:chOff x="0" y="0"/>
            <a:chExt cx="757267" cy="757267"/>
          </a:xfrm>
        </p:grpSpPr>
        <p:grpSp>
          <p:nvGrpSpPr>
            <p:cNvPr name="Group 41" id="41"/>
            <p:cNvGrpSpPr/>
            <p:nvPr/>
          </p:nvGrpSpPr>
          <p:grpSpPr>
            <a:xfrm rot="0">
              <a:off x="0" y="0"/>
              <a:ext cx="757267" cy="757267"/>
              <a:chOff x="0" y="0"/>
              <a:chExt cx="6350000" cy="6350000"/>
            </a:xfrm>
          </p:grpSpPr>
          <p:sp>
            <p:nvSpPr>
              <p:cNvPr name="Freeform 42" id="42"/>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6F28"/>
              </a:solidFill>
            </p:spPr>
          </p:sp>
        </p:grpSp>
        <p:sp>
          <p:nvSpPr>
            <p:cNvPr name="Freeform 43" id="43"/>
            <p:cNvSpPr/>
            <p:nvPr/>
          </p:nvSpPr>
          <p:spPr>
            <a:xfrm flipH="false" flipV="false" rot="0">
              <a:off x="197756" y="197756"/>
              <a:ext cx="361754" cy="361754"/>
            </a:xfrm>
            <a:custGeom>
              <a:avLst/>
              <a:gdLst/>
              <a:ahLst/>
              <a:cxnLst/>
              <a:rect r="r" b="b" t="t" l="l"/>
              <a:pathLst>
                <a:path h="361754" w="361754">
                  <a:moveTo>
                    <a:pt x="0" y="0"/>
                  </a:moveTo>
                  <a:lnTo>
                    <a:pt x="361755" y="0"/>
                  </a:lnTo>
                  <a:lnTo>
                    <a:pt x="361755" y="361755"/>
                  </a:lnTo>
                  <a:lnTo>
                    <a:pt x="0" y="3617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44" id="44"/>
          <p:cNvGrpSpPr/>
          <p:nvPr/>
        </p:nvGrpSpPr>
        <p:grpSpPr>
          <a:xfrm rot="0">
            <a:off x="893434" y="2704048"/>
            <a:ext cx="5153015" cy="4827481"/>
            <a:chOff x="0" y="0"/>
            <a:chExt cx="1743119" cy="1633000"/>
          </a:xfrm>
        </p:grpSpPr>
        <p:sp>
          <p:nvSpPr>
            <p:cNvPr name="Freeform 45" id="45"/>
            <p:cNvSpPr/>
            <p:nvPr/>
          </p:nvSpPr>
          <p:spPr>
            <a:xfrm flipH="false" flipV="false" rot="0">
              <a:off x="0" y="0"/>
              <a:ext cx="1743119" cy="1633000"/>
            </a:xfrm>
            <a:custGeom>
              <a:avLst/>
              <a:gdLst/>
              <a:ahLst/>
              <a:cxnLst/>
              <a:rect r="r" b="b" t="t" l="l"/>
              <a:pathLst>
                <a:path h="1633000" w="1743119">
                  <a:moveTo>
                    <a:pt x="1618659" y="1633000"/>
                  </a:moveTo>
                  <a:lnTo>
                    <a:pt x="124460" y="1633000"/>
                  </a:lnTo>
                  <a:cubicBezTo>
                    <a:pt x="55880" y="1633000"/>
                    <a:pt x="0" y="1577120"/>
                    <a:pt x="0" y="1508540"/>
                  </a:cubicBezTo>
                  <a:lnTo>
                    <a:pt x="0" y="124460"/>
                  </a:lnTo>
                  <a:cubicBezTo>
                    <a:pt x="0" y="55880"/>
                    <a:pt x="55880" y="0"/>
                    <a:pt x="124460" y="0"/>
                  </a:cubicBezTo>
                  <a:lnTo>
                    <a:pt x="1618659" y="0"/>
                  </a:lnTo>
                  <a:cubicBezTo>
                    <a:pt x="1687239" y="0"/>
                    <a:pt x="1743119" y="55880"/>
                    <a:pt x="1743119" y="124460"/>
                  </a:cubicBezTo>
                  <a:lnTo>
                    <a:pt x="1743119" y="1508540"/>
                  </a:lnTo>
                  <a:cubicBezTo>
                    <a:pt x="1743119" y="1577120"/>
                    <a:pt x="1687239" y="1633000"/>
                    <a:pt x="1618659" y="1633000"/>
                  </a:cubicBezTo>
                  <a:close/>
                </a:path>
              </a:pathLst>
            </a:custGeom>
            <a:solidFill>
              <a:srgbClr val="FFFFFF"/>
            </a:solidFill>
          </p:spPr>
        </p:sp>
      </p:grpSp>
      <p:grpSp>
        <p:nvGrpSpPr>
          <p:cNvPr name="Group 46" id="46"/>
          <p:cNvGrpSpPr/>
          <p:nvPr/>
        </p:nvGrpSpPr>
        <p:grpSpPr>
          <a:xfrm rot="0">
            <a:off x="2907036" y="3223863"/>
            <a:ext cx="833504" cy="833504"/>
            <a:chOff x="0" y="0"/>
            <a:chExt cx="1111339" cy="1111339"/>
          </a:xfrm>
        </p:grpSpPr>
        <p:grpSp>
          <p:nvGrpSpPr>
            <p:cNvPr name="Group 47" id="47"/>
            <p:cNvGrpSpPr>
              <a:grpSpLocks noChangeAspect="true"/>
            </p:cNvGrpSpPr>
            <p:nvPr/>
          </p:nvGrpSpPr>
          <p:grpSpPr>
            <a:xfrm rot="0">
              <a:off x="0" y="0"/>
              <a:ext cx="1111339" cy="1111339"/>
              <a:chOff x="0" y="0"/>
              <a:chExt cx="6355080" cy="6355080"/>
            </a:xfrm>
          </p:grpSpPr>
          <p:sp>
            <p:nvSpPr>
              <p:cNvPr name="Freeform 48" id="48"/>
              <p:cNvSpPr/>
              <p:nvPr/>
            </p:nvSpPr>
            <p:spPr>
              <a:xfrm flipH="false" flipV="false" rot="0">
                <a:off x="0" y="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FF6F28"/>
              </a:solidFill>
            </p:spPr>
          </p:sp>
        </p:grpSp>
        <p:sp>
          <p:nvSpPr>
            <p:cNvPr name="TextBox 49" id="49"/>
            <p:cNvSpPr txBox="true"/>
            <p:nvPr/>
          </p:nvSpPr>
          <p:spPr>
            <a:xfrm rot="0">
              <a:off x="246393" y="313946"/>
              <a:ext cx="618552" cy="464397"/>
            </a:xfrm>
            <a:prstGeom prst="rect">
              <a:avLst/>
            </a:prstGeom>
          </p:spPr>
          <p:txBody>
            <a:bodyPr anchor="t" rtlCol="false" tIns="0" lIns="0" bIns="0" rIns="0">
              <a:spAutoFit/>
            </a:bodyPr>
            <a:lstStyle/>
            <a:p>
              <a:pPr algn="ctr" marL="0" indent="0" lvl="0">
                <a:lnSpc>
                  <a:spcPts val="2860"/>
                </a:lnSpc>
              </a:pPr>
              <a:r>
                <a:rPr lang="en-US" b="true" sz="2199" spc="-65">
                  <a:solidFill>
                    <a:srgbClr val="FF7B26"/>
                  </a:solidFill>
                  <a:latin typeface="Muli Ultra-Bold"/>
                  <a:ea typeface="Muli Ultra-Bold"/>
                  <a:cs typeface="Muli Ultra-Bold"/>
                  <a:sym typeface="Muli Ultra-Bold"/>
                </a:rPr>
                <a:t>1</a:t>
              </a:r>
            </a:p>
          </p:txBody>
        </p:sp>
      </p:grpSp>
      <p:sp>
        <p:nvSpPr>
          <p:cNvPr name="TextBox 50" id="50"/>
          <p:cNvSpPr txBox="true"/>
          <p:nvPr/>
        </p:nvSpPr>
        <p:spPr>
          <a:xfrm rot="0">
            <a:off x="1223963" y="4807841"/>
            <a:ext cx="5153015" cy="327024"/>
          </a:xfrm>
          <a:prstGeom prst="rect">
            <a:avLst/>
          </a:prstGeom>
        </p:spPr>
        <p:txBody>
          <a:bodyPr anchor="t" rtlCol="false" tIns="0" lIns="0" bIns="0" rIns="0">
            <a:spAutoFit/>
          </a:bodyPr>
          <a:lstStyle/>
          <a:p>
            <a:pPr algn="l">
              <a:lnSpc>
                <a:spcPts val="2600"/>
              </a:lnSpc>
            </a:pPr>
            <a:r>
              <a:rPr lang="en-US" sz="2000" b="true">
                <a:solidFill>
                  <a:srgbClr val="191919"/>
                </a:solidFill>
                <a:latin typeface="Muli Bold"/>
                <a:ea typeface="Muli Bold"/>
                <a:cs typeface="Muli Bold"/>
                <a:sym typeface="Muli Bold"/>
              </a:rPr>
              <a:t>Upgrade customer expansion program</a:t>
            </a:r>
          </a:p>
        </p:txBody>
      </p:sp>
      <p:sp>
        <p:nvSpPr>
          <p:cNvPr name="TextBox 51" id="51"/>
          <p:cNvSpPr txBox="true"/>
          <p:nvPr/>
        </p:nvSpPr>
        <p:spPr>
          <a:xfrm rot="0">
            <a:off x="456363" y="5431379"/>
            <a:ext cx="6106380" cy="264160"/>
          </a:xfrm>
          <a:prstGeom prst="rect">
            <a:avLst/>
          </a:prstGeom>
        </p:spPr>
        <p:txBody>
          <a:bodyPr anchor="t" rtlCol="false" tIns="0" lIns="0" bIns="0" rIns="0">
            <a:spAutoFit/>
          </a:bodyPr>
          <a:lstStyle/>
          <a:p>
            <a:pPr algn="ctr">
              <a:lnSpc>
                <a:spcPts val="2210"/>
              </a:lnSpc>
              <a:spcBef>
                <a:spcPct val="0"/>
              </a:spcBef>
            </a:pPr>
            <a:r>
              <a:rPr lang="en-US" sz="1700" spc="-51">
                <a:solidFill>
                  <a:srgbClr val="000000"/>
                </a:solidFill>
                <a:latin typeface="Muli"/>
                <a:ea typeface="Muli"/>
                <a:cs typeface="Muli"/>
                <a:sym typeface="Muli"/>
              </a:rPr>
              <a:t>Comlete Sprint missions </a:t>
            </a:r>
          </a:p>
        </p:txBody>
      </p:sp>
      <p:grpSp>
        <p:nvGrpSpPr>
          <p:cNvPr name="Group 52" id="52"/>
          <p:cNvGrpSpPr/>
          <p:nvPr/>
        </p:nvGrpSpPr>
        <p:grpSpPr>
          <a:xfrm rot="0">
            <a:off x="893434" y="8386523"/>
            <a:ext cx="5162513" cy="796547"/>
            <a:chOff x="0" y="0"/>
            <a:chExt cx="64531414" cy="9956838"/>
          </a:xfrm>
        </p:grpSpPr>
        <p:sp>
          <p:nvSpPr>
            <p:cNvPr name="Freeform 53" id="53"/>
            <p:cNvSpPr/>
            <p:nvPr/>
          </p:nvSpPr>
          <p:spPr>
            <a:xfrm flipH="false" flipV="false" rot="0">
              <a:off x="-12700" y="-12700"/>
              <a:ext cx="64556816" cy="9982238"/>
            </a:xfrm>
            <a:custGeom>
              <a:avLst/>
              <a:gdLst/>
              <a:ahLst/>
              <a:cxnLst/>
              <a:rect r="r" b="b" t="t" l="l"/>
              <a:pathLst>
                <a:path h="9982238" w="64556816">
                  <a:moveTo>
                    <a:pt x="63694481" y="0"/>
                  </a:moveTo>
                  <a:lnTo>
                    <a:pt x="862330" y="0"/>
                  </a:lnTo>
                  <a:cubicBezTo>
                    <a:pt x="389890" y="0"/>
                    <a:pt x="0" y="389890"/>
                    <a:pt x="0" y="862330"/>
                  </a:cubicBezTo>
                  <a:lnTo>
                    <a:pt x="0" y="9119908"/>
                  </a:lnTo>
                  <a:cubicBezTo>
                    <a:pt x="0" y="9592348"/>
                    <a:pt x="389890" y="9982238"/>
                    <a:pt x="862330" y="9982238"/>
                  </a:cubicBezTo>
                  <a:lnTo>
                    <a:pt x="63694481" y="9982238"/>
                  </a:lnTo>
                  <a:cubicBezTo>
                    <a:pt x="64166924" y="9982238"/>
                    <a:pt x="64556816" y="9592348"/>
                    <a:pt x="64556816" y="9119908"/>
                  </a:cubicBezTo>
                  <a:lnTo>
                    <a:pt x="64556816" y="862330"/>
                  </a:lnTo>
                  <a:cubicBezTo>
                    <a:pt x="64556816" y="389890"/>
                    <a:pt x="64166924" y="0"/>
                    <a:pt x="63694481" y="0"/>
                  </a:cubicBezTo>
                  <a:close/>
                  <a:moveTo>
                    <a:pt x="64366316" y="927100"/>
                  </a:moveTo>
                  <a:lnTo>
                    <a:pt x="64366316" y="9119908"/>
                  </a:lnTo>
                  <a:cubicBezTo>
                    <a:pt x="64366316" y="9486937"/>
                    <a:pt x="64061516" y="9791737"/>
                    <a:pt x="63694481" y="9791737"/>
                  </a:cubicBezTo>
                  <a:lnTo>
                    <a:pt x="862330" y="9791737"/>
                  </a:lnTo>
                  <a:cubicBezTo>
                    <a:pt x="495300" y="9791737"/>
                    <a:pt x="190500" y="9486937"/>
                    <a:pt x="190500" y="9119908"/>
                  </a:cubicBezTo>
                  <a:lnTo>
                    <a:pt x="190500" y="862330"/>
                  </a:lnTo>
                  <a:cubicBezTo>
                    <a:pt x="190500" y="495300"/>
                    <a:pt x="495300" y="190500"/>
                    <a:pt x="862330" y="190500"/>
                  </a:cubicBezTo>
                  <a:lnTo>
                    <a:pt x="63694481" y="190500"/>
                  </a:lnTo>
                  <a:cubicBezTo>
                    <a:pt x="64061516" y="190500"/>
                    <a:pt x="64366316" y="495300"/>
                    <a:pt x="64366316" y="862330"/>
                  </a:cubicBezTo>
                  <a:lnTo>
                    <a:pt x="64366316" y="927100"/>
                  </a:lnTo>
                  <a:close/>
                </a:path>
              </a:pathLst>
            </a:custGeom>
            <a:solidFill>
              <a:srgbClr val="FF6F28"/>
            </a:solidFill>
          </p:spPr>
        </p:sp>
      </p:grpSp>
      <p:grpSp>
        <p:nvGrpSpPr>
          <p:cNvPr name="Group 54" id="54"/>
          <p:cNvGrpSpPr/>
          <p:nvPr/>
        </p:nvGrpSpPr>
        <p:grpSpPr>
          <a:xfrm rot="0">
            <a:off x="1600232" y="8611312"/>
            <a:ext cx="346970" cy="346970"/>
            <a:chOff x="0" y="0"/>
            <a:chExt cx="462627" cy="462627"/>
          </a:xfrm>
        </p:grpSpPr>
        <p:grpSp>
          <p:nvGrpSpPr>
            <p:cNvPr name="Group 55" id="55"/>
            <p:cNvGrpSpPr/>
            <p:nvPr/>
          </p:nvGrpSpPr>
          <p:grpSpPr>
            <a:xfrm rot="0">
              <a:off x="0" y="0"/>
              <a:ext cx="462627" cy="462627"/>
              <a:chOff x="0" y="0"/>
              <a:chExt cx="6350000" cy="6350000"/>
            </a:xfrm>
          </p:grpSpPr>
          <p:sp>
            <p:nvSpPr>
              <p:cNvPr name="Freeform 56" id="56"/>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6F28"/>
              </a:solidFill>
            </p:spPr>
          </p:sp>
        </p:grpSp>
        <p:sp>
          <p:nvSpPr>
            <p:cNvPr name="Freeform 57" id="57"/>
            <p:cNvSpPr/>
            <p:nvPr/>
          </p:nvSpPr>
          <p:spPr>
            <a:xfrm flipH="false" flipV="false" rot="0">
              <a:off x="115880" y="138967"/>
              <a:ext cx="230867" cy="184694"/>
            </a:xfrm>
            <a:custGeom>
              <a:avLst/>
              <a:gdLst/>
              <a:ahLst/>
              <a:cxnLst/>
              <a:rect r="r" b="b" t="t" l="l"/>
              <a:pathLst>
                <a:path h="184694" w="230867">
                  <a:moveTo>
                    <a:pt x="0" y="0"/>
                  </a:moveTo>
                  <a:lnTo>
                    <a:pt x="230867" y="0"/>
                  </a:lnTo>
                  <a:lnTo>
                    <a:pt x="230867" y="184693"/>
                  </a:lnTo>
                  <a:lnTo>
                    <a:pt x="0" y="18469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TextBox 58" id="58"/>
          <p:cNvSpPr txBox="true"/>
          <p:nvPr/>
        </p:nvSpPr>
        <p:spPr>
          <a:xfrm rot="0">
            <a:off x="2230060" y="8598742"/>
            <a:ext cx="2857975" cy="353060"/>
          </a:xfrm>
          <a:prstGeom prst="rect">
            <a:avLst/>
          </a:prstGeom>
        </p:spPr>
        <p:txBody>
          <a:bodyPr anchor="t" rtlCol="false" tIns="0" lIns="0" bIns="0" rIns="0">
            <a:spAutoFit/>
          </a:bodyPr>
          <a:lstStyle/>
          <a:p>
            <a:pPr algn="ctr" marL="0" indent="0" lvl="0">
              <a:lnSpc>
                <a:spcPts val="2860"/>
              </a:lnSpc>
            </a:pPr>
            <a:r>
              <a:rPr lang="en-US" b="true" sz="2199" spc="-65">
                <a:solidFill>
                  <a:srgbClr val="191919"/>
                </a:solidFill>
                <a:latin typeface="Muli Ultra-Bold"/>
                <a:ea typeface="Muli Ultra-Bold"/>
                <a:cs typeface="Muli Ultra-Bold"/>
                <a:sym typeface="Muli Ultra-Bold"/>
              </a:rPr>
              <a:t>DONE</a:t>
            </a:r>
          </a:p>
        </p:txBody>
      </p:sp>
      <p:grpSp>
        <p:nvGrpSpPr>
          <p:cNvPr name="Group 59" id="59"/>
          <p:cNvGrpSpPr/>
          <p:nvPr/>
        </p:nvGrpSpPr>
        <p:grpSpPr>
          <a:xfrm rot="0">
            <a:off x="3172590" y="6495187"/>
            <a:ext cx="567950" cy="567950"/>
            <a:chOff x="0" y="0"/>
            <a:chExt cx="757267" cy="757267"/>
          </a:xfrm>
        </p:grpSpPr>
        <p:grpSp>
          <p:nvGrpSpPr>
            <p:cNvPr name="Group 60" id="60"/>
            <p:cNvGrpSpPr/>
            <p:nvPr/>
          </p:nvGrpSpPr>
          <p:grpSpPr>
            <a:xfrm rot="0">
              <a:off x="0" y="0"/>
              <a:ext cx="757267" cy="757267"/>
              <a:chOff x="0" y="0"/>
              <a:chExt cx="6350000" cy="6350000"/>
            </a:xfrm>
          </p:grpSpPr>
          <p:sp>
            <p:nvSpPr>
              <p:cNvPr name="Freeform 61" id="61"/>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6F28"/>
              </a:solidFill>
            </p:spPr>
          </p:sp>
        </p:grpSp>
        <p:sp>
          <p:nvSpPr>
            <p:cNvPr name="Freeform 62" id="62"/>
            <p:cNvSpPr/>
            <p:nvPr/>
          </p:nvSpPr>
          <p:spPr>
            <a:xfrm flipH="false" flipV="false" rot="0">
              <a:off x="197756" y="197756"/>
              <a:ext cx="361754" cy="361754"/>
            </a:xfrm>
            <a:custGeom>
              <a:avLst/>
              <a:gdLst/>
              <a:ahLst/>
              <a:cxnLst/>
              <a:rect r="r" b="b" t="t" l="l"/>
              <a:pathLst>
                <a:path h="361754" w="361754">
                  <a:moveTo>
                    <a:pt x="0" y="0"/>
                  </a:moveTo>
                  <a:lnTo>
                    <a:pt x="361755" y="0"/>
                  </a:lnTo>
                  <a:lnTo>
                    <a:pt x="361755" y="361755"/>
                  </a:lnTo>
                  <a:lnTo>
                    <a:pt x="0" y="3617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TextBox 63" id="63"/>
          <p:cNvSpPr txBox="true"/>
          <p:nvPr/>
        </p:nvSpPr>
        <p:spPr>
          <a:xfrm rot="0">
            <a:off x="108521" y="66040"/>
            <a:ext cx="348655" cy="353060"/>
          </a:xfrm>
          <a:prstGeom prst="rect">
            <a:avLst/>
          </a:prstGeom>
        </p:spPr>
        <p:txBody>
          <a:bodyPr anchor="t" rtlCol="false" tIns="0" lIns="0" bIns="0" rIns="0">
            <a:spAutoFit/>
          </a:bodyPr>
          <a:lstStyle/>
          <a:p>
            <a:pPr algn="ctr">
              <a:lnSpc>
                <a:spcPts val="2859"/>
              </a:lnSpc>
              <a:spcBef>
                <a:spcPct val="0"/>
              </a:spcBef>
            </a:pPr>
            <a:r>
              <a:rPr lang="en-US" b="true" sz="2199" spc="-65">
                <a:solidFill>
                  <a:srgbClr val="000000"/>
                </a:solidFill>
                <a:latin typeface="Muli Ultra-Bold"/>
                <a:ea typeface="Muli Ultra-Bold"/>
                <a:cs typeface="Muli Ultra-Bold"/>
                <a:sym typeface="Muli Ultra-Bold"/>
              </a:rPr>
              <a:t>R1</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6E7DE"/>
        </a:solidFill>
      </p:bgPr>
    </p:bg>
    <p:spTree>
      <p:nvGrpSpPr>
        <p:cNvPr id="1" name=""/>
        <p:cNvGrpSpPr/>
        <p:nvPr/>
      </p:nvGrpSpPr>
      <p:grpSpPr>
        <a:xfrm>
          <a:off x="0" y="0"/>
          <a:ext cx="0" cy="0"/>
          <a:chOff x="0" y="0"/>
          <a:chExt cx="0" cy="0"/>
        </a:xfrm>
      </p:grpSpPr>
      <p:grpSp>
        <p:nvGrpSpPr>
          <p:cNvPr name="Group 2" id="2"/>
          <p:cNvGrpSpPr/>
          <p:nvPr/>
        </p:nvGrpSpPr>
        <p:grpSpPr>
          <a:xfrm rot="0">
            <a:off x="299453" y="5604963"/>
            <a:ext cx="6106380" cy="1952277"/>
            <a:chOff x="0" y="0"/>
            <a:chExt cx="2065615" cy="660400"/>
          </a:xfrm>
        </p:grpSpPr>
        <p:sp>
          <p:nvSpPr>
            <p:cNvPr name="Freeform 3" id="3"/>
            <p:cNvSpPr/>
            <p:nvPr/>
          </p:nvSpPr>
          <p:spPr>
            <a:xfrm flipH="false" flipV="false" rot="0">
              <a:off x="0" y="0"/>
              <a:ext cx="2065615" cy="660400"/>
            </a:xfrm>
            <a:custGeom>
              <a:avLst/>
              <a:gdLst/>
              <a:ahLst/>
              <a:cxnLst/>
              <a:rect r="r" b="b" t="t" l="l"/>
              <a:pathLst>
                <a:path h="660400" w="2065615">
                  <a:moveTo>
                    <a:pt x="1941155" y="660400"/>
                  </a:moveTo>
                  <a:lnTo>
                    <a:pt x="124460" y="660400"/>
                  </a:lnTo>
                  <a:cubicBezTo>
                    <a:pt x="55880" y="660400"/>
                    <a:pt x="0" y="604520"/>
                    <a:pt x="0" y="535940"/>
                  </a:cubicBezTo>
                  <a:lnTo>
                    <a:pt x="0" y="124460"/>
                  </a:lnTo>
                  <a:cubicBezTo>
                    <a:pt x="0" y="55880"/>
                    <a:pt x="55880" y="0"/>
                    <a:pt x="124460" y="0"/>
                  </a:cubicBezTo>
                  <a:lnTo>
                    <a:pt x="1941155" y="0"/>
                  </a:lnTo>
                  <a:cubicBezTo>
                    <a:pt x="2009735" y="0"/>
                    <a:pt x="2065615" y="55880"/>
                    <a:pt x="2065615" y="124460"/>
                  </a:cubicBezTo>
                  <a:lnTo>
                    <a:pt x="2065615" y="535940"/>
                  </a:lnTo>
                  <a:cubicBezTo>
                    <a:pt x="2065615" y="604520"/>
                    <a:pt x="2009735" y="660400"/>
                    <a:pt x="1941155" y="660400"/>
                  </a:cubicBezTo>
                  <a:close/>
                </a:path>
              </a:pathLst>
            </a:custGeom>
            <a:solidFill>
              <a:srgbClr val="FFFFFF"/>
            </a:solidFill>
          </p:spPr>
        </p:sp>
      </p:grpSp>
      <p:grpSp>
        <p:nvGrpSpPr>
          <p:cNvPr name="Group 4" id="4"/>
          <p:cNvGrpSpPr/>
          <p:nvPr/>
        </p:nvGrpSpPr>
        <p:grpSpPr>
          <a:xfrm rot="0">
            <a:off x="299453" y="470391"/>
            <a:ext cx="6106380" cy="4827481"/>
            <a:chOff x="0" y="0"/>
            <a:chExt cx="2065615" cy="1633000"/>
          </a:xfrm>
        </p:grpSpPr>
        <p:sp>
          <p:nvSpPr>
            <p:cNvPr name="Freeform 5" id="5"/>
            <p:cNvSpPr/>
            <p:nvPr/>
          </p:nvSpPr>
          <p:spPr>
            <a:xfrm flipH="false" flipV="false" rot="0">
              <a:off x="0" y="0"/>
              <a:ext cx="2065615" cy="1633000"/>
            </a:xfrm>
            <a:custGeom>
              <a:avLst/>
              <a:gdLst/>
              <a:ahLst/>
              <a:cxnLst/>
              <a:rect r="r" b="b" t="t" l="l"/>
              <a:pathLst>
                <a:path h="1633000" w="2065615">
                  <a:moveTo>
                    <a:pt x="1941155" y="1633000"/>
                  </a:moveTo>
                  <a:lnTo>
                    <a:pt x="124460" y="1633000"/>
                  </a:lnTo>
                  <a:cubicBezTo>
                    <a:pt x="55880" y="1633000"/>
                    <a:pt x="0" y="1577120"/>
                    <a:pt x="0" y="1508540"/>
                  </a:cubicBezTo>
                  <a:lnTo>
                    <a:pt x="0" y="124460"/>
                  </a:lnTo>
                  <a:cubicBezTo>
                    <a:pt x="0" y="55880"/>
                    <a:pt x="55880" y="0"/>
                    <a:pt x="124460" y="0"/>
                  </a:cubicBezTo>
                  <a:lnTo>
                    <a:pt x="1941155" y="0"/>
                  </a:lnTo>
                  <a:cubicBezTo>
                    <a:pt x="2009735" y="0"/>
                    <a:pt x="2065615" y="55880"/>
                    <a:pt x="2065615" y="124460"/>
                  </a:cubicBezTo>
                  <a:lnTo>
                    <a:pt x="2065615" y="1508540"/>
                  </a:lnTo>
                  <a:cubicBezTo>
                    <a:pt x="2065615" y="1577120"/>
                    <a:pt x="2009735" y="1633000"/>
                    <a:pt x="1941155" y="1633000"/>
                  </a:cubicBezTo>
                  <a:close/>
                </a:path>
              </a:pathLst>
            </a:custGeom>
            <a:solidFill>
              <a:srgbClr val="FFFFFF"/>
            </a:solidFill>
          </p:spPr>
        </p:sp>
      </p:grpSp>
      <p:grpSp>
        <p:nvGrpSpPr>
          <p:cNvPr name="Group 6" id="6"/>
          <p:cNvGrpSpPr/>
          <p:nvPr/>
        </p:nvGrpSpPr>
        <p:grpSpPr>
          <a:xfrm rot="0">
            <a:off x="776136" y="1028700"/>
            <a:ext cx="833504" cy="833504"/>
            <a:chOff x="0" y="0"/>
            <a:chExt cx="1111339" cy="1111339"/>
          </a:xfrm>
        </p:grpSpPr>
        <p:grpSp>
          <p:nvGrpSpPr>
            <p:cNvPr name="Group 7" id="7"/>
            <p:cNvGrpSpPr>
              <a:grpSpLocks noChangeAspect="true"/>
            </p:cNvGrpSpPr>
            <p:nvPr/>
          </p:nvGrpSpPr>
          <p:grpSpPr>
            <a:xfrm rot="0">
              <a:off x="0" y="0"/>
              <a:ext cx="1111339" cy="1111339"/>
              <a:chOff x="0" y="0"/>
              <a:chExt cx="6355080" cy="6355080"/>
            </a:xfrm>
          </p:grpSpPr>
          <p:sp>
            <p:nvSpPr>
              <p:cNvPr name="Freeform 8" id="8"/>
              <p:cNvSpPr/>
              <p:nvPr/>
            </p:nvSpPr>
            <p:spPr>
              <a:xfrm flipH="false" flipV="false" rot="0">
                <a:off x="0" y="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FF6F28"/>
              </a:solidFill>
            </p:spPr>
          </p:sp>
        </p:grpSp>
        <p:sp>
          <p:nvSpPr>
            <p:cNvPr name="TextBox 9" id="9"/>
            <p:cNvSpPr txBox="true"/>
            <p:nvPr/>
          </p:nvSpPr>
          <p:spPr>
            <a:xfrm rot="0">
              <a:off x="246393" y="313946"/>
              <a:ext cx="618552" cy="464397"/>
            </a:xfrm>
            <a:prstGeom prst="rect">
              <a:avLst/>
            </a:prstGeom>
          </p:spPr>
          <p:txBody>
            <a:bodyPr anchor="t" rtlCol="false" tIns="0" lIns="0" bIns="0" rIns="0">
              <a:spAutoFit/>
            </a:bodyPr>
            <a:lstStyle/>
            <a:p>
              <a:pPr algn="ctr" marL="0" indent="0" lvl="0">
                <a:lnSpc>
                  <a:spcPts val="2860"/>
                </a:lnSpc>
              </a:pPr>
              <a:r>
                <a:rPr lang="en-US" b="true" sz="2199" spc="-65">
                  <a:solidFill>
                    <a:srgbClr val="FF7B26"/>
                  </a:solidFill>
                  <a:latin typeface="Muli Ultra-Bold"/>
                  <a:ea typeface="Muli Ultra-Bold"/>
                  <a:cs typeface="Muli Ultra-Bold"/>
                  <a:sym typeface="Muli Ultra-Bold"/>
                </a:rPr>
                <a:t>1</a:t>
              </a:r>
            </a:p>
          </p:txBody>
        </p:sp>
      </p:grpSp>
      <p:grpSp>
        <p:nvGrpSpPr>
          <p:cNvPr name="Group 10" id="10"/>
          <p:cNvGrpSpPr/>
          <p:nvPr/>
        </p:nvGrpSpPr>
        <p:grpSpPr>
          <a:xfrm rot="0">
            <a:off x="299453" y="7864331"/>
            <a:ext cx="6106380" cy="1952277"/>
            <a:chOff x="0" y="0"/>
            <a:chExt cx="2065615" cy="660400"/>
          </a:xfrm>
        </p:grpSpPr>
        <p:sp>
          <p:nvSpPr>
            <p:cNvPr name="Freeform 11" id="11"/>
            <p:cNvSpPr/>
            <p:nvPr/>
          </p:nvSpPr>
          <p:spPr>
            <a:xfrm flipH="false" flipV="false" rot="0">
              <a:off x="0" y="0"/>
              <a:ext cx="2065615" cy="660400"/>
            </a:xfrm>
            <a:custGeom>
              <a:avLst/>
              <a:gdLst/>
              <a:ahLst/>
              <a:cxnLst/>
              <a:rect r="r" b="b" t="t" l="l"/>
              <a:pathLst>
                <a:path h="660400" w="2065615">
                  <a:moveTo>
                    <a:pt x="1941155" y="660400"/>
                  </a:moveTo>
                  <a:lnTo>
                    <a:pt x="124460" y="660400"/>
                  </a:lnTo>
                  <a:cubicBezTo>
                    <a:pt x="55880" y="660400"/>
                    <a:pt x="0" y="604520"/>
                    <a:pt x="0" y="535940"/>
                  </a:cubicBezTo>
                  <a:lnTo>
                    <a:pt x="0" y="124460"/>
                  </a:lnTo>
                  <a:cubicBezTo>
                    <a:pt x="0" y="55880"/>
                    <a:pt x="55880" y="0"/>
                    <a:pt x="124460" y="0"/>
                  </a:cubicBezTo>
                  <a:lnTo>
                    <a:pt x="1941155" y="0"/>
                  </a:lnTo>
                  <a:cubicBezTo>
                    <a:pt x="2009735" y="0"/>
                    <a:pt x="2065615" y="55880"/>
                    <a:pt x="2065615" y="124460"/>
                  </a:cubicBezTo>
                  <a:lnTo>
                    <a:pt x="2065615" y="535940"/>
                  </a:lnTo>
                  <a:cubicBezTo>
                    <a:pt x="2065615" y="604520"/>
                    <a:pt x="2009735" y="660400"/>
                    <a:pt x="1941155" y="660400"/>
                  </a:cubicBezTo>
                  <a:close/>
                </a:path>
              </a:pathLst>
            </a:custGeom>
            <a:solidFill>
              <a:srgbClr val="FF6F28"/>
            </a:solidFill>
          </p:spPr>
        </p:sp>
      </p:grpSp>
      <p:grpSp>
        <p:nvGrpSpPr>
          <p:cNvPr name="Group 12" id="12"/>
          <p:cNvGrpSpPr/>
          <p:nvPr/>
        </p:nvGrpSpPr>
        <p:grpSpPr>
          <a:xfrm rot="0">
            <a:off x="5026897" y="8556495"/>
            <a:ext cx="567950" cy="567950"/>
            <a:chOff x="0" y="0"/>
            <a:chExt cx="757267" cy="757267"/>
          </a:xfrm>
        </p:grpSpPr>
        <p:grpSp>
          <p:nvGrpSpPr>
            <p:cNvPr name="Group 13" id="13"/>
            <p:cNvGrpSpPr/>
            <p:nvPr/>
          </p:nvGrpSpPr>
          <p:grpSpPr>
            <a:xfrm rot="0">
              <a:off x="0" y="0"/>
              <a:ext cx="757267" cy="757267"/>
              <a:chOff x="0" y="0"/>
              <a:chExt cx="6350000" cy="6350000"/>
            </a:xfrm>
          </p:grpSpPr>
          <p:sp>
            <p:nvSpPr>
              <p:cNvPr name="Freeform 14" id="14"/>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FFFF"/>
              </a:solidFill>
            </p:spPr>
          </p:sp>
        </p:grpSp>
        <p:grpSp>
          <p:nvGrpSpPr>
            <p:cNvPr name="Group 15" id="15"/>
            <p:cNvGrpSpPr/>
            <p:nvPr/>
          </p:nvGrpSpPr>
          <p:grpSpPr>
            <a:xfrm rot="-5400000">
              <a:off x="284360" y="302439"/>
              <a:ext cx="226645" cy="152389"/>
              <a:chOff x="0" y="0"/>
              <a:chExt cx="1930400" cy="1297940"/>
            </a:xfrm>
          </p:grpSpPr>
          <p:sp>
            <p:nvSpPr>
              <p:cNvPr name="Freeform 16" id="16"/>
              <p:cNvSpPr/>
              <p:nvPr/>
            </p:nvSpPr>
            <p:spPr>
              <a:xfrm flipH="false" flipV="false" rot="0">
                <a:off x="0" y="0"/>
                <a:ext cx="1930400" cy="1297940"/>
              </a:xfrm>
              <a:custGeom>
                <a:avLst/>
                <a:gdLst/>
                <a:ahLst/>
                <a:cxnLst/>
                <a:rect r="r" b="b" t="t" l="l"/>
                <a:pathLst>
                  <a:path h="1297940" w="1930400">
                    <a:moveTo>
                      <a:pt x="0" y="0"/>
                    </a:moveTo>
                    <a:lnTo>
                      <a:pt x="965200" y="1297940"/>
                    </a:lnTo>
                    <a:lnTo>
                      <a:pt x="1930400" y="0"/>
                    </a:lnTo>
                    <a:close/>
                  </a:path>
                </a:pathLst>
              </a:custGeom>
              <a:solidFill>
                <a:srgbClr val="FF6F28"/>
              </a:solidFill>
            </p:spPr>
          </p:sp>
        </p:grpSp>
      </p:grpSp>
      <p:grpSp>
        <p:nvGrpSpPr>
          <p:cNvPr name="Group 17" id="17"/>
          <p:cNvGrpSpPr/>
          <p:nvPr/>
        </p:nvGrpSpPr>
        <p:grpSpPr>
          <a:xfrm rot="0">
            <a:off x="923934" y="6372726"/>
            <a:ext cx="416752" cy="416752"/>
            <a:chOff x="0" y="0"/>
            <a:chExt cx="555669" cy="555669"/>
          </a:xfrm>
        </p:grpSpPr>
        <p:grpSp>
          <p:nvGrpSpPr>
            <p:cNvPr name="Group 18" id="18"/>
            <p:cNvGrpSpPr>
              <a:grpSpLocks noChangeAspect="true"/>
            </p:cNvGrpSpPr>
            <p:nvPr/>
          </p:nvGrpSpPr>
          <p:grpSpPr>
            <a:xfrm rot="0">
              <a:off x="0" y="0"/>
              <a:ext cx="555669" cy="555669"/>
              <a:chOff x="0" y="0"/>
              <a:chExt cx="6355080" cy="6355080"/>
            </a:xfrm>
          </p:grpSpPr>
          <p:sp>
            <p:nvSpPr>
              <p:cNvPr name="Freeform 19" id="19"/>
              <p:cNvSpPr/>
              <p:nvPr/>
            </p:nvSpPr>
            <p:spPr>
              <a:xfrm flipH="false" flipV="false" rot="0">
                <a:off x="0" y="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FF6F28"/>
              </a:solidFill>
            </p:spPr>
          </p:sp>
        </p:grpSp>
        <p:grpSp>
          <p:nvGrpSpPr>
            <p:cNvPr name="Group 20" id="20"/>
            <p:cNvGrpSpPr/>
            <p:nvPr/>
          </p:nvGrpSpPr>
          <p:grpSpPr>
            <a:xfrm rot="0">
              <a:off x="85762" y="85762"/>
              <a:ext cx="384145" cy="384145"/>
              <a:chOff x="0" y="0"/>
              <a:chExt cx="6350000" cy="6350000"/>
            </a:xfrm>
          </p:grpSpPr>
          <p:sp>
            <p:nvSpPr>
              <p:cNvPr name="Freeform 21" id="21"/>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6F28"/>
              </a:solidFill>
            </p:spPr>
          </p:sp>
        </p:grpSp>
      </p:grpSp>
      <p:sp>
        <p:nvSpPr>
          <p:cNvPr name="TextBox 22" id="22"/>
          <p:cNvSpPr txBox="true"/>
          <p:nvPr/>
        </p:nvSpPr>
        <p:spPr>
          <a:xfrm rot="0">
            <a:off x="1943422" y="1244600"/>
            <a:ext cx="2830911" cy="353060"/>
          </a:xfrm>
          <a:prstGeom prst="rect">
            <a:avLst/>
          </a:prstGeom>
        </p:spPr>
        <p:txBody>
          <a:bodyPr anchor="t" rtlCol="false" tIns="0" lIns="0" bIns="0" rIns="0">
            <a:spAutoFit/>
          </a:bodyPr>
          <a:lstStyle/>
          <a:p>
            <a:pPr algn="l" marL="0" indent="0" lvl="0">
              <a:lnSpc>
                <a:spcPts val="2860"/>
              </a:lnSpc>
            </a:pPr>
            <a:r>
              <a:rPr lang="en-US" b="true" sz="2199" spc="-65">
                <a:solidFill>
                  <a:srgbClr val="191919"/>
                </a:solidFill>
                <a:latin typeface="Muli Ultra-Bold"/>
                <a:ea typeface="Muli Ultra-Bold"/>
                <a:cs typeface="Muli Ultra-Bold"/>
                <a:sym typeface="Muli Ultra-Bold"/>
              </a:rPr>
              <a:t>Goal #1</a:t>
            </a:r>
          </a:p>
        </p:txBody>
      </p:sp>
      <p:sp>
        <p:nvSpPr>
          <p:cNvPr name="TextBox 23" id="23"/>
          <p:cNvSpPr txBox="true"/>
          <p:nvPr/>
        </p:nvSpPr>
        <p:spPr>
          <a:xfrm rot="0">
            <a:off x="1028700" y="8662670"/>
            <a:ext cx="3030746" cy="327025"/>
          </a:xfrm>
          <a:prstGeom prst="rect">
            <a:avLst/>
          </a:prstGeom>
        </p:spPr>
        <p:txBody>
          <a:bodyPr anchor="t" rtlCol="false" tIns="0" lIns="0" bIns="0" rIns="0">
            <a:spAutoFit/>
          </a:bodyPr>
          <a:lstStyle/>
          <a:p>
            <a:pPr algn="l" marL="0" indent="0" lvl="0">
              <a:lnSpc>
                <a:spcPts val="2600"/>
              </a:lnSpc>
            </a:pPr>
            <a:r>
              <a:rPr lang="en-US" b="true" sz="2000" spc="20">
                <a:solidFill>
                  <a:srgbClr val="FFFFFF"/>
                </a:solidFill>
                <a:latin typeface="Muli Bold"/>
                <a:ea typeface="Muli Bold"/>
                <a:cs typeface="Muli Bold"/>
                <a:sym typeface="Muli Bold"/>
              </a:rPr>
              <a:t>TRACKING SHEET</a:t>
            </a:r>
          </a:p>
        </p:txBody>
      </p:sp>
      <p:grpSp>
        <p:nvGrpSpPr>
          <p:cNvPr name="Group 24" id="24"/>
          <p:cNvGrpSpPr/>
          <p:nvPr/>
        </p:nvGrpSpPr>
        <p:grpSpPr>
          <a:xfrm rot="0">
            <a:off x="7154008" y="793750"/>
            <a:ext cx="3356811" cy="939800"/>
            <a:chOff x="0" y="0"/>
            <a:chExt cx="4475748" cy="1253067"/>
          </a:xfrm>
        </p:grpSpPr>
        <p:grpSp>
          <p:nvGrpSpPr>
            <p:cNvPr name="Group 25" id="25"/>
            <p:cNvGrpSpPr/>
            <p:nvPr/>
          </p:nvGrpSpPr>
          <p:grpSpPr>
            <a:xfrm rot="0">
              <a:off x="0" y="0"/>
              <a:ext cx="4475748" cy="1253067"/>
              <a:chOff x="0" y="0"/>
              <a:chExt cx="41960134" cy="11747500"/>
            </a:xfrm>
          </p:grpSpPr>
          <p:sp>
            <p:nvSpPr>
              <p:cNvPr name="Freeform 26" id="26"/>
              <p:cNvSpPr/>
              <p:nvPr/>
            </p:nvSpPr>
            <p:spPr>
              <a:xfrm flipH="false" flipV="false" rot="0">
                <a:off x="-12700" y="-12700"/>
                <a:ext cx="41985533" cy="11772901"/>
              </a:xfrm>
              <a:custGeom>
                <a:avLst/>
                <a:gdLst/>
                <a:ahLst/>
                <a:cxnLst/>
                <a:rect r="r" b="b" t="t" l="l"/>
                <a:pathLst>
                  <a:path h="11772901" w="41985533">
                    <a:moveTo>
                      <a:pt x="41123205" y="0"/>
                    </a:moveTo>
                    <a:lnTo>
                      <a:pt x="862330" y="0"/>
                    </a:lnTo>
                    <a:cubicBezTo>
                      <a:pt x="389890" y="0"/>
                      <a:pt x="0" y="389890"/>
                      <a:pt x="0" y="862330"/>
                    </a:cubicBezTo>
                    <a:lnTo>
                      <a:pt x="0" y="10910570"/>
                    </a:lnTo>
                    <a:cubicBezTo>
                      <a:pt x="0" y="11383011"/>
                      <a:pt x="389890" y="11772901"/>
                      <a:pt x="862330" y="11772901"/>
                    </a:cubicBezTo>
                    <a:lnTo>
                      <a:pt x="41123205" y="11772901"/>
                    </a:lnTo>
                    <a:cubicBezTo>
                      <a:pt x="41595644" y="11772901"/>
                      <a:pt x="41985533" y="11383011"/>
                      <a:pt x="41985533" y="10910570"/>
                    </a:cubicBezTo>
                    <a:lnTo>
                      <a:pt x="41985533" y="862330"/>
                    </a:lnTo>
                    <a:cubicBezTo>
                      <a:pt x="41985533" y="389890"/>
                      <a:pt x="41595644" y="0"/>
                      <a:pt x="41123205" y="0"/>
                    </a:cubicBezTo>
                    <a:close/>
                    <a:moveTo>
                      <a:pt x="41795033" y="927100"/>
                    </a:moveTo>
                    <a:lnTo>
                      <a:pt x="41795033" y="10910570"/>
                    </a:lnTo>
                    <a:cubicBezTo>
                      <a:pt x="41795033" y="11277600"/>
                      <a:pt x="41490233" y="11582400"/>
                      <a:pt x="41123205" y="11582400"/>
                    </a:cubicBezTo>
                    <a:lnTo>
                      <a:pt x="862330" y="11582400"/>
                    </a:lnTo>
                    <a:cubicBezTo>
                      <a:pt x="495300" y="11582400"/>
                      <a:pt x="190500" y="11277600"/>
                      <a:pt x="190500" y="10910570"/>
                    </a:cubicBezTo>
                    <a:lnTo>
                      <a:pt x="190500" y="862330"/>
                    </a:lnTo>
                    <a:cubicBezTo>
                      <a:pt x="190500" y="495300"/>
                      <a:pt x="495300" y="190500"/>
                      <a:pt x="862330" y="190500"/>
                    </a:cubicBezTo>
                    <a:lnTo>
                      <a:pt x="41123205" y="190500"/>
                    </a:lnTo>
                    <a:cubicBezTo>
                      <a:pt x="41490233" y="190500"/>
                      <a:pt x="41795033" y="495300"/>
                      <a:pt x="41795033" y="862330"/>
                    </a:cubicBezTo>
                    <a:lnTo>
                      <a:pt x="41795033" y="927100"/>
                    </a:lnTo>
                    <a:close/>
                  </a:path>
                </a:pathLst>
              </a:custGeom>
              <a:solidFill>
                <a:srgbClr val="FF6F28"/>
              </a:solidFill>
            </p:spPr>
          </p:sp>
        </p:grpSp>
        <p:sp>
          <p:nvSpPr>
            <p:cNvPr name="TextBox 27" id="27"/>
            <p:cNvSpPr txBox="true"/>
            <p:nvPr/>
          </p:nvSpPr>
          <p:spPr>
            <a:xfrm rot="0">
              <a:off x="367680" y="398992"/>
              <a:ext cx="3740387" cy="426508"/>
            </a:xfrm>
            <a:prstGeom prst="rect">
              <a:avLst/>
            </a:prstGeom>
          </p:spPr>
          <p:txBody>
            <a:bodyPr anchor="t" rtlCol="false" tIns="0" lIns="0" bIns="0" rIns="0">
              <a:spAutoFit/>
            </a:bodyPr>
            <a:lstStyle/>
            <a:p>
              <a:pPr algn="ctr" marL="0" indent="0" lvl="0">
                <a:lnSpc>
                  <a:spcPts val="2600"/>
                </a:lnSpc>
              </a:pPr>
              <a:r>
                <a:rPr lang="en-US" b="true" sz="2000" spc="20">
                  <a:solidFill>
                    <a:srgbClr val="FF6F28"/>
                  </a:solidFill>
                  <a:latin typeface="Muli Bold"/>
                  <a:ea typeface="Muli Bold"/>
                  <a:cs typeface="Muli Bold"/>
                  <a:sym typeface="Muli Bold"/>
                </a:rPr>
                <a:t>WHERE WE'RE AT</a:t>
              </a:r>
            </a:p>
          </p:txBody>
        </p:sp>
      </p:grpSp>
      <p:grpSp>
        <p:nvGrpSpPr>
          <p:cNvPr name="Group 28" id="28"/>
          <p:cNvGrpSpPr/>
          <p:nvPr/>
        </p:nvGrpSpPr>
        <p:grpSpPr>
          <a:xfrm rot="0">
            <a:off x="7154008" y="3859914"/>
            <a:ext cx="3356811" cy="939800"/>
            <a:chOff x="0" y="0"/>
            <a:chExt cx="4475748" cy="1253067"/>
          </a:xfrm>
        </p:grpSpPr>
        <p:grpSp>
          <p:nvGrpSpPr>
            <p:cNvPr name="Group 29" id="29"/>
            <p:cNvGrpSpPr/>
            <p:nvPr/>
          </p:nvGrpSpPr>
          <p:grpSpPr>
            <a:xfrm rot="0">
              <a:off x="0" y="0"/>
              <a:ext cx="4475748" cy="1253067"/>
              <a:chOff x="0" y="0"/>
              <a:chExt cx="41960134" cy="11747500"/>
            </a:xfrm>
          </p:grpSpPr>
          <p:sp>
            <p:nvSpPr>
              <p:cNvPr name="Freeform 30" id="30"/>
              <p:cNvSpPr/>
              <p:nvPr/>
            </p:nvSpPr>
            <p:spPr>
              <a:xfrm flipH="false" flipV="false" rot="0">
                <a:off x="-12700" y="-12700"/>
                <a:ext cx="41985533" cy="11772901"/>
              </a:xfrm>
              <a:custGeom>
                <a:avLst/>
                <a:gdLst/>
                <a:ahLst/>
                <a:cxnLst/>
                <a:rect r="r" b="b" t="t" l="l"/>
                <a:pathLst>
                  <a:path h="11772901" w="41985533">
                    <a:moveTo>
                      <a:pt x="41123205" y="0"/>
                    </a:moveTo>
                    <a:lnTo>
                      <a:pt x="862330" y="0"/>
                    </a:lnTo>
                    <a:cubicBezTo>
                      <a:pt x="389890" y="0"/>
                      <a:pt x="0" y="389890"/>
                      <a:pt x="0" y="862330"/>
                    </a:cubicBezTo>
                    <a:lnTo>
                      <a:pt x="0" y="10910570"/>
                    </a:lnTo>
                    <a:cubicBezTo>
                      <a:pt x="0" y="11383011"/>
                      <a:pt x="389890" y="11772901"/>
                      <a:pt x="862330" y="11772901"/>
                    </a:cubicBezTo>
                    <a:lnTo>
                      <a:pt x="41123205" y="11772901"/>
                    </a:lnTo>
                    <a:cubicBezTo>
                      <a:pt x="41595644" y="11772901"/>
                      <a:pt x="41985533" y="11383011"/>
                      <a:pt x="41985533" y="10910570"/>
                    </a:cubicBezTo>
                    <a:lnTo>
                      <a:pt x="41985533" y="862330"/>
                    </a:lnTo>
                    <a:cubicBezTo>
                      <a:pt x="41985533" y="389890"/>
                      <a:pt x="41595644" y="0"/>
                      <a:pt x="41123205" y="0"/>
                    </a:cubicBezTo>
                    <a:close/>
                    <a:moveTo>
                      <a:pt x="41795033" y="927100"/>
                    </a:moveTo>
                    <a:lnTo>
                      <a:pt x="41795033" y="10910570"/>
                    </a:lnTo>
                    <a:cubicBezTo>
                      <a:pt x="41795033" y="11277600"/>
                      <a:pt x="41490233" y="11582400"/>
                      <a:pt x="41123205" y="11582400"/>
                    </a:cubicBezTo>
                    <a:lnTo>
                      <a:pt x="862330" y="11582400"/>
                    </a:lnTo>
                    <a:cubicBezTo>
                      <a:pt x="495300" y="11582400"/>
                      <a:pt x="190500" y="11277600"/>
                      <a:pt x="190500" y="10910570"/>
                    </a:cubicBezTo>
                    <a:lnTo>
                      <a:pt x="190500" y="862330"/>
                    </a:lnTo>
                    <a:cubicBezTo>
                      <a:pt x="190500" y="495300"/>
                      <a:pt x="495300" y="190500"/>
                      <a:pt x="862330" y="190500"/>
                    </a:cubicBezTo>
                    <a:lnTo>
                      <a:pt x="41123205" y="190500"/>
                    </a:lnTo>
                    <a:cubicBezTo>
                      <a:pt x="41490233" y="190500"/>
                      <a:pt x="41795033" y="495300"/>
                      <a:pt x="41795033" y="862330"/>
                    </a:cubicBezTo>
                    <a:lnTo>
                      <a:pt x="41795033" y="927100"/>
                    </a:lnTo>
                    <a:close/>
                  </a:path>
                </a:pathLst>
              </a:custGeom>
              <a:solidFill>
                <a:srgbClr val="FF6F28"/>
              </a:solidFill>
            </p:spPr>
          </p:sp>
        </p:grpSp>
        <p:sp>
          <p:nvSpPr>
            <p:cNvPr name="TextBox 31" id="31"/>
            <p:cNvSpPr txBox="true"/>
            <p:nvPr/>
          </p:nvSpPr>
          <p:spPr>
            <a:xfrm rot="0">
              <a:off x="367680" y="398992"/>
              <a:ext cx="3740387" cy="426508"/>
            </a:xfrm>
            <a:prstGeom prst="rect">
              <a:avLst/>
            </a:prstGeom>
          </p:spPr>
          <p:txBody>
            <a:bodyPr anchor="t" rtlCol="false" tIns="0" lIns="0" bIns="0" rIns="0">
              <a:spAutoFit/>
            </a:bodyPr>
            <a:lstStyle/>
            <a:p>
              <a:pPr algn="ctr" marL="0" indent="0" lvl="0">
                <a:lnSpc>
                  <a:spcPts val="2600"/>
                </a:lnSpc>
                <a:spcBef>
                  <a:spcPct val="0"/>
                </a:spcBef>
              </a:pPr>
              <a:r>
                <a:rPr lang="en-US" b="true" sz="2000" spc="20" u="none">
                  <a:solidFill>
                    <a:srgbClr val="FF6F28"/>
                  </a:solidFill>
                  <a:latin typeface="Muli Bold"/>
                  <a:ea typeface="Muli Bold"/>
                  <a:cs typeface="Muli Bold"/>
                  <a:sym typeface="Muli Bold"/>
                </a:rPr>
                <a:t>BLOCKERS</a:t>
              </a:r>
            </a:p>
          </p:txBody>
        </p:sp>
      </p:grpSp>
      <p:grpSp>
        <p:nvGrpSpPr>
          <p:cNvPr name="Group 32" id="32"/>
          <p:cNvGrpSpPr/>
          <p:nvPr/>
        </p:nvGrpSpPr>
        <p:grpSpPr>
          <a:xfrm rot="0">
            <a:off x="7154008" y="6789478"/>
            <a:ext cx="3356811" cy="939800"/>
            <a:chOff x="0" y="0"/>
            <a:chExt cx="4475748" cy="1253067"/>
          </a:xfrm>
        </p:grpSpPr>
        <p:grpSp>
          <p:nvGrpSpPr>
            <p:cNvPr name="Group 33" id="33"/>
            <p:cNvGrpSpPr/>
            <p:nvPr/>
          </p:nvGrpSpPr>
          <p:grpSpPr>
            <a:xfrm rot="0">
              <a:off x="0" y="0"/>
              <a:ext cx="4475748" cy="1253067"/>
              <a:chOff x="0" y="0"/>
              <a:chExt cx="41960134" cy="11747500"/>
            </a:xfrm>
          </p:grpSpPr>
          <p:sp>
            <p:nvSpPr>
              <p:cNvPr name="Freeform 34" id="34"/>
              <p:cNvSpPr/>
              <p:nvPr/>
            </p:nvSpPr>
            <p:spPr>
              <a:xfrm flipH="false" flipV="false" rot="0">
                <a:off x="-12700" y="-12700"/>
                <a:ext cx="41985533" cy="11772901"/>
              </a:xfrm>
              <a:custGeom>
                <a:avLst/>
                <a:gdLst/>
                <a:ahLst/>
                <a:cxnLst/>
                <a:rect r="r" b="b" t="t" l="l"/>
                <a:pathLst>
                  <a:path h="11772901" w="41985533">
                    <a:moveTo>
                      <a:pt x="41123205" y="0"/>
                    </a:moveTo>
                    <a:lnTo>
                      <a:pt x="862330" y="0"/>
                    </a:lnTo>
                    <a:cubicBezTo>
                      <a:pt x="389890" y="0"/>
                      <a:pt x="0" y="389890"/>
                      <a:pt x="0" y="862330"/>
                    </a:cubicBezTo>
                    <a:lnTo>
                      <a:pt x="0" y="10910570"/>
                    </a:lnTo>
                    <a:cubicBezTo>
                      <a:pt x="0" y="11383011"/>
                      <a:pt x="389890" y="11772901"/>
                      <a:pt x="862330" y="11772901"/>
                    </a:cubicBezTo>
                    <a:lnTo>
                      <a:pt x="41123205" y="11772901"/>
                    </a:lnTo>
                    <a:cubicBezTo>
                      <a:pt x="41595644" y="11772901"/>
                      <a:pt x="41985533" y="11383011"/>
                      <a:pt x="41985533" y="10910570"/>
                    </a:cubicBezTo>
                    <a:lnTo>
                      <a:pt x="41985533" y="862330"/>
                    </a:lnTo>
                    <a:cubicBezTo>
                      <a:pt x="41985533" y="389890"/>
                      <a:pt x="41595644" y="0"/>
                      <a:pt x="41123205" y="0"/>
                    </a:cubicBezTo>
                    <a:close/>
                    <a:moveTo>
                      <a:pt x="41795033" y="927100"/>
                    </a:moveTo>
                    <a:lnTo>
                      <a:pt x="41795033" y="10910570"/>
                    </a:lnTo>
                    <a:cubicBezTo>
                      <a:pt x="41795033" y="11277600"/>
                      <a:pt x="41490233" y="11582400"/>
                      <a:pt x="41123205" y="11582400"/>
                    </a:cubicBezTo>
                    <a:lnTo>
                      <a:pt x="862330" y="11582400"/>
                    </a:lnTo>
                    <a:cubicBezTo>
                      <a:pt x="495300" y="11582400"/>
                      <a:pt x="190500" y="11277600"/>
                      <a:pt x="190500" y="10910570"/>
                    </a:cubicBezTo>
                    <a:lnTo>
                      <a:pt x="190500" y="862330"/>
                    </a:lnTo>
                    <a:cubicBezTo>
                      <a:pt x="190500" y="495300"/>
                      <a:pt x="495300" y="190500"/>
                      <a:pt x="862330" y="190500"/>
                    </a:cubicBezTo>
                    <a:lnTo>
                      <a:pt x="41123205" y="190500"/>
                    </a:lnTo>
                    <a:cubicBezTo>
                      <a:pt x="41490233" y="190500"/>
                      <a:pt x="41795033" y="495300"/>
                      <a:pt x="41795033" y="862330"/>
                    </a:cubicBezTo>
                    <a:lnTo>
                      <a:pt x="41795033" y="927100"/>
                    </a:lnTo>
                    <a:close/>
                  </a:path>
                </a:pathLst>
              </a:custGeom>
              <a:solidFill>
                <a:srgbClr val="FF6F28"/>
              </a:solidFill>
            </p:spPr>
          </p:sp>
        </p:grpSp>
        <p:sp>
          <p:nvSpPr>
            <p:cNvPr name="TextBox 35" id="35"/>
            <p:cNvSpPr txBox="true"/>
            <p:nvPr/>
          </p:nvSpPr>
          <p:spPr>
            <a:xfrm rot="0">
              <a:off x="367680" y="398992"/>
              <a:ext cx="3740387" cy="426508"/>
            </a:xfrm>
            <a:prstGeom prst="rect">
              <a:avLst/>
            </a:prstGeom>
          </p:spPr>
          <p:txBody>
            <a:bodyPr anchor="t" rtlCol="false" tIns="0" lIns="0" bIns="0" rIns="0">
              <a:spAutoFit/>
            </a:bodyPr>
            <a:lstStyle/>
            <a:p>
              <a:pPr algn="ctr" marL="0" indent="0" lvl="0">
                <a:lnSpc>
                  <a:spcPts val="2600"/>
                </a:lnSpc>
                <a:spcBef>
                  <a:spcPct val="0"/>
                </a:spcBef>
              </a:pPr>
              <a:r>
                <a:rPr lang="en-US" b="true" sz="2000" spc="20" u="none">
                  <a:solidFill>
                    <a:srgbClr val="FF6F28"/>
                  </a:solidFill>
                  <a:latin typeface="Muli Bold"/>
                  <a:ea typeface="Muli Bold"/>
                  <a:cs typeface="Muli Bold"/>
                  <a:sym typeface="Muli Bold"/>
                </a:rPr>
                <a:t>ACTION ITEMS</a:t>
              </a:r>
            </a:p>
          </p:txBody>
        </p:sp>
      </p:grpSp>
      <p:sp>
        <p:nvSpPr>
          <p:cNvPr name="TextBox 36" id="36"/>
          <p:cNvSpPr txBox="true"/>
          <p:nvPr/>
        </p:nvSpPr>
        <p:spPr>
          <a:xfrm rot="0">
            <a:off x="7154008" y="2049529"/>
            <a:ext cx="10427677" cy="1810385"/>
          </a:xfrm>
          <a:prstGeom prst="rect">
            <a:avLst/>
          </a:prstGeom>
        </p:spPr>
        <p:txBody>
          <a:bodyPr anchor="t" rtlCol="false" tIns="0" lIns="0" bIns="0" rIns="0">
            <a:spAutoFit/>
          </a:bodyPr>
          <a:lstStyle/>
          <a:p>
            <a:pPr algn="l" marL="561341" indent="-280670" lvl="1">
              <a:lnSpc>
                <a:spcPts val="3640"/>
              </a:lnSpc>
              <a:buFont typeface="Arial"/>
              <a:buChar char="•"/>
            </a:pPr>
            <a:r>
              <a:rPr lang="en-US" sz="2600">
                <a:solidFill>
                  <a:srgbClr val="191919"/>
                </a:solidFill>
                <a:latin typeface="Muli"/>
                <a:ea typeface="Muli"/>
                <a:cs typeface="Muli"/>
                <a:sym typeface="Muli"/>
              </a:rPr>
              <a:t>Sprint goal and acceptance criteria completed.</a:t>
            </a:r>
          </a:p>
          <a:p>
            <a:pPr algn="l" marL="561341" indent="-280670" lvl="1">
              <a:lnSpc>
                <a:spcPts val="3640"/>
              </a:lnSpc>
              <a:buFont typeface="Arial"/>
              <a:buChar char="•"/>
            </a:pPr>
            <a:r>
              <a:rPr lang="en-US" sz="2600">
                <a:solidFill>
                  <a:srgbClr val="191919"/>
                </a:solidFill>
                <a:latin typeface="Muli"/>
                <a:ea typeface="Muli"/>
                <a:cs typeface="Muli"/>
                <a:sym typeface="Muli"/>
              </a:rPr>
              <a:t>Presentation template created.</a:t>
            </a:r>
          </a:p>
          <a:p>
            <a:pPr algn="l" marL="561341" indent="-280670" lvl="1">
              <a:lnSpc>
                <a:spcPts val="3640"/>
              </a:lnSpc>
              <a:buFont typeface="Arial"/>
              <a:buChar char="•"/>
            </a:pPr>
            <a:r>
              <a:rPr lang="en-US" sz="2600">
                <a:solidFill>
                  <a:srgbClr val="191919"/>
                </a:solidFill>
                <a:latin typeface="Muli"/>
                <a:ea typeface="Muli"/>
                <a:cs typeface="Muli"/>
                <a:sym typeface="Muli"/>
              </a:rPr>
              <a:t>Team coordination and task allocation ongoing.</a:t>
            </a:r>
          </a:p>
          <a:p>
            <a:pPr algn="l">
              <a:lnSpc>
                <a:spcPts val="3640"/>
              </a:lnSpc>
              <a:spcBef>
                <a:spcPct val="0"/>
              </a:spcBef>
            </a:pPr>
          </a:p>
        </p:txBody>
      </p:sp>
      <p:sp>
        <p:nvSpPr>
          <p:cNvPr name="TextBox 37" id="37"/>
          <p:cNvSpPr txBox="true"/>
          <p:nvPr/>
        </p:nvSpPr>
        <p:spPr>
          <a:xfrm rot="0">
            <a:off x="7154008" y="5114039"/>
            <a:ext cx="10427677" cy="1810385"/>
          </a:xfrm>
          <a:prstGeom prst="rect">
            <a:avLst/>
          </a:prstGeom>
        </p:spPr>
        <p:txBody>
          <a:bodyPr anchor="t" rtlCol="false" tIns="0" lIns="0" bIns="0" rIns="0">
            <a:spAutoFit/>
          </a:bodyPr>
          <a:lstStyle/>
          <a:p>
            <a:pPr algn="l" marL="561339" indent="-280669" lvl="1">
              <a:lnSpc>
                <a:spcPts val="3639"/>
              </a:lnSpc>
              <a:buFont typeface="Arial"/>
              <a:buChar char="•"/>
            </a:pPr>
            <a:r>
              <a:rPr lang="en-US" sz="2599">
                <a:solidFill>
                  <a:srgbClr val="191919"/>
                </a:solidFill>
                <a:latin typeface="Muli"/>
                <a:ea typeface="Muli"/>
                <a:cs typeface="Muli"/>
                <a:sym typeface="Muli"/>
              </a:rPr>
              <a:t>Some members unclear about tasks.</a:t>
            </a:r>
          </a:p>
          <a:p>
            <a:pPr algn="l" marL="561339" indent="-280669" lvl="1">
              <a:lnSpc>
                <a:spcPts val="3639"/>
              </a:lnSpc>
              <a:buFont typeface="Arial"/>
              <a:buChar char="•"/>
            </a:pPr>
            <a:r>
              <a:rPr lang="en-US" sz="2599">
                <a:solidFill>
                  <a:srgbClr val="191919"/>
                </a:solidFill>
                <a:latin typeface="Muli"/>
                <a:ea typeface="Muli"/>
                <a:cs typeface="Muli"/>
                <a:sym typeface="Muli"/>
              </a:rPr>
              <a:t>Limited Discord engagement.</a:t>
            </a:r>
          </a:p>
          <a:p>
            <a:pPr algn="l" marL="561339" indent="-280669" lvl="1">
              <a:lnSpc>
                <a:spcPts val="3639"/>
              </a:lnSpc>
              <a:buFont typeface="Arial"/>
              <a:buChar char="•"/>
            </a:pPr>
            <a:r>
              <a:rPr lang="en-US" sz="2599">
                <a:solidFill>
                  <a:srgbClr val="191919"/>
                </a:solidFill>
                <a:latin typeface="Muli"/>
                <a:ea typeface="Muli"/>
                <a:cs typeface="Muli"/>
                <a:sym typeface="Muli"/>
              </a:rPr>
              <a:t>GitHub commits and PRs not consistent.</a:t>
            </a:r>
          </a:p>
          <a:p>
            <a:pPr algn="l">
              <a:lnSpc>
                <a:spcPts val="3639"/>
              </a:lnSpc>
              <a:spcBef>
                <a:spcPct val="0"/>
              </a:spcBef>
            </a:pPr>
          </a:p>
        </p:txBody>
      </p:sp>
      <p:sp>
        <p:nvSpPr>
          <p:cNvPr name="TextBox 38" id="38"/>
          <p:cNvSpPr txBox="true"/>
          <p:nvPr/>
        </p:nvSpPr>
        <p:spPr>
          <a:xfrm rot="0">
            <a:off x="7154008" y="8140065"/>
            <a:ext cx="10427677" cy="1810385"/>
          </a:xfrm>
          <a:prstGeom prst="rect">
            <a:avLst/>
          </a:prstGeom>
        </p:spPr>
        <p:txBody>
          <a:bodyPr anchor="t" rtlCol="false" tIns="0" lIns="0" bIns="0" rIns="0">
            <a:spAutoFit/>
          </a:bodyPr>
          <a:lstStyle/>
          <a:p>
            <a:pPr algn="l" marL="561341" indent="-280670" lvl="1">
              <a:lnSpc>
                <a:spcPts val="3640"/>
              </a:lnSpc>
              <a:buFont typeface="Arial"/>
              <a:buChar char="•"/>
            </a:pPr>
            <a:r>
              <a:rPr lang="en-US" sz="2600">
                <a:solidFill>
                  <a:srgbClr val="191919"/>
                </a:solidFill>
                <a:latin typeface="Muli"/>
                <a:ea typeface="Muli"/>
                <a:cs typeface="Muli"/>
                <a:sym typeface="Muli"/>
              </a:rPr>
              <a:t>Finalise report.</a:t>
            </a:r>
          </a:p>
          <a:p>
            <a:pPr algn="l" marL="561341" indent="-280670" lvl="1">
              <a:lnSpc>
                <a:spcPts val="3640"/>
              </a:lnSpc>
              <a:buFont typeface="Arial"/>
              <a:buChar char="•"/>
            </a:pPr>
            <a:r>
              <a:rPr lang="en-US" sz="2600">
                <a:solidFill>
                  <a:srgbClr val="191919"/>
                </a:solidFill>
                <a:latin typeface="Muli"/>
                <a:ea typeface="Muli"/>
                <a:cs typeface="Muli"/>
                <a:sym typeface="Muli"/>
              </a:rPr>
              <a:t>Follow up with team members.</a:t>
            </a:r>
          </a:p>
          <a:p>
            <a:pPr algn="l" marL="561341" indent="-280670" lvl="1">
              <a:lnSpc>
                <a:spcPts val="3640"/>
              </a:lnSpc>
              <a:buFont typeface="Arial"/>
              <a:buChar char="•"/>
            </a:pPr>
            <a:r>
              <a:rPr lang="en-US" sz="2600">
                <a:solidFill>
                  <a:srgbClr val="191919"/>
                </a:solidFill>
                <a:latin typeface="Muli"/>
                <a:ea typeface="Muli"/>
                <a:cs typeface="Muli"/>
                <a:sym typeface="Muli"/>
              </a:rPr>
              <a:t>Check files and evidence.</a:t>
            </a:r>
          </a:p>
          <a:p>
            <a:pPr algn="l" marL="561341" indent="-280670" lvl="1">
              <a:lnSpc>
                <a:spcPts val="3640"/>
              </a:lnSpc>
              <a:spcBef>
                <a:spcPct val="0"/>
              </a:spcBef>
              <a:buFont typeface="Arial"/>
              <a:buChar char="•"/>
            </a:pPr>
            <a:r>
              <a:rPr lang="en-US" sz="2600">
                <a:solidFill>
                  <a:srgbClr val="191919"/>
                </a:solidFill>
                <a:latin typeface="Muli"/>
                <a:ea typeface="Muli"/>
                <a:cs typeface="Muli"/>
                <a:sym typeface="Muli"/>
              </a:rPr>
              <a:t>Prepare final submission to Dr Tan.</a:t>
            </a:r>
          </a:p>
        </p:txBody>
      </p:sp>
      <p:sp>
        <p:nvSpPr>
          <p:cNvPr name="TextBox 39" id="39"/>
          <p:cNvSpPr txBox="true"/>
          <p:nvPr/>
        </p:nvSpPr>
        <p:spPr>
          <a:xfrm rot="0">
            <a:off x="1757439" y="6241377"/>
            <a:ext cx="2805290" cy="650875"/>
          </a:xfrm>
          <a:prstGeom prst="rect">
            <a:avLst/>
          </a:prstGeom>
        </p:spPr>
        <p:txBody>
          <a:bodyPr anchor="t" rtlCol="false" tIns="0" lIns="0" bIns="0" rIns="0">
            <a:spAutoFit/>
          </a:bodyPr>
          <a:lstStyle/>
          <a:p>
            <a:pPr algn="l" marL="0" indent="0" lvl="0">
              <a:lnSpc>
                <a:spcPts val="2600"/>
              </a:lnSpc>
            </a:pPr>
            <a:r>
              <a:rPr lang="en-US" b="true" sz="2000" spc="20">
                <a:solidFill>
                  <a:srgbClr val="191919"/>
                </a:solidFill>
                <a:latin typeface="Muli Bold"/>
                <a:ea typeface="Muli Bold"/>
                <a:cs typeface="Muli Bold"/>
                <a:sym typeface="Muli Bold"/>
              </a:rPr>
              <a:t>GENERAL STATUS: DONE</a:t>
            </a:r>
          </a:p>
        </p:txBody>
      </p:sp>
      <p:sp>
        <p:nvSpPr>
          <p:cNvPr name="TextBox 40" id="40"/>
          <p:cNvSpPr txBox="true"/>
          <p:nvPr/>
        </p:nvSpPr>
        <p:spPr>
          <a:xfrm rot="0">
            <a:off x="776136" y="2521334"/>
            <a:ext cx="5153015" cy="1338580"/>
          </a:xfrm>
          <a:prstGeom prst="rect">
            <a:avLst/>
          </a:prstGeom>
        </p:spPr>
        <p:txBody>
          <a:bodyPr anchor="t" rtlCol="false" tIns="0" lIns="0" bIns="0" rIns="0">
            <a:spAutoFit/>
          </a:bodyPr>
          <a:lstStyle/>
          <a:p>
            <a:pPr algn="l">
              <a:lnSpc>
                <a:spcPts val="5330"/>
              </a:lnSpc>
            </a:pPr>
            <a:r>
              <a:rPr lang="en-US" sz="4100" b="true">
                <a:solidFill>
                  <a:srgbClr val="191919"/>
                </a:solidFill>
                <a:latin typeface="Muli Bold"/>
                <a:ea typeface="Muli Bold"/>
                <a:cs typeface="Muli Bold"/>
                <a:sym typeface="Muli Bold"/>
              </a:rPr>
              <a:t>Upgrade customer expansion program</a:t>
            </a:r>
          </a:p>
        </p:txBody>
      </p:sp>
      <p:sp>
        <p:nvSpPr>
          <p:cNvPr name="TextBox 41" id="41"/>
          <p:cNvSpPr txBox="true"/>
          <p:nvPr/>
        </p:nvSpPr>
        <p:spPr>
          <a:xfrm rot="0">
            <a:off x="108521" y="66040"/>
            <a:ext cx="348655" cy="353060"/>
          </a:xfrm>
          <a:prstGeom prst="rect">
            <a:avLst/>
          </a:prstGeom>
        </p:spPr>
        <p:txBody>
          <a:bodyPr anchor="t" rtlCol="false" tIns="0" lIns="0" bIns="0" rIns="0">
            <a:spAutoFit/>
          </a:bodyPr>
          <a:lstStyle/>
          <a:p>
            <a:pPr algn="ctr">
              <a:lnSpc>
                <a:spcPts val="2859"/>
              </a:lnSpc>
              <a:spcBef>
                <a:spcPct val="0"/>
              </a:spcBef>
            </a:pPr>
            <a:r>
              <a:rPr lang="en-US" b="true" sz="2199" spc="-65">
                <a:solidFill>
                  <a:srgbClr val="000000"/>
                </a:solidFill>
                <a:latin typeface="Muli Ultra-Bold"/>
                <a:ea typeface="Muli Ultra-Bold"/>
                <a:cs typeface="Muli Ultra-Bold"/>
                <a:sym typeface="Muli Ultra-Bold"/>
              </a:rPr>
              <a:t>R1</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6E7DE"/>
        </a:solidFill>
      </p:bgPr>
    </p:bg>
    <p:spTree>
      <p:nvGrpSpPr>
        <p:cNvPr id="1" name=""/>
        <p:cNvGrpSpPr/>
        <p:nvPr/>
      </p:nvGrpSpPr>
      <p:grpSpPr>
        <a:xfrm>
          <a:off x="0" y="0"/>
          <a:ext cx="0" cy="0"/>
          <a:chOff x="0" y="0"/>
          <a:chExt cx="0" cy="0"/>
        </a:xfrm>
      </p:grpSpPr>
      <p:grpSp>
        <p:nvGrpSpPr>
          <p:cNvPr name="Group 2" id="2"/>
          <p:cNvGrpSpPr/>
          <p:nvPr/>
        </p:nvGrpSpPr>
        <p:grpSpPr>
          <a:xfrm rot="0">
            <a:off x="299453" y="5604963"/>
            <a:ext cx="6106380" cy="1952277"/>
            <a:chOff x="0" y="0"/>
            <a:chExt cx="2065615" cy="660400"/>
          </a:xfrm>
        </p:grpSpPr>
        <p:sp>
          <p:nvSpPr>
            <p:cNvPr name="Freeform 3" id="3"/>
            <p:cNvSpPr/>
            <p:nvPr/>
          </p:nvSpPr>
          <p:spPr>
            <a:xfrm flipH="false" flipV="false" rot="0">
              <a:off x="0" y="0"/>
              <a:ext cx="2065615" cy="660400"/>
            </a:xfrm>
            <a:custGeom>
              <a:avLst/>
              <a:gdLst/>
              <a:ahLst/>
              <a:cxnLst/>
              <a:rect r="r" b="b" t="t" l="l"/>
              <a:pathLst>
                <a:path h="660400" w="2065615">
                  <a:moveTo>
                    <a:pt x="1941155" y="660400"/>
                  </a:moveTo>
                  <a:lnTo>
                    <a:pt x="124460" y="660400"/>
                  </a:lnTo>
                  <a:cubicBezTo>
                    <a:pt x="55880" y="660400"/>
                    <a:pt x="0" y="604520"/>
                    <a:pt x="0" y="535940"/>
                  </a:cubicBezTo>
                  <a:lnTo>
                    <a:pt x="0" y="124460"/>
                  </a:lnTo>
                  <a:cubicBezTo>
                    <a:pt x="0" y="55880"/>
                    <a:pt x="55880" y="0"/>
                    <a:pt x="124460" y="0"/>
                  </a:cubicBezTo>
                  <a:lnTo>
                    <a:pt x="1941155" y="0"/>
                  </a:lnTo>
                  <a:cubicBezTo>
                    <a:pt x="2009735" y="0"/>
                    <a:pt x="2065615" y="55880"/>
                    <a:pt x="2065615" y="124460"/>
                  </a:cubicBezTo>
                  <a:lnTo>
                    <a:pt x="2065615" y="535940"/>
                  </a:lnTo>
                  <a:cubicBezTo>
                    <a:pt x="2065615" y="604520"/>
                    <a:pt x="2009735" y="660400"/>
                    <a:pt x="1941155" y="660400"/>
                  </a:cubicBezTo>
                  <a:close/>
                </a:path>
              </a:pathLst>
            </a:custGeom>
            <a:solidFill>
              <a:srgbClr val="FFFFFF"/>
            </a:solidFill>
          </p:spPr>
        </p:sp>
      </p:grpSp>
      <p:grpSp>
        <p:nvGrpSpPr>
          <p:cNvPr name="Group 4" id="4"/>
          <p:cNvGrpSpPr/>
          <p:nvPr/>
        </p:nvGrpSpPr>
        <p:grpSpPr>
          <a:xfrm rot="0">
            <a:off x="299453" y="470391"/>
            <a:ext cx="6106380" cy="4827481"/>
            <a:chOff x="0" y="0"/>
            <a:chExt cx="2065615" cy="1633000"/>
          </a:xfrm>
        </p:grpSpPr>
        <p:sp>
          <p:nvSpPr>
            <p:cNvPr name="Freeform 5" id="5"/>
            <p:cNvSpPr/>
            <p:nvPr/>
          </p:nvSpPr>
          <p:spPr>
            <a:xfrm flipH="false" flipV="false" rot="0">
              <a:off x="0" y="0"/>
              <a:ext cx="2065615" cy="1633000"/>
            </a:xfrm>
            <a:custGeom>
              <a:avLst/>
              <a:gdLst/>
              <a:ahLst/>
              <a:cxnLst/>
              <a:rect r="r" b="b" t="t" l="l"/>
              <a:pathLst>
                <a:path h="1633000" w="2065615">
                  <a:moveTo>
                    <a:pt x="1941155" y="1633000"/>
                  </a:moveTo>
                  <a:lnTo>
                    <a:pt x="124460" y="1633000"/>
                  </a:lnTo>
                  <a:cubicBezTo>
                    <a:pt x="55880" y="1633000"/>
                    <a:pt x="0" y="1577120"/>
                    <a:pt x="0" y="1508540"/>
                  </a:cubicBezTo>
                  <a:lnTo>
                    <a:pt x="0" y="124460"/>
                  </a:lnTo>
                  <a:cubicBezTo>
                    <a:pt x="0" y="55880"/>
                    <a:pt x="55880" y="0"/>
                    <a:pt x="124460" y="0"/>
                  </a:cubicBezTo>
                  <a:lnTo>
                    <a:pt x="1941155" y="0"/>
                  </a:lnTo>
                  <a:cubicBezTo>
                    <a:pt x="2009735" y="0"/>
                    <a:pt x="2065615" y="55880"/>
                    <a:pt x="2065615" y="124460"/>
                  </a:cubicBezTo>
                  <a:lnTo>
                    <a:pt x="2065615" y="1508540"/>
                  </a:lnTo>
                  <a:cubicBezTo>
                    <a:pt x="2065615" y="1577120"/>
                    <a:pt x="2009735" y="1633000"/>
                    <a:pt x="1941155" y="1633000"/>
                  </a:cubicBezTo>
                  <a:close/>
                </a:path>
              </a:pathLst>
            </a:custGeom>
            <a:solidFill>
              <a:srgbClr val="FFFFFF"/>
            </a:solidFill>
          </p:spPr>
        </p:sp>
      </p:grpSp>
      <p:grpSp>
        <p:nvGrpSpPr>
          <p:cNvPr name="Group 6" id="6"/>
          <p:cNvGrpSpPr/>
          <p:nvPr/>
        </p:nvGrpSpPr>
        <p:grpSpPr>
          <a:xfrm rot="0">
            <a:off x="299453" y="7864331"/>
            <a:ext cx="6106380" cy="1952277"/>
            <a:chOff x="0" y="0"/>
            <a:chExt cx="2065615" cy="660400"/>
          </a:xfrm>
        </p:grpSpPr>
        <p:sp>
          <p:nvSpPr>
            <p:cNvPr name="Freeform 7" id="7"/>
            <p:cNvSpPr/>
            <p:nvPr/>
          </p:nvSpPr>
          <p:spPr>
            <a:xfrm flipH="false" flipV="false" rot="0">
              <a:off x="0" y="0"/>
              <a:ext cx="2065615" cy="660400"/>
            </a:xfrm>
            <a:custGeom>
              <a:avLst/>
              <a:gdLst/>
              <a:ahLst/>
              <a:cxnLst/>
              <a:rect r="r" b="b" t="t" l="l"/>
              <a:pathLst>
                <a:path h="660400" w="2065615">
                  <a:moveTo>
                    <a:pt x="1941155" y="660400"/>
                  </a:moveTo>
                  <a:lnTo>
                    <a:pt x="124460" y="660400"/>
                  </a:lnTo>
                  <a:cubicBezTo>
                    <a:pt x="55880" y="660400"/>
                    <a:pt x="0" y="604520"/>
                    <a:pt x="0" y="535940"/>
                  </a:cubicBezTo>
                  <a:lnTo>
                    <a:pt x="0" y="124460"/>
                  </a:lnTo>
                  <a:cubicBezTo>
                    <a:pt x="0" y="55880"/>
                    <a:pt x="55880" y="0"/>
                    <a:pt x="124460" y="0"/>
                  </a:cubicBezTo>
                  <a:lnTo>
                    <a:pt x="1941155" y="0"/>
                  </a:lnTo>
                  <a:cubicBezTo>
                    <a:pt x="2009735" y="0"/>
                    <a:pt x="2065615" y="55880"/>
                    <a:pt x="2065615" y="124460"/>
                  </a:cubicBezTo>
                  <a:lnTo>
                    <a:pt x="2065615" y="535940"/>
                  </a:lnTo>
                  <a:cubicBezTo>
                    <a:pt x="2065615" y="604520"/>
                    <a:pt x="2009735" y="660400"/>
                    <a:pt x="1941155" y="660400"/>
                  </a:cubicBezTo>
                  <a:close/>
                </a:path>
              </a:pathLst>
            </a:custGeom>
            <a:solidFill>
              <a:srgbClr val="FF6F28"/>
            </a:solidFill>
          </p:spPr>
        </p:sp>
      </p:grpSp>
      <p:grpSp>
        <p:nvGrpSpPr>
          <p:cNvPr name="Group 8" id="8"/>
          <p:cNvGrpSpPr/>
          <p:nvPr/>
        </p:nvGrpSpPr>
        <p:grpSpPr>
          <a:xfrm rot="0">
            <a:off x="5026897" y="8556495"/>
            <a:ext cx="567950" cy="567950"/>
            <a:chOff x="0" y="0"/>
            <a:chExt cx="757267" cy="757267"/>
          </a:xfrm>
        </p:grpSpPr>
        <p:grpSp>
          <p:nvGrpSpPr>
            <p:cNvPr name="Group 9" id="9"/>
            <p:cNvGrpSpPr/>
            <p:nvPr/>
          </p:nvGrpSpPr>
          <p:grpSpPr>
            <a:xfrm rot="0">
              <a:off x="0" y="0"/>
              <a:ext cx="757267" cy="757267"/>
              <a:chOff x="0" y="0"/>
              <a:chExt cx="6350000" cy="6350000"/>
            </a:xfrm>
          </p:grpSpPr>
          <p:sp>
            <p:nvSpPr>
              <p:cNvPr name="Freeform 10" id="10"/>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FFFF"/>
              </a:solidFill>
            </p:spPr>
          </p:sp>
        </p:grpSp>
        <p:grpSp>
          <p:nvGrpSpPr>
            <p:cNvPr name="Group 11" id="11"/>
            <p:cNvGrpSpPr/>
            <p:nvPr/>
          </p:nvGrpSpPr>
          <p:grpSpPr>
            <a:xfrm rot="-5400000">
              <a:off x="284360" y="302439"/>
              <a:ext cx="226645" cy="152389"/>
              <a:chOff x="0" y="0"/>
              <a:chExt cx="1930400" cy="1297940"/>
            </a:xfrm>
          </p:grpSpPr>
          <p:sp>
            <p:nvSpPr>
              <p:cNvPr name="Freeform 12" id="12"/>
              <p:cNvSpPr/>
              <p:nvPr/>
            </p:nvSpPr>
            <p:spPr>
              <a:xfrm flipH="false" flipV="false" rot="0">
                <a:off x="0" y="0"/>
                <a:ext cx="1930400" cy="1297940"/>
              </a:xfrm>
              <a:custGeom>
                <a:avLst/>
                <a:gdLst/>
                <a:ahLst/>
                <a:cxnLst/>
                <a:rect r="r" b="b" t="t" l="l"/>
                <a:pathLst>
                  <a:path h="1297940" w="1930400">
                    <a:moveTo>
                      <a:pt x="0" y="0"/>
                    </a:moveTo>
                    <a:lnTo>
                      <a:pt x="965200" y="1297940"/>
                    </a:lnTo>
                    <a:lnTo>
                      <a:pt x="1930400" y="0"/>
                    </a:lnTo>
                    <a:close/>
                  </a:path>
                </a:pathLst>
              </a:custGeom>
              <a:solidFill>
                <a:srgbClr val="FF6F28"/>
              </a:solidFill>
            </p:spPr>
          </p:sp>
        </p:grpSp>
      </p:grpSp>
      <p:grpSp>
        <p:nvGrpSpPr>
          <p:cNvPr name="Group 13" id="13"/>
          <p:cNvGrpSpPr/>
          <p:nvPr/>
        </p:nvGrpSpPr>
        <p:grpSpPr>
          <a:xfrm rot="0">
            <a:off x="923934" y="6372726"/>
            <a:ext cx="416752" cy="416752"/>
            <a:chOff x="0" y="0"/>
            <a:chExt cx="555669" cy="555669"/>
          </a:xfrm>
        </p:grpSpPr>
        <p:grpSp>
          <p:nvGrpSpPr>
            <p:cNvPr name="Group 14" id="14"/>
            <p:cNvGrpSpPr>
              <a:grpSpLocks noChangeAspect="true"/>
            </p:cNvGrpSpPr>
            <p:nvPr/>
          </p:nvGrpSpPr>
          <p:grpSpPr>
            <a:xfrm rot="0">
              <a:off x="0" y="0"/>
              <a:ext cx="555669" cy="555669"/>
              <a:chOff x="0" y="0"/>
              <a:chExt cx="6355080" cy="6355080"/>
            </a:xfrm>
          </p:grpSpPr>
          <p:sp>
            <p:nvSpPr>
              <p:cNvPr name="Freeform 15" id="15"/>
              <p:cNvSpPr/>
              <p:nvPr/>
            </p:nvSpPr>
            <p:spPr>
              <a:xfrm flipH="false" flipV="false" rot="0">
                <a:off x="0" y="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FF6F28"/>
              </a:solidFill>
            </p:spPr>
          </p:sp>
        </p:grpSp>
        <p:grpSp>
          <p:nvGrpSpPr>
            <p:cNvPr name="Group 16" id="16"/>
            <p:cNvGrpSpPr/>
            <p:nvPr/>
          </p:nvGrpSpPr>
          <p:grpSpPr>
            <a:xfrm rot="0">
              <a:off x="85762" y="85762"/>
              <a:ext cx="384145" cy="384145"/>
              <a:chOff x="0" y="0"/>
              <a:chExt cx="6350000" cy="6350000"/>
            </a:xfrm>
          </p:grpSpPr>
          <p:sp>
            <p:nvSpPr>
              <p:cNvPr name="Freeform 17" id="17"/>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6F28"/>
              </a:solidFill>
            </p:spPr>
          </p:sp>
        </p:grpSp>
      </p:grpSp>
      <p:sp>
        <p:nvSpPr>
          <p:cNvPr name="TextBox 18" id="18"/>
          <p:cNvSpPr txBox="true"/>
          <p:nvPr/>
        </p:nvSpPr>
        <p:spPr>
          <a:xfrm rot="0">
            <a:off x="1943422" y="1244600"/>
            <a:ext cx="2830911" cy="353060"/>
          </a:xfrm>
          <a:prstGeom prst="rect">
            <a:avLst/>
          </a:prstGeom>
        </p:spPr>
        <p:txBody>
          <a:bodyPr anchor="t" rtlCol="false" tIns="0" lIns="0" bIns="0" rIns="0">
            <a:spAutoFit/>
          </a:bodyPr>
          <a:lstStyle/>
          <a:p>
            <a:pPr algn="l" marL="0" indent="0" lvl="0">
              <a:lnSpc>
                <a:spcPts val="2860"/>
              </a:lnSpc>
            </a:pPr>
            <a:r>
              <a:rPr lang="en-US" b="true" sz="2199" spc="-65">
                <a:solidFill>
                  <a:srgbClr val="191919"/>
                </a:solidFill>
                <a:latin typeface="Muli Ultra-Bold"/>
                <a:ea typeface="Muli Ultra-Bold"/>
                <a:cs typeface="Muli Ultra-Bold"/>
                <a:sym typeface="Muli Ultra-Bold"/>
              </a:rPr>
              <a:t>Goal #2</a:t>
            </a:r>
          </a:p>
        </p:txBody>
      </p:sp>
      <p:sp>
        <p:nvSpPr>
          <p:cNvPr name="TextBox 19" id="19"/>
          <p:cNvSpPr txBox="true"/>
          <p:nvPr/>
        </p:nvSpPr>
        <p:spPr>
          <a:xfrm rot="0">
            <a:off x="1028700" y="8662670"/>
            <a:ext cx="3030746" cy="327025"/>
          </a:xfrm>
          <a:prstGeom prst="rect">
            <a:avLst/>
          </a:prstGeom>
        </p:spPr>
        <p:txBody>
          <a:bodyPr anchor="t" rtlCol="false" tIns="0" lIns="0" bIns="0" rIns="0">
            <a:spAutoFit/>
          </a:bodyPr>
          <a:lstStyle/>
          <a:p>
            <a:pPr algn="l" marL="0" indent="0" lvl="0">
              <a:lnSpc>
                <a:spcPts val="2600"/>
              </a:lnSpc>
            </a:pPr>
            <a:r>
              <a:rPr lang="en-US" b="true" sz="2000" spc="20">
                <a:solidFill>
                  <a:srgbClr val="FFFFFF"/>
                </a:solidFill>
                <a:latin typeface="Muli Bold"/>
                <a:ea typeface="Muli Bold"/>
                <a:cs typeface="Muli Bold"/>
                <a:sym typeface="Muli Bold"/>
              </a:rPr>
              <a:t>TRACKING SHEET</a:t>
            </a:r>
          </a:p>
        </p:txBody>
      </p:sp>
      <p:grpSp>
        <p:nvGrpSpPr>
          <p:cNvPr name="Group 20" id="20"/>
          <p:cNvGrpSpPr/>
          <p:nvPr/>
        </p:nvGrpSpPr>
        <p:grpSpPr>
          <a:xfrm rot="0">
            <a:off x="7154008" y="793750"/>
            <a:ext cx="3356811" cy="939800"/>
            <a:chOff x="0" y="0"/>
            <a:chExt cx="4475748" cy="1253067"/>
          </a:xfrm>
        </p:grpSpPr>
        <p:grpSp>
          <p:nvGrpSpPr>
            <p:cNvPr name="Group 21" id="21"/>
            <p:cNvGrpSpPr/>
            <p:nvPr/>
          </p:nvGrpSpPr>
          <p:grpSpPr>
            <a:xfrm rot="0">
              <a:off x="0" y="0"/>
              <a:ext cx="4475748" cy="1253067"/>
              <a:chOff x="0" y="0"/>
              <a:chExt cx="41960134" cy="11747500"/>
            </a:xfrm>
          </p:grpSpPr>
          <p:sp>
            <p:nvSpPr>
              <p:cNvPr name="Freeform 22" id="22"/>
              <p:cNvSpPr/>
              <p:nvPr/>
            </p:nvSpPr>
            <p:spPr>
              <a:xfrm flipH="false" flipV="false" rot="0">
                <a:off x="-12700" y="-12700"/>
                <a:ext cx="41985533" cy="11772901"/>
              </a:xfrm>
              <a:custGeom>
                <a:avLst/>
                <a:gdLst/>
                <a:ahLst/>
                <a:cxnLst/>
                <a:rect r="r" b="b" t="t" l="l"/>
                <a:pathLst>
                  <a:path h="11772901" w="41985533">
                    <a:moveTo>
                      <a:pt x="41123205" y="0"/>
                    </a:moveTo>
                    <a:lnTo>
                      <a:pt x="862330" y="0"/>
                    </a:lnTo>
                    <a:cubicBezTo>
                      <a:pt x="389890" y="0"/>
                      <a:pt x="0" y="389890"/>
                      <a:pt x="0" y="862330"/>
                    </a:cubicBezTo>
                    <a:lnTo>
                      <a:pt x="0" y="10910570"/>
                    </a:lnTo>
                    <a:cubicBezTo>
                      <a:pt x="0" y="11383011"/>
                      <a:pt x="389890" y="11772901"/>
                      <a:pt x="862330" y="11772901"/>
                    </a:cubicBezTo>
                    <a:lnTo>
                      <a:pt x="41123205" y="11772901"/>
                    </a:lnTo>
                    <a:cubicBezTo>
                      <a:pt x="41595644" y="11772901"/>
                      <a:pt x="41985533" y="11383011"/>
                      <a:pt x="41985533" y="10910570"/>
                    </a:cubicBezTo>
                    <a:lnTo>
                      <a:pt x="41985533" y="862330"/>
                    </a:lnTo>
                    <a:cubicBezTo>
                      <a:pt x="41985533" y="389890"/>
                      <a:pt x="41595644" y="0"/>
                      <a:pt x="41123205" y="0"/>
                    </a:cubicBezTo>
                    <a:close/>
                    <a:moveTo>
                      <a:pt x="41795033" y="927100"/>
                    </a:moveTo>
                    <a:lnTo>
                      <a:pt x="41795033" y="10910570"/>
                    </a:lnTo>
                    <a:cubicBezTo>
                      <a:pt x="41795033" y="11277600"/>
                      <a:pt x="41490233" y="11582400"/>
                      <a:pt x="41123205" y="11582400"/>
                    </a:cubicBezTo>
                    <a:lnTo>
                      <a:pt x="862330" y="11582400"/>
                    </a:lnTo>
                    <a:cubicBezTo>
                      <a:pt x="495300" y="11582400"/>
                      <a:pt x="190500" y="11277600"/>
                      <a:pt x="190500" y="10910570"/>
                    </a:cubicBezTo>
                    <a:lnTo>
                      <a:pt x="190500" y="862330"/>
                    </a:lnTo>
                    <a:cubicBezTo>
                      <a:pt x="190500" y="495300"/>
                      <a:pt x="495300" y="190500"/>
                      <a:pt x="862330" y="190500"/>
                    </a:cubicBezTo>
                    <a:lnTo>
                      <a:pt x="41123205" y="190500"/>
                    </a:lnTo>
                    <a:cubicBezTo>
                      <a:pt x="41490233" y="190500"/>
                      <a:pt x="41795033" y="495300"/>
                      <a:pt x="41795033" y="862330"/>
                    </a:cubicBezTo>
                    <a:lnTo>
                      <a:pt x="41795033" y="927100"/>
                    </a:lnTo>
                    <a:close/>
                  </a:path>
                </a:pathLst>
              </a:custGeom>
              <a:solidFill>
                <a:srgbClr val="FF6F28"/>
              </a:solidFill>
            </p:spPr>
          </p:sp>
        </p:grpSp>
        <p:sp>
          <p:nvSpPr>
            <p:cNvPr name="TextBox 23" id="23"/>
            <p:cNvSpPr txBox="true"/>
            <p:nvPr/>
          </p:nvSpPr>
          <p:spPr>
            <a:xfrm rot="0">
              <a:off x="367680" y="398992"/>
              <a:ext cx="3740387" cy="426508"/>
            </a:xfrm>
            <a:prstGeom prst="rect">
              <a:avLst/>
            </a:prstGeom>
          </p:spPr>
          <p:txBody>
            <a:bodyPr anchor="t" rtlCol="false" tIns="0" lIns="0" bIns="0" rIns="0">
              <a:spAutoFit/>
            </a:bodyPr>
            <a:lstStyle/>
            <a:p>
              <a:pPr algn="ctr" marL="0" indent="0" lvl="0">
                <a:lnSpc>
                  <a:spcPts val="2600"/>
                </a:lnSpc>
              </a:pPr>
              <a:r>
                <a:rPr lang="en-US" b="true" sz="2000" spc="20">
                  <a:solidFill>
                    <a:srgbClr val="FF6F28"/>
                  </a:solidFill>
                  <a:latin typeface="Muli Bold"/>
                  <a:ea typeface="Muli Bold"/>
                  <a:cs typeface="Muli Bold"/>
                  <a:sym typeface="Muli Bold"/>
                </a:rPr>
                <a:t>WHERE WE'RE AT</a:t>
              </a:r>
            </a:p>
          </p:txBody>
        </p:sp>
      </p:grpSp>
      <p:grpSp>
        <p:nvGrpSpPr>
          <p:cNvPr name="Group 24" id="24"/>
          <p:cNvGrpSpPr/>
          <p:nvPr/>
        </p:nvGrpSpPr>
        <p:grpSpPr>
          <a:xfrm rot="0">
            <a:off x="7154008" y="3859914"/>
            <a:ext cx="3356811" cy="939800"/>
            <a:chOff x="0" y="0"/>
            <a:chExt cx="4475748" cy="1253067"/>
          </a:xfrm>
        </p:grpSpPr>
        <p:grpSp>
          <p:nvGrpSpPr>
            <p:cNvPr name="Group 25" id="25"/>
            <p:cNvGrpSpPr/>
            <p:nvPr/>
          </p:nvGrpSpPr>
          <p:grpSpPr>
            <a:xfrm rot="0">
              <a:off x="0" y="0"/>
              <a:ext cx="4475748" cy="1253067"/>
              <a:chOff x="0" y="0"/>
              <a:chExt cx="41960134" cy="11747500"/>
            </a:xfrm>
          </p:grpSpPr>
          <p:sp>
            <p:nvSpPr>
              <p:cNvPr name="Freeform 26" id="26"/>
              <p:cNvSpPr/>
              <p:nvPr/>
            </p:nvSpPr>
            <p:spPr>
              <a:xfrm flipH="false" flipV="false" rot="0">
                <a:off x="-12700" y="-12700"/>
                <a:ext cx="41985533" cy="11772901"/>
              </a:xfrm>
              <a:custGeom>
                <a:avLst/>
                <a:gdLst/>
                <a:ahLst/>
                <a:cxnLst/>
                <a:rect r="r" b="b" t="t" l="l"/>
                <a:pathLst>
                  <a:path h="11772901" w="41985533">
                    <a:moveTo>
                      <a:pt x="41123205" y="0"/>
                    </a:moveTo>
                    <a:lnTo>
                      <a:pt x="862330" y="0"/>
                    </a:lnTo>
                    <a:cubicBezTo>
                      <a:pt x="389890" y="0"/>
                      <a:pt x="0" y="389890"/>
                      <a:pt x="0" y="862330"/>
                    </a:cubicBezTo>
                    <a:lnTo>
                      <a:pt x="0" y="10910570"/>
                    </a:lnTo>
                    <a:cubicBezTo>
                      <a:pt x="0" y="11383011"/>
                      <a:pt x="389890" y="11772901"/>
                      <a:pt x="862330" y="11772901"/>
                    </a:cubicBezTo>
                    <a:lnTo>
                      <a:pt x="41123205" y="11772901"/>
                    </a:lnTo>
                    <a:cubicBezTo>
                      <a:pt x="41595644" y="11772901"/>
                      <a:pt x="41985533" y="11383011"/>
                      <a:pt x="41985533" y="10910570"/>
                    </a:cubicBezTo>
                    <a:lnTo>
                      <a:pt x="41985533" y="862330"/>
                    </a:lnTo>
                    <a:cubicBezTo>
                      <a:pt x="41985533" y="389890"/>
                      <a:pt x="41595644" y="0"/>
                      <a:pt x="41123205" y="0"/>
                    </a:cubicBezTo>
                    <a:close/>
                    <a:moveTo>
                      <a:pt x="41795033" y="927100"/>
                    </a:moveTo>
                    <a:lnTo>
                      <a:pt x="41795033" y="10910570"/>
                    </a:lnTo>
                    <a:cubicBezTo>
                      <a:pt x="41795033" y="11277600"/>
                      <a:pt x="41490233" y="11582400"/>
                      <a:pt x="41123205" y="11582400"/>
                    </a:cubicBezTo>
                    <a:lnTo>
                      <a:pt x="862330" y="11582400"/>
                    </a:lnTo>
                    <a:cubicBezTo>
                      <a:pt x="495300" y="11582400"/>
                      <a:pt x="190500" y="11277600"/>
                      <a:pt x="190500" y="10910570"/>
                    </a:cubicBezTo>
                    <a:lnTo>
                      <a:pt x="190500" y="862330"/>
                    </a:lnTo>
                    <a:cubicBezTo>
                      <a:pt x="190500" y="495300"/>
                      <a:pt x="495300" y="190500"/>
                      <a:pt x="862330" y="190500"/>
                    </a:cubicBezTo>
                    <a:lnTo>
                      <a:pt x="41123205" y="190500"/>
                    </a:lnTo>
                    <a:cubicBezTo>
                      <a:pt x="41490233" y="190500"/>
                      <a:pt x="41795033" y="495300"/>
                      <a:pt x="41795033" y="862330"/>
                    </a:cubicBezTo>
                    <a:lnTo>
                      <a:pt x="41795033" y="927100"/>
                    </a:lnTo>
                    <a:close/>
                  </a:path>
                </a:pathLst>
              </a:custGeom>
              <a:solidFill>
                <a:srgbClr val="FF6F28"/>
              </a:solidFill>
            </p:spPr>
          </p:sp>
        </p:grpSp>
        <p:sp>
          <p:nvSpPr>
            <p:cNvPr name="TextBox 27" id="27"/>
            <p:cNvSpPr txBox="true"/>
            <p:nvPr/>
          </p:nvSpPr>
          <p:spPr>
            <a:xfrm rot="0">
              <a:off x="367680" y="398992"/>
              <a:ext cx="3740387" cy="426508"/>
            </a:xfrm>
            <a:prstGeom prst="rect">
              <a:avLst/>
            </a:prstGeom>
          </p:spPr>
          <p:txBody>
            <a:bodyPr anchor="t" rtlCol="false" tIns="0" lIns="0" bIns="0" rIns="0">
              <a:spAutoFit/>
            </a:bodyPr>
            <a:lstStyle/>
            <a:p>
              <a:pPr algn="ctr" marL="0" indent="0" lvl="0">
                <a:lnSpc>
                  <a:spcPts val="2600"/>
                </a:lnSpc>
                <a:spcBef>
                  <a:spcPct val="0"/>
                </a:spcBef>
              </a:pPr>
              <a:r>
                <a:rPr lang="en-US" b="true" sz="2000" spc="20" u="none">
                  <a:solidFill>
                    <a:srgbClr val="FF6F28"/>
                  </a:solidFill>
                  <a:latin typeface="Muli Bold"/>
                  <a:ea typeface="Muli Bold"/>
                  <a:cs typeface="Muli Bold"/>
                  <a:sym typeface="Muli Bold"/>
                </a:rPr>
                <a:t>BLOCKERS</a:t>
              </a:r>
            </a:p>
          </p:txBody>
        </p:sp>
      </p:grpSp>
      <p:grpSp>
        <p:nvGrpSpPr>
          <p:cNvPr name="Group 28" id="28"/>
          <p:cNvGrpSpPr/>
          <p:nvPr/>
        </p:nvGrpSpPr>
        <p:grpSpPr>
          <a:xfrm rot="0">
            <a:off x="7154008" y="6789478"/>
            <a:ext cx="3356811" cy="939800"/>
            <a:chOff x="0" y="0"/>
            <a:chExt cx="4475748" cy="1253067"/>
          </a:xfrm>
        </p:grpSpPr>
        <p:grpSp>
          <p:nvGrpSpPr>
            <p:cNvPr name="Group 29" id="29"/>
            <p:cNvGrpSpPr/>
            <p:nvPr/>
          </p:nvGrpSpPr>
          <p:grpSpPr>
            <a:xfrm rot="0">
              <a:off x="0" y="0"/>
              <a:ext cx="4475748" cy="1253067"/>
              <a:chOff x="0" y="0"/>
              <a:chExt cx="41960134" cy="11747500"/>
            </a:xfrm>
          </p:grpSpPr>
          <p:sp>
            <p:nvSpPr>
              <p:cNvPr name="Freeform 30" id="30"/>
              <p:cNvSpPr/>
              <p:nvPr/>
            </p:nvSpPr>
            <p:spPr>
              <a:xfrm flipH="false" flipV="false" rot="0">
                <a:off x="-12700" y="-12700"/>
                <a:ext cx="41985533" cy="11772901"/>
              </a:xfrm>
              <a:custGeom>
                <a:avLst/>
                <a:gdLst/>
                <a:ahLst/>
                <a:cxnLst/>
                <a:rect r="r" b="b" t="t" l="l"/>
                <a:pathLst>
                  <a:path h="11772901" w="41985533">
                    <a:moveTo>
                      <a:pt x="41123205" y="0"/>
                    </a:moveTo>
                    <a:lnTo>
                      <a:pt x="862330" y="0"/>
                    </a:lnTo>
                    <a:cubicBezTo>
                      <a:pt x="389890" y="0"/>
                      <a:pt x="0" y="389890"/>
                      <a:pt x="0" y="862330"/>
                    </a:cubicBezTo>
                    <a:lnTo>
                      <a:pt x="0" y="10910570"/>
                    </a:lnTo>
                    <a:cubicBezTo>
                      <a:pt x="0" y="11383011"/>
                      <a:pt x="389890" y="11772901"/>
                      <a:pt x="862330" y="11772901"/>
                    </a:cubicBezTo>
                    <a:lnTo>
                      <a:pt x="41123205" y="11772901"/>
                    </a:lnTo>
                    <a:cubicBezTo>
                      <a:pt x="41595644" y="11772901"/>
                      <a:pt x="41985533" y="11383011"/>
                      <a:pt x="41985533" y="10910570"/>
                    </a:cubicBezTo>
                    <a:lnTo>
                      <a:pt x="41985533" y="862330"/>
                    </a:lnTo>
                    <a:cubicBezTo>
                      <a:pt x="41985533" y="389890"/>
                      <a:pt x="41595644" y="0"/>
                      <a:pt x="41123205" y="0"/>
                    </a:cubicBezTo>
                    <a:close/>
                    <a:moveTo>
                      <a:pt x="41795033" y="927100"/>
                    </a:moveTo>
                    <a:lnTo>
                      <a:pt x="41795033" y="10910570"/>
                    </a:lnTo>
                    <a:cubicBezTo>
                      <a:pt x="41795033" y="11277600"/>
                      <a:pt x="41490233" y="11582400"/>
                      <a:pt x="41123205" y="11582400"/>
                    </a:cubicBezTo>
                    <a:lnTo>
                      <a:pt x="862330" y="11582400"/>
                    </a:lnTo>
                    <a:cubicBezTo>
                      <a:pt x="495300" y="11582400"/>
                      <a:pt x="190500" y="11277600"/>
                      <a:pt x="190500" y="10910570"/>
                    </a:cubicBezTo>
                    <a:lnTo>
                      <a:pt x="190500" y="862330"/>
                    </a:lnTo>
                    <a:cubicBezTo>
                      <a:pt x="190500" y="495300"/>
                      <a:pt x="495300" y="190500"/>
                      <a:pt x="862330" y="190500"/>
                    </a:cubicBezTo>
                    <a:lnTo>
                      <a:pt x="41123205" y="190500"/>
                    </a:lnTo>
                    <a:cubicBezTo>
                      <a:pt x="41490233" y="190500"/>
                      <a:pt x="41795033" y="495300"/>
                      <a:pt x="41795033" y="862330"/>
                    </a:cubicBezTo>
                    <a:lnTo>
                      <a:pt x="41795033" y="927100"/>
                    </a:lnTo>
                    <a:close/>
                  </a:path>
                </a:pathLst>
              </a:custGeom>
              <a:solidFill>
                <a:srgbClr val="FF6F28"/>
              </a:solidFill>
            </p:spPr>
          </p:sp>
        </p:grpSp>
        <p:sp>
          <p:nvSpPr>
            <p:cNvPr name="TextBox 31" id="31"/>
            <p:cNvSpPr txBox="true"/>
            <p:nvPr/>
          </p:nvSpPr>
          <p:spPr>
            <a:xfrm rot="0">
              <a:off x="367680" y="398992"/>
              <a:ext cx="3740387" cy="426508"/>
            </a:xfrm>
            <a:prstGeom prst="rect">
              <a:avLst/>
            </a:prstGeom>
          </p:spPr>
          <p:txBody>
            <a:bodyPr anchor="t" rtlCol="false" tIns="0" lIns="0" bIns="0" rIns="0">
              <a:spAutoFit/>
            </a:bodyPr>
            <a:lstStyle/>
            <a:p>
              <a:pPr algn="ctr" marL="0" indent="0" lvl="0">
                <a:lnSpc>
                  <a:spcPts val="2600"/>
                </a:lnSpc>
                <a:spcBef>
                  <a:spcPct val="0"/>
                </a:spcBef>
              </a:pPr>
              <a:r>
                <a:rPr lang="en-US" b="true" sz="2000" spc="20" u="none">
                  <a:solidFill>
                    <a:srgbClr val="FF6F28"/>
                  </a:solidFill>
                  <a:latin typeface="Muli Bold"/>
                  <a:ea typeface="Muli Bold"/>
                  <a:cs typeface="Muli Bold"/>
                  <a:sym typeface="Muli Bold"/>
                </a:rPr>
                <a:t>ACTION ITEMS</a:t>
              </a:r>
            </a:p>
          </p:txBody>
        </p:sp>
      </p:grpSp>
      <p:sp>
        <p:nvSpPr>
          <p:cNvPr name="TextBox 32" id="32"/>
          <p:cNvSpPr txBox="true"/>
          <p:nvPr/>
        </p:nvSpPr>
        <p:spPr>
          <a:xfrm rot="0">
            <a:off x="7154008" y="2059054"/>
            <a:ext cx="10427677" cy="1337944"/>
          </a:xfrm>
          <a:prstGeom prst="rect">
            <a:avLst/>
          </a:prstGeom>
        </p:spPr>
        <p:txBody>
          <a:bodyPr anchor="t" rtlCol="false" tIns="0" lIns="0" bIns="0" rIns="0">
            <a:spAutoFit/>
          </a:bodyPr>
          <a:lstStyle/>
          <a:p>
            <a:pPr algn="l" marL="453393" indent="-226697" lvl="1">
              <a:lnSpc>
                <a:spcPts val="2940"/>
              </a:lnSpc>
              <a:buFont typeface="Arial"/>
              <a:buChar char="•"/>
            </a:pPr>
            <a:r>
              <a:rPr lang="en-US" sz="2100">
                <a:solidFill>
                  <a:srgbClr val="191919"/>
                </a:solidFill>
                <a:latin typeface="Muli"/>
                <a:ea typeface="Muli"/>
                <a:cs typeface="Muli"/>
                <a:sym typeface="Muli"/>
              </a:rPr>
              <a:t>System architecture successfully deployed and verified in the live environment.</a:t>
            </a:r>
          </a:p>
          <a:p>
            <a:pPr algn="l" marL="453393" indent="-226697" lvl="1">
              <a:lnSpc>
                <a:spcPts val="2940"/>
              </a:lnSpc>
              <a:buFont typeface="Arial"/>
              <a:buChar char="•"/>
            </a:pPr>
            <a:r>
              <a:rPr lang="en-US" sz="2100">
                <a:solidFill>
                  <a:srgbClr val="191919"/>
                </a:solidFill>
                <a:latin typeface="Muli"/>
                <a:ea typeface="Muli"/>
                <a:cs typeface="Muli"/>
                <a:sym typeface="Muli"/>
              </a:rPr>
              <a:t>Comp</a:t>
            </a:r>
            <a:r>
              <a:rPr lang="en-US" sz="2100">
                <a:solidFill>
                  <a:srgbClr val="191919"/>
                </a:solidFill>
                <a:latin typeface="Muli"/>
                <a:ea typeface="Muli"/>
                <a:cs typeface="Muli"/>
                <a:sym typeface="Muli"/>
              </a:rPr>
              <a:t>rehensive end-user training modules finalized and distributed to the team.</a:t>
            </a:r>
          </a:p>
          <a:p>
            <a:pPr algn="l" marL="453393" indent="-226697" lvl="1">
              <a:lnSpc>
                <a:spcPts val="2940"/>
              </a:lnSpc>
              <a:buFont typeface="Arial"/>
              <a:buChar char="•"/>
            </a:pPr>
            <a:r>
              <a:rPr lang="en-US" sz="2100">
                <a:solidFill>
                  <a:srgbClr val="191919"/>
                </a:solidFill>
                <a:latin typeface="Muli"/>
                <a:ea typeface="Muli"/>
                <a:cs typeface="Muli"/>
                <a:sym typeface="Muli"/>
              </a:rPr>
              <a:t>Initi</a:t>
            </a:r>
            <a:r>
              <a:rPr lang="en-US" sz="2100">
                <a:solidFill>
                  <a:srgbClr val="191919"/>
                </a:solidFill>
                <a:latin typeface="Muli"/>
                <a:ea typeface="Muli"/>
                <a:cs typeface="Muli"/>
                <a:sym typeface="Muli"/>
              </a:rPr>
              <a:t>al onboarding and live training sessions completed for all core stakeholders.</a:t>
            </a:r>
          </a:p>
          <a:p>
            <a:pPr algn="l">
              <a:lnSpc>
                <a:spcPts val="1820"/>
              </a:lnSpc>
              <a:spcBef>
                <a:spcPct val="0"/>
              </a:spcBef>
            </a:pPr>
          </a:p>
        </p:txBody>
      </p:sp>
      <p:sp>
        <p:nvSpPr>
          <p:cNvPr name="TextBox 33" id="33"/>
          <p:cNvSpPr txBox="true"/>
          <p:nvPr/>
        </p:nvSpPr>
        <p:spPr>
          <a:xfrm rot="0">
            <a:off x="7154008" y="5123564"/>
            <a:ext cx="10427677" cy="989965"/>
          </a:xfrm>
          <a:prstGeom prst="rect">
            <a:avLst/>
          </a:prstGeom>
        </p:spPr>
        <p:txBody>
          <a:bodyPr anchor="t" rtlCol="false" tIns="0" lIns="0" bIns="0" rIns="0">
            <a:spAutoFit/>
          </a:bodyPr>
          <a:lstStyle/>
          <a:p>
            <a:pPr algn="l" marL="410213" indent="-205106" lvl="1">
              <a:lnSpc>
                <a:spcPts val="2660"/>
              </a:lnSpc>
              <a:buFont typeface="Arial"/>
              <a:buChar char="•"/>
            </a:pPr>
            <a:r>
              <a:rPr lang="en-US" sz="1900">
                <a:solidFill>
                  <a:srgbClr val="191919"/>
                </a:solidFill>
                <a:latin typeface="Muli"/>
                <a:ea typeface="Muli"/>
                <a:cs typeface="Muli"/>
                <a:sym typeface="Muli"/>
              </a:rPr>
              <a:t>Legacy data migration required unexpected mapping for older file formats.</a:t>
            </a:r>
          </a:p>
          <a:p>
            <a:pPr algn="l" marL="410213" indent="-205106" lvl="1">
              <a:lnSpc>
                <a:spcPts val="2660"/>
              </a:lnSpc>
              <a:buFont typeface="Arial"/>
              <a:buChar char="•"/>
            </a:pPr>
            <a:r>
              <a:rPr lang="en-US" sz="1900">
                <a:solidFill>
                  <a:srgbClr val="191919"/>
                </a:solidFill>
                <a:latin typeface="Muli"/>
                <a:ea typeface="Muli"/>
                <a:cs typeface="Muli"/>
                <a:sym typeface="Muli"/>
              </a:rPr>
              <a:t>Schedul</a:t>
            </a:r>
            <a:r>
              <a:rPr lang="en-US" sz="1900">
                <a:solidFill>
                  <a:srgbClr val="191919"/>
                </a:solidFill>
                <a:latin typeface="Muli"/>
                <a:ea typeface="Muli"/>
                <a:cs typeface="Muli"/>
                <a:sym typeface="Muli"/>
              </a:rPr>
              <a:t>ing conflicts caused minor delays in live training attendance for two members.</a:t>
            </a:r>
          </a:p>
          <a:p>
            <a:pPr algn="l" marL="410213" indent="-205106" lvl="1">
              <a:lnSpc>
                <a:spcPts val="2660"/>
              </a:lnSpc>
              <a:buFont typeface="Arial"/>
              <a:buChar char="•"/>
            </a:pPr>
            <a:r>
              <a:rPr lang="en-US" sz="1900">
                <a:solidFill>
                  <a:srgbClr val="191919"/>
                </a:solidFill>
                <a:latin typeface="Muli"/>
                <a:ea typeface="Muli"/>
                <a:cs typeface="Muli"/>
                <a:sym typeface="Muli"/>
              </a:rPr>
              <a:t>Initial sandbox testing revealed minor UI latency (successfully resolved before launch).</a:t>
            </a:r>
          </a:p>
        </p:txBody>
      </p:sp>
      <p:sp>
        <p:nvSpPr>
          <p:cNvPr name="TextBox 34" id="34"/>
          <p:cNvSpPr txBox="true"/>
          <p:nvPr/>
        </p:nvSpPr>
        <p:spPr>
          <a:xfrm rot="0">
            <a:off x="7154008" y="8149590"/>
            <a:ext cx="10427677" cy="1934845"/>
          </a:xfrm>
          <a:prstGeom prst="rect">
            <a:avLst/>
          </a:prstGeom>
        </p:spPr>
        <p:txBody>
          <a:bodyPr anchor="t" rtlCol="false" tIns="0" lIns="0" bIns="0" rIns="0">
            <a:spAutoFit/>
          </a:bodyPr>
          <a:lstStyle/>
          <a:p>
            <a:pPr algn="l" marL="474983" indent="-237491" lvl="1">
              <a:lnSpc>
                <a:spcPts val="3080"/>
              </a:lnSpc>
              <a:buFont typeface="Arial"/>
              <a:buChar char="•"/>
            </a:pPr>
            <a:r>
              <a:rPr lang="en-US" sz="2200">
                <a:solidFill>
                  <a:srgbClr val="191919"/>
                </a:solidFill>
                <a:latin typeface="Muli"/>
                <a:ea typeface="Muli"/>
                <a:cs typeface="Muli"/>
                <a:sym typeface="Muli"/>
              </a:rPr>
              <a:t>Monitor system stability and performance metrics f</a:t>
            </a:r>
            <a:r>
              <a:rPr lang="en-US" sz="2200">
                <a:solidFill>
                  <a:srgbClr val="191919"/>
                </a:solidFill>
                <a:latin typeface="Muli"/>
                <a:ea typeface="Muli"/>
                <a:cs typeface="Muli"/>
                <a:sym typeface="Muli"/>
              </a:rPr>
              <a:t>or the first 48 hours.</a:t>
            </a:r>
          </a:p>
          <a:p>
            <a:pPr algn="l" marL="474983" indent="-237491" lvl="1">
              <a:lnSpc>
                <a:spcPts val="3080"/>
              </a:lnSpc>
              <a:buFont typeface="Arial"/>
              <a:buChar char="•"/>
            </a:pPr>
            <a:r>
              <a:rPr lang="en-US" sz="2200">
                <a:solidFill>
                  <a:srgbClr val="191919"/>
                </a:solidFill>
                <a:latin typeface="Muli"/>
                <a:ea typeface="Muli"/>
                <a:cs typeface="Muli"/>
                <a:sym typeface="Muli"/>
              </a:rPr>
              <a:t>Send out post-training feedback surveys to measure user adoption.</a:t>
            </a:r>
          </a:p>
          <a:p>
            <a:pPr algn="l" marL="474983" indent="-237491" lvl="1">
              <a:lnSpc>
                <a:spcPts val="3080"/>
              </a:lnSpc>
              <a:buFont typeface="Arial"/>
              <a:buChar char="•"/>
            </a:pPr>
            <a:r>
              <a:rPr lang="en-US" sz="2200">
                <a:solidFill>
                  <a:srgbClr val="191919"/>
                </a:solidFill>
                <a:latin typeface="Muli"/>
                <a:ea typeface="Muli"/>
                <a:cs typeface="Muli"/>
                <a:sym typeface="Muli"/>
              </a:rPr>
              <a:t>Sc</a:t>
            </a:r>
            <a:r>
              <a:rPr lang="en-US" sz="2200">
                <a:solidFill>
                  <a:srgbClr val="191919"/>
                </a:solidFill>
                <a:latin typeface="Muli"/>
                <a:ea typeface="Muli"/>
                <a:cs typeface="Muli"/>
                <a:sym typeface="Muli"/>
              </a:rPr>
              <a:t>hedule a brief catch-up training session for the absent members.</a:t>
            </a:r>
          </a:p>
          <a:p>
            <a:pPr algn="l" marL="474983" indent="-237491" lvl="1">
              <a:lnSpc>
                <a:spcPts val="3080"/>
              </a:lnSpc>
              <a:spcBef>
                <a:spcPct val="0"/>
              </a:spcBef>
              <a:buFont typeface="Arial"/>
              <a:buChar char="•"/>
            </a:pPr>
            <a:r>
              <a:rPr lang="en-US" sz="2200">
                <a:solidFill>
                  <a:srgbClr val="191919"/>
                </a:solidFill>
                <a:latin typeface="Muli"/>
                <a:ea typeface="Muli"/>
                <a:cs typeface="Muli"/>
                <a:sym typeface="Muli"/>
              </a:rPr>
              <a:t>Document the </a:t>
            </a:r>
            <a:r>
              <a:rPr lang="en-US" sz="2200">
                <a:solidFill>
                  <a:srgbClr val="191919"/>
                </a:solidFill>
                <a:latin typeface="Muli"/>
                <a:ea typeface="Muli"/>
                <a:cs typeface="Muli"/>
                <a:sym typeface="Muli"/>
              </a:rPr>
              <a:t>entire installation workflow in the team's GitHub repository/wiki.</a:t>
            </a:r>
          </a:p>
        </p:txBody>
      </p:sp>
      <p:sp>
        <p:nvSpPr>
          <p:cNvPr name="TextBox 35" id="35"/>
          <p:cNvSpPr txBox="true"/>
          <p:nvPr/>
        </p:nvSpPr>
        <p:spPr>
          <a:xfrm rot="0">
            <a:off x="1757439" y="6241377"/>
            <a:ext cx="2805290" cy="650875"/>
          </a:xfrm>
          <a:prstGeom prst="rect">
            <a:avLst/>
          </a:prstGeom>
        </p:spPr>
        <p:txBody>
          <a:bodyPr anchor="t" rtlCol="false" tIns="0" lIns="0" bIns="0" rIns="0">
            <a:spAutoFit/>
          </a:bodyPr>
          <a:lstStyle/>
          <a:p>
            <a:pPr algn="l" marL="0" indent="0" lvl="0">
              <a:lnSpc>
                <a:spcPts val="2600"/>
              </a:lnSpc>
            </a:pPr>
            <a:r>
              <a:rPr lang="en-US" b="true" sz="2000" spc="20">
                <a:solidFill>
                  <a:srgbClr val="191919"/>
                </a:solidFill>
                <a:latin typeface="Muli Bold"/>
                <a:ea typeface="Muli Bold"/>
                <a:cs typeface="Muli Bold"/>
                <a:sym typeface="Muli Bold"/>
              </a:rPr>
              <a:t>GENERAL STATUS: DONE</a:t>
            </a:r>
          </a:p>
        </p:txBody>
      </p:sp>
      <p:sp>
        <p:nvSpPr>
          <p:cNvPr name="TextBox 36" id="36"/>
          <p:cNvSpPr txBox="true"/>
          <p:nvPr/>
        </p:nvSpPr>
        <p:spPr>
          <a:xfrm rot="0">
            <a:off x="776136" y="2521334"/>
            <a:ext cx="5153015" cy="1338580"/>
          </a:xfrm>
          <a:prstGeom prst="rect">
            <a:avLst/>
          </a:prstGeom>
        </p:spPr>
        <p:txBody>
          <a:bodyPr anchor="t" rtlCol="false" tIns="0" lIns="0" bIns="0" rIns="0">
            <a:spAutoFit/>
          </a:bodyPr>
          <a:lstStyle/>
          <a:p>
            <a:pPr algn="l">
              <a:lnSpc>
                <a:spcPts val="5330"/>
              </a:lnSpc>
            </a:pPr>
            <a:r>
              <a:rPr lang="en-US" sz="4100" b="true">
                <a:solidFill>
                  <a:srgbClr val="191919"/>
                </a:solidFill>
                <a:latin typeface="Muli Bold"/>
                <a:ea typeface="Muli Bold"/>
                <a:cs typeface="Muli Bold"/>
                <a:sym typeface="Muli Bold"/>
              </a:rPr>
              <a:t>IMPLEMENT</a:t>
            </a:r>
            <a:r>
              <a:rPr lang="en-US" sz="4100" b="true">
                <a:solidFill>
                  <a:srgbClr val="191919"/>
                </a:solidFill>
                <a:latin typeface="Muli Bold"/>
                <a:ea typeface="Muli Bold"/>
                <a:cs typeface="Muli Bold"/>
                <a:sym typeface="Muli Bold"/>
              </a:rPr>
              <a:t> NEW SYSTEM</a:t>
            </a:r>
          </a:p>
        </p:txBody>
      </p:sp>
      <p:sp>
        <p:nvSpPr>
          <p:cNvPr name="TextBox 37" id="37"/>
          <p:cNvSpPr txBox="true"/>
          <p:nvPr/>
        </p:nvSpPr>
        <p:spPr>
          <a:xfrm rot="0">
            <a:off x="108521" y="66040"/>
            <a:ext cx="348655" cy="353060"/>
          </a:xfrm>
          <a:prstGeom prst="rect">
            <a:avLst/>
          </a:prstGeom>
        </p:spPr>
        <p:txBody>
          <a:bodyPr anchor="t" rtlCol="false" tIns="0" lIns="0" bIns="0" rIns="0">
            <a:spAutoFit/>
          </a:bodyPr>
          <a:lstStyle/>
          <a:p>
            <a:pPr algn="ctr">
              <a:lnSpc>
                <a:spcPts val="2859"/>
              </a:lnSpc>
              <a:spcBef>
                <a:spcPct val="0"/>
              </a:spcBef>
            </a:pPr>
            <a:r>
              <a:rPr lang="en-US" b="true" sz="2199" spc="-65">
                <a:solidFill>
                  <a:srgbClr val="000000"/>
                </a:solidFill>
                <a:latin typeface="Muli Ultra-Bold"/>
                <a:ea typeface="Muli Ultra-Bold"/>
                <a:cs typeface="Muli Ultra-Bold"/>
                <a:sym typeface="Muli Ultra-Bold"/>
              </a:rPr>
              <a:t>R1</a:t>
            </a:r>
          </a:p>
        </p:txBody>
      </p:sp>
      <p:grpSp>
        <p:nvGrpSpPr>
          <p:cNvPr name="Group 38" id="38"/>
          <p:cNvGrpSpPr/>
          <p:nvPr/>
        </p:nvGrpSpPr>
        <p:grpSpPr>
          <a:xfrm rot="0">
            <a:off x="776136" y="900046"/>
            <a:ext cx="833504" cy="833504"/>
            <a:chOff x="0" y="0"/>
            <a:chExt cx="1111339" cy="1111339"/>
          </a:xfrm>
        </p:grpSpPr>
        <p:grpSp>
          <p:nvGrpSpPr>
            <p:cNvPr name="Group 39" id="39"/>
            <p:cNvGrpSpPr>
              <a:grpSpLocks noChangeAspect="true"/>
            </p:cNvGrpSpPr>
            <p:nvPr/>
          </p:nvGrpSpPr>
          <p:grpSpPr>
            <a:xfrm rot="0">
              <a:off x="0" y="0"/>
              <a:ext cx="1111339" cy="1111339"/>
              <a:chOff x="0" y="0"/>
              <a:chExt cx="6355080" cy="6355080"/>
            </a:xfrm>
          </p:grpSpPr>
          <p:sp>
            <p:nvSpPr>
              <p:cNvPr name="Freeform 40" id="40"/>
              <p:cNvSpPr/>
              <p:nvPr/>
            </p:nvSpPr>
            <p:spPr>
              <a:xfrm flipH="false" flipV="false" rot="0">
                <a:off x="0" y="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FF6F28"/>
              </a:solidFill>
            </p:spPr>
          </p:sp>
        </p:grpSp>
        <p:sp>
          <p:nvSpPr>
            <p:cNvPr name="TextBox 41" id="41"/>
            <p:cNvSpPr txBox="true"/>
            <p:nvPr/>
          </p:nvSpPr>
          <p:spPr>
            <a:xfrm rot="0">
              <a:off x="246393" y="313946"/>
              <a:ext cx="618552" cy="464397"/>
            </a:xfrm>
            <a:prstGeom prst="rect">
              <a:avLst/>
            </a:prstGeom>
          </p:spPr>
          <p:txBody>
            <a:bodyPr anchor="t" rtlCol="false" tIns="0" lIns="0" bIns="0" rIns="0">
              <a:spAutoFit/>
            </a:bodyPr>
            <a:lstStyle/>
            <a:p>
              <a:pPr algn="ctr" marL="0" indent="0" lvl="0">
                <a:lnSpc>
                  <a:spcPts val="2860"/>
                </a:lnSpc>
              </a:pPr>
              <a:r>
                <a:rPr lang="en-US" b="true" sz="2199" spc="-65">
                  <a:solidFill>
                    <a:srgbClr val="FF7B26"/>
                  </a:solidFill>
                  <a:latin typeface="Muli Ultra-Bold"/>
                  <a:ea typeface="Muli Ultra-Bold"/>
                  <a:cs typeface="Muli Ultra-Bold"/>
                  <a:sym typeface="Muli Ultra-Bold"/>
                </a:rPr>
                <a:t>2</a:t>
              </a:r>
            </a:p>
          </p:txBody>
        </p:sp>
      </p:grpSp>
    </p:spTree>
  </p:cSld>
  <p:clrMapOvr>
    <a:masterClrMapping/>
  </p:clrMapOvr>
</p:sld>
</file>

<file path=ppt/slides/slide6.xml><?xml version="1.0" encoding="utf-8"?>
<p:sld xmlns:p="http://schemas.openxmlformats.org/presentationml/2006/main" xmlns:a="http://schemas.openxmlformats.org/drawingml/2006/main">
  <p:cSld>
    <p:bg>
      <p:bgPr>
        <a:solidFill>
          <a:srgbClr val="F6E7DE"/>
        </a:solidFill>
      </p:bgPr>
    </p:bg>
    <p:spTree>
      <p:nvGrpSpPr>
        <p:cNvPr id="1" name=""/>
        <p:cNvGrpSpPr/>
        <p:nvPr/>
      </p:nvGrpSpPr>
      <p:grpSpPr>
        <a:xfrm>
          <a:off x="0" y="0"/>
          <a:ext cx="0" cy="0"/>
          <a:chOff x="0" y="0"/>
          <a:chExt cx="0" cy="0"/>
        </a:xfrm>
      </p:grpSpPr>
      <p:grpSp>
        <p:nvGrpSpPr>
          <p:cNvPr name="Group 2" id="2"/>
          <p:cNvGrpSpPr/>
          <p:nvPr/>
        </p:nvGrpSpPr>
        <p:grpSpPr>
          <a:xfrm rot="0">
            <a:off x="299453" y="5604963"/>
            <a:ext cx="6106380" cy="1952277"/>
            <a:chOff x="0" y="0"/>
            <a:chExt cx="2065615" cy="660400"/>
          </a:xfrm>
        </p:grpSpPr>
        <p:sp>
          <p:nvSpPr>
            <p:cNvPr name="Freeform 3" id="3"/>
            <p:cNvSpPr/>
            <p:nvPr/>
          </p:nvSpPr>
          <p:spPr>
            <a:xfrm flipH="false" flipV="false" rot="0">
              <a:off x="0" y="0"/>
              <a:ext cx="2065615" cy="660400"/>
            </a:xfrm>
            <a:custGeom>
              <a:avLst/>
              <a:gdLst/>
              <a:ahLst/>
              <a:cxnLst/>
              <a:rect r="r" b="b" t="t" l="l"/>
              <a:pathLst>
                <a:path h="660400" w="2065615">
                  <a:moveTo>
                    <a:pt x="1941155" y="660400"/>
                  </a:moveTo>
                  <a:lnTo>
                    <a:pt x="124460" y="660400"/>
                  </a:lnTo>
                  <a:cubicBezTo>
                    <a:pt x="55880" y="660400"/>
                    <a:pt x="0" y="604520"/>
                    <a:pt x="0" y="535940"/>
                  </a:cubicBezTo>
                  <a:lnTo>
                    <a:pt x="0" y="124460"/>
                  </a:lnTo>
                  <a:cubicBezTo>
                    <a:pt x="0" y="55880"/>
                    <a:pt x="55880" y="0"/>
                    <a:pt x="124460" y="0"/>
                  </a:cubicBezTo>
                  <a:lnTo>
                    <a:pt x="1941155" y="0"/>
                  </a:lnTo>
                  <a:cubicBezTo>
                    <a:pt x="2009735" y="0"/>
                    <a:pt x="2065615" y="55880"/>
                    <a:pt x="2065615" y="124460"/>
                  </a:cubicBezTo>
                  <a:lnTo>
                    <a:pt x="2065615" y="535940"/>
                  </a:lnTo>
                  <a:cubicBezTo>
                    <a:pt x="2065615" y="604520"/>
                    <a:pt x="2009735" y="660400"/>
                    <a:pt x="1941155" y="660400"/>
                  </a:cubicBezTo>
                  <a:close/>
                </a:path>
              </a:pathLst>
            </a:custGeom>
            <a:solidFill>
              <a:srgbClr val="FFFFFF"/>
            </a:solidFill>
          </p:spPr>
        </p:sp>
      </p:grpSp>
      <p:grpSp>
        <p:nvGrpSpPr>
          <p:cNvPr name="Group 4" id="4"/>
          <p:cNvGrpSpPr/>
          <p:nvPr/>
        </p:nvGrpSpPr>
        <p:grpSpPr>
          <a:xfrm rot="0">
            <a:off x="299453" y="470391"/>
            <a:ext cx="6106380" cy="4827481"/>
            <a:chOff x="0" y="0"/>
            <a:chExt cx="2065615" cy="1633000"/>
          </a:xfrm>
        </p:grpSpPr>
        <p:sp>
          <p:nvSpPr>
            <p:cNvPr name="Freeform 5" id="5"/>
            <p:cNvSpPr/>
            <p:nvPr/>
          </p:nvSpPr>
          <p:spPr>
            <a:xfrm flipH="false" flipV="false" rot="0">
              <a:off x="0" y="0"/>
              <a:ext cx="2065615" cy="1633000"/>
            </a:xfrm>
            <a:custGeom>
              <a:avLst/>
              <a:gdLst/>
              <a:ahLst/>
              <a:cxnLst/>
              <a:rect r="r" b="b" t="t" l="l"/>
              <a:pathLst>
                <a:path h="1633000" w="2065615">
                  <a:moveTo>
                    <a:pt x="1941155" y="1633000"/>
                  </a:moveTo>
                  <a:lnTo>
                    <a:pt x="124460" y="1633000"/>
                  </a:lnTo>
                  <a:cubicBezTo>
                    <a:pt x="55880" y="1633000"/>
                    <a:pt x="0" y="1577120"/>
                    <a:pt x="0" y="1508540"/>
                  </a:cubicBezTo>
                  <a:lnTo>
                    <a:pt x="0" y="124460"/>
                  </a:lnTo>
                  <a:cubicBezTo>
                    <a:pt x="0" y="55880"/>
                    <a:pt x="55880" y="0"/>
                    <a:pt x="124460" y="0"/>
                  </a:cubicBezTo>
                  <a:lnTo>
                    <a:pt x="1941155" y="0"/>
                  </a:lnTo>
                  <a:cubicBezTo>
                    <a:pt x="2009735" y="0"/>
                    <a:pt x="2065615" y="55880"/>
                    <a:pt x="2065615" y="124460"/>
                  </a:cubicBezTo>
                  <a:lnTo>
                    <a:pt x="2065615" y="1508540"/>
                  </a:lnTo>
                  <a:cubicBezTo>
                    <a:pt x="2065615" y="1577120"/>
                    <a:pt x="2009735" y="1633000"/>
                    <a:pt x="1941155" y="1633000"/>
                  </a:cubicBezTo>
                  <a:close/>
                </a:path>
              </a:pathLst>
            </a:custGeom>
            <a:solidFill>
              <a:srgbClr val="FFFFFF"/>
            </a:solidFill>
          </p:spPr>
        </p:sp>
      </p:grpSp>
      <p:grpSp>
        <p:nvGrpSpPr>
          <p:cNvPr name="Group 6" id="6"/>
          <p:cNvGrpSpPr/>
          <p:nvPr/>
        </p:nvGrpSpPr>
        <p:grpSpPr>
          <a:xfrm rot="0">
            <a:off x="776136" y="1028700"/>
            <a:ext cx="833504" cy="833504"/>
            <a:chOff x="0" y="0"/>
            <a:chExt cx="1111339" cy="1111339"/>
          </a:xfrm>
        </p:grpSpPr>
        <p:grpSp>
          <p:nvGrpSpPr>
            <p:cNvPr name="Group 7" id="7"/>
            <p:cNvGrpSpPr>
              <a:grpSpLocks noChangeAspect="true"/>
            </p:cNvGrpSpPr>
            <p:nvPr/>
          </p:nvGrpSpPr>
          <p:grpSpPr>
            <a:xfrm rot="0">
              <a:off x="0" y="0"/>
              <a:ext cx="1111339" cy="1111339"/>
              <a:chOff x="0" y="0"/>
              <a:chExt cx="6355080" cy="6355080"/>
            </a:xfrm>
          </p:grpSpPr>
          <p:sp>
            <p:nvSpPr>
              <p:cNvPr name="Freeform 8" id="8"/>
              <p:cNvSpPr/>
              <p:nvPr/>
            </p:nvSpPr>
            <p:spPr>
              <a:xfrm flipH="false" flipV="false" rot="0">
                <a:off x="0" y="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FF6F28"/>
              </a:solidFill>
            </p:spPr>
          </p:sp>
        </p:grpSp>
        <p:sp>
          <p:nvSpPr>
            <p:cNvPr name="TextBox 9" id="9"/>
            <p:cNvSpPr txBox="true"/>
            <p:nvPr/>
          </p:nvSpPr>
          <p:spPr>
            <a:xfrm rot="0">
              <a:off x="246393" y="313946"/>
              <a:ext cx="618552" cy="464397"/>
            </a:xfrm>
            <a:prstGeom prst="rect">
              <a:avLst/>
            </a:prstGeom>
          </p:spPr>
          <p:txBody>
            <a:bodyPr anchor="t" rtlCol="false" tIns="0" lIns="0" bIns="0" rIns="0">
              <a:spAutoFit/>
            </a:bodyPr>
            <a:lstStyle/>
            <a:p>
              <a:pPr algn="ctr" marL="0" indent="0" lvl="0">
                <a:lnSpc>
                  <a:spcPts val="2860"/>
                </a:lnSpc>
              </a:pPr>
              <a:r>
                <a:rPr lang="en-US" b="true" sz="2199" spc="-65">
                  <a:solidFill>
                    <a:srgbClr val="FF7B26"/>
                  </a:solidFill>
                  <a:latin typeface="Muli Ultra-Bold"/>
                  <a:ea typeface="Muli Ultra-Bold"/>
                  <a:cs typeface="Muli Ultra-Bold"/>
                  <a:sym typeface="Muli Ultra-Bold"/>
                </a:rPr>
                <a:t>3</a:t>
              </a:r>
            </a:p>
          </p:txBody>
        </p:sp>
      </p:grpSp>
      <p:grpSp>
        <p:nvGrpSpPr>
          <p:cNvPr name="Group 10" id="10"/>
          <p:cNvGrpSpPr/>
          <p:nvPr/>
        </p:nvGrpSpPr>
        <p:grpSpPr>
          <a:xfrm rot="0">
            <a:off x="299453" y="7864331"/>
            <a:ext cx="6106380" cy="1952277"/>
            <a:chOff x="0" y="0"/>
            <a:chExt cx="2065615" cy="660400"/>
          </a:xfrm>
        </p:grpSpPr>
        <p:sp>
          <p:nvSpPr>
            <p:cNvPr name="Freeform 11" id="11"/>
            <p:cNvSpPr/>
            <p:nvPr/>
          </p:nvSpPr>
          <p:spPr>
            <a:xfrm flipH="false" flipV="false" rot="0">
              <a:off x="0" y="0"/>
              <a:ext cx="2065615" cy="660400"/>
            </a:xfrm>
            <a:custGeom>
              <a:avLst/>
              <a:gdLst/>
              <a:ahLst/>
              <a:cxnLst/>
              <a:rect r="r" b="b" t="t" l="l"/>
              <a:pathLst>
                <a:path h="660400" w="2065615">
                  <a:moveTo>
                    <a:pt x="1941155" y="660400"/>
                  </a:moveTo>
                  <a:lnTo>
                    <a:pt x="124460" y="660400"/>
                  </a:lnTo>
                  <a:cubicBezTo>
                    <a:pt x="55880" y="660400"/>
                    <a:pt x="0" y="604520"/>
                    <a:pt x="0" y="535940"/>
                  </a:cubicBezTo>
                  <a:lnTo>
                    <a:pt x="0" y="124460"/>
                  </a:lnTo>
                  <a:cubicBezTo>
                    <a:pt x="0" y="55880"/>
                    <a:pt x="55880" y="0"/>
                    <a:pt x="124460" y="0"/>
                  </a:cubicBezTo>
                  <a:lnTo>
                    <a:pt x="1941155" y="0"/>
                  </a:lnTo>
                  <a:cubicBezTo>
                    <a:pt x="2009735" y="0"/>
                    <a:pt x="2065615" y="55880"/>
                    <a:pt x="2065615" y="124460"/>
                  </a:cubicBezTo>
                  <a:lnTo>
                    <a:pt x="2065615" y="535940"/>
                  </a:lnTo>
                  <a:cubicBezTo>
                    <a:pt x="2065615" y="604520"/>
                    <a:pt x="2009735" y="660400"/>
                    <a:pt x="1941155" y="660400"/>
                  </a:cubicBezTo>
                  <a:close/>
                </a:path>
              </a:pathLst>
            </a:custGeom>
            <a:solidFill>
              <a:srgbClr val="FF6F28"/>
            </a:solidFill>
          </p:spPr>
        </p:sp>
      </p:grpSp>
      <p:grpSp>
        <p:nvGrpSpPr>
          <p:cNvPr name="Group 12" id="12"/>
          <p:cNvGrpSpPr/>
          <p:nvPr/>
        </p:nvGrpSpPr>
        <p:grpSpPr>
          <a:xfrm rot="0">
            <a:off x="5026897" y="8556495"/>
            <a:ext cx="567950" cy="567950"/>
            <a:chOff x="0" y="0"/>
            <a:chExt cx="757267" cy="757267"/>
          </a:xfrm>
        </p:grpSpPr>
        <p:grpSp>
          <p:nvGrpSpPr>
            <p:cNvPr name="Group 13" id="13"/>
            <p:cNvGrpSpPr/>
            <p:nvPr/>
          </p:nvGrpSpPr>
          <p:grpSpPr>
            <a:xfrm rot="0">
              <a:off x="0" y="0"/>
              <a:ext cx="757267" cy="757267"/>
              <a:chOff x="0" y="0"/>
              <a:chExt cx="6350000" cy="6350000"/>
            </a:xfrm>
          </p:grpSpPr>
          <p:sp>
            <p:nvSpPr>
              <p:cNvPr name="Freeform 14" id="14"/>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FFFF"/>
              </a:solidFill>
            </p:spPr>
          </p:sp>
        </p:grpSp>
        <p:grpSp>
          <p:nvGrpSpPr>
            <p:cNvPr name="Group 15" id="15"/>
            <p:cNvGrpSpPr/>
            <p:nvPr/>
          </p:nvGrpSpPr>
          <p:grpSpPr>
            <a:xfrm rot="-5400000">
              <a:off x="284360" y="302439"/>
              <a:ext cx="226645" cy="152389"/>
              <a:chOff x="0" y="0"/>
              <a:chExt cx="1930400" cy="1297940"/>
            </a:xfrm>
          </p:grpSpPr>
          <p:sp>
            <p:nvSpPr>
              <p:cNvPr name="Freeform 16" id="16"/>
              <p:cNvSpPr/>
              <p:nvPr/>
            </p:nvSpPr>
            <p:spPr>
              <a:xfrm flipH="false" flipV="false" rot="0">
                <a:off x="0" y="0"/>
                <a:ext cx="1930400" cy="1297940"/>
              </a:xfrm>
              <a:custGeom>
                <a:avLst/>
                <a:gdLst/>
                <a:ahLst/>
                <a:cxnLst/>
                <a:rect r="r" b="b" t="t" l="l"/>
                <a:pathLst>
                  <a:path h="1297940" w="1930400">
                    <a:moveTo>
                      <a:pt x="0" y="0"/>
                    </a:moveTo>
                    <a:lnTo>
                      <a:pt x="965200" y="1297940"/>
                    </a:lnTo>
                    <a:lnTo>
                      <a:pt x="1930400" y="0"/>
                    </a:lnTo>
                    <a:close/>
                  </a:path>
                </a:pathLst>
              </a:custGeom>
              <a:solidFill>
                <a:srgbClr val="FF6F28"/>
              </a:solidFill>
            </p:spPr>
          </p:sp>
        </p:grpSp>
      </p:grpSp>
      <p:grpSp>
        <p:nvGrpSpPr>
          <p:cNvPr name="Group 17" id="17"/>
          <p:cNvGrpSpPr/>
          <p:nvPr/>
        </p:nvGrpSpPr>
        <p:grpSpPr>
          <a:xfrm rot="0">
            <a:off x="923934" y="6372726"/>
            <a:ext cx="416752" cy="416752"/>
            <a:chOff x="0" y="0"/>
            <a:chExt cx="555669" cy="555669"/>
          </a:xfrm>
        </p:grpSpPr>
        <p:grpSp>
          <p:nvGrpSpPr>
            <p:cNvPr name="Group 18" id="18"/>
            <p:cNvGrpSpPr>
              <a:grpSpLocks noChangeAspect="true"/>
            </p:cNvGrpSpPr>
            <p:nvPr/>
          </p:nvGrpSpPr>
          <p:grpSpPr>
            <a:xfrm rot="0">
              <a:off x="0" y="0"/>
              <a:ext cx="555669" cy="555669"/>
              <a:chOff x="0" y="0"/>
              <a:chExt cx="6355080" cy="6355080"/>
            </a:xfrm>
          </p:grpSpPr>
          <p:sp>
            <p:nvSpPr>
              <p:cNvPr name="Freeform 19" id="19"/>
              <p:cNvSpPr/>
              <p:nvPr/>
            </p:nvSpPr>
            <p:spPr>
              <a:xfrm flipH="false" flipV="false" rot="0">
                <a:off x="0" y="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FF6F28"/>
              </a:solidFill>
            </p:spPr>
          </p:sp>
        </p:grpSp>
        <p:grpSp>
          <p:nvGrpSpPr>
            <p:cNvPr name="Group 20" id="20"/>
            <p:cNvGrpSpPr/>
            <p:nvPr/>
          </p:nvGrpSpPr>
          <p:grpSpPr>
            <a:xfrm rot="0">
              <a:off x="85762" y="85762"/>
              <a:ext cx="384145" cy="384145"/>
              <a:chOff x="0" y="0"/>
              <a:chExt cx="6350000" cy="6350000"/>
            </a:xfrm>
          </p:grpSpPr>
          <p:sp>
            <p:nvSpPr>
              <p:cNvPr name="Freeform 21" id="21"/>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6F28"/>
              </a:solidFill>
            </p:spPr>
          </p:sp>
        </p:grpSp>
      </p:grpSp>
      <p:sp>
        <p:nvSpPr>
          <p:cNvPr name="TextBox 22" id="22"/>
          <p:cNvSpPr txBox="true"/>
          <p:nvPr/>
        </p:nvSpPr>
        <p:spPr>
          <a:xfrm rot="0">
            <a:off x="1943422" y="1244600"/>
            <a:ext cx="2830911" cy="353060"/>
          </a:xfrm>
          <a:prstGeom prst="rect">
            <a:avLst/>
          </a:prstGeom>
        </p:spPr>
        <p:txBody>
          <a:bodyPr anchor="t" rtlCol="false" tIns="0" lIns="0" bIns="0" rIns="0">
            <a:spAutoFit/>
          </a:bodyPr>
          <a:lstStyle/>
          <a:p>
            <a:pPr algn="l" marL="0" indent="0" lvl="0">
              <a:lnSpc>
                <a:spcPts val="2860"/>
              </a:lnSpc>
            </a:pPr>
            <a:r>
              <a:rPr lang="en-US" b="true" sz="2199" spc="-65">
                <a:solidFill>
                  <a:srgbClr val="191919"/>
                </a:solidFill>
                <a:latin typeface="Muli Ultra-Bold"/>
                <a:ea typeface="Muli Ultra-Bold"/>
                <a:cs typeface="Muli Ultra-Bold"/>
                <a:sym typeface="Muli Ultra-Bold"/>
              </a:rPr>
              <a:t>Goal #3</a:t>
            </a:r>
          </a:p>
        </p:txBody>
      </p:sp>
      <p:sp>
        <p:nvSpPr>
          <p:cNvPr name="TextBox 23" id="23"/>
          <p:cNvSpPr txBox="true"/>
          <p:nvPr/>
        </p:nvSpPr>
        <p:spPr>
          <a:xfrm rot="0">
            <a:off x="1028700" y="8662670"/>
            <a:ext cx="3030746" cy="327025"/>
          </a:xfrm>
          <a:prstGeom prst="rect">
            <a:avLst/>
          </a:prstGeom>
        </p:spPr>
        <p:txBody>
          <a:bodyPr anchor="t" rtlCol="false" tIns="0" lIns="0" bIns="0" rIns="0">
            <a:spAutoFit/>
          </a:bodyPr>
          <a:lstStyle/>
          <a:p>
            <a:pPr algn="l" marL="0" indent="0" lvl="0">
              <a:lnSpc>
                <a:spcPts val="2600"/>
              </a:lnSpc>
            </a:pPr>
            <a:r>
              <a:rPr lang="en-US" b="true" sz="2000" spc="20">
                <a:solidFill>
                  <a:srgbClr val="FFFFFF"/>
                </a:solidFill>
                <a:latin typeface="Muli Bold"/>
                <a:ea typeface="Muli Bold"/>
                <a:cs typeface="Muli Bold"/>
                <a:sym typeface="Muli Bold"/>
              </a:rPr>
              <a:t>TRACKING SHEET</a:t>
            </a:r>
          </a:p>
        </p:txBody>
      </p:sp>
      <p:sp>
        <p:nvSpPr>
          <p:cNvPr name="TextBox 24" id="24"/>
          <p:cNvSpPr txBox="true"/>
          <p:nvPr/>
        </p:nvSpPr>
        <p:spPr>
          <a:xfrm rot="0">
            <a:off x="1757439" y="6241377"/>
            <a:ext cx="2805290" cy="650875"/>
          </a:xfrm>
          <a:prstGeom prst="rect">
            <a:avLst/>
          </a:prstGeom>
        </p:spPr>
        <p:txBody>
          <a:bodyPr anchor="t" rtlCol="false" tIns="0" lIns="0" bIns="0" rIns="0">
            <a:spAutoFit/>
          </a:bodyPr>
          <a:lstStyle/>
          <a:p>
            <a:pPr algn="l" marL="0" indent="0" lvl="0">
              <a:lnSpc>
                <a:spcPts val="2600"/>
              </a:lnSpc>
            </a:pPr>
            <a:r>
              <a:rPr lang="en-US" b="true" sz="2000" spc="20">
                <a:solidFill>
                  <a:srgbClr val="191919"/>
                </a:solidFill>
                <a:latin typeface="Muli Bold"/>
                <a:ea typeface="Muli Bold"/>
                <a:cs typeface="Muli Bold"/>
                <a:sym typeface="Muli Bold"/>
              </a:rPr>
              <a:t>GENERAL STATUS: ONGOING</a:t>
            </a:r>
          </a:p>
        </p:txBody>
      </p:sp>
      <p:sp>
        <p:nvSpPr>
          <p:cNvPr name="TextBox 25" id="25"/>
          <p:cNvSpPr txBox="true"/>
          <p:nvPr/>
        </p:nvSpPr>
        <p:spPr>
          <a:xfrm rot="0">
            <a:off x="776136" y="2521334"/>
            <a:ext cx="5153015" cy="1338580"/>
          </a:xfrm>
          <a:prstGeom prst="rect">
            <a:avLst/>
          </a:prstGeom>
        </p:spPr>
        <p:txBody>
          <a:bodyPr anchor="t" rtlCol="false" tIns="0" lIns="0" bIns="0" rIns="0">
            <a:spAutoFit/>
          </a:bodyPr>
          <a:lstStyle/>
          <a:p>
            <a:pPr algn="l">
              <a:lnSpc>
                <a:spcPts val="5330"/>
              </a:lnSpc>
            </a:pPr>
            <a:r>
              <a:rPr lang="en-US" sz="4100" b="true">
                <a:solidFill>
                  <a:srgbClr val="191919"/>
                </a:solidFill>
                <a:latin typeface="Muli Bold"/>
                <a:ea typeface="Muli Bold"/>
                <a:cs typeface="Muli Bold"/>
                <a:sym typeface="Muli Bold"/>
              </a:rPr>
              <a:t>Assess new system and program</a:t>
            </a:r>
          </a:p>
        </p:txBody>
      </p:sp>
      <p:grpSp>
        <p:nvGrpSpPr>
          <p:cNvPr name="Group 26" id="26"/>
          <p:cNvGrpSpPr/>
          <p:nvPr/>
        </p:nvGrpSpPr>
        <p:grpSpPr>
          <a:xfrm rot="0">
            <a:off x="6700253" y="470391"/>
            <a:ext cx="11249880" cy="9346217"/>
            <a:chOff x="0" y="0"/>
            <a:chExt cx="3805515" cy="3161560"/>
          </a:xfrm>
        </p:grpSpPr>
        <p:sp>
          <p:nvSpPr>
            <p:cNvPr name="Freeform 27" id="27"/>
            <p:cNvSpPr/>
            <p:nvPr/>
          </p:nvSpPr>
          <p:spPr>
            <a:xfrm flipH="false" flipV="false" rot="0">
              <a:off x="0" y="0"/>
              <a:ext cx="3805515" cy="3161560"/>
            </a:xfrm>
            <a:custGeom>
              <a:avLst/>
              <a:gdLst/>
              <a:ahLst/>
              <a:cxnLst/>
              <a:rect r="r" b="b" t="t" l="l"/>
              <a:pathLst>
                <a:path h="3161560" w="3805515">
                  <a:moveTo>
                    <a:pt x="3681055" y="3161560"/>
                  </a:moveTo>
                  <a:lnTo>
                    <a:pt x="124460" y="3161560"/>
                  </a:lnTo>
                  <a:cubicBezTo>
                    <a:pt x="55880" y="3161560"/>
                    <a:pt x="0" y="3105680"/>
                    <a:pt x="0" y="3037100"/>
                  </a:cubicBezTo>
                  <a:lnTo>
                    <a:pt x="0" y="124460"/>
                  </a:lnTo>
                  <a:cubicBezTo>
                    <a:pt x="0" y="55880"/>
                    <a:pt x="55880" y="0"/>
                    <a:pt x="124460" y="0"/>
                  </a:cubicBezTo>
                  <a:lnTo>
                    <a:pt x="3681055" y="0"/>
                  </a:lnTo>
                  <a:cubicBezTo>
                    <a:pt x="3749635" y="0"/>
                    <a:pt x="3805515" y="55880"/>
                    <a:pt x="3805515" y="124460"/>
                  </a:cubicBezTo>
                  <a:lnTo>
                    <a:pt x="3805515" y="3037100"/>
                  </a:lnTo>
                  <a:cubicBezTo>
                    <a:pt x="3805515" y="3105680"/>
                    <a:pt x="3749635" y="3161560"/>
                    <a:pt x="3681055" y="3161560"/>
                  </a:cubicBezTo>
                  <a:close/>
                </a:path>
              </a:pathLst>
            </a:custGeom>
            <a:solidFill>
              <a:srgbClr val="FFFFFF"/>
            </a:solidFill>
          </p:spPr>
        </p:sp>
      </p:grpSp>
      <p:grpSp>
        <p:nvGrpSpPr>
          <p:cNvPr name="Group 28" id="28"/>
          <p:cNvGrpSpPr/>
          <p:nvPr/>
        </p:nvGrpSpPr>
        <p:grpSpPr>
          <a:xfrm rot="0">
            <a:off x="7111355" y="881986"/>
            <a:ext cx="3356811" cy="939800"/>
            <a:chOff x="0" y="0"/>
            <a:chExt cx="4475748" cy="1253067"/>
          </a:xfrm>
        </p:grpSpPr>
        <p:grpSp>
          <p:nvGrpSpPr>
            <p:cNvPr name="Group 29" id="29"/>
            <p:cNvGrpSpPr/>
            <p:nvPr/>
          </p:nvGrpSpPr>
          <p:grpSpPr>
            <a:xfrm rot="0">
              <a:off x="0" y="0"/>
              <a:ext cx="4475748" cy="1253067"/>
              <a:chOff x="0" y="0"/>
              <a:chExt cx="41960134" cy="11747500"/>
            </a:xfrm>
          </p:grpSpPr>
          <p:sp>
            <p:nvSpPr>
              <p:cNvPr name="Freeform 30" id="30"/>
              <p:cNvSpPr/>
              <p:nvPr/>
            </p:nvSpPr>
            <p:spPr>
              <a:xfrm flipH="false" flipV="false" rot="0">
                <a:off x="-12700" y="-12700"/>
                <a:ext cx="41985533" cy="11772901"/>
              </a:xfrm>
              <a:custGeom>
                <a:avLst/>
                <a:gdLst/>
                <a:ahLst/>
                <a:cxnLst/>
                <a:rect r="r" b="b" t="t" l="l"/>
                <a:pathLst>
                  <a:path h="11772901" w="41985533">
                    <a:moveTo>
                      <a:pt x="41123205" y="0"/>
                    </a:moveTo>
                    <a:lnTo>
                      <a:pt x="862330" y="0"/>
                    </a:lnTo>
                    <a:cubicBezTo>
                      <a:pt x="389890" y="0"/>
                      <a:pt x="0" y="389890"/>
                      <a:pt x="0" y="862330"/>
                    </a:cubicBezTo>
                    <a:lnTo>
                      <a:pt x="0" y="10910570"/>
                    </a:lnTo>
                    <a:cubicBezTo>
                      <a:pt x="0" y="11383011"/>
                      <a:pt x="389890" y="11772901"/>
                      <a:pt x="862330" y="11772901"/>
                    </a:cubicBezTo>
                    <a:lnTo>
                      <a:pt x="41123205" y="11772901"/>
                    </a:lnTo>
                    <a:cubicBezTo>
                      <a:pt x="41595644" y="11772901"/>
                      <a:pt x="41985533" y="11383011"/>
                      <a:pt x="41985533" y="10910570"/>
                    </a:cubicBezTo>
                    <a:lnTo>
                      <a:pt x="41985533" y="862330"/>
                    </a:lnTo>
                    <a:cubicBezTo>
                      <a:pt x="41985533" y="389890"/>
                      <a:pt x="41595644" y="0"/>
                      <a:pt x="41123205" y="0"/>
                    </a:cubicBezTo>
                    <a:close/>
                    <a:moveTo>
                      <a:pt x="41795033" y="927100"/>
                    </a:moveTo>
                    <a:lnTo>
                      <a:pt x="41795033" y="10910570"/>
                    </a:lnTo>
                    <a:cubicBezTo>
                      <a:pt x="41795033" y="11277600"/>
                      <a:pt x="41490233" y="11582400"/>
                      <a:pt x="41123205" y="11582400"/>
                    </a:cubicBezTo>
                    <a:lnTo>
                      <a:pt x="862330" y="11582400"/>
                    </a:lnTo>
                    <a:cubicBezTo>
                      <a:pt x="495300" y="11582400"/>
                      <a:pt x="190500" y="11277600"/>
                      <a:pt x="190500" y="10910570"/>
                    </a:cubicBezTo>
                    <a:lnTo>
                      <a:pt x="190500" y="862330"/>
                    </a:lnTo>
                    <a:cubicBezTo>
                      <a:pt x="190500" y="495300"/>
                      <a:pt x="495300" y="190500"/>
                      <a:pt x="862330" y="190500"/>
                    </a:cubicBezTo>
                    <a:lnTo>
                      <a:pt x="41123205" y="190500"/>
                    </a:lnTo>
                    <a:cubicBezTo>
                      <a:pt x="41490233" y="190500"/>
                      <a:pt x="41795033" y="495300"/>
                      <a:pt x="41795033" y="862330"/>
                    </a:cubicBezTo>
                    <a:lnTo>
                      <a:pt x="41795033" y="927100"/>
                    </a:lnTo>
                    <a:close/>
                  </a:path>
                </a:pathLst>
              </a:custGeom>
              <a:solidFill>
                <a:srgbClr val="FF6F28"/>
              </a:solidFill>
            </p:spPr>
          </p:sp>
        </p:grpSp>
        <p:sp>
          <p:nvSpPr>
            <p:cNvPr name="TextBox 31" id="31"/>
            <p:cNvSpPr txBox="true"/>
            <p:nvPr/>
          </p:nvSpPr>
          <p:spPr>
            <a:xfrm rot="0">
              <a:off x="367680" y="398992"/>
              <a:ext cx="3740387" cy="426508"/>
            </a:xfrm>
            <a:prstGeom prst="rect">
              <a:avLst/>
            </a:prstGeom>
          </p:spPr>
          <p:txBody>
            <a:bodyPr anchor="t" rtlCol="false" tIns="0" lIns="0" bIns="0" rIns="0">
              <a:spAutoFit/>
            </a:bodyPr>
            <a:lstStyle/>
            <a:p>
              <a:pPr algn="ctr" marL="0" indent="0" lvl="0">
                <a:lnSpc>
                  <a:spcPts val="2600"/>
                </a:lnSpc>
                <a:spcBef>
                  <a:spcPct val="0"/>
                </a:spcBef>
              </a:pPr>
              <a:r>
                <a:rPr lang="en-US" b="true" sz="2000" spc="20" u="none">
                  <a:solidFill>
                    <a:srgbClr val="FF6F28"/>
                  </a:solidFill>
                  <a:latin typeface="Muli Bold"/>
                  <a:ea typeface="Muli Bold"/>
                  <a:cs typeface="Muli Bold"/>
                  <a:sym typeface="Muli Bold"/>
                </a:rPr>
                <a:t>WHERE WE'RE AT</a:t>
              </a:r>
            </a:p>
          </p:txBody>
        </p:sp>
      </p:grpSp>
      <p:grpSp>
        <p:nvGrpSpPr>
          <p:cNvPr name="Group 32" id="32"/>
          <p:cNvGrpSpPr/>
          <p:nvPr/>
        </p:nvGrpSpPr>
        <p:grpSpPr>
          <a:xfrm rot="0">
            <a:off x="7111355" y="4299325"/>
            <a:ext cx="3356811" cy="939800"/>
            <a:chOff x="0" y="0"/>
            <a:chExt cx="4475748" cy="1253067"/>
          </a:xfrm>
        </p:grpSpPr>
        <p:grpSp>
          <p:nvGrpSpPr>
            <p:cNvPr name="Group 33" id="33"/>
            <p:cNvGrpSpPr/>
            <p:nvPr/>
          </p:nvGrpSpPr>
          <p:grpSpPr>
            <a:xfrm rot="0">
              <a:off x="0" y="0"/>
              <a:ext cx="4475748" cy="1253067"/>
              <a:chOff x="0" y="0"/>
              <a:chExt cx="41960134" cy="11747500"/>
            </a:xfrm>
          </p:grpSpPr>
          <p:sp>
            <p:nvSpPr>
              <p:cNvPr name="Freeform 34" id="34"/>
              <p:cNvSpPr/>
              <p:nvPr/>
            </p:nvSpPr>
            <p:spPr>
              <a:xfrm flipH="false" flipV="false" rot="0">
                <a:off x="-12700" y="-12700"/>
                <a:ext cx="41985533" cy="11772901"/>
              </a:xfrm>
              <a:custGeom>
                <a:avLst/>
                <a:gdLst/>
                <a:ahLst/>
                <a:cxnLst/>
                <a:rect r="r" b="b" t="t" l="l"/>
                <a:pathLst>
                  <a:path h="11772901" w="41985533">
                    <a:moveTo>
                      <a:pt x="41123205" y="0"/>
                    </a:moveTo>
                    <a:lnTo>
                      <a:pt x="862330" y="0"/>
                    </a:lnTo>
                    <a:cubicBezTo>
                      <a:pt x="389890" y="0"/>
                      <a:pt x="0" y="389890"/>
                      <a:pt x="0" y="862330"/>
                    </a:cubicBezTo>
                    <a:lnTo>
                      <a:pt x="0" y="10910570"/>
                    </a:lnTo>
                    <a:cubicBezTo>
                      <a:pt x="0" y="11383011"/>
                      <a:pt x="389890" y="11772901"/>
                      <a:pt x="862330" y="11772901"/>
                    </a:cubicBezTo>
                    <a:lnTo>
                      <a:pt x="41123205" y="11772901"/>
                    </a:lnTo>
                    <a:cubicBezTo>
                      <a:pt x="41595644" y="11772901"/>
                      <a:pt x="41985533" y="11383011"/>
                      <a:pt x="41985533" y="10910570"/>
                    </a:cubicBezTo>
                    <a:lnTo>
                      <a:pt x="41985533" y="862330"/>
                    </a:lnTo>
                    <a:cubicBezTo>
                      <a:pt x="41985533" y="389890"/>
                      <a:pt x="41595644" y="0"/>
                      <a:pt x="41123205" y="0"/>
                    </a:cubicBezTo>
                    <a:close/>
                    <a:moveTo>
                      <a:pt x="41795033" y="927100"/>
                    </a:moveTo>
                    <a:lnTo>
                      <a:pt x="41795033" y="10910570"/>
                    </a:lnTo>
                    <a:cubicBezTo>
                      <a:pt x="41795033" y="11277600"/>
                      <a:pt x="41490233" y="11582400"/>
                      <a:pt x="41123205" y="11582400"/>
                    </a:cubicBezTo>
                    <a:lnTo>
                      <a:pt x="862330" y="11582400"/>
                    </a:lnTo>
                    <a:cubicBezTo>
                      <a:pt x="495300" y="11582400"/>
                      <a:pt x="190500" y="11277600"/>
                      <a:pt x="190500" y="10910570"/>
                    </a:cubicBezTo>
                    <a:lnTo>
                      <a:pt x="190500" y="862330"/>
                    </a:lnTo>
                    <a:cubicBezTo>
                      <a:pt x="190500" y="495300"/>
                      <a:pt x="495300" y="190500"/>
                      <a:pt x="862330" y="190500"/>
                    </a:cubicBezTo>
                    <a:lnTo>
                      <a:pt x="41123205" y="190500"/>
                    </a:lnTo>
                    <a:cubicBezTo>
                      <a:pt x="41490233" y="190500"/>
                      <a:pt x="41795033" y="495300"/>
                      <a:pt x="41795033" y="862330"/>
                    </a:cubicBezTo>
                    <a:lnTo>
                      <a:pt x="41795033" y="927100"/>
                    </a:lnTo>
                    <a:close/>
                  </a:path>
                </a:pathLst>
              </a:custGeom>
              <a:solidFill>
                <a:srgbClr val="FF6F28"/>
              </a:solidFill>
            </p:spPr>
          </p:sp>
        </p:grpSp>
        <p:sp>
          <p:nvSpPr>
            <p:cNvPr name="TextBox 35" id="35"/>
            <p:cNvSpPr txBox="true"/>
            <p:nvPr/>
          </p:nvSpPr>
          <p:spPr>
            <a:xfrm rot="0">
              <a:off x="367680" y="398992"/>
              <a:ext cx="3740387" cy="426508"/>
            </a:xfrm>
            <a:prstGeom prst="rect">
              <a:avLst/>
            </a:prstGeom>
          </p:spPr>
          <p:txBody>
            <a:bodyPr anchor="t" rtlCol="false" tIns="0" lIns="0" bIns="0" rIns="0">
              <a:spAutoFit/>
            </a:bodyPr>
            <a:lstStyle/>
            <a:p>
              <a:pPr algn="ctr" marL="0" indent="0" lvl="0">
                <a:lnSpc>
                  <a:spcPts val="2600"/>
                </a:lnSpc>
                <a:spcBef>
                  <a:spcPct val="0"/>
                </a:spcBef>
              </a:pPr>
              <a:r>
                <a:rPr lang="en-US" b="true" sz="2000" spc="20" u="none">
                  <a:solidFill>
                    <a:srgbClr val="FF6F28"/>
                  </a:solidFill>
                  <a:latin typeface="Muli Bold"/>
                  <a:ea typeface="Muli Bold"/>
                  <a:cs typeface="Muli Bold"/>
                  <a:sym typeface="Muli Bold"/>
                </a:rPr>
                <a:t>BLOCKERS</a:t>
              </a:r>
            </a:p>
          </p:txBody>
        </p:sp>
      </p:grpSp>
      <p:grpSp>
        <p:nvGrpSpPr>
          <p:cNvPr name="Group 36" id="36"/>
          <p:cNvGrpSpPr/>
          <p:nvPr/>
        </p:nvGrpSpPr>
        <p:grpSpPr>
          <a:xfrm rot="0">
            <a:off x="7111355" y="6802264"/>
            <a:ext cx="3356811" cy="939800"/>
            <a:chOff x="0" y="0"/>
            <a:chExt cx="4475748" cy="1253067"/>
          </a:xfrm>
        </p:grpSpPr>
        <p:grpSp>
          <p:nvGrpSpPr>
            <p:cNvPr name="Group 37" id="37"/>
            <p:cNvGrpSpPr/>
            <p:nvPr/>
          </p:nvGrpSpPr>
          <p:grpSpPr>
            <a:xfrm rot="0">
              <a:off x="0" y="0"/>
              <a:ext cx="4475748" cy="1253067"/>
              <a:chOff x="0" y="0"/>
              <a:chExt cx="41960134" cy="11747500"/>
            </a:xfrm>
          </p:grpSpPr>
          <p:sp>
            <p:nvSpPr>
              <p:cNvPr name="Freeform 38" id="38"/>
              <p:cNvSpPr/>
              <p:nvPr/>
            </p:nvSpPr>
            <p:spPr>
              <a:xfrm flipH="false" flipV="false" rot="0">
                <a:off x="-12700" y="-12700"/>
                <a:ext cx="41985533" cy="11772901"/>
              </a:xfrm>
              <a:custGeom>
                <a:avLst/>
                <a:gdLst/>
                <a:ahLst/>
                <a:cxnLst/>
                <a:rect r="r" b="b" t="t" l="l"/>
                <a:pathLst>
                  <a:path h="11772901" w="41985533">
                    <a:moveTo>
                      <a:pt x="41123205" y="0"/>
                    </a:moveTo>
                    <a:lnTo>
                      <a:pt x="862330" y="0"/>
                    </a:lnTo>
                    <a:cubicBezTo>
                      <a:pt x="389890" y="0"/>
                      <a:pt x="0" y="389890"/>
                      <a:pt x="0" y="862330"/>
                    </a:cubicBezTo>
                    <a:lnTo>
                      <a:pt x="0" y="10910570"/>
                    </a:lnTo>
                    <a:cubicBezTo>
                      <a:pt x="0" y="11383011"/>
                      <a:pt x="389890" y="11772901"/>
                      <a:pt x="862330" y="11772901"/>
                    </a:cubicBezTo>
                    <a:lnTo>
                      <a:pt x="41123205" y="11772901"/>
                    </a:lnTo>
                    <a:cubicBezTo>
                      <a:pt x="41595644" y="11772901"/>
                      <a:pt x="41985533" y="11383011"/>
                      <a:pt x="41985533" y="10910570"/>
                    </a:cubicBezTo>
                    <a:lnTo>
                      <a:pt x="41985533" y="862330"/>
                    </a:lnTo>
                    <a:cubicBezTo>
                      <a:pt x="41985533" y="389890"/>
                      <a:pt x="41595644" y="0"/>
                      <a:pt x="41123205" y="0"/>
                    </a:cubicBezTo>
                    <a:close/>
                    <a:moveTo>
                      <a:pt x="41795033" y="927100"/>
                    </a:moveTo>
                    <a:lnTo>
                      <a:pt x="41795033" y="10910570"/>
                    </a:lnTo>
                    <a:cubicBezTo>
                      <a:pt x="41795033" y="11277600"/>
                      <a:pt x="41490233" y="11582400"/>
                      <a:pt x="41123205" y="11582400"/>
                    </a:cubicBezTo>
                    <a:lnTo>
                      <a:pt x="862330" y="11582400"/>
                    </a:lnTo>
                    <a:cubicBezTo>
                      <a:pt x="495300" y="11582400"/>
                      <a:pt x="190500" y="11277600"/>
                      <a:pt x="190500" y="10910570"/>
                    </a:cubicBezTo>
                    <a:lnTo>
                      <a:pt x="190500" y="862330"/>
                    </a:lnTo>
                    <a:cubicBezTo>
                      <a:pt x="190500" y="495300"/>
                      <a:pt x="495300" y="190500"/>
                      <a:pt x="862330" y="190500"/>
                    </a:cubicBezTo>
                    <a:lnTo>
                      <a:pt x="41123205" y="190500"/>
                    </a:lnTo>
                    <a:cubicBezTo>
                      <a:pt x="41490233" y="190500"/>
                      <a:pt x="41795033" y="495300"/>
                      <a:pt x="41795033" y="862330"/>
                    </a:cubicBezTo>
                    <a:lnTo>
                      <a:pt x="41795033" y="927100"/>
                    </a:lnTo>
                    <a:close/>
                  </a:path>
                </a:pathLst>
              </a:custGeom>
              <a:solidFill>
                <a:srgbClr val="FF6F28"/>
              </a:solidFill>
            </p:spPr>
          </p:sp>
        </p:grpSp>
        <p:sp>
          <p:nvSpPr>
            <p:cNvPr name="TextBox 39" id="39"/>
            <p:cNvSpPr txBox="true"/>
            <p:nvPr/>
          </p:nvSpPr>
          <p:spPr>
            <a:xfrm rot="0">
              <a:off x="367680" y="398992"/>
              <a:ext cx="3740387" cy="426508"/>
            </a:xfrm>
            <a:prstGeom prst="rect">
              <a:avLst/>
            </a:prstGeom>
          </p:spPr>
          <p:txBody>
            <a:bodyPr anchor="t" rtlCol="false" tIns="0" lIns="0" bIns="0" rIns="0">
              <a:spAutoFit/>
            </a:bodyPr>
            <a:lstStyle/>
            <a:p>
              <a:pPr algn="ctr" marL="0" indent="0" lvl="0">
                <a:lnSpc>
                  <a:spcPts val="2600"/>
                </a:lnSpc>
                <a:spcBef>
                  <a:spcPct val="0"/>
                </a:spcBef>
              </a:pPr>
              <a:r>
                <a:rPr lang="en-US" b="true" sz="2000" spc="20" u="none">
                  <a:solidFill>
                    <a:srgbClr val="FF6F28"/>
                  </a:solidFill>
                  <a:latin typeface="Muli Bold"/>
                  <a:ea typeface="Muli Bold"/>
                  <a:cs typeface="Muli Bold"/>
                  <a:sym typeface="Muli Bold"/>
                </a:rPr>
                <a:t>ACTION ITEMS</a:t>
              </a:r>
            </a:p>
          </p:txBody>
        </p:sp>
      </p:grpSp>
      <p:sp>
        <p:nvSpPr>
          <p:cNvPr name="TextBox 40" id="40"/>
          <p:cNvSpPr txBox="true"/>
          <p:nvPr/>
        </p:nvSpPr>
        <p:spPr>
          <a:xfrm rot="0">
            <a:off x="7111355" y="2131551"/>
            <a:ext cx="10427677" cy="1810385"/>
          </a:xfrm>
          <a:prstGeom prst="rect">
            <a:avLst/>
          </a:prstGeom>
        </p:spPr>
        <p:txBody>
          <a:bodyPr anchor="t" rtlCol="false" tIns="0" lIns="0" bIns="0" rIns="0">
            <a:spAutoFit/>
          </a:bodyPr>
          <a:lstStyle/>
          <a:p>
            <a:pPr algn="l" marL="561341" indent="-280670" lvl="1">
              <a:lnSpc>
                <a:spcPts val="3640"/>
              </a:lnSpc>
              <a:buFont typeface="Arial"/>
              <a:buChar char="•"/>
            </a:pPr>
            <a:r>
              <a:rPr lang="en-US" sz="2600">
                <a:solidFill>
                  <a:srgbClr val="191919"/>
                </a:solidFill>
                <a:latin typeface="Muli"/>
                <a:ea typeface="Muli"/>
                <a:cs typeface="Muli"/>
                <a:sym typeface="Muli"/>
              </a:rPr>
              <a:t>Preparations are still being made for the implementation</a:t>
            </a:r>
          </a:p>
          <a:p>
            <a:pPr algn="l" marL="561341" indent="-280670" lvl="1">
              <a:lnSpc>
                <a:spcPts val="3640"/>
              </a:lnSpc>
              <a:buFont typeface="Arial"/>
              <a:buChar char="•"/>
            </a:pPr>
            <a:r>
              <a:rPr lang="en-US" sz="2600">
                <a:solidFill>
                  <a:srgbClr val="191919"/>
                </a:solidFill>
                <a:latin typeface="Muli"/>
                <a:ea typeface="Muli"/>
                <a:cs typeface="Muli"/>
                <a:sym typeface="Muli"/>
              </a:rPr>
              <a:t>Assessment guidelines need to be developed </a:t>
            </a:r>
          </a:p>
          <a:p>
            <a:pPr algn="l" marL="561340" indent="-280670" lvl="1">
              <a:lnSpc>
                <a:spcPts val="3640"/>
              </a:lnSpc>
              <a:spcBef>
                <a:spcPct val="0"/>
              </a:spcBef>
              <a:buFont typeface="Arial"/>
              <a:buChar char="•"/>
            </a:pPr>
            <a:r>
              <a:rPr lang="en-US" sz="2600">
                <a:solidFill>
                  <a:srgbClr val="191919"/>
                </a:solidFill>
                <a:latin typeface="Muli"/>
                <a:ea typeface="Muli"/>
                <a:cs typeface="Muli"/>
                <a:sym typeface="Muli"/>
              </a:rPr>
              <a:t>Discussion sessions with all teams involved have already been scheduled</a:t>
            </a:r>
          </a:p>
        </p:txBody>
      </p:sp>
      <p:sp>
        <p:nvSpPr>
          <p:cNvPr name="TextBox 41" id="41"/>
          <p:cNvSpPr txBox="true"/>
          <p:nvPr/>
        </p:nvSpPr>
        <p:spPr>
          <a:xfrm rot="0">
            <a:off x="7111355" y="5548890"/>
            <a:ext cx="10427677" cy="895985"/>
          </a:xfrm>
          <a:prstGeom prst="rect">
            <a:avLst/>
          </a:prstGeom>
        </p:spPr>
        <p:txBody>
          <a:bodyPr anchor="t" rtlCol="false" tIns="0" lIns="0" bIns="0" rIns="0">
            <a:spAutoFit/>
          </a:bodyPr>
          <a:lstStyle/>
          <a:p>
            <a:pPr algn="l" marL="561340" indent="-280670" lvl="1">
              <a:lnSpc>
                <a:spcPts val="3640"/>
              </a:lnSpc>
              <a:spcBef>
                <a:spcPct val="0"/>
              </a:spcBef>
              <a:buFont typeface="Arial"/>
              <a:buChar char="•"/>
            </a:pPr>
            <a:r>
              <a:rPr lang="en-US" sz="2600">
                <a:solidFill>
                  <a:srgbClr val="191919"/>
                </a:solidFill>
                <a:latin typeface="Muli"/>
                <a:ea typeface="Muli"/>
                <a:cs typeface="Muli"/>
                <a:sym typeface="Muli"/>
              </a:rPr>
              <a:t>There is always a learning curve when adapting to a new system or program</a:t>
            </a:r>
          </a:p>
        </p:txBody>
      </p:sp>
      <p:sp>
        <p:nvSpPr>
          <p:cNvPr name="TextBox 42" id="42"/>
          <p:cNvSpPr txBox="true"/>
          <p:nvPr/>
        </p:nvSpPr>
        <p:spPr>
          <a:xfrm rot="0">
            <a:off x="7111355" y="8051829"/>
            <a:ext cx="10427677" cy="1353185"/>
          </a:xfrm>
          <a:prstGeom prst="rect">
            <a:avLst/>
          </a:prstGeom>
        </p:spPr>
        <p:txBody>
          <a:bodyPr anchor="t" rtlCol="false" tIns="0" lIns="0" bIns="0" rIns="0">
            <a:spAutoFit/>
          </a:bodyPr>
          <a:lstStyle/>
          <a:p>
            <a:pPr algn="l" marL="561341" indent="-280670" lvl="1">
              <a:lnSpc>
                <a:spcPts val="3640"/>
              </a:lnSpc>
              <a:buFont typeface="Arial"/>
              <a:buChar char="•"/>
            </a:pPr>
            <a:r>
              <a:rPr lang="en-US" sz="2600">
                <a:solidFill>
                  <a:srgbClr val="191919"/>
                </a:solidFill>
                <a:latin typeface="Muli"/>
                <a:ea typeface="Muli"/>
                <a:cs typeface="Muli"/>
                <a:sym typeface="Muli"/>
              </a:rPr>
              <a:t>Prepare notes and materials for the discussion sessions</a:t>
            </a:r>
          </a:p>
          <a:p>
            <a:pPr algn="l" marL="561341" indent="-280670" lvl="1">
              <a:lnSpc>
                <a:spcPts val="3640"/>
              </a:lnSpc>
              <a:buFont typeface="Arial"/>
              <a:buChar char="•"/>
            </a:pPr>
            <a:r>
              <a:rPr lang="en-US" sz="2600">
                <a:solidFill>
                  <a:srgbClr val="191919"/>
                </a:solidFill>
                <a:latin typeface="Muli"/>
                <a:ea typeface="Muli"/>
                <a:cs typeface="Muli"/>
                <a:sym typeface="Muli"/>
              </a:rPr>
              <a:t>Confirm schedule by end of the week</a:t>
            </a:r>
          </a:p>
          <a:p>
            <a:pPr algn="l" marL="561340" indent="-280670" lvl="1">
              <a:lnSpc>
                <a:spcPts val="3640"/>
              </a:lnSpc>
              <a:spcBef>
                <a:spcPct val="0"/>
              </a:spcBef>
              <a:buFont typeface="Arial"/>
              <a:buChar char="•"/>
            </a:pPr>
            <a:r>
              <a:rPr lang="en-US" sz="2600">
                <a:solidFill>
                  <a:srgbClr val="191919"/>
                </a:solidFill>
                <a:latin typeface="Muli"/>
                <a:ea typeface="Muli"/>
                <a:cs typeface="Muli"/>
                <a:sym typeface="Muli"/>
              </a:rPr>
              <a:t>Draft initial assessment guidelines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6E7DE"/>
        </a:solidFill>
      </p:bgPr>
    </p:bg>
    <p:spTree>
      <p:nvGrpSpPr>
        <p:cNvPr id="1" name=""/>
        <p:cNvGrpSpPr/>
        <p:nvPr/>
      </p:nvGrpSpPr>
      <p:grpSpPr>
        <a:xfrm>
          <a:off x="0" y="0"/>
          <a:ext cx="0" cy="0"/>
          <a:chOff x="0" y="0"/>
          <a:chExt cx="0" cy="0"/>
        </a:xfrm>
      </p:grpSpPr>
      <p:grpSp>
        <p:nvGrpSpPr>
          <p:cNvPr name="Group 2" id="2"/>
          <p:cNvGrpSpPr/>
          <p:nvPr/>
        </p:nvGrpSpPr>
        <p:grpSpPr>
          <a:xfrm rot="0">
            <a:off x="6952299" y="414452"/>
            <a:ext cx="11000765" cy="9458097"/>
            <a:chOff x="0" y="0"/>
            <a:chExt cx="3721246" cy="3199406"/>
          </a:xfrm>
        </p:grpSpPr>
        <p:sp>
          <p:nvSpPr>
            <p:cNvPr name="Freeform 3" id="3"/>
            <p:cNvSpPr/>
            <p:nvPr/>
          </p:nvSpPr>
          <p:spPr>
            <a:xfrm flipH="false" flipV="false" rot="0">
              <a:off x="0" y="0"/>
              <a:ext cx="3721247" cy="3199406"/>
            </a:xfrm>
            <a:custGeom>
              <a:avLst/>
              <a:gdLst/>
              <a:ahLst/>
              <a:cxnLst/>
              <a:rect r="r" b="b" t="t" l="l"/>
              <a:pathLst>
                <a:path h="3199406" w="3721247">
                  <a:moveTo>
                    <a:pt x="3596786" y="3199405"/>
                  </a:moveTo>
                  <a:lnTo>
                    <a:pt x="124460" y="3199405"/>
                  </a:lnTo>
                  <a:cubicBezTo>
                    <a:pt x="55880" y="3199405"/>
                    <a:pt x="0" y="3143526"/>
                    <a:pt x="0" y="3074945"/>
                  </a:cubicBezTo>
                  <a:lnTo>
                    <a:pt x="0" y="124460"/>
                  </a:lnTo>
                  <a:cubicBezTo>
                    <a:pt x="0" y="55880"/>
                    <a:pt x="55880" y="0"/>
                    <a:pt x="124460" y="0"/>
                  </a:cubicBezTo>
                  <a:lnTo>
                    <a:pt x="3596786" y="0"/>
                  </a:lnTo>
                  <a:cubicBezTo>
                    <a:pt x="3665366" y="0"/>
                    <a:pt x="3721247" y="55880"/>
                    <a:pt x="3721247" y="124460"/>
                  </a:cubicBezTo>
                  <a:lnTo>
                    <a:pt x="3721247" y="3074946"/>
                  </a:lnTo>
                  <a:cubicBezTo>
                    <a:pt x="3721247" y="3143526"/>
                    <a:pt x="3665366" y="3199406"/>
                    <a:pt x="3596786" y="3199406"/>
                  </a:cubicBezTo>
                  <a:close/>
                </a:path>
              </a:pathLst>
            </a:custGeom>
            <a:solidFill>
              <a:srgbClr val="FFFFFF"/>
            </a:solidFill>
          </p:spPr>
        </p:sp>
      </p:grpSp>
      <p:grpSp>
        <p:nvGrpSpPr>
          <p:cNvPr name="Group 4" id="4"/>
          <p:cNvGrpSpPr>
            <a:grpSpLocks noChangeAspect="true"/>
          </p:cNvGrpSpPr>
          <p:nvPr/>
        </p:nvGrpSpPr>
        <p:grpSpPr>
          <a:xfrm rot="0">
            <a:off x="7932926" y="1290637"/>
            <a:ext cx="9483639" cy="7033699"/>
            <a:chOff x="0" y="0"/>
            <a:chExt cx="13716000" cy="10172700"/>
          </a:xfrm>
        </p:grpSpPr>
        <p:sp>
          <p:nvSpPr>
            <p:cNvPr name="Freeform 5" id="5"/>
            <p:cNvSpPr/>
            <p:nvPr/>
          </p:nvSpPr>
          <p:spPr>
            <a:xfrm flipH="false" flipV="false" rot="0">
              <a:off x="0" y="0"/>
              <a:ext cx="13716000" cy="10172700"/>
            </a:xfrm>
            <a:custGeom>
              <a:avLst/>
              <a:gdLst/>
              <a:ahLst/>
              <a:cxnLst/>
              <a:rect r="r" b="b" t="t" l="l"/>
              <a:pathLst>
                <a:path h="10172700" w="13716000">
                  <a:moveTo>
                    <a:pt x="0" y="0"/>
                  </a:moveTo>
                  <a:lnTo>
                    <a:pt x="13716000" y="0"/>
                  </a:lnTo>
                  <a:lnTo>
                    <a:pt x="13716000" y="10172700"/>
                  </a:lnTo>
                  <a:lnTo>
                    <a:pt x="0" y="10172700"/>
                  </a:lnTo>
                  <a:close/>
                </a:path>
              </a:pathLst>
            </a:custGeom>
            <a:blipFill>
              <a:blip r:embed="rId2"/>
              <a:stretch>
                <a:fillRect l="0" t="-393" r="0" b="-393"/>
              </a:stretch>
            </a:blipFill>
          </p:spPr>
        </p:sp>
        <p:sp>
          <p:nvSpPr>
            <p:cNvPr name="Freeform 6" id="6"/>
            <p:cNvSpPr/>
            <p:nvPr/>
          </p:nvSpPr>
          <p:spPr>
            <a:xfrm flipH="false" flipV="false" rot="0">
              <a:off x="393700" y="615950"/>
              <a:ext cx="12941300" cy="9107742"/>
            </a:xfrm>
            <a:custGeom>
              <a:avLst/>
              <a:gdLst/>
              <a:ahLst/>
              <a:cxnLst/>
              <a:rect r="r" b="b" t="t" l="l"/>
              <a:pathLst>
                <a:path h="9107742" w="12941300">
                  <a:moveTo>
                    <a:pt x="12815112" y="9107742"/>
                  </a:moveTo>
                  <a:lnTo>
                    <a:pt x="126187" y="9107742"/>
                  </a:lnTo>
                  <a:cubicBezTo>
                    <a:pt x="56502" y="9107742"/>
                    <a:pt x="0" y="9051252"/>
                    <a:pt x="0" y="8981555"/>
                  </a:cubicBezTo>
                  <a:lnTo>
                    <a:pt x="0" y="0"/>
                  </a:lnTo>
                  <a:lnTo>
                    <a:pt x="12941300" y="0"/>
                  </a:lnTo>
                  <a:lnTo>
                    <a:pt x="12941300" y="8981554"/>
                  </a:lnTo>
                  <a:cubicBezTo>
                    <a:pt x="12941300" y="9051239"/>
                    <a:pt x="12884810" y="9107742"/>
                    <a:pt x="12815112" y="9107742"/>
                  </a:cubicBezTo>
                  <a:close/>
                </a:path>
              </a:pathLst>
            </a:custGeom>
            <a:blipFill>
              <a:blip r:embed="rId3"/>
              <a:stretch>
                <a:fillRect l="-4060" t="0" r="-3385" b="0"/>
              </a:stretch>
            </a:blipFill>
          </p:spPr>
        </p:sp>
      </p:grpSp>
      <p:grpSp>
        <p:nvGrpSpPr>
          <p:cNvPr name="Group 7" id="7"/>
          <p:cNvGrpSpPr/>
          <p:nvPr/>
        </p:nvGrpSpPr>
        <p:grpSpPr>
          <a:xfrm rot="0">
            <a:off x="428321" y="1809455"/>
            <a:ext cx="5810495" cy="5483236"/>
            <a:chOff x="0" y="0"/>
            <a:chExt cx="7747327" cy="7310982"/>
          </a:xfrm>
        </p:grpSpPr>
        <p:sp>
          <p:nvSpPr>
            <p:cNvPr name="Freeform 8" id="8"/>
            <p:cNvSpPr/>
            <p:nvPr/>
          </p:nvSpPr>
          <p:spPr>
            <a:xfrm flipH="false" flipV="false" rot="0">
              <a:off x="0" y="0"/>
              <a:ext cx="7747327" cy="7209382"/>
            </a:xfrm>
            <a:custGeom>
              <a:avLst/>
              <a:gdLst/>
              <a:ahLst/>
              <a:cxnLst/>
              <a:rect r="r" b="b" t="t" l="l"/>
              <a:pathLst>
                <a:path h="7209382" w="7747327">
                  <a:moveTo>
                    <a:pt x="0" y="0"/>
                  </a:moveTo>
                  <a:lnTo>
                    <a:pt x="7747327" y="0"/>
                  </a:lnTo>
                  <a:lnTo>
                    <a:pt x="7747327" y="7209382"/>
                  </a:lnTo>
                  <a:lnTo>
                    <a:pt x="0" y="7209382"/>
                  </a:lnTo>
                  <a:close/>
                </a:path>
              </a:pathLst>
            </a:custGeom>
            <a:solidFill>
              <a:srgbClr val="FDF9B4"/>
            </a:solidFill>
          </p:spPr>
        </p:sp>
        <p:sp>
          <p:nvSpPr>
            <p:cNvPr name="Freeform 9" id="9"/>
            <p:cNvSpPr/>
            <p:nvPr/>
          </p:nvSpPr>
          <p:spPr>
            <a:xfrm flipH="false" flipV="false" rot="0">
              <a:off x="0" y="0"/>
              <a:ext cx="7747327" cy="7310982"/>
            </a:xfrm>
            <a:custGeom>
              <a:avLst/>
              <a:gdLst/>
              <a:ahLst/>
              <a:cxnLst/>
              <a:rect r="r" b="b" t="t" l="l"/>
              <a:pathLst>
                <a:path h="7310982" w="7747327">
                  <a:moveTo>
                    <a:pt x="0" y="7209382"/>
                  </a:moveTo>
                  <a:lnTo>
                    <a:pt x="7747327" y="7209382"/>
                  </a:lnTo>
                  <a:lnTo>
                    <a:pt x="7620327" y="7310982"/>
                  </a:lnTo>
                  <a:cubicBezTo>
                    <a:pt x="7620327" y="7310982"/>
                    <a:pt x="6629727" y="7234782"/>
                    <a:pt x="6528127" y="7234782"/>
                  </a:cubicBezTo>
                  <a:lnTo>
                    <a:pt x="1219200" y="7234782"/>
                  </a:lnTo>
                  <a:cubicBezTo>
                    <a:pt x="1117600" y="7234782"/>
                    <a:pt x="127000" y="7310982"/>
                    <a:pt x="127000" y="7310982"/>
                  </a:cubicBezTo>
                  <a:lnTo>
                    <a:pt x="0" y="7209382"/>
                  </a:lnTo>
                  <a:lnTo>
                    <a:pt x="0" y="0"/>
                  </a:lnTo>
                  <a:lnTo>
                    <a:pt x="7747327" y="0"/>
                  </a:lnTo>
                  <a:lnTo>
                    <a:pt x="7747327" y="7209382"/>
                  </a:lnTo>
                  <a:lnTo>
                    <a:pt x="12700" y="7209382"/>
                  </a:lnTo>
                  <a:lnTo>
                    <a:pt x="12700" y="7196682"/>
                  </a:lnTo>
                  <a:lnTo>
                    <a:pt x="7734627" y="7196682"/>
                  </a:lnTo>
                  <a:lnTo>
                    <a:pt x="7734627" y="12700"/>
                  </a:lnTo>
                  <a:lnTo>
                    <a:pt x="12700" y="12700"/>
                  </a:lnTo>
                  <a:lnTo>
                    <a:pt x="12700" y="7209382"/>
                  </a:lnTo>
                </a:path>
              </a:pathLst>
            </a:custGeom>
            <a:solidFill>
              <a:srgbClr val="394C60">
                <a:alpha val="784"/>
              </a:srgbClr>
            </a:solidFill>
          </p:spPr>
        </p:sp>
        <p:sp>
          <p:nvSpPr>
            <p:cNvPr name="TextBox 10" id="10"/>
            <p:cNvSpPr txBox="true"/>
            <p:nvPr/>
          </p:nvSpPr>
          <p:spPr>
            <a:xfrm>
              <a:off x="0" y="-28575"/>
              <a:ext cx="7747327" cy="6780757"/>
            </a:xfrm>
            <a:prstGeom prst="rect">
              <a:avLst/>
            </a:prstGeom>
          </p:spPr>
          <p:txBody>
            <a:bodyPr anchor="t" rtlCol="false" tIns="203200" lIns="203200" bIns="203200" rIns="203200"/>
            <a:lstStyle/>
            <a:p>
              <a:pPr algn="l">
                <a:lnSpc>
                  <a:spcPts val="2380"/>
                </a:lnSpc>
              </a:pPr>
              <a:r>
                <a:rPr lang="en-US" sz="1700">
                  <a:solidFill>
                    <a:srgbClr val="000000"/>
                  </a:solidFill>
                  <a:latin typeface="Canva Sans"/>
                  <a:ea typeface="Canva Sans"/>
                  <a:cs typeface="Canva Sans"/>
                  <a:sym typeface="Canva Sans"/>
                </a:rPr>
                <a:t>I am presenting as one of the Product Owner alongside with my other P.O: Georgi and our team for our DT3 Market Intelligence team. Our sprint goal is to create a clear, evidence-based prediction workflow for SPX, NDX, and IWM, supported by market data, AI model comparison, and human judgement. For this sprint to be considered done, our prediction must be filed in GitHub with direction, percentage range, and confidence level. Our evidence folder must include the required data screenshots, LLM raw responses, Human Score, README update, and release tag. My focus as Product Owner is to make sure the team does not only complete tasks, but also improves the quality, clarity, and reliability of our prediction process each week.</a:t>
              </a:r>
            </a:p>
          </p:txBody>
        </p:sp>
      </p:grpSp>
      <p:sp>
        <p:nvSpPr>
          <p:cNvPr name="TextBox 11" id="11"/>
          <p:cNvSpPr txBox="true"/>
          <p:nvPr/>
        </p:nvSpPr>
        <p:spPr>
          <a:xfrm rot="0">
            <a:off x="108521" y="66040"/>
            <a:ext cx="348655" cy="353060"/>
          </a:xfrm>
          <a:prstGeom prst="rect">
            <a:avLst/>
          </a:prstGeom>
        </p:spPr>
        <p:txBody>
          <a:bodyPr anchor="t" rtlCol="false" tIns="0" lIns="0" bIns="0" rIns="0">
            <a:spAutoFit/>
          </a:bodyPr>
          <a:lstStyle/>
          <a:p>
            <a:pPr algn="ctr">
              <a:lnSpc>
                <a:spcPts val="2859"/>
              </a:lnSpc>
              <a:spcBef>
                <a:spcPct val="0"/>
              </a:spcBef>
            </a:pPr>
            <a:r>
              <a:rPr lang="en-US" b="true" sz="2199" spc="-65">
                <a:solidFill>
                  <a:srgbClr val="000000"/>
                </a:solidFill>
                <a:latin typeface="Muli Ultra-Bold"/>
                <a:ea typeface="Muli Ultra-Bold"/>
                <a:cs typeface="Muli Ultra-Bold"/>
                <a:sym typeface="Muli Ultra-Bold"/>
              </a:rPr>
              <a:t>R1</a:t>
            </a:r>
          </a:p>
        </p:txBody>
      </p:sp>
      <p:sp>
        <p:nvSpPr>
          <p:cNvPr name="TextBox 12" id="12"/>
          <p:cNvSpPr txBox="true"/>
          <p:nvPr/>
        </p:nvSpPr>
        <p:spPr>
          <a:xfrm rot="0">
            <a:off x="3143176" y="8789670"/>
            <a:ext cx="11477359" cy="937260"/>
          </a:xfrm>
          <a:prstGeom prst="rect">
            <a:avLst/>
          </a:prstGeom>
        </p:spPr>
        <p:txBody>
          <a:bodyPr anchor="t" rtlCol="false" tIns="0" lIns="0" bIns="0" rIns="0">
            <a:spAutoFit/>
          </a:bodyPr>
          <a:lstStyle/>
          <a:p>
            <a:pPr algn="ctr">
              <a:lnSpc>
                <a:spcPts val="1560"/>
              </a:lnSpc>
              <a:spcBef>
                <a:spcPct val="0"/>
              </a:spcBef>
            </a:pPr>
            <a:r>
              <a:rPr lang="en-US" sz="1200" spc="-36">
                <a:solidFill>
                  <a:srgbClr val="000000"/>
                </a:solidFill>
                <a:latin typeface="Muli"/>
                <a:ea typeface="Muli"/>
                <a:cs typeface="Muli"/>
                <a:sym typeface="Muli"/>
              </a:rPr>
              <a:t>What does "Done" look like for us this week? For this sprint to be considered completely done, our final prediction must be filed in GitHub specifying the market direction, percentage range, and our confidence level. Furthermore, our repository's evidence folder must be fully populated with the required data screenshots, raw LLM responses, our independent Human Score, the README update, and the official release tag. </a:t>
            </a:r>
          </a:p>
          <a:p>
            <a:pPr algn="ctr">
              <a:lnSpc>
                <a:spcPts val="1560"/>
              </a:lnSpc>
              <a:spcBef>
                <a:spcPct val="0"/>
              </a:spcBef>
            </a:pPr>
            <a:r>
              <a:rPr lang="en-US" sz="1200" spc="-36">
                <a:solidFill>
                  <a:srgbClr val="000000"/>
                </a:solidFill>
                <a:latin typeface="Muli"/>
                <a:ea typeface="Muli"/>
                <a:cs typeface="Muli"/>
                <a:sym typeface="Muli"/>
              </a:rPr>
              <a:t>My ultimate focus as Product Owner is to ensure the team does not merely complete tasks, but continuously improves the quality, clarity, and reliability of our prediction process as we prepare for our upcoming presentation on June 8th.</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6E7DE"/>
        </a:solidFill>
      </p:bgPr>
    </p:bg>
    <p:spTree>
      <p:nvGrpSpPr>
        <p:cNvPr id="1" name=""/>
        <p:cNvGrpSpPr/>
        <p:nvPr/>
      </p:nvGrpSpPr>
      <p:grpSpPr>
        <a:xfrm>
          <a:off x="0" y="0"/>
          <a:ext cx="0" cy="0"/>
          <a:chOff x="0" y="0"/>
          <a:chExt cx="0" cy="0"/>
        </a:xfrm>
      </p:grpSpPr>
      <p:grpSp>
        <p:nvGrpSpPr>
          <p:cNvPr name="Group 2" id="2"/>
          <p:cNvGrpSpPr/>
          <p:nvPr/>
        </p:nvGrpSpPr>
        <p:grpSpPr>
          <a:xfrm rot="0">
            <a:off x="7401780" y="126242"/>
            <a:ext cx="10259280" cy="9960733"/>
            <a:chOff x="0" y="0"/>
            <a:chExt cx="3470423" cy="3369433"/>
          </a:xfrm>
        </p:grpSpPr>
        <p:sp>
          <p:nvSpPr>
            <p:cNvPr name="Freeform 3" id="3"/>
            <p:cNvSpPr/>
            <p:nvPr/>
          </p:nvSpPr>
          <p:spPr>
            <a:xfrm flipH="false" flipV="false" rot="0">
              <a:off x="0" y="0"/>
              <a:ext cx="3470423" cy="3369433"/>
            </a:xfrm>
            <a:custGeom>
              <a:avLst/>
              <a:gdLst/>
              <a:ahLst/>
              <a:cxnLst/>
              <a:rect r="r" b="b" t="t" l="l"/>
              <a:pathLst>
                <a:path h="3369433" w="3470423">
                  <a:moveTo>
                    <a:pt x="3345963" y="3369433"/>
                  </a:moveTo>
                  <a:lnTo>
                    <a:pt x="124460" y="3369433"/>
                  </a:lnTo>
                  <a:cubicBezTo>
                    <a:pt x="55880" y="3369433"/>
                    <a:pt x="0" y="3313553"/>
                    <a:pt x="0" y="3244973"/>
                  </a:cubicBezTo>
                  <a:lnTo>
                    <a:pt x="0" y="124460"/>
                  </a:lnTo>
                  <a:cubicBezTo>
                    <a:pt x="0" y="55880"/>
                    <a:pt x="55880" y="0"/>
                    <a:pt x="124460" y="0"/>
                  </a:cubicBezTo>
                  <a:lnTo>
                    <a:pt x="3345963" y="0"/>
                  </a:lnTo>
                  <a:cubicBezTo>
                    <a:pt x="3414543" y="0"/>
                    <a:pt x="3470423" y="55880"/>
                    <a:pt x="3470423" y="124460"/>
                  </a:cubicBezTo>
                  <a:lnTo>
                    <a:pt x="3470423" y="3244973"/>
                  </a:lnTo>
                  <a:cubicBezTo>
                    <a:pt x="3470423" y="3313553"/>
                    <a:pt x="3414543" y="3369433"/>
                    <a:pt x="3345963" y="3369433"/>
                  </a:cubicBezTo>
                  <a:close/>
                </a:path>
              </a:pathLst>
            </a:custGeom>
            <a:solidFill>
              <a:srgbClr val="FFFFFF"/>
            </a:solidFill>
          </p:spPr>
        </p:sp>
      </p:grpSp>
      <p:grpSp>
        <p:nvGrpSpPr>
          <p:cNvPr name="Group 4" id="4"/>
          <p:cNvGrpSpPr/>
          <p:nvPr/>
        </p:nvGrpSpPr>
        <p:grpSpPr>
          <a:xfrm rot="0">
            <a:off x="457200" y="419100"/>
            <a:ext cx="6715980" cy="9521477"/>
            <a:chOff x="0" y="0"/>
            <a:chExt cx="2271825" cy="3220845"/>
          </a:xfrm>
        </p:grpSpPr>
        <p:sp>
          <p:nvSpPr>
            <p:cNvPr name="Freeform 5" id="5"/>
            <p:cNvSpPr/>
            <p:nvPr/>
          </p:nvSpPr>
          <p:spPr>
            <a:xfrm flipH="false" flipV="false" rot="0">
              <a:off x="0" y="0"/>
              <a:ext cx="2271825" cy="3220846"/>
            </a:xfrm>
            <a:custGeom>
              <a:avLst/>
              <a:gdLst/>
              <a:ahLst/>
              <a:cxnLst/>
              <a:rect r="r" b="b" t="t" l="l"/>
              <a:pathLst>
                <a:path h="3220846" w="2271825">
                  <a:moveTo>
                    <a:pt x="2147365" y="3220845"/>
                  </a:moveTo>
                  <a:lnTo>
                    <a:pt x="124460" y="3220845"/>
                  </a:lnTo>
                  <a:cubicBezTo>
                    <a:pt x="55880" y="3220845"/>
                    <a:pt x="0" y="3164966"/>
                    <a:pt x="0" y="3096385"/>
                  </a:cubicBezTo>
                  <a:lnTo>
                    <a:pt x="0" y="124460"/>
                  </a:lnTo>
                  <a:cubicBezTo>
                    <a:pt x="0" y="55880"/>
                    <a:pt x="55880" y="0"/>
                    <a:pt x="124460" y="0"/>
                  </a:cubicBezTo>
                  <a:lnTo>
                    <a:pt x="2147365" y="0"/>
                  </a:lnTo>
                  <a:cubicBezTo>
                    <a:pt x="2215945" y="0"/>
                    <a:pt x="2271825" y="55880"/>
                    <a:pt x="2271825" y="124460"/>
                  </a:cubicBezTo>
                  <a:lnTo>
                    <a:pt x="2271825" y="3096386"/>
                  </a:lnTo>
                  <a:cubicBezTo>
                    <a:pt x="2271825" y="3164966"/>
                    <a:pt x="2215945" y="3220846"/>
                    <a:pt x="2147365" y="3220846"/>
                  </a:cubicBezTo>
                  <a:close/>
                </a:path>
              </a:pathLst>
            </a:custGeom>
            <a:solidFill>
              <a:srgbClr val="FFFFFF"/>
            </a:solidFill>
          </p:spPr>
        </p:sp>
      </p:grpSp>
      <p:graphicFrame>
        <p:nvGraphicFramePr>
          <p:cNvPr name="Object 6" id="6"/>
          <p:cNvGraphicFramePr/>
          <p:nvPr/>
        </p:nvGraphicFramePr>
        <p:xfrm>
          <a:off x="8575186" y="1557655"/>
          <a:ext cx="8815388" cy="2743200"/>
        </p:xfrm>
        <a:graphic>
          <a:graphicData uri="http://schemas.openxmlformats.org/presentationml/2006/ole">
            <p:oleObj imgW="10579100" imgH="44958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graphicFrame>
        <p:nvGraphicFramePr>
          <p:cNvPr name="Object 7" id="7"/>
          <p:cNvGraphicFramePr/>
          <p:nvPr/>
        </p:nvGraphicFramePr>
        <p:xfrm>
          <a:off x="8575186" y="5286375"/>
          <a:ext cx="7972425" cy="4800600"/>
        </p:xfrm>
        <a:graphic>
          <a:graphicData uri="http://schemas.openxmlformats.org/presentationml/2006/ole">
            <p:oleObj imgW="9563100" imgH="63881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sp>
        <p:nvSpPr>
          <p:cNvPr name="TextBox 8" id="8"/>
          <p:cNvSpPr txBox="true"/>
          <p:nvPr/>
        </p:nvSpPr>
        <p:spPr>
          <a:xfrm rot="0">
            <a:off x="9428525" y="105495"/>
            <a:ext cx="6031825" cy="1309285"/>
          </a:xfrm>
          <a:prstGeom prst="rect">
            <a:avLst/>
          </a:prstGeom>
        </p:spPr>
        <p:txBody>
          <a:bodyPr anchor="t" rtlCol="false" tIns="0" lIns="0" bIns="0" rIns="0">
            <a:spAutoFit/>
          </a:bodyPr>
          <a:lstStyle/>
          <a:p>
            <a:pPr algn="ctr">
              <a:lnSpc>
                <a:spcPts val="3453"/>
              </a:lnSpc>
            </a:pPr>
            <a:r>
              <a:rPr lang="en-US" sz="2656" b="true">
                <a:solidFill>
                  <a:srgbClr val="191919"/>
                </a:solidFill>
                <a:latin typeface="Muli Bold"/>
                <a:ea typeface="Muli Bold"/>
                <a:cs typeface="Muli Bold"/>
                <a:sym typeface="Muli Bold"/>
              </a:rPr>
              <a:t>Main Stock Indexes</a:t>
            </a:r>
          </a:p>
          <a:p>
            <a:pPr algn="l">
              <a:lnSpc>
                <a:spcPts val="3453"/>
              </a:lnSpc>
            </a:pPr>
            <a:r>
              <a:rPr lang="en-US" sz="2656" b="true">
                <a:solidFill>
                  <a:srgbClr val="191919"/>
                </a:solidFill>
                <a:latin typeface="Muli Bold"/>
                <a:ea typeface="Muli Bold"/>
                <a:cs typeface="Muli Bold"/>
                <a:sym typeface="Muli Bold"/>
              </a:rPr>
              <a:t>All three up — Nasdaq led at +2.86%</a:t>
            </a:r>
          </a:p>
          <a:p>
            <a:pPr algn="l">
              <a:lnSpc>
                <a:spcPts val="3453"/>
              </a:lnSpc>
            </a:pPr>
          </a:p>
        </p:txBody>
      </p:sp>
      <p:sp>
        <p:nvSpPr>
          <p:cNvPr name="TextBox 9" id="9"/>
          <p:cNvSpPr txBox="true"/>
          <p:nvPr/>
        </p:nvSpPr>
        <p:spPr>
          <a:xfrm rot="0">
            <a:off x="685880" y="1009650"/>
            <a:ext cx="5851264" cy="1076960"/>
          </a:xfrm>
          <a:prstGeom prst="rect">
            <a:avLst/>
          </a:prstGeom>
        </p:spPr>
        <p:txBody>
          <a:bodyPr anchor="t" rtlCol="false" tIns="0" lIns="0" bIns="0" rIns="0">
            <a:spAutoFit/>
          </a:bodyPr>
          <a:lstStyle/>
          <a:p>
            <a:pPr algn="l" marL="474979" indent="-237490" lvl="1">
              <a:lnSpc>
                <a:spcPts val="2859"/>
              </a:lnSpc>
              <a:spcBef>
                <a:spcPct val="0"/>
              </a:spcBef>
              <a:buFont typeface="Arial"/>
              <a:buChar char="•"/>
            </a:pPr>
            <a:r>
              <a:rPr lang="en-US" sz="2199" spc="-65">
                <a:solidFill>
                  <a:srgbClr val="191919"/>
                </a:solidFill>
                <a:latin typeface="Muli"/>
                <a:ea typeface="Muli"/>
                <a:cs typeface="Muli"/>
                <a:sym typeface="Muli"/>
              </a:rPr>
              <a:t>S&amp;P 500 h</a:t>
            </a:r>
            <a:r>
              <a:rPr lang="en-US" sz="2199" spc="-65">
                <a:solidFill>
                  <a:srgbClr val="191919"/>
                </a:solidFill>
                <a:latin typeface="Muli"/>
                <a:ea typeface="Muli"/>
                <a:cs typeface="Muli"/>
                <a:sym typeface="Muli"/>
              </a:rPr>
              <a:t>it a new high — 9th consecutive weekly gain.</a:t>
            </a:r>
          </a:p>
          <a:p>
            <a:pPr algn="ctr">
              <a:lnSpc>
                <a:spcPts val="2859"/>
              </a:lnSpc>
              <a:spcBef>
                <a:spcPct val="0"/>
              </a:spcBef>
            </a:pPr>
          </a:p>
        </p:txBody>
      </p:sp>
      <p:sp>
        <p:nvSpPr>
          <p:cNvPr name="TextBox 10" id="10"/>
          <p:cNvSpPr txBox="true"/>
          <p:nvPr/>
        </p:nvSpPr>
        <p:spPr>
          <a:xfrm rot="0">
            <a:off x="8690276" y="4428490"/>
            <a:ext cx="7444685" cy="715010"/>
          </a:xfrm>
          <a:prstGeom prst="rect">
            <a:avLst/>
          </a:prstGeom>
        </p:spPr>
        <p:txBody>
          <a:bodyPr anchor="t" rtlCol="false" tIns="0" lIns="0" bIns="0" rIns="0">
            <a:spAutoFit/>
          </a:bodyPr>
          <a:lstStyle/>
          <a:p>
            <a:pPr algn="ctr">
              <a:lnSpc>
                <a:spcPts val="2859"/>
              </a:lnSpc>
              <a:spcBef>
                <a:spcPct val="0"/>
              </a:spcBef>
            </a:pPr>
            <a:r>
              <a:rPr lang="en-US" b="true" sz="2199" spc="-65">
                <a:solidFill>
                  <a:srgbClr val="191919"/>
                </a:solidFill>
                <a:latin typeface="Muli Ultra-Bold"/>
                <a:ea typeface="Muli Ultra-Bold"/>
                <a:cs typeface="Muli Ultra-Bold"/>
                <a:sym typeface="Muli Ultra-Bold"/>
              </a:rPr>
              <a:t>Other Important Markets</a:t>
            </a:r>
          </a:p>
          <a:p>
            <a:pPr algn="ctr">
              <a:lnSpc>
                <a:spcPts val="2859"/>
              </a:lnSpc>
              <a:spcBef>
                <a:spcPct val="0"/>
              </a:spcBef>
            </a:pPr>
            <a:r>
              <a:rPr lang="en-US" b="true" sz="2199" spc="-65">
                <a:solidFill>
                  <a:srgbClr val="191919"/>
                </a:solidFill>
                <a:latin typeface="Muli Ultra-Bold"/>
                <a:ea typeface="Muli Ultra-Bold"/>
                <a:cs typeface="Muli Ultra-Bold"/>
                <a:sym typeface="Muli Ultra-Bold"/>
              </a:rPr>
              <a:t>Gold, oil, bonds, VIX, Bitcoin</a:t>
            </a:r>
          </a:p>
        </p:txBody>
      </p:sp>
      <p:sp>
        <p:nvSpPr>
          <p:cNvPr name="TextBox 11" id="11"/>
          <p:cNvSpPr txBox="true"/>
          <p:nvPr/>
        </p:nvSpPr>
        <p:spPr>
          <a:xfrm rot="0">
            <a:off x="685880" y="6586942"/>
            <a:ext cx="5851264" cy="715010"/>
          </a:xfrm>
          <a:prstGeom prst="rect">
            <a:avLst/>
          </a:prstGeom>
        </p:spPr>
        <p:txBody>
          <a:bodyPr anchor="t" rtlCol="false" tIns="0" lIns="0" bIns="0" rIns="0">
            <a:spAutoFit/>
          </a:bodyPr>
          <a:lstStyle/>
          <a:p>
            <a:pPr algn="l" marL="474979" indent="-237490" lvl="1">
              <a:lnSpc>
                <a:spcPts val="2859"/>
              </a:lnSpc>
              <a:spcBef>
                <a:spcPct val="0"/>
              </a:spcBef>
              <a:buFont typeface="Arial"/>
              <a:buChar char="•"/>
            </a:pPr>
            <a:r>
              <a:rPr lang="en-US" sz="2199" spc="-65">
                <a:solidFill>
                  <a:srgbClr val="191919"/>
                </a:solidFill>
                <a:latin typeface="Muli"/>
                <a:ea typeface="Muli"/>
                <a:cs typeface="Muli"/>
                <a:sym typeface="Muli"/>
              </a:rPr>
              <a:t>VIX dropped sharply — traders less fearful. Oil fell on ceasefire headlines.</a:t>
            </a:r>
          </a:p>
        </p:txBody>
      </p:sp>
      <p:sp>
        <p:nvSpPr>
          <p:cNvPr name="TextBox 12" id="12"/>
          <p:cNvSpPr txBox="true"/>
          <p:nvPr/>
        </p:nvSpPr>
        <p:spPr>
          <a:xfrm rot="0">
            <a:off x="108496" y="66040"/>
            <a:ext cx="348704" cy="353060"/>
          </a:xfrm>
          <a:prstGeom prst="rect">
            <a:avLst/>
          </a:prstGeom>
        </p:spPr>
        <p:txBody>
          <a:bodyPr anchor="t" rtlCol="false" tIns="0" lIns="0" bIns="0" rIns="0">
            <a:spAutoFit/>
          </a:bodyPr>
          <a:lstStyle/>
          <a:p>
            <a:pPr algn="ctr">
              <a:lnSpc>
                <a:spcPts val="2859"/>
              </a:lnSpc>
              <a:spcBef>
                <a:spcPct val="0"/>
              </a:spcBef>
            </a:pPr>
            <a:r>
              <a:rPr lang="en-US" b="true" sz="2199" spc="-65">
                <a:solidFill>
                  <a:srgbClr val="000000"/>
                </a:solidFill>
                <a:latin typeface="Muli Ultra-Bold"/>
                <a:ea typeface="Muli Ultra-Bold"/>
                <a:cs typeface="Muli Ultra-Bold"/>
                <a:sym typeface="Muli Ultra-Bold"/>
              </a:rPr>
              <a:t>R8</a:t>
            </a:r>
          </a:p>
        </p:txBody>
      </p:sp>
      <p:sp>
        <p:nvSpPr>
          <p:cNvPr name="TextBox 13" id="13"/>
          <p:cNvSpPr txBox="true"/>
          <p:nvPr/>
        </p:nvSpPr>
        <p:spPr>
          <a:xfrm rot="0">
            <a:off x="457200" y="8067675"/>
            <a:ext cx="6428648" cy="2219325"/>
          </a:xfrm>
          <a:prstGeom prst="rect">
            <a:avLst/>
          </a:prstGeom>
        </p:spPr>
        <p:txBody>
          <a:bodyPr anchor="t" rtlCol="false" tIns="0" lIns="0" bIns="0" rIns="0">
            <a:spAutoFit/>
          </a:bodyPr>
          <a:lstStyle/>
          <a:p>
            <a:pPr algn="ctr">
              <a:lnSpc>
                <a:spcPts val="1950"/>
              </a:lnSpc>
              <a:spcBef>
                <a:spcPct val="0"/>
              </a:spcBef>
            </a:pPr>
            <a:r>
              <a:rPr lang="en-US" sz="1500" spc="-45">
                <a:solidFill>
                  <a:srgbClr val="000000"/>
                </a:solidFill>
                <a:latin typeface="Muli"/>
                <a:ea typeface="Muli"/>
                <a:cs typeface="Muli"/>
                <a:sym typeface="Muli"/>
              </a:rPr>
              <a:t>I will walk you through the definitive market actuals for Week 22 to establish our quantitative baseline. Crucially, to ensure data integrity, our official source: Finviz 1W screenshot, has been committed to our GitHub repository. Looking at the main indexes, the S&amp;P 500 achieved its 9th consecutive weekly gain, closing up 1.4%. However, the Nasdaq 100 led the charge, surging 2.86%, while the Russell 2000 confirmed a broader breakout by gaining 1.82%. In the macro landscape, market fear rapidly evaporated—the VIX dropped nearly 10%, and WTI crude oil collapsed by 9.57% on ceasefire headlines, which helped drag the 10-year yield down.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6E7DE"/>
        </a:solidFill>
      </p:bgPr>
    </p:bg>
    <p:spTree>
      <p:nvGrpSpPr>
        <p:cNvPr id="1" name=""/>
        <p:cNvGrpSpPr/>
        <p:nvPr/>
      </p:nvGrpSpPr>
      <p:grpSpPr>
        <a:xfrm>
          <a:off x="0" y="0"/>
          <a:ext cx="0" cy="0"/>
          <a:chOff x="0" y="0"/>
          <a:chExt cx="0" cy="0"/>
        </a:xfrm>
      </p:grpSpPr>
      <p:grpSp>
        <p:nvGrpSpPr>
          <p:cNvPr name="Group 2" id="2"/>
          <p:cNvGrpSpPr/>
          <p:nvPr/>
        </p:nvGrpSpPr>
        <p:grpSpPr>
          <a:xfrm rot="0">
            <a:off x="7571520" y="206557"/>
            <a:ext cx="10259280" cy="9960733"/>
            <a:chOff x="0" y="0"/>
            <a:chExt cx="3470423" cy="3369433"/>
          </a:xfrm>
        </p:grpSpPr>
        <p:sp>
          <p:nvSpPr>
            <p:cNvPr name="Freeform 3" id="3"/>
            <p:cNvSpPr/>
            <p:nvPr/>
          </p:nvSpPr>
          <p:spPr>
            <a:xfrm flipH="false" flipV="false" rot="0">
              <a:off x="0" y="0"/>
              <a:ext cx="3470423" cy="3369433"/>
            </a:xfrm>
            <a:custGeom>
              <a:avLst/>
              <a:gdLst/>
              <a:ahLst/>
              <a:cxnLst/>
              <a:rect r="r" b="b" t="t" l="l"/>
              <a:pathLst>
                <a:path h="3369433" w="3470423">
                  <a:moveTo>
                    <a:pt x="3345963" y="3369433"/>
                  </a:moveTo>
                  <a:lnTo>
                    <a:pt x="124460" y="3369433"/>
                  </a:lnTo>
                  <a:cubicBezTo>
                    <a:pt x="55880" y="3369433"/>
                    <a:pt x="0" y="3313553"/>
                    <a:pt x="0" y="3244973"/>
                  </a:cubicBezTo>
                  <a:lnTo>
                    <a:pt x="0" y="124460"/>
                  </a:lnTo>
                  <a:cubicBezTo>
                    <a:pt x="0" y="55880"/>
                    <a:pt x="55880" y="0"/>
                    <a:pt x="124460" y="0"/>
                  </a:cubicBezTo>
                  <a:lnTo>
                    <a:pt x="3345963" y="0"/>
                  </a:lnTo>
                  <a:cubicBezTo>
                    <a:pt x="3414543" y="0"/>
                    <a:pt x="3470423" y="55880"/>
                    <a:pt x="3470423" y="124460"/>
                  </a:cubicBezTo>
                  <a:lnTo>
                    <a:pt x="3470423" y="3244973"/>
                  </a:lnTo>
                  <a:cubicBezTo>
                    <a:pt x="3470423" y="3313553"/>
                    <a:pt x="3414543" y="3369433"/>
                    <a:pt x="3345963" y="3369433"/>
                  </a:cubicBezTo>
                  <a:close/>
                </a:path>
              </a:pathLst>
            </a:custGeom>
            <a:solidFill>
              <a:srgbClr val="FFFFFF"/>
            </a:solidFill>
          </p:spPr>
        </p:sp>
      </p:grpSp>
      <p:grpSp>
        <p:nvGrpSpPr>
          <p:cNvPr name="Group 4" id="4"/>
          <p:cNvGrpSpPr/>
          <p:nvPr/>
        </p:nvGrpSpPr>
        <p:grpSpPr>
          <a:xfrm rot="0">
            <a:off x="457200" y="419100"/>
            <a:ext cx="6715980" cy="9521477"/>
            <a:chOff x="0" y="0"/>
            <a:chExt cx="2271825" cy="3220845"/>
          </a:xfrm>
        </p:grpSpPr>
        <p:sp>
          <p:nvSpPr>
            <p:cNvPr name="Freeform 5" id="5"/>
            <p:cNvSpPr/>
            <p:nvPr/>
          </p:nvSpPr>
          <p:spPr>
            <a:xfrm flipH="false" flipV="false" rot="0">
              <a:off x="0" y="0"/>
              <a:ext cx="2271825" cy="3220846"/>
            </a:xfrm>
            <a:custGeom>
              <a:avLst/>
              <a:gdLst/>
              <a:ahLst/>
              <a:cxnLst/>
              <a:rect r="r" b="b" t="t" l="l"/>
              <a:pathLst>
                <a:path h="3220846" w="2271825">
                  <a:moveTo>
                    <a:pt x="2147365" y="3220845"/>
                  </a:moveTo>
                  <a:lnTo>
                    <a:pt x="124460" y="3220845"/>
                  </a:lnTo>
                  <a:cubicBezTo>
                    <a:pt x="55880" y="3220845"/>
                    <a:pt x="0" y="3164966"/>
                    <a:pt x="0" y="3096385"/>
                  </a:cubicBezTo>
                  <a:lnTo>
                    <a:pt x="0" y="124460"/>
                  </a:lnTo>
                  <a:cubicBezTo>
                    <a:pt x="0" y="55880"/>
                    <a:pt x="55880" y="0"/>
                    <a:pt x="124460" y="0"/>
                  </a:cubicBezTo>
                  <a:lnTo>
                    <a:pt x="2147365" y="0"/>
                  </a:lnTo>
                  <a:cubicBezTo>
                    <a:pt x="2215945" y="0"/>
                    <a:pt x="2271825" y="55880"/>
                    <a:pt x="2271825" y="124460"/>
                  </a:cubicBezTo>
                  <a:lnTo>
                    <a:pt x="2271825" y="3096386"/>
                  </a:lnTo>
                  <a:cubicBezTo>
                    <a:pt x="2271825" y="3164966"/>
                    <a:pt x="2215945" y="3220846"/>
                    <a:pt x="2147365" y="3220846"/>
                  </a:cubicBezTo>
                  <a:close/>
                </a:path>
              </a:pathLst>
            </a:custGeom>
            <a:solidFill>
              <a:srgbClr val="FFFFFF"/>
            </a:solidFill>
          </p:spPr>
        </p:sp>
      </p:grpSp>
      <p:graphicFrame>
        <p:nvGraphicFramePr>
          <p:cNvPr name="Object 6" id="6"/>
          <p:cNvGraphicFramePr/>
          <p:nvPr/>
        </p:nvGraphicFramePr>
        <p:xfrm>
          <a:off x="8246746" y="1881703"/>
          <a:ext cx="7972425" cy="7543800"/>
        </p:xfrm>
        <a:graphic>
          <a:graphicData uri="http://schemas.openxmlformats.org/presentationml/2006/ole">
            <p:oleObj imgW="9563100" imgH="91313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7" id="7"/>
          <p:cNvSpPr txBox="true"/>
          <p:nvPr/>
        </p:nvSpPr>
        <p:spPr>
          <a:xfrm rot="0">
            <a:off x="10040188" y="400050"/>
            <a:ext cx="5321945" cy="715010"/>
          </a:xfrm>
          <a:prstGeom prst="rect">
            <a:avLst/>
          </a:prstGeom>
        </p:spPr>
        <p:txBody>
          <a:bodyPr anchor="t" rtlCol="false" tIns="0" lIns="0" bIns="0" rIns="0">
            <a:spAutoFit/>
          </a:bodyPr>
          <a:lstStyle/>
          <a:p>
            <a:pPr algn="ctr">
              <a:lnSpc>
                <a:spcPts val="2859"/>
              </a:lnSpc>
              <a:spcBef>
                <a:spcPct val="0"/>
              </a:spcBef>
            </a:pPr>
            <a:r>
              <a:rPr lang="en-US" b="true" sz="2199" spc="-65">
                <a:solidFill>
                  <a:srgbClr val="000000"/>
                </a:solidFill>
                <a:latin typeface="Muli Ultra-Bold"/>
                <a:ea typeface="Muli Ultra-Bold"/>
                <a:cs typeface="Muli Ultra-Bold"/>
                <a:sym typeface="Muli Ultra-Bold"/>
              </a:rPr>
              <a:t>S&amp;P 500 Sectors — Ranked</a:t>
            </a:r>
          </a:p>
          <a:p>
            <a:pPr algn="ctr">
              <a:lnSpc>
                <a:spcPts val="2859"/>
              </a:lnSpc>
              <a:spcBef>
                <a:spcPct val="0"/>
              </a:spcBef>
            </a:pPr>
            <a:r>
              <a:rPr lang="en-US" b="true" sz="2199" spc="-65">
                <a:solidFill>
                  <a:srgbClr val="000000"/>
                </a:solidFill>
                <a:latin typeface="Muli Ultra-Bold"/>
                <a:ea typeface="Muli Ultra-Bold"/>
                <a:cs typeface="Muli Ultra-Bold"/>
                <a:sym typeface="Muli Ultra-Bold"/>
              </a:rPr>
              <a:t>Tech +5.89% led · 7 of 11 sectors were red</a:t>
            </a:r>
          </a:p>
        </p:txBody>
      </p:sp>
      <p:sp>
        <p:nvSpPr>
          <p:cNvPr name="TextBox 8" id="8"/>
          <p:cNvSpPr txBox="true"/>
          <p:nvPr/>
        </p:nvSpPr>
        <p:spPr>
          <a:xfrm rot="0">
            <a:off x="457200" y="581025"/>
            <a:ext cx="6715980" cy="353060"/>
          </a:xfrm>
          <a:prstGeom prst="rect">
            <a:avLst/>
          </a:prstGeom>
        </p:spPr>
        <p:txBody>
          <a:bodyPr anchor="t" rtlCol="false" tIns="0" lIns="0" bIns="0" rIns="0">
            <a:spAutoFit/>
          </a:bodyPr>
          <a:lstStyle/>
          <a:p>
            <a:pPr algn="ctr">
              <a:lnSpc>
                <a:spcPts val="2859"/>
              </a:lnSpc>
              <a:spcBef>
                <a:spcPct val="0"/>
              </a:spcBef>
            </a:pPr>
            <a:r>
              <a:rPr lang="en-US" b="true" sz="2199" spc="-65">
                <a:solidFill>
                  <a:srgbClr val="000000"/>
                </a:solidFill>
                <a:latin typeface="Muli Ultra-Bold"/>
                <a:ea typeface="Muli Ultra-Bold"/>
                <a:cs typeface="Muli Ultra-Bold"/>
                <a:sym typeface="Muli Ultra-Bold"/>
              </a:rPr>
              <a:t>Sector Highlights</a:t>
            </a:r>
          </a:p>
        </p:txBody>
      </p:sp>
      <p:sp>
        <p:nvSpPr>
          <p:cNvPr name="TextBox 9" id="9"/>
          <p:cNvSpPr txBox="true"/>
          <p:nvPr/>
        </p:nvSpPr>
        <p:spPr>
          <a:xfrm rot="0">
            <a:off x="694430" y="1608952"/>
            <a:ext cx="6241520" cy="1438910"/>
          </a:xfrm>
          <a:prstGeom prst="rect">
            <a:avLst/>
          </a:prstGeom>
        </p:spPr>
        <p:txBody>
          <a:bodyPr anchor="t" rtlCol="false" tIns="0" lIns="0" bIns="0" rIns="0">
            <a:spAutoFit/>
          </a:bodyPr>
          <a:lstStyle/>
          <a:p>
            <a:pPr algn="just">
              <a:lnSpc>
                <a:spcPts val="2859"/>
              </a:lnSpc>
              <a:spcBef>
                <a:spcPct val="0"/>
              </a:spcBef>
            </a:pPr>
            <a:r>
              <a:rPr lang="en-US" b="true" sz="2199" spc="-65">
                <a:solidFill>
                  <a:srgbClr val="1B7D3A"/>
                </a:solidFill>
                <a:latin typeface="Muli Bold"/>
                <a:ea typeface="Muli Bold"/>
                <a:cs typeface="Muli Bold"/>
                <a:sym typeface="Muli Bold"/>
              </a:rPr>
              <a:t>Best 3 - </a:t>
            </a:r>
          </a:p>
          <a:p>
            <a:pPr algn="just">
              <a:lnSpc>
                <a:spcPts val="2859"/>
              </a:lnSpc>
              <a:spcBef>
                <a:spcPct val="0"/>
              </a:spcBef>
            </a:pPr>
            <a:r>
              <a:rPr lang="en-US" sz="2199" spc="-65">
                <a:solidFill>
                  <a:srgbClr val="000000"/>
                </a:solidFill>
                <a:latin typeface="Muli"/>
                <a:ea typeface="Muli"/>
                <a:cs typeface="Muli"/>
                <a:sym typeface="Muli"/>
              </a:rPr>
              <a:t>• Technology — Up 5.89% (AI &amp; tech earnings)</a:t>
            </a:r>
          </a:p>
          <a:p>
            <a:pPr algn="just">
              <a:lnSpc>
                <a:spcPts val="2859"/>
              </a:lnSpc>
              <a:spcBef>
                <a:spcPct val="0"/>
              </a:spcBef>
            </a:pPr>
            <a:r>
              <a:rPr lang="en-US" sz="2199" spc="-65">
                <a:solidFill>
                  <a:srgbClr val="000000"/>
                </a:solidFill>
                <a:latin typeface="Muli"/>
                <a:ea typeface="Muli"/>
                <a:cs typeface="Muli"/>
                <a:sym typeface="Muli"/>
              </a:rPr>
              <a:t>• Materials — Up 1.71%</a:t>
            </a:r>
          </a:p>
          <a:p>
            <a:pPr algn="just">
              <a:lnSpc>
                <a:spcPts val="2859"/>
              </a:lnSpc>
              <a:spcBef>
                <a:spcPct val="0"/>
              </a:spcBef>
            </a:pPr>
            <a:r>
              <a:rPr lang="en-US" sz="2199" spc="-65">
                <a:solidFill>
                  <a:srgbClr val="000000"/>
                </a:solidFill>
                <a:latin typeface="Muli"/>
                <a:ea typeface="Muli"/>
                <a:cs typeface="Muli"/>
                <a:sym typeface="Muli"/>
              </a:rPr>
              <a:t>• Consumer discretionary — Up 1.42%</a:t>
            </a:r>
          </a:p>
        </p:txBody>
      </p:sp>
      <p:sp>
        <p:nvSpPr>
          <p:cNvPr name="TextBox 10" id="10"/>
          <p:cNvSpPr txBox="true"/>
          <p:nvPr/>
        </p:nvSpPr>
        <p:spPr>
          <a:xfrm rot="0">
            <a:off x="694430" y="3748013"/>
            <a:ext cx="6241520" cy="1800860"/>
          </a:xfrm>
          <a:prstGeom prst="rect">
            <a:avLst/>
          </a:prstGeom>
        </p:spPr>
        <p:txBody>
          <a:bodyPr anchor="t" rtlCol="false" tIns="0" lIns="0" bIns="0" rIns="0">
            <a:spAutoFit/>
          </a:bodyPr>
          <a:lstStyle/>
          <a:p>
            <a:pPr algn="just">
              <a:lnSpc>
                <a:spcPts val="2859"/>
              </a:lnSpc>
              <a:spcBef>
                <a:spcPct val="0"/>
              </a:spcBef>
            </a:pPr>
            <a:r>
              <a:rPr lang="en-US" b="true" sz="2199" spc="-65">
                <a:solidFill>
                  <a:srgbClr val="C0392B"/>
                </a:solidFill>
                <a:latin typeface="Muli Bold"/>
                <a:ea typeface="Muli Bold"/>
                <a:cs typeface="Muli Bold"/>
                <a:sym typeface="Muli Bold"/>
              </a:rPr>
              <a:t>Wor</a:t>
            </a:r>
            <a:r>
              <a:rPr lang="en-US" b="true" sz="2199" spc="-65">
                <a:solidFill>
                  <a:srgbClr val="C0392B"/>
                </a:solidFill>
                <a:latin typeface="Muli Bold"/>
                <a:ea typeface="Muli Bold"/>
                <a:cs typeface="Muli Bold"/>
                <a:sym typeface="Muli Bold"/>
              </a:rPr>
              <a:t>st 3</a:t>
            </a:r>
          </a:p>
          <a:p>
            <a:pPr algn="just">
              <a:lnSpc>
                <a:spcPts val="2859"/>
              </a:lnSpc>
              <a:spcBef>
                <a:spcPct val="0"/>
              </a:spcBef>
            </a:pPr>
            <a:r>
              <a:rPr lang="en-US" sz="2199" spc="-65">
                <a:solidFill>
                  <a:srgbClr val="000000"/>
                </a:solidFill>
                <a:latin typeface="Muli"/>
                <a:ea typeface="Muli"/>
                <a:cs typeface="Muli"/>
                <a:sym typeface="Muli"/>
              </a:rPr>
              <a:t>• Energy — Down 5.38% (oil collapse)</a:t>
            </a:r>
          </a:p>
          <a:p>
            <a:pPr algn="just">
              <a:lnSpc>
                <a:spcPts val="2859"/>
              </a:lnSpc>
              <a:spcBef>
                <a:spcPct val="0"/>
              </a:spcBef>
            </a:pPr>
            <a:r>
              <a:rPr lang="en-US" sz="2199" spc="-65">
                <a:solidFill>
                  <a:srgbClr val="000000"/>
                </a:solidFill>
                <a:latin typeface="Muli"/>
                <a:ea typeface="Muli"/>
                <a:cs typeface="Muli"/>
                <a:sym typeface="Muli"/>
              </a:rPr>
              <a:t>• Consumer staples — Down 2.23%</a:t>
            </a:r>
          </a:p>
          <a:p>
            <a:pPr algn="just">
              <a:lnSpc>
                <a:spcPts val="2859"/>
              </a:lnSpc>
              <a:spcBef>
                <a:spcPct val="0"/>
              </a:spcBef>
            </a:pPr>
            <a:r>
              <a:rPr lang="en-US" sz="2199" spc="-65">
                <a:solidFill>
                  <a:srgbClr val="000000"/>
                </a:solidFill>
                <a:latin typeface="Muli"/>
                <a:ea typeface="Muli"/>
                <a:cs typeface="Muli"/>
                <a:sym typeface="Muli"/>
              </a:rPr>
              <a:t>• Utilities — Down 2.05%</a:t>
            </a:r>
          </a:p>
          <a:p>
            <a:pPr algn="just">
              <a:lnSpc>
                <a:spcPts val="2859"/>
              </a:lnSpc>
              <a:spcBef>
                <a:spcPct val="0"/>
              </a:spcBef>
            </a:pPr>
          </a:p>
        </p:txBody>
      </p:sp>
      <p:sp>
        <p:nvSpPr>
          <p:cNvPr name="TextBox 11" id="11"/>
          <p:cNvSpPr txBox="true"/>
          <p:nvPr/>
        </p:nvSpPr>
        <p:spPr>
          <a:xfrm rot="0">
            <a:off x="108496" y="66040"/>
            <a:ext cx="348704" cy="353060"/>
          </a:xfrm>
          <a:prstGeom prst="rect">
            <a:avLst/>
          </a:prstGeom>
        </p:spPr>
        <p:txBody>
          <a:bodyPr anchor="t" rtlCol="false" tIns="0" lIns="0" bIns="0" rIns="0">
            <a:spAutoFit/>
          </a:bodyPr>
          <a:lstStyle/>
          <a:p>
            <a:pPr algn="ctr">
              <a:lnSpc>
                <a:spcPts val="2859"/>
              </a:lnSpc>
              <a:spcBef>
                <a:spcPct val="0"/>
              </a:spcBef>
            </a:pPr>
            <a:r>
              <a:rPr lang="en-US" b="true" sz="2199" spc="-65">
                <a:solidFill>
                  <a:srgbClr val="000000"/>
                </a:solidFill>
                <a:latin typeface="Muli Ultra-Bold"/>
                <a:ea typeface="Muli Ultra-Bold"/>
                <a:cs typeface="Muli Ultra-Bold"/>
                <a:sym typeface="Muli Ultra-Bold"/>
              </a:rPr>
              <a:t>R8</a:t>
            </a:r>
          </a:p>
        </p:txBody>
      </p:sp>
      <p:sp>
        <p:nvSpPr>
          <p:cNvPr name="TextBox 12" id="12"/>
          <p:cNvSpPr txBox="true"/>
          <p:nvPr/>
        </p:nvSpPr>
        <p:spPr>
          <a:xfrm rot="0">
            <a:off x="317154" y="8245780"/>
            <a:ext cx="6618796" cy="1921510"/>
          </a:xfrm>
          <a:prstGeom prst="rect">
            <a:avLst/>
          </a:prstGeom>
        </p:spPr>
        <p:txBody>
          <a:bodyPr anchor="t" rtlCol="false" tIns="0" lIns="0" bIns="0" rIns="0">
            <a:spAutoFit/>
          </a:bodyPr>
          <a:lstStyle/>
          <a:p>
            <a:pPr algn="ctr">
              <a:lnSpc>
                <a:spcPts val="2210"/>
              </a:lnSpc>
              <a:spcBef>
                <a:spcPct val="0"/>
              </a:spcBef>
            </a:pPr>
            <a:r>
              <a:rPr lang="en-US" sz="1700" spc="-51">
                <a:solidFill>
                  <a:srgbClr val="000000"/>
                </a:solidFill>
                <a:latin typeface="Muli"/>
                <a:ea typeface="Muli"/>
                <a:cs typeface="Muli"/>
                <a:sym typeface="Muli"/>
              </a:rPr>
              <a:t>Moving to the S&amp;P 500 sectors, we observed a massive divergence beneath the surface. Despite the S&amp;P hitting new highs, 7 out of 11 sectors actually closed in the red. The market rally was overwhelmingly carried by the Technology sector, which skyrocketed 5.89% driven by AI earnings momentum. Conversely, Energy was the absolute worst performer, plunging 5.38% in direct correlation with the collapse in crude oil.</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6E7DE"/>
        </a:solidFill>
      </p:bgPr>
    </p:bg>
    <p:spTree>
      <p:nvGrpSpPr>
        <p:cNvPr id="1" name=""/>
        <p:cNvGrpSpPr/>
        <p:nvPr/>
      </p:nvGrpSpPr>
      <p:grpSpPr>
        <a:xfrm>
          <a:off x="0" y="0"/>
          <a:ext cx="0" cy="0"/>
          <a:chOff x="0" y="0"/>
          <a:chExt cx="0" cy="0"/>
        </a:xfrm>
      </p:grpSpPr>
      <p:grpSp>
        <p:nvGrpSpPr>
          <p:cNvPr name="Group 2" id="2"/>
          <p:cNvGrpSpPr/>
          <p:nvPr/>
        </p:nvGrpSpPr>
        <p:grpSpPr>
          <a:xfrm rot="0">
            <a:off x="457200" y="419100"/>
            <a:ext cx="17569844" cy="9521477"/>
            <a:chOff x="0" y="0"/>
            <a:chExt cx="5943379" cy="3220845"/>
          </a:xfrm>
        </p:grpSpPr>
        <p:sp>
          <p:nvSpPr>
            <p:cNvPr name="Freeform 3" id="3"/>
            <p:cNvSpPr/>
            <p:nvPr/>
          </p:nvSpPr>
          <p:spPr>
            <a:xfrm flipH="false" flipV="false" rot="0">
              <a:off x="0" y="0"/>
              <a:ext cx="5943379" cy="3220846"/>
            </a:xfrm>
            <a:custGeom>
              <a:avLst/>
              <a:gdLst/>
              <a:ahLst/>
              <a:cxnLst/>
              <a:rect r="r" b="b" t="t" l="l"/>
              <a:pathLst>
                <a:path h="3220846" w="5943379">
                  <a:moveTo>
                    <a:pt x="5818919" y="3220845"/>
                  </a:moveTo>
                  <a:lnTo>
                    <a:pt x="124460" y="3220845"/>
                  </a:lnTo>
                  <a:cubicBezTo>
                    <a:pt x="55880" y="3220845"/>
                    <a:pt x="0" y="3164966"/>
                    <a:pt x="0" y="3096385"/>
                  </a:cubicBezTo>
                  <a:lnTo>
                    <a:pt x="0" y="124460"/>
                  </a:lnTo>
                  <a:cubicBezTo>
                    <a:pt x="0" y="55880"/>
                    <a:pt x="55880" y="0"/>
                    <a:pt x="124460" y="0"/>
                  </a:cubicBezTo>
                  <a:lnTo>
                    <a:pt x="5818920" y="0"/>
                  </a:lnTo>
                  <a:cubicBezTo>
                    <a:pt x="5887500" y="0"/>
                    <a:pt x="5943379" y="55880"/>
                    <a:pt x="5943379" y="124460"/>
                  </a:cubicBezTo>
                  <a:lnTo>
                    <a:pt x="5943379" y="3096386"/>
                  </a:lnTo>
                  <a:cubicBezTo>
                    <a:pt x="5943379" y="3164966"/>
                    <a:pt x="5887500" y="3220846"/>
                    <a:pt x="5818920" y="3220846"/>
                  </a:cubicBezTo>
                  <a:close/>
                </a:path>
              </a:pathLst>
            </a:custGeom>
            <a:solidFill>
              <a:srgbClr val="FFFFFF"/>
            </a:solidFill>
          </p:spPr>
        </p:sp>
      </p:grpSp>
      <p:graphicFrame>
        <p:nvGraphicFramePr>
          <p:cNvPr name="Object 4" id="4"/>
          <p:cNvGraphicFramePr/>
          <p:nvPr/>
        </p:nvGraphicFramePr>
        <p:xfrm>
          <a:off x="1028700" y="1381784"/>
          <a:ext cx="10101262" cy="3017520"/>
        </p:xfrm>
        <a:graphic>
          <a:graphicData uri="http://schemas.openxmlformats.org/presentationml/2006/ole">
            <p:oleObj imgW="12115800" imgH="50292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graphicFrame>
        <p:nvGraphicFramePr>
          <p:cNvPr name="Object 5" id="5"/>
          <p:cNvGraphicFramePr/>
          <p:nvPr/>
        </p:nvGraphicFramePr>
        <p:xfrm>
          <a:off x="1028700" y="4399304"/>
          <a:ext cx="8843962" cy="5212652"/>
        </p:xfrm>
        <a:graphic>
          <a:graphicData uri="http://schemas.openxmlformats.org/presentationml/2006/ole">
            <p:oleObj imgW="10604500" imgH="69723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sp>
        <p:nvSpPr>
          <p:cNvPr name="TextBox 6" id="6"/>
          <p:cNvSpPr txBox="true"/>
          <p:nvPr/>
        </p:nvSpPr>
        <p:spPr>
          <a:xfrm rot="0">
            <a:off x="4963112" y="675640"/>
            <a:ext cx="7424457" cy="353060"/>
          </a:xfrm>
          <a:prstGeom prst="rect">
            <a:avLst/>
          </a:prstGeom>
        </p:spPr>
        <p:txBody>
          <a:bodyPr anchor="t" rtlCol="false" tIns="0" lIns="0" bIns="0" rIns="0">
            <a:spAutoFit/>
          </a:bodyPr>
          <a:lstStyle/>
          <a:p>
            <a:pPr algn="ctr">
              <a:lnSpc>
                <a:spcPts val="2859"/>
              </a:lnSpc>
              <a:spcBef>
                <a:spcPct val="0"/>
              </a:spcBef>
            </a:pPr>
            <a:r>
              <a:rPr lang="en-US" b="true" sz="2199" spc="-65">
                <a:solidFill>
                  <a:srgbClr val="000000"/>
                </a:solidFill>
                <a:latin typeface="Muli Ultra-Bold"/>
                <a:ea typeface="Muli Ultra-Bold"/>
                <a:cs typeface="Muli Ultra-Bold"/>
                <a:sym typeface="Muli Ultra-Bold"/>
              </a:rPr>
              <a:t>Next Week: Our Predictions</a:t>
            </a:r>
          </a:p>
        </p:txBody>
      </p:sp>
      <p:sp>
        <p:nvSpPr>
          <p:cNvPr name="TextBox 7" id="7"/>
          <p:cNvSpPr txBox="true"/>
          <p:nvPr/>
        </p:nvSpPr>
        <p:spPr>
          <a:xfrm rot="0">
            <a:off x="108496" y="66040"/>
            <a:ext cx="348704" cy="353060"/>
          </a:xfrm>
          <a:prstGeom prst="rect">
            <a:avLst/>
          </a:prstGeom>
        </p:spPr>
        <p:txBody>
          <a:bodyPr anchor="t" rtlCol="false" tIns="0" lIns="0" bIns="0" rIns="0">
            <a:spAutoFit/>
          </a:bodyPr>
          <a:lstStyle/>
          <a:p>
            <a:pPr algn="ctr">
              <a:lnSpc>
                <a:spcPts val="2859"/>
              </a:lnSpc>
              <a:spcBef>
                <a:spcPct val="0"/>
              </a:spcBef>
            </a:pPr>
            <a:r>
              <a:rPr lang="en-US" b="true" sz="2199" spc="-65">
                <a:solidFill>
                  <a:srgbClr val="000000"/>
                </a:solidFill>
                <a:latin typeface="Muli Ultra-Bold"/>
                <a:ea typeface="Muli Ultra-Bold"/>
                <a:cs typeface="Muli Ultra-Bold"/>
                <a:sym typeface="Muli Ultra-Bold"/>
              </a:rPr>
              <a:t>R8</a:t>
            </a:r>
          </a:p>
        </p:txBody>
      </p:sp>
      <p:sp>
        <p:nvSpPr>
          <p:cNvPr name="TextBox 8" id="8"/>
          <p:cNvSpPr txBox="true"/>
          <p:nvPr/>
        </p:nvSpPr>
        <p:spPr>
          <a:xfrm rot="0">
            <a:off x="9872662" y="8884920"/>
            <a:ext cx="8154382" cy="746760"/>
          </a:xfrm>
          <a:prstGeom prst="rect">
            <a:avLst/>
          </a:prstGeom>
        </p:spPr>
        <p:txBody>
          <a:bodyPr anchor="t" rtlCol="false" tIns="0" lIns="0" bIns="0" rIns="0">
            <a:spAutoFit/>
          </a:bodyPr>
          <a:lstStyle/>
          <a:p>
            <a:pPr algn="ctr">
              <a:lnSpc>
                <a:spcPts val="1560"/>
              </a:lnSpc>
              <a:spcBef>
                <a:spcPct val="0"/>
              </a:spcBef>
            </a:pPr>
            <a:r>
              <a:rPr lang="en-US" sz="1200" spc="-36">
                <a:solidFill>
                  <a:srgbClr val="000000"/>
                </a:solidFill>
                <a:latin typeface="Muli"/>
                <a:ea typeface="Muli"/>
                <a:cs typeface="Muli"/>
                <a:sym typeface="Muli"/>
              </a:rPr>
              <a:t>Projecting these actuals into our preliminary, purely data-driven outlook for next week, the technical strength points to a high-confidence 'Up' prediction for the major equity indexes, supported by price action holding firmly above key EMAs. We also project continued downward pressure on Oil and the 10-Year Yield due to current momentum. I will now hand this data baseline over to our Almanac Lead to contextualize these trends with historical seasonality.</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F6E7DE"/>
        </a:solidFill>
      </p:bgPr>
    </p:bg>
    <p:spTree>
      <p:nvGrpSpPr>
        <p:cNvPr id="1" name=""/>
        <p:cNvGrpSpPr/>
        <p:nvPr/>
      </p:nvGrpSpPr>
      <p:grpSpPr>
        <a:xfrm>
          <a:off x="0" y="0"/>
          <a:ext cx="0" cy="0"/>
          <a:chOff x="0" y="0"/>
          <a:chExt cx="0" cy="0"/>
        </a:xfrm>
      </p:grpSpPr>
      <p:sp>
        <p:nvSpPr>
          <p:cNvPr name="TextBox 2" id="2"/>
          <p:cNvSpPr txBox="true"/>
          <p:nvPr/>
        </p:nvSpPr>
        <p:spPr>
          <a:xfrm rot="0">
            <a:off x="0" y="725170"/>
            <a:ext cx="5802885" cy="584200"/>
          </a:xfrm>
          <a:prstGeom prst="rect">
            <a:avLst/>
          </a:prstGeom>
        </p:spPr>
        <p:txBody>
          <a:bodyPr anchor="t" rtlCol="false" tIns="0" lIns="0" bIns="0" rIns="0">
            <a:spAutoFit/>
          </a:bodyPr>
          <a:lstStyle/>
          <a:p>
            <a:pPr algn="l">
              <a:lnSpc>
                <a:spcPts val="1999"/>
              </a:lnSpc>
            </a:pPr>
            <a:r>
              <a:rPr lang="en-US" sz="3999" spc="151" b="true">
                <a:solidFill>
                  <a:srgbClr val="000000"/>
                </a:solidFill>
                <a:latin typeface="Muli Bold"/>
                <a:ea typeface="Muli Bold"/>
                <a:cs typeface="Muli Bold"/>
                <a:sym typeface="Muli Bold"/>
              </a:rPr>
              <a:t>R3 — Almanac Agent</a:t>
            </a:r>
          </a:p>
          <a:p>
            <a:pPr algn="l">
              <a:lnSpc>
                <a:spcPts val="1999"/>
              </a:lnSpc>
            </a:pPr>
          </a:p>
        </p:txBody>
      </p:sp>
      <p:sp>
        <p:nvSpPr>
          <p:cNvPr name="TextBox 3" id="3"/>
          <p:cNvSpPr txBox="true"/>
          <p:nvPr/>
        </p:nvSpPr>
        <p:spPr>
          <a:xfrm rot="0">
            <a:off x="5163" y="1279525"/>
            <a:ext cx="6343271" cy="907415"/>
          </a:xfrm>
          <a:prstGeom prst="rect">
            <a:avLst/>
          </a:prstGeom>
        </p:spPr>
        <p:txBody>
          <a:bodyPr anchor="t" rtlCol="false" tIns="0" lIns="0" bIns="0" rIns="0">
            <a:spAutoFit/>
          </a:bodyPr>
          <a:lstStyle/>
          <a:p>
            <a:pPr algn="l">
              <a:lnSpc>
                <a:spcPts val="3639"/>
              </a:lnSpc>
              <a:spcBef>
                <a:spcPct val="0"/>
              </a:spcBef>
            </a:pPr>
            <a:r>
              <a:rPr lang="en-US" b="true" sz="2799" spc="-83">
                <a:solidFill>
                  <a:srgbClr val="FF7B26"/>
                </a:solidFill>
                <a:latin typeface="Muli Bold"/>
                <a:ea typeface="Muli Bold"/>
                <a:cs typeface="Muli Bold"/>
                <a:sym typeface="Muli Bold"/>
              </a:rPr>
              <a:t>Seas</a:t>
            </a:r>
            <a:r>
              <a:rPr lang="en-US" b="true" sz="2799" spc="-83">
                <a:solidFill>
                  <a:srgbClr val="FF7B26"/>
                </a:solidFill>
                <a:latin typeface="Muli Bold"/>
                <a:ea typeface="Muli Bold"/>
                <a:cs typeface="Muli Bold"/>
                <a:sym typeface="Muli Bold"/>
              </a:rPr>
              <a:t>onal Patterns · May–June 2026</a:t>
            </a:r>
          </a:p>
          <a:p>
            <a:pPr algn="l">
              <a:lnSpc>
                <a:spcPts val="3639"/>
              </a:lnSpc>
              <a:spcBef>
                <a:spcPct val="0"/>
              </a:spcBef>
            </a:pPr>
          </a:p>
        </p:txBody>
      </p:sp>
      <p:sp>
        <p:nvSpPr>
          <p:cNvPr name="AutoShape 4" id="4"/>
          <p:cNvSpPr/>
          <p:nvPr/>
        </p:nvSpPr>
        <p:spPr>
          <a:xfrm>
            <a:off x="5163" y="1766570"/>
            <a:ext cx="18282837" cy="0"/>
          </a:xfrm>
          <a:prstGeom prst="line">
            <a:avLst/>
          </a:prstGeom>
          <a:ln cap="flat" w="38100">
            <a:solidFill>
              <a:srgbClr val="000000"/>
            </a:solidFill>
            <a:prstDash val="solid"/>
            <a:headEnd type="none" len="sm" w="sm"/>
            <a:tailEnd type="none" len="sm" w="sm"/>
          </a:ln>
        </p:spPr>
      </p:sp>
      <p:grpSp>
        <p:nvGrpSpPr>
          <p:cNvPr name="Group 5" id="5"/>
          <p:cNvGrpSpPr/>
          <p:nvPr/>
        </p:nvGrpSpPr>
        <p:grpSpPr>
          <a:xfrm rot="0">
            <a:off x="14560850" y="73617"/>
            <a:ext cx="3445485" cy="1454193"/>
            <a:chOff x="0" y="0"/>
            <a:chExt cx="907453" cy="382997"/>
          </a:xfrm>
        </p:grpSpPr>
        <p:sp>
          <p:nvSpPr>
            <p:cNvPr name="Freeform 6" id="6"/>
            <p:cNvSpPr/>
            <p:nvPr/>
          </p:nvSpPr>
          <p:spPr>
            <a:xfrm flipH="false" flipV="false" rot="0">
              <a:off x="0" y="0"/>
              <a:ext cx="907453" cy="382997"/>
            </a:xfrm>
            <a:custGeom>
              <a:avLst/>
              <a:gdLst/>
              <a:ahLst/>
              <a:cxnLst/>
              <a:rect r="r" b="b" t="t" l="l"/>
              <a:pathLst>
                <a:path h="382997" w="907453">
                  <a:moveTo>
                    <a:pt x="0" y="0"/>
                  </a:moveTo>
                  <a:lnTo>
                    <a:pt x="907453" y="0"/>
                  </a:lnTo>
                  <a:lnTo>
                    <a:pt x="907453" y="382997"/>
                  </a:lnTo>
                  <a:lnTo>
                    <a:pt x="0" y="382997"/>
                  </a:lnTo>
                  <a:close/>
                </a:path>
              </a:pathLst>
            </a:custGeom>
            <a:solidFill>
              <a:srgbClr val="E3BFA6"/>
            </a:solidFill>
          </p:spPr>
        </p:sp>
        <p:sp>
          <p:nvSpPr>
            <p:cNvPr name="TextBox 7" id="7"/>
            <p:cNvSpPr txBox="true"/>
            <p:nvPr/>
          </p:nvSpPr>
          <p:spPr>
            <a:xfrm>
              <a:off x="0" y="-19050"/>
              <a:ext cx="907453" cy="402047"/>
            </a:xfrm>
            <a:prstGeom prst="rect">
              <a:avLst/>
            </a:prstGeom>
          </p:spPr>
          <p:txBody>
            <a:bodyPr anchor="ctr" rtlCol="false" tIns="50800" lIns="50800" bIns="50800" rIns="50800"/>
            <a:lstStyle/>
            <a:p>
              <a:pPr algn="ctr">
                <a:lnSpc>
                  <a:spcPts val="2859"/>
                </a:lnSpc>
              </a:pPr>
            </a:p>
          </p:txBody>
        </p:sp>
      </p:grpSp>
      <p:grpSp>
        <p:nvGrpSpPr>
          <p:cNvPr name="Group 8" id="8"/>
          <p:cNvGrpSpPr/>
          <p:nvPr/>
        </p:nvGrpSpPr>
        <p:grpSpPr>
          <a:xfrm rot="0">
            <a:off x="315220" y="4978303"/>
            <a:ext cx="5292142" cy="1791217"/>
            <a:chOff x="0" y="0"/>
            <a:chExt cx="1393815" cy="471761"/>
          </a:xfrm>
        </p:grpSpPr>
        <p:sp>
          <p:nvSpPr>
            <p:cNvPr name="Freeform 9" id="9"/>
            <p:cNvSpPr/>
            <p:nvPr/>
          </p:nvSpPr>
          <p:spPr>
            <a:xfrm flipH="false" flipV="false" rot="0">
              <a:off x="0" y="0"/>
              <a:ext cx="1393815" cy="471761"/>
            </a:xfrm>
            <a:custGeom>
              <a:avLst/>
              <a:gdLst/>
              <a:ahLst/>
              <a:cxnLst/>
              <a:rect r="r" b="b" t="t" l="l"/>
              <a:pathLst>
                <a:path h="471761" w="1393815">
                  <a:moveTo>
                    <a:pt x="0" y="0"/>
                  </a:moveTo>
                  <a:lnTo>
                    <a:pt x="1393815" y="0"/>
                  </a:lnTo>
                  <a:lnTo>
                    <a:pt x="1393815" y="471761"/>
                  </a:lnTo>
                  <a:lnTo>
                    <a:pt x="0" y="471761"/>
                  </a:lnTo>
                  <a:close/>
                </a:path>
              </a:pathLst>
            </a:custGeom>
            <a:solidFill>
              <a:srgbClr val="E3BFA6"/>
            </a:solidFill>
          </p:spPr>
        </p:sp>
        <p:sp>
          <p:nvSpPr>
            <p:cNvPr name="TextBox 10" id="10"/>
            <p:cNvSpPr txBox="true"/>
            <p:nvPr/>
          </p:nvSpPr>
          <p:spPr>
            <a:xfrm>
              <a:off x="0" y="-19050"/>
              <a:ext cx="1393815" cy="490811"/>
            </a:xfrm>
            <a:prstGeom prst="rect">
              <a:avLst/>
            </a:prstGeom>
          </p:spPr>
          <p:txBody>
            <a:bodyPr anchor="ctr" rtlCol="false" tIns="50800" lIns="50800" bIns="50800" rIns="50800"/>
            <a:lstStyle/>
            <a:p>
              <a:pPr algn="ctr">
                <a:lnSpc>
                  <a:spcPts val="2859"/>
                </a:lnSpc>
              </a:pPr>
            </a:p>
          </p:txBody>
        </p:sp>
      </p:grpSp>
      <p:grpSp>
        <p:nvGrpSpPr>
          <p:cNvPr name="Group 11" id="11"/>
          <p:cNvGrpSpPr/>
          <p:nvPr/>
        </p:nvGrpSpPr>
        <p:grpSpPr>
          <a:xfrm rot="0">
            <a:off x="6288695" y="2483038"/>
            <a:ext cx="5167975" cy="1009553"/>
            <a:chOff x="0" y="0"/>
            <a:chExt cx="1361113" cy="265890"/>
          </a:xfrm>
        </p:grpSpPr>
        <p:sp>
          <p:nvSpPr>
            <p:cNvPr name="Freeform 12" id="12"/>
            <p:cNvSpPr/>
            <p:nvPr/>
          </p:nvSpPr>
          <p:spPr>
            <a:xfrm flipH="false" flipV="false" rot="0">
              <a:off x="0" y="0"/>
              <a:ext cx="1361113" cy="265890"/>
            </a:xfrm>
            <a:custGeom>
              <a:avLst/>
              <a:gdLst/>
              <a:ahLst/>
              <a:cxnLst/>
              <a:rect r="r" b="b" t="t" l="l"/>
              <a:pathLst>
                <a:path h="265890" w="1361113">
                  <a:moveTo>
                    <a:pt x="0" y="0"/>
                  </a:moveTo>
                  <a:lnTo>
                    <a:pt x="1361113" y="0"/>
                  </a:lnTo>
                  <a:lnTo>
                    <a:pt x="1361113" y="265890"/>
                  </a:lnTo>
                  <a:lnTo>
                    <a:pt x="0" y="265890"/>
                  </a:lnTo>
                  <a:close/>
                </a:path>
              </a:pathLst>
            </a:custGeom>
            <a:solidFill>
              <a:srgbClr val="E3BFA6"/>
            </a:solidFill>
          </p:spPr>
        </p:sp>
        <p:sp>
          <p:nvSpPr>
            <p:cNvPr name="TextBox 13" id="13"/>
            <p:cNvSpPr txBox="true"/>
            <p:nvPr/>
          </p:nvSpPr>
          <p:spPr>
            <a:xfrm>
              <a:off x="0" y="-19050"/>
              <a:ext cx="1361113" cy="284940"/>
            </a:xfrm>
            <a:prstGeom prst="rect">
              <a:avLst/>
            </a:prstGeom>
          </p:spPr>
          <p:txBody>
            <a:bodyPr anchor="ctr" rtlCol="false" tIns="50800" lIns="50800" bIns="50800" rIns="50800"/>
            <a:lstStyle/>
            <a:p>
              <a:pPr algn="ctr">
                <a:lnSpc>
                  <a:spcPts val="2859"/>
                </a:lnSpc>
              </a:pPr>
            </a:p>
          </p:txBody>
        </p:sp>
      </p:grpSp>
      <p:grpSp>
        <p:nvGrpSpPr>
          <p:cNvPr name="Group 14" id="14"/>
          <p:cNvGrpSpPr/>
          <p:nvPr/>
        </p:nvGrpSpPr>
        <p:grpSpPr>
          <a:xfrm rot="0">
            <a:off x="9492841" y="2601685"/>
            <a:ext cx="1809122" cy="703979"/>
            <a:chOff x="0" y="0"/>
            <a:chExt cx="476477" cy="185410"/>
          </a:xfrm>
        </p:grpSpPr>
        <p:sp>
          <p:nvSpPr>
            <p:cNvPr name="Freeform 15" id="15"/>
            <p:cNvSpPr/>
            <p:nvPr/>
          </p:nvSpPr>
          <p:spPr>
            <a:xfrm flipH="false" flipV="false" rot="0">
              <a:off x="0" y="0"/>
              <a:ext cx="476477" cy="185410"/>
            </a:xfrm>
            <a:custGeom>
              <a:avLst/>
              <a:gdLst/>
              <a:ahLst/>
              <a:cxnLst/>
              <a:rect r="r" b="b" t="t" l="l"/>
              <a:pathLst>
                <a:path h="185410" w="476477">
                  <a:moveTo>
                    <a:pt x="0" y="0"/>
                  </a:moveTo>
                  <a:lnTo>
                    <a:pt x="476477" y="0"/>
                  </a:lnTo>
                  <a:lnTo>
                    <a:pt x="476477" y="185410"/>
                  </a:lnTo>
                  <a:lnTo>
                    <a:pt x="0" y="185410"/>
                  </a:lnTo>
                  <a:close/>
                </a:path>
              </a:pathLst>
            </a:custGeom>
            <a:solidFill>
              <a:srgbClr val="DF200C"/>
            </a:solidFill>
          </p:spPr>
        </p:sp>
        <p:sp>
          <p:nvSpPr>
            <p:cNvPr name="TextBox 16" id="16"/>
            <p:cNvSpPr txBox="true"/>
            <p:nvPr/>
          </p:nvSpPr>
          <p:spPr>
            <a:xfrm>
              <a:off x="0" y="-19050"/>
              <a:ext cx="476477" cy="204460"/>
            </a:xfrm>
            <a:prstGeom prst="rect">
              <a:avLst/>
            </a:prstGeom>
          </p:spPr>
          <p:txBody>
            <a:bodyPr anchor="ctr" rtlCol="false" tIns="50800" lIns="50800" bIns="50800" rIns="50800"/>
            <a:lstStyle/>
            <a:p>
              <a:pPr algn="ctr">
                <a:lnSpc>
                  <a:spcPts val="2859"/>
                </a:lnSpc>
              </a:pPr>
              <a:r>
                <a:rPr lang="en-US" b="true" sz="2199" spc="-65">
                  <a:solidFill>
                    <a:srgbClr val="FFFFFF"/>
                  </a:solidFill>
                  <a:latin typeface="Muli Ultra-Bold"/>
                  <a:ea typeface="Muli Ultra-Bold"/>
                  <a:cs typeface="Muli Ultra-Bold"/>
                  <a:sym typeface="Muli Ultra-Bold"/>
                </a:rPr>
                <a:t>BEARISH</a:t>
              </a:r>
            </a:p>
          </p:txBody>
        </p:sp>
      </p:grpSp>
      <p:grpSp>
        <p:nvGrpSpPr>
          <p:cNvPr name="Group 17" id="17"/>
          <p:cNvGrpSpPr/>
          <p:nvPr/>
        </p:nvGrpSpPr>
        <p:grpSpPr>
          <a:xfrm rot="0">
            <a:off x="6288695" y="3645626"/>
            <a:ext cx="5167975" cy="1009553"/>
            <a:chOff x="0" y="0"/>
            <a:chExt cx="1361113" cy="265890"/>
          </a:xfrm>
        </p:grpSpPr>
        <p:sp>
          <p:nvSpPr>
            <p:cNvPr name="Freeform 18" id="18"/>
            <p:cNvSpPr/>
            <p:nvPr/>
          </p:nvSpPr>
          <p:spPr>
            <a:xfrm flipH="false" flipV="false" rot="0">
              <a:off x="0" y="0"/>
              <a:ext cx="1361113" cy="265890"/>
            </a:xfrm>
            <a:custGeom>
              <a:avLst/>
              <a:gdLst/>
              <a:ahLst/>
              <a:cxnLst/>
              <a:rect r="r" b="b" t="t" l="l"/>
              <a:pathLst>
                <a:path h="265890" w="1361113">
                  <a:moveTo>
                    <a:pt x="0" y="0"/>
                  </a:moveTo>
                  <a:lnTo>
                    <a:pt x="1361113" y="0"/>
                  </a:lnTo>
                  <a:lnTo>
                    <a:pt x="1361113" y="265890"/>
                  </a:lnTo>
                  <a:lnTo>
                    <a:pt x="0" y="265890"/>
                  </a:lnTo>
                  <a:close/>
                </a:path>
              </a:pathLst>
            </a:custGeom>
            <a:solidFill>
              <a:srgbClr val="E3BFA6"/>
            </a:solidFill>
          </p:spPr>
        </p:sp>
        <p:sp>
          <p:nvSpPr>
            <p:cNvPr name="TextBox 19" id="19"/>
            <p:cNvSpPr txBox="true"/>
            <p:nvPr/>
          </p:nvSpPr>
          <p:spPr>
            <a:xfrm>
              <a:off x="0" y="-19050"/>
              <a:ext cx="1361113" cy="284940"/>
            </a:xfrm>
            <a:prstGeom prst="rect">
              <a:avLst/>
            </a:prstGeom>
          </p:spPr>
          <p:txBody>
            <a:bodyPr anchor="ctr" rtlCol="false" tIns="50800" lIns="50800" bIns="50800" rIns="50800"/>
            <a:lstStyle/>
            <a:p>
              <a:pPr algn="ctr">
                <a:lnSpc>
                  <a:spcPts val="2859"/>
                </a:lnSpc>
              </a:pPr>
            </a:p>
          </p:txBody>
        </p:sp>
      </p:grpSp>
      <p:grpSp>
        <p:nvGrpSpPr>
          <p:cNvPr name="Group 20" id="20"/>
          <p:cNvGrpSpPr/>
          <p:nvPr/>
        </p:nvGrpSpPr>
        <p:grpSpPr>
          <a:xfrm rot="0">
            <a:off x="6288695" y="4808213"/>
            <a:ext cx="5167975" cy="1009553"/>
            <a:chOff x="0" y="0"/>
            <a:chExt cx="1361113" cy="265890"/>
          </a:xfrm>
        </p:grpSpPr>
        <p:sp>
          <p:nvSpPr>
            <p:cNvPr name="Freeform 21" id="21"/>
            <p:cNvSpPr/>
            <p:nvPr/>
          </p:nvSpPr>
          <p:spPr>
            <a:xfrm flipH="false" flipV="false" rot="0">
              <a:off x="0" y="0"/>
              <a:ext cx="1361113" cy="265890"/>
            </a:xfrm>
            <a:custGeom>
              <a:avLst/>
              <a:gdLst/>
              <a:ahLst/>
              <a:cxnLst/>
              <a:rect r="r" b="b" t="t" l="l"/>
              <a:pathLst>
                <a:path h="265890" w="1361113">
                  <a:moveTo>
                    <a:pt x="0" y="0"/>
                  </a:moveTo>
                  <a:lnTo>
                    <a:pt x="1361113" y="0"/>
                  </a:lnTo>
                  <a:lnTo>
                    <a:pt x="1361113" y="265890"/>
                  </a:lnTo>
                  <a:lnTo>
                    <a:pt x="0" y="265890"/>
                  </a:lnTo>
                  <a:close/>
                </a:path>
              </a:pathLst>
            </a:custGeom>
            <a:solidFill>
              <a:srgbClr val="E3BFA6"/>
            </a:solidFill>
          </p:spPr>
        </p:sp>
        <p:sp>
          <p:nvSpPr>
            <p:cNvPr name="TextBox 22" id="22"/>
            <p:cNvSpPr txBox="true"/>
            <p:nvPr/>
          </p:nvSpPr>
          <p:spPr>
            <a:xfrm>
              <a:off x="0" y="-19050"/>
              <a:ext cx="1361113" cy="284940"/>
            </a:xfrm>
            <a:prstGeom prst="rect">
              <a:avLst/>
            </a:prstGeom>
          </p:spPr>
          <p:txBody>
            <a:bodyPr anchor="ctr" rtlCol="false" tIns="50800" lIns="50800" bIns="50800" rIns="50800"/>
            <a:lstStyle/>
            <a:p>
              <a:pPr algn="ctr">
                <a:lnSpc>
                  <a:spcPts val="2859"/>
                </a:lnSpc>
              </a:pPr>
            </a:p>
          </p:txBody>
        </p:sp>
      </p:grpSp>
      <p:grpSp>
        <p:nvGrpSpPr>
          <p:cNvPr name="Group 23" id="23"/>
          <p:cNvGrpSpPr/>
          <p:nvPr/>
        </p:nvGrpSpPr>
        <p:grpSpPr>
          <a:xfrm rot="0">
            <a:off x="9492841" y="3759926"/>
            <a:ext cx="1809122" cy="703979"/>
            <a:chOff x="0" y="0"/>
            <a:chExt cx="476477" cy="185410"/>
          </a:xfrm>
        </p:grpSpPr>
        <p:sp>
          <p:nvSpPr>
            <p:cNvPr name="Freeform 24" id="24"/>
            <p:cNvSpPr/>
            <p:nvPr/>
          </p:nvSpPr>
          <p:spPr>
            <a:xfrm flipH="false" flipV="false" rot="0">
              <a:off x="0" y="0"/>
              <a:ext cx="476477" cy="185410"/>
            </a:xfrm>
            <a:custGeom>
              <a:avLst/>
              <a:gdLst/>
              <a:ahLst/>
              <a:cxnLst/>
              <a:rect r="r" b="b" t="t" l="l"/>
              <a:pathLst>
                <a:path h="185410" w="476477">
                  <a:moveTo>
                    <a:pt x="0" y="0"/>
                  </a:moveTo>
                  <a:lnTo>
                    <a:pt x="476477" y="0"/>
                  </a:lnTo>
                  <a:lnTo>
                    <a:pt x="476477" y="185410"/>
                  </a:lnTo>
                  <a:lnTo>
                    <a:pt x="0" y="185410"/>
                  </a:lnTo>
                  <a:close/>
                </a:path>
              </a:pathLst>
            </a:custGeom>
            <a:solidFill>
              <a:srgbClr val="DF200C"/>
            </a:solidFill>
          </p:spPr>
        </p:sp>
        <p:sp>
          <p:nvSpPr>
            <p:cNvPr name="TextBox 25" id="25"/>
            <p:cNvSpPr txBox="true"/>
            <p:nvPr/>
          </p:nvSpPr>
          <p:spPr>
            <a:xfrm>
              <a:off x="0" y="-19050"/>
              <a:ext cx="476477" cy="204460"/>
            </a:xfrm>
            <a:prstGeom prst="rect">
              <a:avLst/>
            </a:prstGeom>
          </p:spPr>
          <p:txBody>
            <a:bodyPr anchor="ctr" rtlCol="false" tIns="50800" lIns="50800" bIns="50800" rIns="50800"/>
            <a:lstStyle/>
            <a:p>
              <a:pPr algn="ctr">
                <a:lnSpc>
                  <a:spcPts val="2859"/>
                </a:lnSpc>
              </a:pPr>
              <a:r>
                <a:rPr lang="en-US" b="true" sz="2199" spc="-65">
                  <a:solidFill>
                    <a:srgbClr val="FFFFFF"/>
                  </a:solidFill>
                  <a:latin typeface="Muli Ultra-Bold"/>
                  <a:ea typeface="Muli Ultra-Bold"/>
                  <a:cs typeface="Muli Ultra-Bold"/>
                  <a:sym typeface="Muli Ultra-Bold"/>
                </a:rPr>
                <a:t>BEARISH</a:t>
              </a:r>
            </a:p>
          </p:txBody>
        </p:sp>
      </p:grpSp>
      <p:grpSp>
        <p:nvGrpSpPr>
          <p:cNvPr name="Group 26" id="26"/>
          <p:cNvGrpSpPr/>
          <p:nvPr/>
        </p:nvGrpSpPr>
        <p:grpSpPr>
          <a:xfrm rot="0">
            <a:off x="9492841" y="4930629"/>
            <a:ext cx="1809122" cy="703979"/>
            <a:chOff x="0" y="0"/>
            <a:chExt cx="476477" cy="185410"/>
          </a:xfrm>
        </p:grpSpPr>
        <p:sp>
          <p:nvSpPr>
            <p:cNvPr name="Freeform 27" id="27"/>
            <p:cNvSpPr/>
            <p:nvPr/>
          </p:nvSpPr>
          <p:spPr>
            <a:xfrm flipH="false" flipV="false" rot="0">
              <a:off x="0" y="0"/>
              <a:ext cx="476477" cy="185410"/>
            </a:xfrm>
            <a:custGeom>
              <a:avLst/>
              <a:gdLst/>
              <a:ahLst/>
              <a:cxnLst/>
              <a:rect r="r" b="b" t="t" l="l"/>
              <a:pathLst>
                <a:path h="185410" w="476477">
                  <a:moveTo>
                    <a:pt x="0" y="0"/>
                  </a:moveTo>
                  <a:lnTo>
                    <a:pt x="476477" y="0"/>
                  </a:lnTo>
                  <a:lnTo>
                    <a:pt x="476477" y="185410"/>
                  </a:lnTo>
                  <a:lnTo>
                    <a:pt x="0" y="185410"/>
                  </a:lnTo>
                  <a:close/>
                </a:path>
              </a:pathLst>
            </a:custGeom>
            <a:solidFill>
              <a:srgbClr val="22C55E"/>
            </a:solidFill>
          </p:spPr>
        </p:sp>
        <p:sp>
          <p:nvSpPr>
            <p:cNvPr name="TextBox 28" id="28"/>
            <p:cNvSpPr txBox="true"/>
            <p:nvPr/>
          </p:nvSpPr>
          <p:spPr>
            <a:xfrm>
              <a:off x="0" y="-19050"/>
              <a:ext cx="476477" cy="204460"/>
            </a:xfrm>
            <a:prstGeom prst="rect">
              <a:avLst/>
            </a:prstGeom>
          </p:spPr>
          <p:txBody>
            <a:bodyPr anchor="ctr" rtlCol="false" tIns="50800" lIns="50800" bIns="50800" rIns="50800"/>
            <a:lstStyle/>
            <a:p>
              <a:pPr algn="ctr">
                <a:lnSpc>
                  <a:spcPts val="2859"/>
                </a:lnSpc>
              </a:pPr>
              <a:r>
                <a:rPr lang="en-US" b="true" sz="2199" spc="-65">
                  <a:solidFill>
                    <a:srgbClr val="FFFFFF"/>
                  </a:solidFill>
                  <a:latin typeface="Muli Ultra-Bold"/>
                  <a:ea typeface="Muli Ultra-Bold"/>
                  <a:cs typeface="Muli Ultra-Bold"/>
                  <a:sym typeface="Muli Ultra-Bold"/>
                </a:rPr>
                <a:t>BULLISH</a:t>
              </a:r>
            </a:p>
          </p:txBody>
        </p:sp>
      </p:grpSp>
      <p:sp>
        <p:nvSpPr>
          <p:cNvPr name="TextBox 29" id="29"/>
          <p:cNvSpPr txBox="true"/>
          <p:nvPr/>
        </p:nvSpPr>
        <p:spPr>
          <a:xfrm rot="0">
            <a:off x="12608637" y="2103755"/>
            <a:ext cx="3144962" cy="715010"/>
          </a:xfrm>
          <a:prstGeom prst="rect">
            <a:avLst/>
          </a:prstGeom>
        </p:spPr>
        <p:txBody>
          <a:bodyPr anchor="t" rtlCol="false" tIns="0" lIns="0" bIns="0" rIns="0">
            <a:spAutoFit/>
          </a:bodyPr>
          <a:lstStyle/>
          <a:p>
            <a:pPr algn="l">
              <a:lnSpc>
                <a:spcPts val="2859"/>
              </a:lnSpc>
              <a:spcBef>
                <a:spcPct val="0"/>
              </a:spcBef>
            </a:pPr>
            <a:r>
              <a:rPr lang="en-US" b="true" sz="2199" spc="395">
                <a:solidFill>
                  <a:srgbClr val="FF7B26"/>
                </a:solidFill>
                <a:latin typeface="Muli Ultra-Bold"/>
                <a:ea typeface="Muli Ultra-Bold"/>
                <a:cs typeface="Muli Ultra-Bold"/>
                <a:sym typeface="Muli Ultra-Bold"/>
              </a:rPr>
              <a:t>SECTOR SIGNALS</a:t>
            </a:r>
          </a:p>
          <a:p>
            <a:pPr algn="l">
              <a:lnSpc>
                <a:spcPts val="2859"/>
              </a:lnSpc>
              <a:spcBef>
                <a:spcPct val="0"/>
              </a:spcBef>
            </a:pPr>
          </a:p>
        </p:txBody>
      </p:sp>
      <p:grpSp>
        <p:nvGrpSpPr>
          <p:cNvPr name="Group 30" id="30"/>
          <p:cNvGrpSpPr/>
          <p:nvPr/>
        </p:nvGrpSpPr>
        <p:grpSpPr>
          <a:xfrm rot="0">
            <a:off x="12608637" y="2525395"/>
            <a:ext cx="5551886" cy="1009553"/>
            <a:chOff x="0" y="0"/>
            <a:chExt cx="1462225" cy="265890"/>
          </a:xfrm>
        </p:grpSpPr>
        <p:sp>
          <p:nvSpPr>
            <p:cNvPr name="Freeform 31" id="31"/>
            <p:cNvSpPr/>
            <p:nvPr/>
          </p:nvSpPr>
          <p:spPr>
            <a:xfrm flipH="false" flipV="false" rot="0">
              <a:off x="0" y="0"/>
              <a:ext cx="1462225" cy="265890"/>
            </a:xfrm>
            <a:custGeom>
              <a:avLst/>
              <a:gdLst/>
              <a:ahLst/>
              <a:cxnLst/>
              <a:rect r="r" b="b" t="t" l="l"/>
              <a:pathLst>
                <a:path h="265890" w="1462225">
                  <a:moveTo>
                    <a:pt x="0" y="0"/>
                  </a:moveTo>
                  <a:lnTo>
                    <a:pt x="1462225" y="0"/>
                  </a:lnTo>
                  <a:lnTo>
                    <a:pt x="1462225" y="265890"/>
                  </a:lnTo>
                  <a:lnTo>
                    <a:pt x="0" y="265890"/>
                  </a:lnTo>
                  <a:close/>
                </a:path>
              </a:pathLst>
            </a:custGeom>
            <a:solidFill>
              <a:srgbClr val="E3BFA6"/>
            </a:solidFill>
          </p:spPr>
        </p:sp>
        <p:sp>
          <p:nvSpPr>
            <p:cNvPr name="TextBox 32" id="32"/>
            <p:cNvSpPr txBox="true"/>
            <p:nvPr/>
          </p:nvSpPr>
          <p:spPr>
            <a:xfrm>
              <a:off x="0" y="-19050"/>
              <a:ext cx="1462225" cy="284940"/>
            </a:xfrm>
            <a:prstGeom prst="rect">
              <a:avLst/>
            </a:prstGeom>
          </p:spPr>
          <p:txBody>
            <a:bodyPr anchor="ctr" rtlCol="false" tIns="50800" lIns="50800" bIns="50800" rIns="50800"/>
            <a:lstStyle/>
            <a:p>
              <a:pPr algn="ctr">
                <a:lnSpc>
                  <a:spcPts val="2859"/>
                </a:lnSpc>
              </a:pPr>
            </a:p>
          </p:txBody>
        </p:sp>
      </p:grpSp>
      <p:grpSp>
        <p:nvGrpSpPr>
          <p:cNvPr name="Group 33" id="33"/>
          <p:cNvGrpSpPr/>
          <p:nvPr/>
        </p:nvGrpSpPr>
        <p:grpSpPr>
          <a:xfrm rot="0">
            <a:off x="12608637" y="3697508"/>
            <a:ext cx="5551886" cy="1009553"/>
            <a:chOff x="0" y="0"/>
            <a:chExt cx="1462225" cy="265890"/>
          </a:xfrm>
        </p:grpSpPr>
        <p:sp>
          <p:nvSpPr>
            <p:cNvPr name="Freeform 34" id="34"/>
            <p:cNvSpPr/>
            <p:nvPr/>
          </p:nvSpPr>
          <p:spPr>
            <a:xfrm flipH="false" flipV="false" rot="0">
              <a:off x="0" y="0"/>
              <a:ext cx="1462225" cy="265890"/>
            </a:xfrm>
            <a:custGeom>
              <a:avLst/>
              <a:gdLst/>
              <a:ahLst/>
              <a:cxnLst/>
              <a:rect r="r" b="b" t="t" l="l"/>
              <a:pathLst>
                <a:path h="265890" w="1462225">
                  <a:moveTo>
                    <a:pt x="0" y="0"/>
                  </a:moveTo>
                  <a:lnTo>
                    <a:pt x="1462225" y="0"/>
                  </a:lnTo>
                  <a:lnTo>
                    <a:pt x="1462225" y="265890"/>
                  </a:lnTo>
                  <a:lnTo>
                    <a:pt x="0" y="265890"/>
                  </a:lnTo>
                  <a:close/>
                </a:path>
              </a:pathLst>
            </a:custGeom>
            <a:solidFill>
              <a:srgbClr val="E3BFA6"/>
            </a:solidFill>
          </p:spPr>
        </p:sp>
        <p:sp>
          <p:nvSpPr>
            <p:cNvPr name="TextBox 35" id="35"/>
            <p:cNvSpPr txBox="true"/>
            <p:nvPr/>
          </p:nvSpPr>
          <p:spPr>
            <a:xfrm>
              <a:off x="0" y="-19050"/>
              <a:ext cx="1462225" cy="284940"/>
            </a:xfrm>
            <a:prstGeom prst="rect">
              <a:avLst/>
            </a:prstGeom>
          </p:spPr>
          <p:txBody>
            <a:bodyPr anchor="ctr" rtlCol="false" tIns="50800" lIns="50800" bIns="50800" rIns="50800"/>
            <a:lstStyle/>
            <a:p>
              <a:pPr algn="ctr">
                <a:lnSpc>
                  <a:spcPts val="2859"/>
                </a:lnSpc>
              </a:pPr>
            </a:p>
          </p:txBody>
        </p:sp>
      </p:grpSp>
      <p:grpSp>
        <p:nvGrpSpPr>
          <p:cNvPr name="Group 36" id="36"/>
          <p:cNvGrpSpPr/>
          <p:nvPr/>
        </p:nvGrpSpPr>
        <p:grpSpPr>
          <a:xfrm rot="0">
            <a:off x="12608637" y="4869621"/>
            <a:ext cx="5551886" cy="1009553"/>
            <a:chOff x="0" y="0"/>
            <a:chExt cx="1462225" cy="265890"/>
          </a:xfrm>
        </p:grpSpPr>
        <p:sp>
          <p:nvSpPr>
            <p:cNvPr name="Freeform 37" id="37"/>
            <p:cNvSpPr/>
            <p:nvPr/>
          </p:nvSpPr>
          <p:spPr>
            <a:xfrm flipH="false" flipV="false" rot="0">
              <a:off x="0" y="0"/>
              <a:ext cx="1462225" cy="265890"/>
            </a:xfrm>
            <a:custGeom>
              <a:avLst/>
              <a:gdLst/>
              <a:ahLst/>
              <a:cxnLst/>
              <a:rect r="r" b="b" t="t" l="l"/>
              <a:pathLst>
                <a:path h="265890" w="1462225">
                  <a:moveTo>
                    <a:pt x="0" y="0"/>
                  </a:moveTo>
                  <a:lnTo>
                    <a:pt x="1462225" y="0"/>
                  </a:lnTo>
                  <a:lnTo>
                    <a:pt x="1462225" y="265890"/>
                  </a:lnTo>
                  <a:lnTo>
                    <a:pt x="0" y="265890"/>
                  </a:lnTo>
                  <a:close/>
                </a:path>
              </a:pathLst>
            </a:custGeom>
            <a:solidFill>
              <a:srgbClr val="E3BFA6"/>
            </a:solidFill>
          </p:spPr>
        </p:sp>
        <p:sp>
          <p:nvSpPr>
            <p:cNvPr name="TextBox 38" id="38"/>
            <p:cNvSpPr txBox="true"/>
            <p:nvPr/>
          </p:nvSpPr>
          <p:spPr>
            <a:xfrm>
              <a:off x="0" y="-19050"/>
              <a:ext cx="1462225" cy="284940"/>
            </a:xfrm>
            <a:prstGeom prst="rect">
              <a:avLst/>
            </a:prstGeom>
          </p:spPr>
          <p:txBody>
            <a:bodyPr anchor="ctr" rtlCol="false" tIns="50800" lIns="50800" bIns="50800" rIns="50800"/>
            <a:lstStyle/>
            <a:p>
              <a:pPr algn="ctr">
                <a:lnSpc>
                  <a:spcPts val="2859"/>
                </a:lnSpc>
              </a:pPr>
            </a:p>
          </p:txBody>
        </p:sp>
      </p:grpSp>
      <p:grpSp>
        <p:nvGrpSpPr>
          <p:cNvPr name="Group 39" id="39"/>
          <p:cNvGrpSpPr/>
          <p:nvPr/>
        </p:nvGrpSpPr>
        <p:grpSpPr>
          <a:xfrm rot="0">
            <a:off x="12608637" y="6041733"/>
            <a:ext cx="5551886" cy="1009553"/>
            <a:chOff x="0" y="0"/>
            <a:chExt cx="1462225" cy="265890"/>
          </a:xfrm>
        </p:grpSpPr>
        <p:sp>
          <p:nvSpPr>
            <p:cNvPr name="Freeform 40" id="40"/>
            <p:cNvSpPr/>
            <p:nvPr/>
          </p:nvSpPr>
          <p:spPr>
            <a:xfrm flipH="false" flipV="false" rot="0">
              <a:off x="0" y="0"/>
              <a:ext cx="1462225" cy="265890"/>
            </a:xfrm>
            <a:custGeom>
              <a:avLst/>
              <a:gdLst/>
              <a:ahLst/>
              <a:cxnLst/>
              <a:rect r="r" b="b" t="t" l="l"/>
              <a:pathLst>
                <a:path h="265890" w="1462225">
                  <a:moveTo>
                    <a:pt x="0" y="0"/>
                  </a:moveTo>
                  <a:lnTo>
                    <a:pt x="1462225" y="0"/>
                  </a:lnTo>
                  <a:lnTo>
                    <a:pt x="1462225" y="265890"/>
                  </a:lnTo>
                  <a:lnTo>
                    <a:pt x="0" y="265890"/>
                  </a:lnTo>
                  <a:close/>
                </a:path>
              </a:pathLst>
            </a:custGeom>
            <a:solidFill>
              <a:srgbClr val="E3BFA6"/>
            </a:solidFill>
          </p:spPr>
        </p:sp>
        <p:sp>
          <p:nvSpPr>
            <p:cNvPr name="TextBox 41" id="41"/>
            <p:cNvSpPr txBox="true"/>
            <p:nvPr/>
          </p:nvSpPr>
          <p:spPr>
            <a:xfrm>
              <a:off x="0" y="-19050"/>
              <a:ext cx="1462225" cy="284940"/>
            </a:xfrm>
            <a:prstGeom prst="rect">
              <a:avLst/>
            </a:prstGeom>
          </p:spPr>
          <p:txBody>
            <a:bodyPr anchor="ctr" rtlCol="false" tIns="50800" lIns="50800" bIns="50800" rIns="50800"/>
            <a:lstStyle/>
            <a:p>
              <a:pPr algn="ctr">
                <a:lnSpc>
                  <a:spcPts val="2859"/>
                </a:lnSpc>
              </a:pPr>
            </a:p>
          </p:txBody>
        </p:sp>
      </p:grpSp>
      <p:grpSp>
        <p:nvGrpSpPr>
          <p:cNvPr name="Group 42" id="42"/>
          <p:cNvGrpSpPr/>
          <p:nvPr/>
        </p:nvGrpSpPr>
        <p:grpSpPr>
          <a:xfrm rot="0">
            <a:off x="12702218" y="2669679"/>
            <a:ext cx="939788" cy="703979"/>
            <a:chOff x="0" y="0"/>
            <a:chExt cx="247516" cy="185410"/>
          </a:xfrm>
        </p:grpSpPr>
        <p:sp>
          <p:nvSpPr>
            <p:cNvPr name="Freeform 43" id="43"/>
            <p:cNvSpPr/>
            <p:nvPr/>
          </p:nvSpPr>
          <p:spPr>
            <a:xfrm flipH="false" flipV="false" rot="0">
              <a:off x="0" y="0"/>
              <a:ext cx="247516" cy="185410"/>
            </a:xfrm>
            <a:custGeom>
              <a:avLst/>
              <a:gdLst/>
              <a:ahLst/>
              <a:cxnLst/>
              <a:rect r="r" b="b" t="t" l="l"/>
              <a:pathLst>
                <a:path h="185410" w="247516">
                  <a:moveTo>
                    <a:pt x="92705" y="0"/>
                  </a:moveTo>
                  <a:lnTo>
                    <a:pt x="154811" y="0"/>
                  </a:lnTo>
                  <a:cubicBezTo>
                    <a:pt x="179398" y="0"/>
                    <a:pt x="202978" y="9767"/>
                    <a:pt x="220363" y="27153"/>
                  </a:cubicBezTo>
                  <a:cubicBezTo>
                    <a:pt x="237749" y="44538"/>
                    <a:pt x="247516" y="68118"/>
                    <a:pt x="247516" y="92705"/>
                  </a:cubicBezTo>
                  <a:lnTo>
                    <a:pt x="247516" y="92705"/>
                  </a:lnTo>
                  <a:cubicBezTo>
                    <a:pt x="247516" y="117292"/>
                    <a:pt x="237749" y="140872"/>
                    <a:pt x="220363" y="158257"/>
                  </a:cubicBezTo>
                  <a:cubicBezTo>
                    <a:pt x="202978" y="175643"/>
                    <a:pt x="179398" y="185410"/>
                    <a:pt x="154811" y="185410"/>
                  </a:cubicBezTo>
                  <a:lnTo>
                    <a:pt x="92705" y="185410"/>
                  </a:lnTo>
                  <a:cubicBezTo>
                    <a:pt x="68118" y="185410"/>
                    <a:pt x="44538" y="175643"/>
                    <a:pt x="27153" y="158257"/>
                  </a:cubicBezTo>
                  <a:cubicBezTo>
                    <a:pt x="9767" y="140872"/>
                    <a:pt x="0" y="117292"/>
                    <a:pt x="0" y="92705"/>
                  </a:cubicBezTo>
                  <a:lnTo>
                    <a:pt x="0" y="92705"/>
                  </a:lnTo>
                  <a:cubicBezTo>
                    <a:pt x="0" y="68118"/>
                    <a:pt x="9767" y="44538"/>
                    <a:pt x="27153" y="27153"/>
                  </a:cubicBezTo>
                  <a:cubicBezTo>
                    <a:pt x="44538" y="9767"/>
                    <a:pt x="68118" y="0"/>
                    <a:pt x="92705" y="0"/>
                  </a:cubicBezTo>
                  <a:close/>
                </a:path>
              </a:pathLst>
            </a:custGeom>
            <a:solidFill>
              <a:srgbClr val="C0392B"/>
            </a:solidFill>
          </p:spPr>
        </p:sp>
        <p:sp>
          <p:nvSpPr>
            <p:cNvPr name="TextBox 44" id="44"/>
            <p:cNvSpPr txBox="true"/>
            <p:nvPr/>
          </p:nvSpPr>
          <p:spPr>
            <a:xfrm>
              <a:off x="0" y="-19050"/>
              <a:ext cx="247516" cy="204460"/>
            </a:xfrm>
            <a:prstGeom prst="rect">
              <a:avLst/>
            </a:prstGeom>
          </p:spPr>
          <p:txBody>
            <a:bodyPr anchor="ctr" rtlCol="false" tIns="50800" lIns="50800" bIns="50800" rIns="50800"/>
            <a:lstStyle/>
            <a:p>
              <a:pPr algn="ctr">
                <a:lnSpc>
                  <a:spcPts val="2859"/>
                </a:lnSpc>
              </a:pPr>
              <a:r>
                <a:rPr lang="en-US" b="true" sz="2199" spc="-65">
                  <a:solidFill>
                    <a:srgbClr val="FFFFFF"/>
                  </a:solidFill>
                  <a:latin typeface="Muli Ultra-Bold"/>
                  <a:ea typeface="Muli Ultra-Bold"/>
                  <a:cs typeface="Muli Ultra-Bold"/>
                  <a:sym typeface="Muli Ultra-Bold"/>
                </a:rPr>
                <a:t>XLK</a:t>
              </a:r>
            </a:p>
          </p:txBody>
        </p:sp>
      </p:grpSp>
      <p:sp>
        <p:nvSpPr>
          <p:cNvPr name="TextBox 45" id="45"/>
          <p:cNvSpPr txBox="true"/>
          <p:nvPr/>
        </p:nvSpPr>
        <p:spPr>
          <a:xfrm rot="0">
            <a:off x="315220" y="2094230"/>
            <a:ext cx="3254172" cy="779145"/>
          </a:xfrm>
          <a:prstGeom prst="rect">
            <a:avLst/>
          </a:prstGeom>
        </p:spPr>
        <p:txBody>
          <a:bodyPr anchor="t" rtlCol="false" tIns="0" lIns="0" bIns="0" rIns="0">
            <a:spAutoFit/>
          </a:bodyPr>
          <a:lstStyle/>
          <a:p>
            <a:pPr algn="l">
              <a:lnSpc>
                <a:spcPts val="3120"/>
              </a:lnSpc>
              <a:spcBef>
                <a:spcPct val="0"/>
              </a:spcBef>
            </a:pPr>
            <a:r>
              <a:rPr lang="en-US" b="true" sz="2400" spc="432">
                <a:solidFill>
                  <a:srgbClr val="FF7B26"/>
                </a:solidFill>
                <a:latin typeface="Muli Ultra-Bold"/>
                <a:ea typeface="Muli Ultra-Bold"/>
                <a:cs typeface="Muli Ultra-Bold"/>
                <a:sym typeface="Muli Ultra-Bold"/>
              </a:rPr>
              <a:t>C</a:t>
            </a:r>
            <a:r>
              <a:rPr lang="en-US" b="true" sz="2400" spc="432">
                <a:solidFill>
                  <a:srgbClr val="FF7B26"/>
                </a:solidFill>
                <a:latin typeface="Muli Ultra-Bold"/>
                <a:ea typeface="Muli Ultra-Bold"/>
                <a:cs typeface="Muli Ultra-Bold"/>
                <a:sym typeface="Muli Ultra-Bold"/>
              </a:rPr>
              <a:t>YCLE CONTEXT</a:t>
            </a:r>
          </a:p>
          <a:p>
            <a:pPr algn="l">
              <a:lnSpc>
                <a:spcPts val="3120"/>
              </a:lnSpc>
              <a:spcBef>
                <a:spcPct val="0"/>
              </a:spcBef>
            </a:pPr>
          </a:p>
        </p:txBody>
      </p:sp>
      <p:sp>
        <p:nvSpPr>
          <p:cNvPr name="TextBox 46" id="46"/>
          <p:cNvSpPr txBox="true"/>
          <p:nvPr/>
        </p:nvSpPr>
        <p:spPr>
          <a:xfrm rot="0">
            <a:off x="315220" y="2634518"/>
            <a:ext cx="5487665" cy="1800860"/>
          </a:xfrm>
          <a:prstGeom prst="rect">
            <a:avLst/>
          </a:prstGeom>
        </p:spPr>
        <p:txBody>
          <a:bodyPr anchor="t" rtlCol="false" tIns="0" lIns="0" bIns="0" rIns="0">
            <a:spAutoFit/>
          </a:bodyPr>
          <a:lstStyle/>
          <a:p>
            <a:pPr algn="just">
              <a:lnSpc>
                <a:spcPts val="2859"/>
              </a:lnSpc>
              <a:spcBef>
                <a:spcPct val="0"/>
              </a:spcBef>
            </a:pPr>
            <a:r>
              <a:rPr lang="en-US" sz="2199" spc="-65">
                <a:solidFill>
                  <a:srgbClr val="000000"/>
                </a:solidFill>
                <a:latin typeface="Muli"/>
                <a:ea typeface="Muli"/>
                <a:cs typeface="Muli"/>
                <a:sym typeface="Muli"/>
              </a:rPr>
              <a:t>2026 = Midte</a:t>
            </a:r>
            <a:r>
              <a:rPr lang="en-US" sz="2199" spc="-65">
                <a:solidFill>
                  <a:srgbClr val="000000"/>
                </a:solidFill>
                <a:latin typeface="Muli"/>
                <a:ea typeface="Muli"/>
                <a:cs typeface="Muli"/>
                <a:sym typeface="Muli"/>
              </a:rPr>
              <a:t>rm Year</a:t>
            </a:r>
          </a:p>
          <a:p>
            <a:pPr algn="just">
              <a:lnSpc>
                <a:spcPts val="2859"/>
              </a:lnSpc>
              <a:spcBef>
                <a:spcPct val="0"/>
              </a:spcBef>
            </a:pPr>
            <a:r>
              <a:rPr lang="en-US" sz="2199" spc="-65">
                <a:solidFill>
                  <a:srgbClr val="000000"/>
                </a:solidFill>
                <a:latin typeface="Muli"/>
                <a:ea typeface="Muli"/>
                <a:cs typeface="Muli"/>
                <a:sym typeface="Muli"/>
              </a:rPr>
              <a:t>Q2–Q3 = The Weak Spot</a:t>
            </a:r>
          </a:p>
          <a:p>
            <a:pPr algn="just">
              <a:lnSpc>
                <a:spcPts val="2859"/>
              </a:lnSpc>
              <a:spcBef>
                <a:spcPct val="0"/>
              </a:spcBef>
            </a:pPr>
            <a:r>
              <a:rPr lang="en-US" sz="2199" spc="-65">
                <a:solidFill>
                  <a:srgbClr val="000000"/>
                </a:solidFill>
                <a:latin typeface="Muli"/>
                <a:ea typeface="Muli"/>
                <a:cs typeface="Muli"/>
                <a:sym typeface="Muli"/>
              </a:rPr>
              <a:t>S&amp;P avg −2.5% across Q2–Q3 midterm years</a:t>
            </a:r>
          </a:p>
          <a:p>
            <a:pPr algn="just">
              <a:lnSpc>
                <a:spcPts val="2859"/>
              </a:lnSpc>
              <a:spcBef>
                <a:spcPct val="0"/>
              </a:spcBef>
            </a:pPr>
            <a:r>
              <a:rPr lang="en-US" sz="2199" spc="-65">
                <a:solidFill>
                  <a:srgbClr val="000000"/>
                </a:solidFill>
                <a:latin typeface="Muli"/>
                <a:ea typeface="Muli"/>
                <a:cs typeface="Muli"/>
                <a:sym typeface="Muli"/>
              </a:rPr>
              <a:t>Q4 2026 = Sweet Spot begins</a:t>
            </a:r>
          </a:p>
          <a:p>
            <a:pPr algn="just">
              <a:lnSpc>
                <a:spcPts val="2859"/>
              </a:lnSpc>
              <a:spcBef>
                <a:spcPct val="0"/>
              </a:spcBef>
            </a:pPr>
          </a:p>
        </p:txBody>
      </p:sp>
      <p:sp>
        <p:nvSpPr>
          <p:cNvPr name="TextBox 47" id="47"/>
          <p:cNvSpPr txBox="true"/>
          <p:nvPr/>
        </p:nvSpPr>
        <p:spPr>
          <a:xfrm rot="0">
            <a:off x="5163" y="54567"/>
            <a:ext cx="8256545" cy="715010"/>
          </a:xfrm>
          <a:prstGeom prst="rect">
            <a:avLst/>
          </a:prstGeom>
        </p:spPr>
        <p:txBody>
          <a:bodyPr anchor="t" rtlCol="false" tIns="0" lIns="0" bIns="0" rIns="0">
            <a:spAutoFit/>
          </a:bodyPr>
          <a:lstStyle/>
          <a:p>
            <a:pPr algn="just">
              <a:lnSpc>
                <a:spcPts val="2859"/>
              </a:lnSpc>
              <a:spcBef>
                <a:spcPct val="0"/>
              </a:spcBef>
            </a:pPr>
            <a:r>
              <a:rPr lang="en-US" sz="2199" spc="560">
                <a:solidFill>
                  <a:srgbClr val="ADB5BC"/>
                </a:solidFill>
                <a:latin typeface="Muli"/>
                <a:ea typeface="Muli"/>
                <a:cs typeface="Muli"/>
                <a:sym typeface="Muli"/>
              </a:rPr>
              <a:t>CP3405</a:t>
            </a:r>
            <a:r>
              <a:rPr lang="en-US" sz="2199" spc="560">
                <a:solidFill>
                  <a:srgbClr val="ADB5BC"/>
                </a:solidFill>
                <a:latin typeface="Muli"/>
                <a:ea typeface="Muli"/>
                <a:cs typeface="Muli"/>
                <a:sym typeface="Muli"/>
              </a:rPr>
              <a:t> DT3 · WEEK 2 · SPRINT REVIEW</a:t>
            </a:r>
          </a:p>
          <a:p>
            <a:pPr algn="just">
              <a:lnSpc>
                <a:spcPts val="2859"/>
              </a:lnSpc>
              <a:spcBef>
                <a:spcPct val="0"/>
              </a:spcBef>
            </a:pPr>
          </a:p>
        </p:txBody>
      </p:sp>
      <p:sp>
        <p:nvSpPr>
          <p:cNvPr name="TextBox 48" id="48"/>
          <p:cNvSpPr txBox="true"/>
          <p:nvPr/>
        </p:nvSpPr>
        <p:spPr>
          <a:xfrm rot="0">
            <a:off x="14895584" y="573997"/>
            <a:ext cx="2776017" cy="485775"/>
          </a:xfrm>
          <a:prstGeom prst="rect">
            <a:avLst/>
          </a:prstGeom>
        </p:spPr>
        <p:txBody>
          <a:bodyPr anchor="t" rtlCol="false" tIns="0" lIns="0" bIns="0" rIns="0">
            <a:spAutoFit/>
          </a:bodyPr>
          <a:lstStyle/>
          <a:p>
            <a:pPr algn="ctr">
              <a:lnSpc>
                <a:spcPts val="3900"/>
              </a:lnSpc>
              <a:spcBef>
                <a:spcPct val="0"/>
              </a:spcBef>
            </a:pPr>
            <a:r>
              <a:rPr lang="en-US" b="true" sz="3000" spc="-89">
                <a:solidFill>
                  <a:srgbClr val="DF200C"/>
                </a:solidFill>
                <a:latin typeface="Muli Ultra-Bold"/>
                <a:ea typeface="Muli Ultra-Bold"/>
                <a:cs typeface="Muli Ultra-Bold"/>
                <a:sym typeface="Muli Ultra-Bold"/>
              </a:rPr>
              <a:t>Be</a:t>
            </a:r>
            <a:r>
              <a:rPr lang="en-US" b="true" sz="3000" spc="-89">
                <a:solidFill>
                  <a:srgbClr val="DF200C"/>
                </a:solidFill>
                <a:latin typeface="Muli Ultra-Bold"/>
                <a:ea typeface="Muli Ultra-Bold"/>
                <a:cs typeface="Muli Ultra-Bold"/>
                <a:sym typeface="Muli Ultra-Bold"/>
              </a:rPr>
              <a:t>arish-Neutral</a:t>
            </a:r>
          </a:p>
        </p:txBody>
      </p:sp>
      <p:sp>
        <p:nvSpPr>
          <p:cNvPr name="TextBox 49" id="49"/>
          <p:cNvSpPr txBox="true"/>
          <p:nvPr/>
        </p:nvSpPr>
        <p:spPr>
          <a:xfrm rot="0">
            <a:off x="14560850" y="201252"/>
            <a:ext cx="3445485" cy="401320"/>
          </a:xfrm>
          <a:prstGeom prst="rect">
            <a:avLst/>
          </a:prstGeom>
        </p:spPr>
        <p:txBody>
          <a:bodyPr anchor="t" rtlCol="false" tIns="0" lIns="0" bIns="0" rIns="0">
            <a:spAutoFit/>
          </a:bodyPr>
          <a:lstStyle/>
          <a:p>
            <a:pPr algn="ctr">
              <a:lnSpc>
                <a:spcPts val="1429"/>
              </a:lnSpc>
            </a:pPr>
            <a:r>
              <a:rPr lang="en-US" sz="2199" spc="747">
                <a:solidFill>
                  <a:srgbClr val="222222"/>
                </a:solidFill>
                <a:latin typeface="Muli"/>
                <a:ea typeface="Muli"/>
                <a:cs typeface="Muli"/>
                <a:sym typeface="Muli"/>
              </a:rPr>
              <a:t>ALMANAC</a:t>
            </a:r>
            <a:r>
              <a:rPr lang="en-US" sz="2199" spc="747">
                <a:solidFill>
                  <a:srgbClr val="222222"/>
                </a:solidFill>
                <a:latin typeface="Muli"/>
                <a:ea typeface="Muli"/>
                <a:cs typeface="Muli"/>
                <a:sym typeface="Muli"/>
              </a:rPr>
              <a:t> BIAS</a:t>
            </a:r>
          </a:p>
          <a:p>
            <a:pPr algn="ctr">
              <a:lnSpc>
                <a:spcPts val="1429"/>
              </a:lnSpc>
            </a:pPr>
          </a:p>
        </p:txBody>
      </p:sp>
      <p:sp>
        <p:nvSpPr>
          <p:cNvPr name="TextBox 50" id="50"/>
          <p:cNvSpPr txBox="true"/>
          <p:nvPr/>
        </p:nvSpPr>
        <p:spPr>
          <a:xfrm rot="0">
            <a:off x="5163" y="4416328"/>
            <a:ext cx="3729035" cy="715010"/>
          </a:xfrm>
          <a:prstGeom prst="rect">
            <a:avLst/>
          </a:prstGeom>
        </p:spPr>
        <p:txBody>
          <a:bodyPr anchor="t" rtlCol="false" tIns="0" lIns="0" bIns="0" rIns="0">
            <a:spAutoFit/>
          </a:bodyPr>
          <a:lstStyle/>
          <a:p>
            <a:pPr algn="ctr">
              <a:lnSpc>
                <a:spcPts val="2859"/>
              </a:lnSpc>
              <a:spcBef>
                <a:spcPct val="0"/>
              </a:spcBef>
            </a:pPr>
            <a:r>
              <a:rPr lang="en-US" b="true" sz="2199" spc="395">
                <a:solidFill>
                  <a:srgbClr val="FF7B26"/>
                </a:solidFill>
                <a:latin typeface="Muli Ultra-Bold"/>
                <a:ea typeface="Muli Ultra-Bold"/>
                <a:cs typeface="Muli Ultra-Bold"/>
                <a:sym typeface="Muli Ultra-Bold"/>
              </a:rPr>
              <a:t>MA</a:t>
            </a:r>
            <a:r>
              <a:rPr lang="en-US" b="true" sz="2199" spc="395">
                <a:solidFill>
                  <a:srgbClr val="FF7B26"/>
                </a:solidFill>
                <a:latin typeface="Muli Ultra-Bold"/>
                <a:ea typeface="Muli Ultra-Bold"/>
                <a:cs typeface="Muli Ultra-Bold"/>
                <a:sym typeface="Muli Ultra-Bold"/>
              </a:rPr>
              <a:t>Y VITAL STATS</a:t>
            </a:r>
          </a:p>
          <a:p>
            <a:pPr algn="ctr">
              <a:lnSpc>
                <a:spcPts val="2859"/>
              </a:lnSpc>
              <a:spcBef>
                <a:spcPct val="0"/>
              </a:spcBef>
            </a:pPr>
          </a:p>
        </p:txBody>
      </p:sp>
      <p:sp>
        <p:nvSpPr>
          <p:cNvPr name="TextBox 51" id="51"/>
          <p:cNvSpPr txBox="true"/>
          <p:nvPr/>
        </p:nvSpPr>
        <p:spPr>
          <a:xfrm rot="0">
            <a:off x="382526" y="5124450"/>
            <a:ext cx="5037832" cy="1438910"/>
          </a:xfrm>
          <a:prstGeom prst="rect">
            <a:avLst/>
          </a:prstGeom>
        </p:spPr>
        <p:txBody>
          <a:bodyPr anchor="t" rtlCol="false" tIns="0" lIns="0" bIns="0" rIns="0">
            <a:spAutoFit/>
          </a:bodyPr>
          <a:lstStyle/>
          <a:p>
            <a:pPr algn="l">
              <a:lnSpc>
                <a:spcPts val="2859"/>
              </a:lnSpc>
              <a:spcBef>
                <a:spcPct val="0"/>
              </a:spcBef>
            </a:pPr>
            <a:r>
              <a:rPr lang="en-US" sz="2199" spc="-65">
                <a:solidFill>
                  <a:srgbClr val="000000"/>
                </a:solidFill>
                <a:latin typeface="Muli"/>
                <a:ea typeface="Muli"/>
                <a:cs typeface="Muli"/>
                <a:sym typeface="Muli"/>
              </a:rPr>
              <a:t>S&amp;P ranks #8 </a:t>
            </a:r>
            <a:r>
              <a:rPr lang="en-US" sz="2199" spc="-65">
                <a:solidFill>
                  <a:srgbClr val="000000"/>
                </a:solidFill>
                <a:latin typeface="Muli"/>
                <a:ea typeface="Muli"/>
                <a:cs typeface="Muli"/>
                <a:sym typeface="Muli"/>
              </a:rPr>
              <a:t>of 12 months</a:t>
            </a:r>
          </a:p>
          <a:p>
            <a:pPr algn="l">
              <a:lnSpc>
                <a:spcPts val="2859"/>
              </a:lnSpc>
              <a:spcBef>
                <a:spcPct val="0"/>
              </a:spcBef>
            </a:pPr>
            <a:r>
              <a:rPr lang="en-US" sz="2199" spc="-65">
                <a:solidFill>
                  <a:srgbClr val="000000"/>
                </a:solidFill>
                <a:latin typeface="Muli"/>
                <a:ea typeface="Muli"/>
                <a:cs typeface="Muli"/>
                <a:sym typeface="Muli"/>
              </a:rPr>
              <a:t>Normal avg: +0.3%</a:t>
            </a:r>
          </a:p>
          <a:p>
            <a:pPr algn="l">
              <a:lnSpc>
                <a:spcPts val="2859"/>
              </a:lnSpc>
              <a:spcBef>
                <a:spcPct val="0"/>
              </a:spcBef>
            </a:pPr>
            <a:r>
              <a:rPr lang="en-US" sz="2199" spc="-65">
                <a:solidFill>
                  <a:srgbClr val="000000"/>
                </a:solidFill>
                <a:latin typeface="Muli"/>
                <a:ea typeface="Muli"/>
                <a:cs typeface="Muli"/>
                <a:sym typeface="Muli"/>
              </a:rPr>
              <a:t>Midterm year avg: </a:t>
            </a:r>
            <a:r>
              <a:rPr lang="en-US" sz="2199" spc="-65">
                <a:solidFill>
                  <a:srgbClr val="DF200C"/>
                </a:solidFill>
                <a:latin typeface="Muli"/>
                <a:ea typeface="Muli"/>
                <a:cs typeface="Muli"/>
                <a:sym typeface="Muli"/>
              </a:rPr>
              <a:t>−0.7% ← 2026 context</a:t>
            </a:r>
          </a:p>
          <a:p>
            <a:pPr algn="l">
              <a:lnSpc>
                <a:spcPts val="2859"/>
              </a:lnSpc>
              <a:spcBef>
                <a:spcPct val="0"/>
              </a:spcBef>
            </a:pPr>
          </a:p>
        </p:txBody>
      </p:sp>
      <p:sp>
        <p:nvSpPr>
          <p:cNvPr name="TextBox 52" id="52"/>
          <p:cNvSpPr txBox="true"/>
          <p:nvPr/>
        </p:nvSpPr>
        <p:spPr>
          <a:xfrm rot="0">
            <a:off x="6288695" y="2106483"/>
            <a:ext cx="5710758" cy="715010"/>
          </a:xfrm>
          <a:prstGeom prst="rect">
            <a:avLst/>
          </a:prstGeom>
        </p:spPr>
        <p:txBody>
          <a:bodyPr anchor="t" rtlCol="false" tIns="0" lIns="0" bIns="0" rIns="0">
            <a:spAutoFit/>
          </a:bodyPr>
          <a:lstStyle/>
          <a:p>
            <a:pPr algn="l">
              <a:lnSpc>
                <a:spcPts val="2859"/>
              </a:lnSpc>
              <a:spcBef>
                <a:spcPct val="0"/>
              </a:spcBef>
            </a:pPr>
            <a:r>
              <a:rPr lang="en-US" b="true" sz="2199" spc="395">
                <a:solidFill>
                  <a:srgbClr val="FF7B26"/>
                </a:solidFill>
                <a:latin typeface="Muli Ultra-Bold"/>
                <a:ea typeface="Muli Ultra-Bold"/>
                <a:cs typeface="Muli Ultra-Bold"/>
                <a:sym typeface="Muli Ultra-Bold"/>
              </a:rPr>
              <a:t>MEMORIAL DA</a:t>
            </a:r>
            <a:r>
              <a:rPr lang="en-US" b="true" sz="2199" spc="395">
                <a:solidFill>
                  <a:srgbClr val="FF7B26"/>
                </a:solidFill>
                <a:latin typeface="Muli Ultra-Bold"/>
                <a:ea typeface="Muli Ultra-Bold"/>
                <a:cs typeface="Muli Ultra-Bold"/>
                <a:sym typeface="Muli Ultra-Bold"/>
              </a:rPr>
              <a:t>Y WEEK PATTERN</a:t>
            </a:r>
          </a:p>
          <a:p>
            <a:pPr algn="l">
              <a:lnSpc>
                <a:spcPts val="2859"/>
              </a:lnSpc>
              <a:spcBef>
                <a:spcPct val="0"/>
              </a:spcBef>
            </a:pPr>
          </a:p>
        </p:txBody>
      </p:sp>
      <p:sp>
        <p:nvSpPr>
          <p:cNvPr name="TextBox 53" id="53"/>
          <p:cNvSpPr txBox="true"/>
          <p:nvPr/>
        </p:nvSpPr>
        <p:spPr>
          <a:xfrm rot="0">
            <a:off x="6412862" y="2930615"/>
            <a:ext cx="3258160" cy="715010"/>
          </a:xfrm>
          <a:prstGeom prst="rect">
            <a:avLst/>
          </a:prstGeom>
        </p:spPr>
        <p:txBody>
          <a:bodyPr anchor="t" rtlCol="false" tIns="0" lIns="0" bIns="0" rIns="0">
            <a:spAutoFit/>
          </a:bodyPr>
          <a:lstStyle/>
          <a:p>
            <a:pPr algn="just">
              <a:lnSpc>
                <a:spcPts val="2859"/>
              </a:lnSpc>
              <a:spcBef>
                <a:spcPct val="0"/>
              </a:spcBef>
            </a:pPr>
            <a:r>
              <a:rPr lang="en-US" sz="2199" spc="-65">
                <a:solidFill>
                  <a:srgbClr val="000000"/>
                </a:solidFill>
                <a:latin typeface="Muli"/>
                <a:ea typeface="Muli"/>
                <a:cs typeface="Muli"/>
                <a:sym typeface="Muli"/>
              </a:rPr>
              <a:t>D</a:t>
            </a:r>
            <a:r>
              <a:rPr lang="en-US" sz="2199" spc="-65">
                <a:solidFill>
                  <a:srgbClr val="000000"/>
                </a:solidFill>
                <a:latin typeface="Muli"/>
                <a:ea typeface="Muli"/>
                <a:cs typeface="Muli"/>
                <a:sym typeface="Muli"/>
              </a:rPr>
              <a:t>ow ↓ 17 of 29</a:t>
            </a:r>
          </a:p>
          <a:p>
            <a:pPr algn="just">
              <a:lnSpc>
                <a:spcPts val="2859"/>
              </a:lnSpc>
              <a:spcBef>
                <a:spcPct val="0"/>
              </a:spcBef>
            </a:pPr>
          </a:p>
        </p:txBody>
      </p:sp>
      <p:sp>
        <p:nvSpPr>
          <p:cNvPr name="TextBox 54" id="54"/>
          <p:cNvSpPr txBox="true"/>
          <p:nvPr/>
        </p:nvSpPr>
        <p:spPr>
          <a:xfrm rot="0">
            <a:off x="6412862" y="2582635"/>
            <a:ext cx="3258160" cy="715010"/>
          </a:xfrm>
          <a:prstGeom prst="rect">
            <a:avLst/>
          </a:prstGeom>
        </p:spPr>
        <p:txBody>
          <a:bodyPr anchor="t" rtlCol="false" tIns="0" lIns="0" bIns="0" rIns="0">
            <a:spAutoFit/>
          </a:bodyPr>
          <a:lstStyle/>
          <a:p>
            <a:pPr algn="l">
              <a:lnSpc>
                <a:spcPts val="2859"/>
              </a:lnSpc>
              <a:spcBef>
                <a:spcPct val="0"/>
              </a:spcBef>
            </a:pPr>
            <a:r>
              <a:rPr lang="en-US" b="true" sz="2199" spc="-65">
                <a:solidFill>
                  <a:srgbClr val="000000"/>
                </a:solidFill>
                <a:latin typeface="Muli Ultra-Bold"/>
                <a:ea typeface="Muli Ultra-Bold"/>
                <a:cs typeface="Muli Ultra-Bold"/>
                <a:sym typeface="Muli Ultra-Bold"/>
              </a:rPr>
              <a:t>Mem</a:t>
            </a:r>
            <a:r>
              <a:rPr lang="en-US" b="true" sz="2199" spc="-65">
                <a:solidFill>
                  <a:srgbClr val="000000"/>
                </a:solidFill>
                <a:latin typeface="Muli Ultra-Bold"/>
                <a:ea typeface="Muli Ultra-Bold"/>
                <a:cs typeface="Muli Ultra-Bold"/>
                <a:sym typeface="Muli Ultra-Bold"/>
              </a:rPr>
              <a:t>orial Day Week</a:t>
            </a:r>
          </a:p>
          <a:p>
            <a:pPr algn="l">
              <a:lnSpc>
                <a:spcPts val="2859"/>
              </a:lnSpc>
              <a:spcBef>
                <a:spcPct val="0"/>
              </a:spcBef>
            </a:pPr>
          </a:p>
        </p:txBody>
      </p:sp>
      <p:sp>
        <p:nvSpPr>
          <p:cNvPr name="TextBox 55" id="55"/>
          <p:cNvSpPr txBox="true"/>
          <p:nvPr/>
        </p:nvSpPr>
        <p:spPr>
          <a:xfrm rot="0">
            <a:off x="6412862" y="3668485"/>
            <a:ext cx="2963242" cy="715010"/>
          </a:xfrm>
          <a:prstGeom prst="rect">
            <a:avLst/>
          </a:prstGeom>
        </p:spPr>
        <p:txBody>
          <a:bodyPr anchor="t" rtlCol="false" tIns="0" lIns="0" bIns="0" rIns="0">
            <a:spAutoFit/>
          </a:bodyPr>
          <a:lstStyle/>
          <a:p>
            <a:pPr algn="ctr">
              <a:lnSpc>
                <a:spcPts val="2859"/>
              </a:lnSpc>
              <a:spcBef>
                <a:spcPct val="0"/>
              </a:spcBef>
            </a:pPr>
            <a:r>
              <a:rPr lang="en-US" b="true" sz="2199" spc="-65">
                <a:solidFill>
                  <a:srgbClr val="000000"/>
                </a:solidFill>
                <a:latin typeface="Muli Ultra-Bold"/>
                <a:ea typeface="Muli Ultra-Bold"/>
                <a:cs typeface="Muli Ultra-Bold"/>
                <a:sym typeface="Muli Ultra-Bold"/>
              </a:rPr>
              <a:t>D</a:t>
            </a:r>
            <a:r>
              <a:rPr lang="en-US" b="true" sz="2199" spc="-65">
                <a:solidFill>
                  <a:srgbClr val="000000"/>
                </a:solidFill>
                <a:latin typeface="Muli Ultra-Bold"/>
                <a:ea typeface="Muli Ultra-Bold"/>
                <a:cs typeface="Muli Ultra-Bold"/>
                <a:sym typeface="Muli Ultra-Bold"/>
              </a:rPr>
              <a:t>ay After (Tue 27 May)</a:t>
            </a:r>
          </a:p>
          <a:p>
            <a:pPr algn="ctr">
              <a:lnSpc>
                <a:spcPts val="2859"/>
              </a:lnSpc>
              <a:spcBef>
                <a:spcPct val="0"/>
              </a:spcBef>
            </a:pPr>
          </a:p>
        </p:txBody>
      </p:sp>
      <p:sp>
        <p:nvSpPr>
          <p:cNvPr name="TextBox 56" id="56"/>
          <p:cNvSpPr txBox="true"/>
          <p:nvPr/>
        </p:nvSpPr>
        <p:spPr>
          <a:xfrm rot="0">
            <a:off x="6412862" y="4026626"/>
            <a:ext cx="2327970" cy="715010"/>
          </a:xfrm>
          <a:prstGeom prst="rect">
            <a:avLst/>
          </a:prstGeom>
        </p:spPr>
        <p:txBody>
          <a:bodyPr anchor="t" rtlCol="false" tIns="0" lIns="0" bIns="0" rIns="0">
            <a:spAutoFit/>
          </a:bodyPr>
          <a:lstStyle/>
          <a:p>
            <a:pPr algn="ctr">
              <a:lnSpc>
                <a:spcPts val="2859"/>
              </a:lnSpc>
              <a:spcBef>
                <a:spcPct val="0"/>
              </a:spcBef>
            </a:pPr>
            <a:r>
              <a:rPr lang="en-US" sz="2199" spc="-65">
                <a:solidFill>
                  <a:srgbClr val="000000"/>
                </a:solidFill>
                <a:latin typeface="Muli"/>
                <a:ea typeface="Muli"/>
                <a:cs typeface="Muli"/>
                <a:sym typeface="Muli"/>
              </a:rPr>
              <a:t>D</a:t>
            </a:r>
            <a:r>
              <a:rPr lang="en-US" sz="2199" spc="-65">
                <a:solidFill>
                  <a:srgbClr val="000000"/>
                </a:solidFill>
                <a:latin typeface="Muli"/>
                <a:ea typeface="Muli"/>
                <a:cs typeface="Muli"/>
                <a:sym typeface="Muli"/>
              </a:rPr>
              <a:t>ow ↓ 8 of last 10</a:t>
            </a:r>
          </a:p>
          <a:p>
            <a:pPr algn="ctr">
              <a:lnSpc>
                <a:spcPts val="2859"/>
              </a:lnSpc>
              <a:spcBef>
                <a:spcPct val="0"/>
              </a:spcBef>
            </a:pPr>
          </a:p>
        </p:txBody>
      </p:sp>
      <p:sp>
        <p:nvSpPr>
          <p:cNvPr name="TextBox 57" id="57"/>
          <p:cNvSpPr txBox="true"/>
          <p:nvPr/>
        </p:nvSpPr>
        <p:spPr>
          <a:xfrm rot="0">
            <a:off x="6412862" y="4836886"/>
            <a:ext cx="2789486" cy="715010"/>
          </a:xfrm>
          <a:prstGeom prst="rect">
            <a:avLst/>
          </a:prstGeom>
        </p:spPr>
        <p:txBody>
          <a:bodyPr anchor="t" rtlCol="false" tIns="0" lIns="0" bIns="0" rIns="0">
            <a:spAutoFit/>
          </a:bodyPr>
          <a:lstStyle/>
          <a:p>
            <a:pPr algn="ctr">
              <a:lnSpc>
                <a:spcPts val="2859"/>
              </a:lnSpc>
              <a:spcBef>
                <a:spcPct val="0"/>
              </a:spcBef>
            </a:pPr>
            <a:r>
              <a:rPr lang="en-US" b="true" sz="2199" spc="-65">
                <a:solidFill>
                  <a:srgbClr val="000000"/>
                </a:solidFill>
                <a:latin typeface="Muli Ultra-Bold"/>
                <a:ea typeface="Muli Ultra-Bold"/>
                <a:cs typeface="Muli Ultra-Bold"/>
                <a:sym typeface="Muli Ultra-Bold"/>
              </a:rPr>
              <a:t>Post-Expir</a:t>
            </a:r>
            <a:r>
              <a:rPr lang="en-US" b="true" sz="2199" spc="-65">
                <a:solidFill>
                  <a:srgbClr val="000000"/>
                </a:solidFill>
                <a:latin typeface="Muli Ultra-Bold"/>
                <a:ea typeface="Muli Ultra-Bold"/>
                <a:cs typeface="Muli Ultra-Bold"/>
                <a:sym typeface="Muli Ultra-Bold"/>
              </a:rPr>
              <a:t>ation Week</a:t>
            </a:r>
          </a:p>
          <a:p>
            <a:pPr algn="ctr">
              <a:lnSpc>
                <a:spcPts val="2859"/>
              </a:lnSpc>
              <a:spcBef>
                <a:spcPct val="0"/>
              </a:spcBef>
            </a:pPr>
          </a:p>
        </p:txBody>
      </p:sp>
      <p:sp>
        <p:nvSpPr>
          <p:cNvPr name="TextBox 58" id="58"/>
          <p:cNvSpPr txBox="true"/>
          <p:nvPr/>
        </p:nvSpPr>
        <p:spPr>
          <a:xfrm rot="0">
            <a:off x="6412862" y="5267578"/>
            <a:ext cx="2327970" cy="715010"/>
          </a:xfrm>
          <a:prstGeom prst="rect">
            <a:avLst/>
          </a:prstGeom>
        </p:spPr>
        <p:txBody>
          <a:bodyPr anchor="t" rtlCol="false" tIns="0" lIns="0" bIns="0" rIns="0">
            <a:spAutoFit/>
          </a:bodyPr>
          <a:lstStyle/>
          <a:p>
            <a:pPr algn="ctr">
              <a:lnSpc>
                <a:spcPts val="2859"/>
              </a:lnSpc>
              <a:spcBef>
                <a:spcPct val="0"/>
              </a:spcBef>
            </a:pPr>
            <a:r>
              <a:rPr lang="en-US" sz="2199" spc="-65">
                <a:solidFill>
                  <a:srgbClr val="000000"/>
                </a:solidFill>
                <a:latin typeface="Muli"/>
                <a:ea typeface="Muli"/>
                <a:cs typeface="Muli"/>
                <a:sym typeface="Muli"/>
              </a:rPr>
              <a:t>S&amp;P</a:t>
            </a:r>
            <a:r>
              <a:rPr lang="en-US" sz="2199" spc="-65">
                <a:solidFill>
                  <a:srgbClr val="000000"/>
                </a:solidFill>
                <a:latin typeface="Muli"/>
                <a:ea typeface="Muli"/>
                <a:cs typeface="Muli"/>
                <a:sym typeface="Muli"/>
              </a:rPr>
              <a:t> ↑ 30 of 45</a:t>
            </a:r>
          </a:p>
          <a:p>
            <a:pPr algn="ctr">
              <a:lnSpc>
                <a:spcPts val="2859"/>
              </a:lnSpc>
              <a:spcBef>
                <a:spcPct val="0"/>
              </a:spcBef>
            </a:pPr>
          </a:p>
        </p:txBody>
      </p:sp>
      <p:sp>
        <p:nvSpPr>
          <p:cNvPr name="TextBox 59" id="59"/>
          <p:cNvSpPr txBox="true"/>
          <p:nvPr/>
        </p:nvSpPr>
        <p:spPr>
          <a:xfrm rot="0">
            <a:off x="6288546" y="6030213"/>
            <a:ext cx="4551156" cy="715010"/>
          </a:xfrm>
          <a:prstGeom prst="rect">
            <a:avLst/>
          </a:prstGeom>
        </p:spPr>
        <p:txBody>
          <a:bodyPr anchor="t" rtlCol="false" tIns="0" lIns="0" bIns="0" rIns="0">
            <a:spAutoFit/>
          </a:bodyPr>
          <a:lstStyle/>
          <a:p>
            <a:pPr algn="l">
              <a:lnSpc>
                <a:spcPts val="2859"/>
              </a:lnSpc>
              <a:spcBef>
                <a:spcPct val="0"/>
              </a:spcBef>
            </a:pPr>
            <a:r>
              <a:rPr lang="en-US" b="true" sz="2199" i="true" spc="-65">
                <a:solidFill>
                  <a:srgbClr val="000000"/>
                </a:solidFill>
                <a:latin typeface="Muli Ultra-Bold Italics"/>
                <a:ea typeface="Muli Ultra-Bold Italics"/>
                <a:cs typeface="Muli Ultra-Bold Italics"/>
                <a:sym typeface="Muli Ultra-Bold Italics"/>
              </a:rPr>
              <a:t>NET:</a:t>
            </a:r>
            <a:r>
              <a:rPr lang="en-US" b="true" sz="2199" i="true" spc="-65">
                <a:solidFill>
                  <a:srgbClr val="000000"/>
                </a:solidFill>
                <a:latin typeface="Muli Ultra-Bold Italics"/>
                <a:ea typeface="Muli Ultra-Bold Italics"/>
                <a:cs typeface="Muli Ultra-Bold Italics"/>
                <a:sym typeface="Muli Ultra-Bold Italics"/>
              </a:rPr>
              <a:t> Mixed / Slight Bearish Lean</a:t>
            </a:r>
          </a:p>
          <a:p>
            <a:pPr algn="l">
              <a:lnSpc>
                <a:spcPts val="2859"/>
              </a:lnSpc>
              <a:spcBef>
                <a:spcPct val="0"/>
              </a:spcBef>
            </a:pPr>
          </a:p>
        </p:txBody>
      </p:sp>
      <p:grpSp>
        <p:nvGrpSpPr>
          <p:cNvPr name="Group 60" id="60"/>
          <p:cNvGrpSpPr/>
          <p:nvPr/>
        </p:nvGrpSpPr>
        <p:grpSpPr>
          <a:xfrm rot="0">
            <a:off x="12702218" y="3850295"/>
            <a:ext cx="939788" cy="703979"/>
            <a:chOff x="0" y="0"/>
            <a:chExt cx="247516" cy="185410"/>
          </a:xfrm>
        </p:grpSpPr>
        <p:sp>
          <p:nvSpPr>
            <p:cNvPr name="Freeform 61" id="61"/>
            <p:cNvSpPr/>
            <p:nvPr/>
          </p:nvSpPr>
          <p:spPr>
            <a:xfrm flipH="false" flipV="false" rot="0">
              <a:off x="0" y="0"/>
              <a:ext cx="247516" cy="185410"/>
            </a:xfrm>
            <a:custGeom>
              <a:avLst/>
              <a:gdLst/>
              <a:ahLst/>
              <a:cxnLst/>
              <a:rect r="r" b="b" t="t" l="l"/>
              <a:pathLst>
                <a:path h="185410" w="247516">
                  <a:moveTo>
                    <a:pt x="92705" y="0"/>
                  </a:moveTo>
                  <a:lnTo>
                    <a:pt x="154811" y="0"/>
                  </a:lnTo>
                  <a:cubicBezTo>
                    <a:pt x="179398" y="0"/>
                    <a:pt x="202978" y="9767"/>
                    <a:pt x="220363" y="27153"/>
                  </a:cubicBezTo>
                  <a:cubicBezTo>
                    <a:pt x="237749" y="44538"/>
                    <a:pt x="247516" y="68118"/>
                    <a:pt x="247516" y="92705"/>
                  </a:cubicBezTo>
                  <a:lnTo>
                    <a:pt x="247516" y="92705"/>
                  </a:lnTo>
                  <a:cubicBezTo>
                    <a:pt x="247516" y="117292"/>
                    <a:pt x="237749" y="140872"/>
                    <a:pt x="220363" y="158257"/>
                  </a:cubicBezTo>
                  <a:cubicBezTo>
                    <a:pt x="202978" y="175643"/>
                    <a:pt x="179398" y="185410"/>
                    <a:pt x="154811" y="185410"/>
                  </a:cubicBezTo>
                  <a:lnTo>
                    <a:pt x="92705" y="185410"/>
                  </a:lnTo>
                  <a:cubicBezTo>
                    <a:pt x="68118" y="185410"/>
                    <a:pt x="44538" y="175643"/>
                    <a:pt x="27153" y="158257"/>
                  </a:cubicBezTo>
                  <a:cubicBezTo>
                    <a:pt x="9767" y="140872"/>
                    <a:pt x="0" y="117292"/>
                    <a:pt x="0" y="92705"/>
                  </a:cubicBezTo>
                  <a:lnTo>
                    <a:pt x="0" y="92705"/>
                  </a:lnTo>
                  <a:cubicBezTo>
                    <a:pt x="0" y="68118"/>
                    <a:pt x="9767" y="44538"/>
                    <a:pt x="27153" y="27153"/>
                  </a:cubicBezTo>
                  <a:cubicBezTo>
                    <a:pt x="44538" y="9767"/>
                    <a:pt x="68118" y="0"/>
                    <a:pt x="92705" y="0"/>
                  </a:cubicBezTo>
                  <a:close/>
                </a:path>
              </a:pathLst>
            </a:custGeom>
            <a:solidFill>
              <a:srgbClr val="C0392B"/>
            </a:solidFill>
          </p:spPr>
        </p:sp>
        <p:sp>
          <p:nvSpPr>
            <p:cNvPr name="TextBox 62" id="62"/>
            <p:cNvSpPr txBox="true"/>
            <p:nvPr/>
          </p:nvSpPr>
          <p:spPr>
            <a:xfrm>
              <a:off x="0" y="-19050"/>
              <a:ext cx="247516" cy="204460"/>
            </a:xfrm>
            <a:prstGeom prst="rect">
              <a:avLst/>
            </a:prstGeom>
          </p:spPr>
          <p:txBody>
            <a:bodyPr anchor="ctr" rtlCol="false" tIns="50800" lIns="50800" bIns="50800" rIns="50800"/>
            <a:lstStyle/>
            <a:p>
              <a:pPr algn="ctr">
                <a:lnSpc>
                  <a:spcPts val="2859"/>
                </a:lnSpc>
              </a:pPr>
              <a:r>
                <a:rPr lang="en-US" b="true" sz="2199" spc="-65">
                  <a:solidFill>
                    <a:srgbClr val="FFFFFF"/>
                  </a:solidFill>
                  <a:latin typeface="Muli Ultra-Bold"/>
                  <a:ea typeface="Muli Ultra-Bold"/>
                  <a:cs typeface="Muli Ultra-Bold"/>
                  <a:sym typeface="Muli Ultra-Bold"/>
                </a:rPr>
                <a:t>XLF</a:t>
              </a:r>
            </a:p>
          </p:txBody>
        </p:sp>
      </p:grpSp>
      <p:grpSp>
        <p:nvGrpSpPr>
          <p:cNvPr name="Group 63" id="63"/>
          <p:cNvGrpSpPr/>
          <p:nvPr/>
        </p:nvGrpSpPr>
        <p:grpSpPr>
          <a:xfrm rot="0">
            <a:off x="12702218" y="5030910"/>
            <a:ext cx="939788" cy="703979"/>
            <a:chOff x="0" y="0"/>
            <a:chExt cx="247516" cy="185410"/>
          </a:xfrm>
        </p:grpSpPr>
        <p:sp>
          <p:nvSpPr>
            <p:cNvPr name="Freeform 64" id="64"/>
            <p:cNvSpPr/>
            <p:nvPr/>
          </p:nvSpPr>
          <p:spPr>
            <a:xfrm flipH="false" flipV="false" rot="0">
              <a:off x="0" y="0"/>
              <a:ext cx="247516" cy="185410"/>
            </a:xfrm>
            <a:custGeom>
              <a:avLst/>
              <a:gdLst/>
              <a:ahLst/>
              <a:cxnLst/>
              <a:rect r="r" b="b" t="t" l="l"/>
              <a:pathLst>
                <a:path h="185410" w="247516">
                  <a:moveTo>
                    <a:pt x="92705" y="0"/>
                  </a:moveTo>
                  <a:lnTo>
                    <a:pt x="154811" y="0"/>
                  </a:lnTo>
                  <a:cubicBezTo>
                    <a:pt x="179398" y="0"/>
                    <a:pt x="202978" y="9767"/>
                    <a:pt x="220363" y="27153"/>
                  </a:cubicBezTo>
                  <a:cubicBezTo>
                    <a:pt x="237749" y="44538"/>
                    <a:pt x="247516" y="68118"/>
                    <a:pt x="247516" y="92705"/>
                  </a:cubicBezTo>
                  <a:lnTo>
                    <a:pt x="247516" y="92705"/>
                  </a:lnTo>
                  <a:cubicBezTo>
                    <a:pt x="247516" y="117292"/>
                    <a:pt x="237749" y="140872"/>
                    <a:pt x="220363" y="158257"/>
                  </a:cubicBezTo>
                  <a:cubicBezTo>
                    <a:pt x="202978" y="175643"/>
                    <a:pt x="179398" y="185410"/>
                    <a:pt x="154811" y="185410"/>
                  </a:cubicBezTo>
                  <a:lnTo>
                    <a:pt x="92705" y="185410"/>
                  </a:lnTo>
                  <a:cubicBezTo>
                    <a:pt x="68118" y="185410"/>
                    <a:pt x="44538" y="175643"/>
                    <a:pt x="27153" y="158257"/>
                  </a:cubicBezTo>
                  <a:cubicBezTo>
                    <a:pt x="9767" y="140872"/>
                    <a:pt x="0" y="117292"/>
                    <a:pt x="0" y="92705"/>
                  </a:cubicBezTo>
                  <a:lnTo>
                    <a:pt x="0" y="92705"/>
                  </a:lnTo>
                  <a:cubicBezTo>
                    <a:pt x="0" y="68118"/>
                    <a:pt x="9767" y="44538"/>
                    <a:pt x="27153" y="27153"/>
                  </a:cubicBezTo>
                  <a:cubicBezTo>
                    <a:pt x="44538" y="9767"/>
                    <a:pt x="68118" y="0"/>
                    <a:pt x="92705" y="0"/>
                  </a:cubicBezTo>
                  <a:close/>
                </a:path>
              </a:pathLst>
            </a:custGeom>
            <a:solidFill>
              <a:srgbClr val="C0392B"/>
            </a:solidFill>
          </p:spPr>
        </p:sp>
        <p:sp>
          <p:nvSpPr>
            <p:cNvPr name="TextBox 65" id="65"/>
            <p:cNvSpPr txBox="true"/>
            <p:nvPr/>
          </p:nvSpPr>
          <p:spPr>
            <a:xfrm>
              <a:off x="0" y="-19050"/>
              <a:ext cx="247516" cy="204460"/>
            </a:xfrm>
            <a:prstGeom prst="rect">
              <a:avLst/>
            </a:prstGeom>
          </p:spPr>
          <p:txBody>
            <a:bodyPr anchor="ctr" rtlCol="false" tIns="50800" lIns="50800" bIns="50800" rIns="50800"/>
            <a:lstStyle/>
            <a:p>
              <a:pPr algn="ctr">
                <a:lnSpc>
                  <a:spcPts val="2859"/>
                </a:lnSpc>
              </a:pPr>
              <a:r>
                <a:rPr lang="en-US" b="true" sz="2199" spc="-65">
                  <a:solidFill>
                    <a:srgbClr val="FFFFFF"/>
                  </a:solidFill>
                  <a:latin typeface="Muli Ultra-Bold"/>
                  <a:ea typeface="Muli Ultra-Bold"/>
                  <a:cs typeface="Muli Ultra-Bold"/>
                  <a:sym typeface="Muli Ultra-Bold"/>
                </a:rPr>
                <a:t>XAU</a:t>
              </a:r>
            </a:p>
          </p:txBody>
        </p:sp>
      </p:grpSp>
      <p:grpSp>
        <p:nvGrpSpPr>
          <p:cNvPr name="Group 66" id="66"/>
          <p:cNvGrpSpPr/>
          <p:nvPr/>
        </p:nvGrpSpPr>
        <p:grpSpPr>
          <a:xfrm rot="0">
            <a:off x="12702218" y="6175470"/>
            <a:ext cx="939788" cy="703979"/>
            <a:chOff x="0" y="0"/>
            <a:chExt cx="247516" cy="185410"/>
          </a:xfrm>
        </p:grpSpPr>
        <p:sp>
          <p:nvSpPr>
            <p:cNvPr name="Freeform 67" id="67"/>
            <p:cNvSpPr/>
            <p:nvPr/>
          </p:nvSpPr>
          <p:spPr>
            <a:xfrm flipH="false" flipV="false" rot="0">
              <a:off x="0" y="0"/>
              <a:ext cx="247516" cy="185410"/>
            </a:xfrm>
            <a:custGeom>
              <a:avLst/>
              <a:gdLst/>
              <a:ahLst/>
              <a:cxnLst/>
              <a:rect r="r" b="b" t="t" l="l"/>
              <a:pathLst>
                <a:path h="185410" w="247516">
                  <a:moveTo>
                    <a:pt x="92705" y="0"/>
                  </a:moveTo>
                  <a:lnTo>
                    <a:pt x="154811" y="0"/>
                  </a:lnTo>
                  <a:cubicBezTo>
                    <a:pt x="179398" y="0"/>
                    <a:pt x="202978" y="9767"/>
                    <a:pt x="220363" y="27153"/>
                  </a:cubicBezTo>
                  <a:cubicBezTo>
                    <a:pt x="237749" y="44538"/>
                    <a:pt x="247516" y="68118"/>
                    <a:pt x="247516" y="92705"/>
                  </a:cubicBezTo>
                  <a:lnTo>
                    <a:pt x="247516" y="92705"/>
                  </a:lnTo>
                  <a:cubicBezTo>
                    <a:pt x="247516" y="117292"/>
                    <a:pt x="237749" y="140872"/>
                    <a:pt x="220363" y="158257"/>
                  </a:cubicBezTo>
                  <a:cubicBezTo>
                    <a:pt x="202978" y="175643"/>
                    <a:pt x="179398" y="185410"/>
                    <a:pt x="154811" y="185410"/>
                  </a:cubicBezTo>
                  <a:lnTo>
                    <a:pt x="92705" y="185410"/>
                  </a:lnTo>
                  <a:cubicBezTo>
                    <a:pt x="68118" y="185410"/>
                    <a:pt x="44538" y="175643"/>
                    <a:pt x="27153" y="158257"/>
                  </a:cubicBezTo>
                  <a:cubicBezTo>
                    <a:pt x="9767" y="140872"/>
                    <a:pt x="0" y="117292"/>
                    <a:pt x="0" y="92705"/>
                  </a:cubicBezTo>
                  <a:lnTo>
                    <a:pt x="0" y="92705"/>
                  </a:lnTo>
                  <a:cubicBezTo>
                    <a:pt x="0" y="68118"/>
                    <a:pt x="9767" y="44538"/>
                    <a:pt x="27153" y="27153"/>
                  </a:cubicBezTo>
                  <a:cubicBezTo>
                    <a:pt x="44538" y="9767"/>
                    <a:pt x="68118" y="0"/>
                    <a:pt x="92705" y="0"/>
                  </a:cubicBezTo>
                  <a:close/>
                </a:path>
              </a:pathLst>
            </a:custGeom>
            <a:solidFill>
              <a:srgbClr val="C0392B"/>
            </a:solidFill>
          </p:spPr>
        </p:sp>
        <p:sp>
          <p:nvSpPr>
            <p:cNvPr name="TextBox 68" id="68"/>
            <p:cNvSpPr txBox="true"/>
            <p:nvPr/>
          </p:nvSpPr>
          <p:spPr>
            <a:xfrm>
              <a:off x="0" y="-19050"/>
              <a:ext cx="247516" cy="204460"/>
            </a:xfrm>
            <a:prstGeom prst="rect">
              <a:avLst/>
            </a:prstGeom>
          </p:spPr>
          <p:txBody>
            <a:bodyPr anchor="ctr" rtlCol="false" tIns="50800" lIns="50800" bIns="50800" rIns="50800"/>
            <a:lstStyle/>
            <a:p>
              <a:pPr algn="ctr">
                <a:lnSpc>
                  <a:spcPts val="2859"/>
                </a:lnSpc>
              </a:pPr>
              <a:r>
                <a:rPr lang="en-US" b="true" sz="2199" spc="-65">
                  <a:solidFill>
                    <a:srgbClr val="FFFFFF"/>
                  </a:solidFill>
                  <a:latin typeface="Muli Ultra-Bold"/>
                  <a:ea typeface="Muli Ultra-Bold"/>
                  <a:cs typeface="Muli Ultra-Bold"/>
                  <a:sym typeface="Muli Ultra-Bold"/>
                </a:rPr>
                <a:t>XLB</a:t>
              </a:r>
            </a:p>
          </p:txBody>
        </p:sp>
      </p:grpSp>
      <p:sp>
        <p:nvSpPr>
          <p:cNvPr name="TextBox 69" id="69"/>
          <p:cNvSpPr txBox="true"/>
          <p:nvPr/>
        </p:nvSpPr>
        <p:spPr>
          <a:xfrm rot="0">
            <a:off x="13737256" y="2620548"/>
            <a:ext cx="1661729" cy="715010"/>
          </a:xfrm>
          <a:prstGeom prst="rect">
            <a:avLst/>
          </a:prstGeom>
        </p:spPr>
        <p:txBody>
          <a:bodyPr anchor="t" rtlCol="false" tIns="0" lIns="0" bIns="0" rIns="0">
            <a:spAutoFit/>
          </a:bodyPr>
          <a:lstStyle/>
          <a:p>
            <a:pPr algn="l">
              <a:lnSpc>
                <a:spcPts val="2859"/>
              </a:lnSpc>
            </a:pPr>
            <a:r>
              <a:rPr lang="en-US" sz="2199" spc="-65" b="true">
                <a:solidFill>
                  <a:srgbClr val="000000"/>
                </a:solidFill>
                <a:latin typeface="Muli Ultra-Bold"/>
                <a:ea typeface="Muli Ultra-Bold"/>
                <a:cs typeface="Muli Ultra-Bold"/>
                <a:sym typeface="Muli Ultra-Bold"/>
              </a:rPr>
              <a:t>Technology</a:t>
            </a:r>
          </a:p>
          <a:p>
            <a:pPr algn="l">
              <a:lnSpc>
                <a:spcPts val="2859"/>
              </a:lnSpc>
              <a:spcBef>
                <a:spcPct val="0"/>
              </a:spcBef>
            </a:pPr>
          </a:p>
        </p:txBody>
      </p:sp>
      <p:sp>
        <p:nvSpPr>
          <p:cNvPr name="TextBox 70" id="70"/>
          <p:cNvSpPr txBox="true"/>
          <p:nvPr/>
        </p:nvSpPr>
        <p:spPr>
          <a:xfrm rot="0">
            <a:off x="13737256" y="3800776"/>
            <a:ext cx="1163095" cy="715010"/>
          </a:xfrm>
          <a:prstGeom prst="rect">
            <a:avLst/>
          </a:prstGeom>
        </p:spPr>
        <p:txBody>
          <a:bodyPr anchor="t" rtlCol="false" tIns="0" lIns="0" bIns="0" rIns="0">
            <a:spAutoFit/>
          </a:bodyPr>
          <a:lstStyle/>
          <a:p>
            <a:pPr algn="l">
              <a:lnSpc>
                <a:spcPts val="2859"/>
              </a:lnSpc>
              <a:spcBef>
                <a:spcPct val="0"/>
              </a:spcBef>
            </a:pPr>
            <a:r>
              <a:rPr lang="en-US" b="true" sz="2199" spc="-65">
                <a:solidFill>
                  <a:srgbClr val="000000"/>
                </a:solidFill>
                <a:latin typeface="Muli Ultra-Bold"/>
                <a:ea typeface="Muli Ultra-Bold"/>
                <a:cs typeface="Muli Ultra-Bold"/>
                <a:sym typeface="Muli Ultra-Bold"/>
              </a:rPr>
              <a:t>B</a:t>
            </a:r>
            <a:r>
              <a:rPr lang="en-US" b="true" sz="2199" spc="-65">
                <a:solidFill>
                  <a:srgbClr val="000000"/>
                </a:solidFill>
                <a:latin typeface="Muli Ultra-Bold"/>
                <a:ea typeface="Muli Ultra-Bold"/>
                <a:cs typeface="Muli Ultra-Bold"/>
                <a:sym typeface="Muli Ultra-Bold"/>
              </a:rPr>
              <a:t>anking</a:t>
            </a:r>
          </a:p>
          <a:p>
            <a:pPr algn="l">
              <a:lnSpc>
                <a:spcPts val="2859"/>
              </a:lnSpc>
              <a:spcBef>
                <a:spcPct val="0"/>
              </a:spcBef>
            </a:pPr>
          </a:p>
        </p:txBody>
      </p:sp>
      <p:sp>
        <p:nvSpPr>
          <p:cNvPr name="TextBox 71" id="71"/>
          <p:cNvSpPr txBox="true"/>
          <p:nvPr/>
        </p:nvSpPr>
        <p:spPr>
          <a:xfrm rot="0">
            <a:off x="13737256" y="4959253"/>
            <a:ext cx="1437410" cy="715010"/>
          </a:xfrm>
          <a:prstGeom prst="rect">
            <a:avLst/>
          </a:prstGeom>
        </p:spPr>
        <p:txBody>
          <a:bodyPr anchor="t" rtlCol="false" tIns="0" lIns="0" bIns="0" rIns="0">
            <a:spAutoFit/>
          </a:bodyPr>
          <a:lstStyle/>
          <a:p>
            <a:pPr algn="l">
              <a:lnSpc>
                <a:spcPts val="2859"/>
              </a:lnSpc>
              <a:spcBef>
                <a:spcPct val="0"/>
              </a:spcBef>
            </a:pPr>
            <a:r>
              <a:rPr lang="en-US" b="true" sz="2199" spc="-65">
                <a:solidFill>
                  <a:srgbClr val="000000"/>
                </a:solidFill>
                <a:latin typeface="Muli Ultra-Bold"/>
                <a:ea typeface="Muli Ultra-Bold"/>
                <a:cs typeface="Muli Ultra-Bold"/>
                <a:sym typeface="Muli Ultra-Bold"/>
              </a:rPr>
              <a:t>G</a:t>
            </a:r>
            <a:r>
              <a:rPr lang="en-US" b="true" sz="2199" spc="-65">
                <a:solidFill>
                  <a:srgbClr val="000000"/>
                </a:solidFill>
                <a:latin typeface="Muli Ultra-Bold"/>
                <a:ea typeface="Muli Ultra-Bold"/>
                <a:cs typeface="Muli Ultra-Bold"/>
                <a:sym typeface="Muli Ultra-Bold"/>
              </a:rPr>
              <a:t>old/Silver</a:t>
            </a:r>
          </a:p>
          <a:p>
            <a:pPr algn="l">
              <a:lnSpc>
                <a:spcPts val="2859"/>
              </a:lnSpc>
              <a:spcBef>
                <a:spcPct val="0"/>
              </a:spcBef>
            </a:pPr>
          </a:p>
        </p:txBody>
      </p:sp>
      <p:sp>
        <p:nvSpPr>
          <p:cNvPr name="TextBox 72" id="72"/>
          <p:cNvSpPr txBox="true"/>
          <p:nvPr/>
        </p:nvSpPr>
        <p:spPr>
          <a:xfrm rot="0">
            <a:off x="13737256" y="6126823"/>
            <a:ext cx="1437410" cy="353060"/>
          </a:xfrm>
          <a:prstGeom prst="rect">
            <a:avLst/>
          </a:prstGeom>
        </p:spPr>
        <p:txBody>
          <a:bodyPr anchor="t" rtlCol="false" tIns="0" lIns="0" bIns="0" rIns="0">
            <a:spAutoFit/>
          </a:bodyPr>
          <a:lstStyle/>
          <a:p>
            <a:pPr algn="l">
              <a:lnSpc>
                <a:spcPts val="2859"/>
              </a:lnSpc>
              <a:spcBef>
                <a:spcPct val="0"/>
              </a:spcBef>
            </a:pPr>
            <a:r>
              <a:rPr lang="en-US" b="true" sz="2199" spc="-65">
                <a:solidFill>
                  <a:srgbClr val="000000"/>
                </a:solidFill>
                <a:latin typeface="Muli Ultra-Bold"/>
                <a:ea typeface="Muli Ultra-Bold"/>
                <a:cs typeface="Muli Ultra-Bold"/>
                <a:sym typeface="Muli Ultra-Bold"/>
              </a:rPr>
              <a:t>Mate</a:t>
            </a:r>
            <a:r>
              <a:rPr lang="en-US" b="true" sz="2199" spc="-65">
                <a:solidFill>
                  <a:srgbClr val="000000"/>
                </a:solidFill>
                <a:latin typeface="Muli Ultra-Bold"/>
                <a:ea typeface="Muli Ultra-Bold"/>
                <a:cs typeface="Muli Ultra-Bold"/>
                <a:sym typeface="Muli Ultra-Bold"/>
              </a:rPr>
              <a:t>rials</a:t>
            </a:r>
          </a:p>
        </p:txBody>
      </p:sp>
      <p:grpSp>
        <p:nvGrpSpPr>
          <p:cNvPr name="Group 73" id="73"/>
          <p:cNvGrpSpPr/>
          <p:nvPr/>
        </p:nvGrpSpPr>
        <p:grpSpPr>
          <a:xfrm rot="0">
            <a:off x="16671911" y="5022408"/>
            <a:ext cx="1346862" cy="703979"/>
            <a:chOff x="0" y="0"/>
            <a:chExt cx="354729" cy="185410"/>
          </a:xfrm>
        </p:grpSpPr>
        <p:sp>
          <p:nvSpPr>
            <p:cNvPr name="Freeform 74" id="74"/>
            <p:cNvSpPr/>
            <p:nvPr/>
          </p:nvSpPr>
          <p:spPr>
            <a:xfrm flipH="false" flipV="false" rot="0">
              <a:off x="0" y="0"/>
              <a:ext cx="354729" cy="185410"/>
            </a:xfrm>
            <a:custGeom>
              <a:avLst/>
              <a:gdLst/>
              <a:ahLst/>
              <a:cxnLst/>
              <a:rect r="r" b="b" t="t" l="l"/>
              <a:pathLst>
                <a:path h="185410" w="354729">
                  <a:moveTo>
                    <a:pt x="0" y="0"/>
                  </a:moveTo>
                  <a:lnTo>
                    <a:pt x="354729" y="0"/>
                  </a:lnTo>
                  <a:lnTo>
                    <a:pt x="354729" y="185410"/>
                  </a:lnTo>
                  <a:lnTo>
                    <a:pt x="0" y="185410"/>
                  </a:lnTo>
                  <a:close/>
                </a:path>
              </a:pathLst>
            </a:custGeom>
            <a:solidFill>
              <a:srgbClr val="DF200C"/>
            </a:solidFill>
          </p:spPr>
        </p:sp>
        <p:sp>
          <p:nvSpPr>
            <p:cNvPr name="TextBox 75" id="75"/>
            <p:cNvSpPr txBox="true"/>
            <p:nvPr/>
          </p:nvSpPr>
          <p:spPr>
            <a:xfrm>
              <a:off x="0" y="-19050"/>
              <a:ext cx="354729" cy="204460"/>
            </a:xfrm>
            <a:prstGeom prst="rect">
              <a:avLst/>
            </a:prstGeom>
          </p:spPr>
          <p:txBody>
            <a:bodyPr anchor="ctr" rtlCol="false" tIns="50800" lIns="50800" bIns="50800" rIns="50800"/>
            <a:lstStyle/>
            <a:p>
              <a:pPr algn="ctr">
                <a:lnSpc>
                  <a:spcPts val="2859"/>
                </a:lnSpc>
              </a:pPr>
              <a:r>
                <a:rPr lang="en-US" b="true" sz="2199" spc="-65">
                  <a:solidFill>
                    <a:srgbClr val="FFFFFF"/>
                  </a:solidFill>
                  <a:latin typeface="Muli Ultra-Bold"/>
                  <a:ea typeface="Muli Ultra-Bold"/>
                  <a:cs typeface="Muli Ultra-Bold"/>
                  <a:sym typeface="Muli Ultra-Bold"/>
                </a:rPr>
                <a:t>SHORT</a:t>
              </a:r>
            </a:p>
          </p:txBody>
        </p:sp>
      </p:grpSp>
      <p:grpSp>
        <p:nvGrpSpPr>
          <p:cNvPr name="Group 76" id="76"/>
          <p:cNvGrpSpPr/>
          <p:nvPr/>
        </p:nvGrpSpPr>
        <p:grpSpPr>
          <a:xfrm rot="0">
            <a:off x="16671911" y="3811808"/>
            <a:ext cx="1346862" cy="703979"/>
            <a:chOff x="0" y="0"/>
            <a:chExt cx="354729" cy="185410"/>
          </a:xfrm>
        </p:grpSpPr>
        <p:sp>
          <p:nvSpPr>
            <p:cNvPr name="Freeform 77" id="77"/>
            <p:cNvSpPr/>
            <p:nvPr/>
          </p:nvSpPr>
          <p:spPr>
            <a:xfrm flipH="false" flipV="false" rot="0">
              <a:off x="0" y="0"/>
              <a:ext cx="354729" cy="185410"/>
            </a:xfrm>
            <a:custGeom>
              <a:avLst/>
              <a:gdLst/>
              <a:ahLst/>
              <a:cxnLst/>
              <a:rect r="r" b="b" t="t" l="l"/>
              <a:pathLst>
                <a:path h="185410" w="354729">
                  <a:moveTo>
                    <a:pt x="0" y="0"/>
                  </a:moveTo>
                  <a:lnTo>
                    <a:pt x="354729" y="0"/>
                  </a:lnTo>
                  <a:lnTo>
                    <a:pt x="354729" y="185410"/>
                  </a:lnTo>
                  <a:lnTo>
                    <a:pt x="0" y="185410"/>
                  </a:lnTo>
                  <a:close/>
                </a:path>
              </a:pathLst>
            </a:custGeom>
            <a:solidFill>
              <a:srgbClr val="DF200C"/>
            </a:solidFill>
          </p:spPr>
        </p:sp>
        <p:sp>
          <p:nvSpPr>
            <p:cNvPr name="TextBox 78" id="78"/>
            <p:cNvSpPr txBox="true"/>
            <p:nvPr/>
          </p:nvSpPr>
          <p:spPr>
            <a:xfrm>
              <a:off x="0" y="-19050"/>
              <a:ext cx="354729" cy="204460"/>
            </a:xfrm>
            <a:prstGeom prst="rect">
              <a:avLst/>
            </a:prstGeom>
          </p:spPr>
          <p:txBody>
            <a:bodyPr anchor="ctr" rtlCol="false" tIns="50800" lIns="50800" bIns="50800" rIns="50800"/>
            <a:lstStyle/>
            <a:p>
              <a:pPr algn="ctr">
                <a:lnSpc>
                  <a:spcPts val="2859"/>
                </a:lnSpc>
              </a:pPr>
              <a:r>
                <a:rPr lang="en-US" b="true" sz="2199" spc="-65">
                  <a:solidFill>
                    <a:srgbClr val="FFFFFF"/>
                  </a:solidFill>
                  <a:latin typeface="Muli Ultra-Bold"/>
                  <a:ea typeface="Muli Ultra-Bold"/>
                  <a:cs typeface="Muli Ultra-Bold"/>
                  <a:sym typeface="Muli Ultra-Bold"/>
                </a:rPr>
                <a:t>SHORT</a:t>
              </a:r>
            </a:p>
          </p:txBody>
        </p:sp>
      </p:grpSp>
      <p:grpSp>
        <p:nvGrpSpPr>
          <p:cNvPr name="Group 79" id="79"/>
          <p:cNvGrpSpPr/>
          <p:nvPr/>
        </p:nvGrpSpPr>
        <p:grpSpPr>
          <a:xfrm rot="0">
            <a:off x="16671911" y="6175470"/>
            <a:ext cx="1346862" cy="703979"/>
            <a:chOff x="0" y="0"/>
            <a:chExt cx="354729" cy="185410"/>
          </a:xfrm>
        </p:grpSpPr>
        <p:sp>
          <p:nvSpPr>
            <p:cNvPr name="Freeform 80" id="80"/>
            <p:cNvSpPr/>
            <p:nvPr/>
          </p:nvSpPr>
          <p:spPr>
            <a:xfrm flipH="false" flipV="false" rot="0">
              <a:off x="0" y="0"/>
              <a:ext cx="354729" cy="185410"/>
            </a:xfrm>
            <a:custGeom>
              <a:avLst/>
              <a:gdLst/>
              <a:ahLst/>
              <a:cxnLst/>
              <a:rect r="r" b="b" t="t" l="l"/>
              <a:pathLst>
                <a:path h="185410" w="354729">
                  <a:moveTo>
                    <a:pt x="0" y="0"/>
                  </a:moveTo>
                  <a:lnTo>
                    <a:pt x="354729" y="0"/>
                  </a:lnTo>
                  <a:lnTo>
                    <a:pt x="354729" y="185410"/>
                  </a:lnTo>
                  <a:lnTo>
                    <a:pt x="0" y="185410"/>
                  </a:lnTo>
                  <a:close/>
                </a:path>
              </a:pathLst>
            </a:custGeom>
            <a:solidFill>
              <a:srgbClr val="DF200C"/>
            </a:solidFill>
          </p:spPr>
        </p:sp>
        <p:sp>
          <p:nvSpPr>
            <p:cNvPr name="TextBox 81" id="81"/>
            <p:cNvSpPr txBox="true"/>
            <p:nvPr/>
          </p:nvSpPr>
          <p:spPr>
            <a:xfrm>
              <a:off x="0" y="-19050"/>
              <a:ext cx="354729" cy="204460"/>
            </a:xfrm>
            <a:prstGeom prst="rect">
              <a:avLst/>
            </a:prstGeom>
          </p:spPr>
          <p:txBody>
            <a:bodyPr anchor="ctr" rtlCol="false" tIns="50800" lIns="50800" bIns="50800" rIns="50800"/>
            <a:lstStyle/>
            <a:p>
              <a:pPr algn="ctr">
                <a:lnSpc>
                  <a:spcPts val="2859"/>
                </a:lnSpc>
              </a:pPr>
              <a:r>
                <a:rPr lang="en-US" b="true" sz="2199" spc="-65">
                  <a:solidFill>
                    <a:srgbClr val="FFFFFF"/>
                  </a:solidFill>
                  <a:latin typeface="Muli Ultra-Bold"/>
                  <a:ea typeface="Muli Ultra-Bold"/>
                  <a:cs typeface="Muli Ultra-Bold"/>
                  <a:sym typeface="Muli Ultra-Bold"/>
                </a:rPr>
                <a:t>SHORT</a:t>
              </a:r>
            </a:p>
          </p:txBody>
        </p:sp>
      </p:grpSp>
      <p:grpSp>
        <p:nvGrpSpPr>
          <p:cNvPr name="Group 82" id="82"/>
          <p:cNvGrpSpPr/>
          <p:nvPr/>
        </p:nvGrpSpPr>
        <p:grpSpPr>
          <a:xfrm rot="0">
            <a:off x="16659474" y="2698254"/>
            <a:ext cx="1346862" cy="703979"/>
            <a:chOff x="0" y="0"/>
            <a:chExt cx="354729" cy="185410"/>
          </a:xfrm>
        </p:grpSpPr>
        <p:sp>
          <p:nvSpPr>
            <p:cNvPr name="Freeform 83" id="83"/>
            <p:cNvSpPr/>
            <p:nvPr/>
          </p:nvSpPr>
          <p:spPr>
            <a:xfrm flipH="false" flipV="false" rot="0">
              <a:off x="0" y="0"/>
              <a:ext cx="354729" cy="185410"/>
            </a:xfrm>
            <a:custGeom>
              <a:avLst/>
              <a:gdLst/>
              <a:ahLst/>
              <a:cxnLst/>
              <a:rect r="r" b="b" t="t" l="l"/>
              <a:pathLst>
                <a:path h="185410" w="354729">
                  <a:moveTo>
                    <a:pt x="0" y="0"/>
                  </a:moveTo>
                  <a:lnTo>
                    <a:pt x="354729" y="0"/>
                  </a:lnTo>
                  <a:lnTo>
                    <a:pt x="354729" y="185410"/>
                  </a:lnTo>
                  <a:lnTo>
                    <a:pt x="0" y="185410"/>
                  </a:lnTo>
                  <a:close/>
                </a:path>
              </a:pathLst>
            </a:custGeom>
            <a:solidFill>
              <a:srgbClr val="22C55E"/>
            </a:solidFill>
          </p:spPr>
        </p:sp>
        <p:sp>
          <p:nvSpPr>
            <p:cNvPr name="TextBox 84" id="84"/>
            <p:cNvSpPr txBox="true"/>
            <p:nvPr/>
          </p:nvSpPr>
          <p:spPr>
            <a:xfrm>
              <a:off x="0" y="-19050"/>
              <a:ext cx="354729" cy="204460"/>
            </a:xfrm>
            <a:prstGeom prst="rect">
              <a:avLst/>
            </a:prstGeom>
          </p:spPr>
          <p:txBody>
            <a:bodyPr anchor="ctr" rtlCol="false" tIns="50800" lIns="50800" bIns="50800" rIns="50800"/>
            <a:lstStyle/>
            <a:p>
              <a:pPr algn="ctr">
                <a:lnSpc>
                  <a:spcPts val="2859"/>
                </a:lnSpc>
              </a:pPr>
              <a:r>
                <a:rPr lang="en-US" b="true" sz="2199" spc="-65">
                  <a:solidFill>
                    <a:srgbClr val="FFFFFF"/>
                  </a:solidFill>
                  <a:latin typeface="Muli Ultra-Bold"/>
                  <a:ea typeface="Muli Ultra-Bold"/>
                  <a:cs typeface="Muli Ultra-Bold"/>
                  <a:sym typeface="Muli Ultra-Bold"/>
                </a:rPr>
                <a:t>LONG</a:t>
              </a:r>
            </a:p>
          </p:txBody>
        </p:sp>
      </p:grpSp>
      <p:sp>
        <p:nvSpPr>
          <p:cNvPr name="TextBox 85" id="85"/>
          <p:cNvSpPr txBox="true"/>
          <p:nvPr/>
        </p:nvSpPr>
        <p:spPr>
          <a:xfrm rot="0">
            <a:off x="13737256" y="2938634"/>
            <a:ext cx="2845859" cy="715010"/>
          </a:xfrm>
          <a:prstGeom prst="rect">
            <a:avLst/>
          </a:prstGeom>
        </p:spPr>
        <p:txBody>
          <a:bodyPr anchor="t" rtlCol="false" tIns="0" lIns="0" bIns="0" rIns="0">
            <a:spAutoFit/>
          </a:bodyPr>
          <a:lstStyle/>
          <a:p>
            <a:pPr algn="ctr">
              <a:lnSpc>
                <a:spcPts val="2859"/>
              </a:lnSpc>
              <a:spcBef>
                <a:spcPct val="0"/>
              </a:spcBef>
            </a:pPr>
            <a:r>
              <a:rPr lang="en-US" sz="2199" spc="-65">
                <a:solidFill>
                  <a:srgbClr val="000000"/>
                </a:solidFill>
                <a:latin typeface="Muli"/>
                <a:ea typeface="Muli"/>
                <a:cs typeface="Muli"/>
                <a:sym typeface="Muli"/>
              </a:rPr>
              <a:t>Mar–Jul wind</a:t>
            </a:r>
            <a:r>
              <a:rPr lang="en-US" sz="2199" spc="-65">
                <a:solidFill>
                  <a:srgbClr val="000000"/>
                </a:solidFill>
                <a:latin typeface="Muli"/>
                <a:ea typeface="Muli"/>
                <a:cs typeface="Muli"/>
                <a:sym typeface="Muli"/>
              </a:rPr>
              <a:t>ow active</a:t>
            </a:r>
          </a:p>
          <a:p>
            <a:pPr algn="ctr">
              <a:lnSpc>
                <a:spcPts val="2859"/>
              </a:lnSpc>
              <a:spcBef>
                <a:spcPct val="0"/>
              </a:spcBef>
            </a:pPr>
          </a:p>
        </p:txBody>
      </p:sp>
      <p:sp>
        <p:nvSpPr>
          <p:cNvPr name="TextBox 86" id="86"/>
          <p:cNvSpPr txBox="true"/>
          <p:nvPr/>
        </p:nvSpPr>
        <p:spPr>
          <a:xfrm rot="0">
            <a:off x="13734029" y="4158518"/>
            <a:ext cx="2845859" cy="715010"/>
          </a:xfrm>
          <a:prstGeom prst="rect">
            <a:avLst/>
          </a:prstGeom>
        </p:spPr>
        <p:txBody>
          <a:bodyPr anchor="t" rtlCol="false" tIns="0" lIns="0" bIns="0" rIns="0">
            <a:spAutoFit/>
          </a:bodyPr>
          <a:lstStyle/>
          <a:p>
            <a:pPr algn="l">
              <a:lnSpc>
                <a:spcPts val="2859"/>
              </a:lnSpc>
              <a:spcBef>
                <a:spcPct val="0"/>
              </a:spcBef>
            </a:pPr>
            <a:r>
              <a:rPr lang="en-US" sz="2199" spc="-65">
                <a:solidFill>
                  <a:srgbClr val="000000"/>
                </a:solidFill>
                <a:latin typeface="Muli"/>
                <a:ea typeface="Muli"/>
                <a:cs typeface="Muli"/>
                <a:sym typeface="Muli"/>
              </a:rPr>
              <a:t>May–Jul headwind</a:t>
            </a:r>
          </a:p>
          <a:p>
            <a:pPr algn="l">
              <a:lnSpc>
                <a:spcPts val="2859"/>
              </a:lnSpc>
              <a:spcBef>
                <a:spcPct val="0"/>
              </a:spcBef>
            </a:pPr>
          </a:p>
        </p:txBody>
      </p:sp>
      <p:sp>
        <p:nvSpPr>
          <p:cNvPr name="TextBox 87" id="87"/>
          <p:cNvSpPr txBox="true"/>
          <p:nvPr/>
        </p:nvSpPr>
        <p:spPr>
          <a:xfrm rot="0">
            <a:off x="13751737" y="5326723"/>
            <a:ext cx="2845859" cy="715010"/>
          </a:xfrm>
          <a:prstGeom prst="rect">
            <a:avLst/>
          </a:prstGeom>
        </p:spPr>
        <p:txBody>
          <a:bodyPr anchor="t" rtlCol="false" tIns="0" lIns="0" bIns="0" rIns="0">
            <a:spAutoFit/>
          </a:bodyPr>
          <a:lstStyle/>
          <a:p>
            <a:pPr algn="l">
              <a:lnSpc>
                <a:spcPts val="2859"/>
              </a:lnSpc>
              <a:spcBef>
                <a:spcPct val="0"/>
              </a:spcBef>
            </a:pPr>
            <a:r>
              <a:rPr lang="en-US" sz="2199" spc="-65">
                <a:solidFill>
                  <a:srgbClr val="000000"/>
                </a:solidFill>
                <a:latin typeface="Muli"/>
                <a:ea typeface="Muli"/>
                <a:cs typeface="Muli"/>
                <a:sym typeface="Muli"/>
              </a:rPr>
              <a:t>⚠ Contradicts ATH</a:t>
            </a:r>
          </a:p>
          <a:p>
            <a:pPr algn="l">
              <a:lnSpc>
                <a:spcPts val="2859"/>
              </a:lnSpc>
              <a:spcBef>
                <a:spcPct val="0"/>
              </a:spcBef>
            </a:pPr>
          </a:p>
        </p:txBody>
      </p:sp>
      <p:sp>
        <p:nvSpPr>
          <p:cNvPr name="TextBox 88" id="88"/>
          <p:cNvSpPr txBox="true"/>
          <p:nvPr/>
        </p:nvSpPr>
        <p:spPr>
          <a:xfrm rot="0">
            <a:off x="13751737" y="6537033"/>
            <a:ext cx="3507563" cy="715010"/>
          </a:xfrm>
          <a:prstGeom prst="rect">
            <a:avLst/>
          </a:prstGeom>
        </p:spPr>
        <p:txBody>
          <a:bodyPr anchor="t" rtlCol="false" tIns="0" lIns="0" bIns="0" rIns="0">
            <a:spAutoFit/>
          </a:bodyPr>
          <a:lstStyle/>
          <a:p>
            <a:pPr algn="l">
              <a:lnSpc>
                <a:spcPts val="2859"/>
              </a:lnSpc>
              <a:spcBef>
                <a:spcPct val="0"/>
              </a:spcBef>
            </a:pPr>
            <a:r>
              <a:rPr lang="en-US" sz="2199" spc="-65">
                <a:solidFill>
                  <a:srgbClr val="000000"/>
                </a:solidFill>
                <a:latin typeface="Muli"/>
                <a:ea typeface="Muli"/>
                <a:cs typeface="Muli"/>
                <a:sym typeface="Muli"/>
              </a:rPr>
              <a:t>May–Oct 6-month </a:t>
            </a:r>
          </a:p>
          <a:p>
            <a:pPr algn="l">
              <a:lnSpc>
                <a:spcPts val="2859"/>
              </a:lnSpc>
              <a:spcBef>
                <a:spcPct val="0"/>
              </a:spcBef>
            </a:pPr>
          </a:p>
        </p:txBody>
      </p:sp>
      <p:grpSp>
        <p:nvGrpSpPr>
          <p:cNvPr name="Group 89" id="89"/>
          <p:cNvGrpSpPr/>
          <p:nvPr/>
        </p:nvGrpSpPr>
        <p:grpSpPr>
          <a:xfrm rot="0">
            <a:off x="0" y="8103396"/>
            <a:ext cx="18288000" cy="1791217"/>
            <a:chOff x="0" y="0"/>
            <a:chExt cx="4816593" cy="471761"/>
          </a:xfrm>
        </p:grpSpPr>
        <p:sp>
          <p:nvSpPr>
            <p:cNvPr name="Freeform 90" id="90"/>
            <p:cNvSpPr/>
            <p:nvPr/>
          </p:nvSpPr>
          <p:spPr>
            <a:xfrm flipH="false" flipV="false" rot="0">
              <a:off x="0" y="0"/>
              <a:ext cx="4816592" cy="471761"/>
            </a:xfrm>
            <a:custGeom>
              <a:avLst/>
              <a:gdLst/>
              <a:ahLst/>
              <a:cxnLst/>
              <a:rect r="r" b="b" t="t" l="l"/>
              <a:pathLst>
                <a:path h="471761" w="4816592">
                  <a:moveTo>
                    <a:pt x="0" y="0"/>
                  </a:moveTo>
                  <a:lnTo>
                    <a:pt x="4816592" y="0"/>
                  </a:lnTo>
                  <a:lnTo>
                    <a:pt x="4816592" y="471761"/>
                  </a:lnTo>
                  <a:lnTo>
                    <a:pt x="0" y="471761"/>
                  </a:lnTo>
                  <a:close/>
                </a:path>
              </a:pathLst>
            </a:custGeom>
            <a:solidFill>
              <a:srgbClr val="E3BFA6"/>
            </a:solidFill>
          </p:spPr>
        </p:sp>
        <p:sp>
          <p:nvSpPr>
            <p:cNvPr name="TextBox 91" id="91"/>
            <p:cNvSpPr txBox="true"/>
            <p:nvPr/>
          </p:nvSpPr>
          <p:spPr>
            <a:xfrm>
              <a:off x="0" y="-19050"/>
              <a:ext cx="4816593" cy="490811"/>
            </a:xfrm>
            <a:prstGeom prst="rect">
              <a:avLst/>
            </a:prstGeom>
          </p:spPr>
          <p:txBody>
            <a:bodyPr anchor="ctr" rtlCol="false" tIns="50800" lIns="50800" bIns="50800" rIns="50800"/>
            <a:lstStyle/>
            <a:p>
              <a:pPr algn="ctr">
                <a:lnSpc>
                  <a:spcPts val="2859"/>
                </a:lnSpc>
              </a:pPr>
            </a:p>
          </p:txBody>
        </p:sp>
      </p:grpSp>
      <p:sp>
        <p:nvSpPr>
          <p:cNvPr name="TextBox 92" id="92"/>
          <p:cNvSpPr txBox="true"/>
          <p:nvPr/>
        </p:nvSpPr>
        <p:spPr>
          <a:xfrm rot="0">
            <a:off x="282813" y="8312570"/>
            <a:ext cx="3019313" cy="353060"/>
          </a:xfrm>
          <a:prstGeom prst="rect">
            <a:avLst/>
          </a:prstGeom>
        </p:spPr>
        <p:txBody>
          <a:bodyPr anchor="t" rtlCol="false" tIns="0" lIns="0" bIns="0" rIns="0">
            <a:spAutoFit/>
          </a:bodyPr>
          <a:lstStyle/>
          <a:p>
            <a:pPr algn="l">
              <a:lnSpc>
                <a:spcPts val="2859"/>
              </a:lnSpc>
              <a:spcBef>
                <a:spcPct val="0"/>
              </a:spcBef>
            </a:pPr>
            <a:r>
              <a:rPr lang="en-US" b="true" sz="2199" spc="-65">
                <a:solidFill>
                  <a:srgbClr val="FF7B26"/>
                </a:solidFill>
                <a:latin typeface="Muli Ultra-Bold"/>
                <a:ea typeface="Muli Ultra-Bold"/>
                <a:cs typeface="Muli Ultra-Bold"/>
                <a:sym typeface="Muli Ultra-Bold"/>
              </a:rPr>
              <a:t>INVALIDATION:</a:t>
            </a:r>
          </a:p>
        </p:txBody>
      </p:sp>
      <p:sp>
        <p:nvSpPr>
          <p:cNvPr name="TextBox 93" id="93"/>
          <p:cNvSpPr txBox="true"/>
          <p:nvPr/>
        </p:nvSpPr>
        <p:spPr>
          <a:xfrm rot="0">
            <a:off x="282813" y="8979955"/>
            <a:ext cx="3850623" cy="715010"/>
          </a:xfrm>
          <a:prstGeom prst="rect">
            <a:avLst/>
          </a:prstGeom>
        </p:spPr>
        <p:txBody>
          <a:bodyPr anchor="t" rtlCol="false" tIns="0" lIns="0" bIns="0" rIns="0">
            <a:spAutoFit/>
          </a:bodyPr>
          <a:lstStyle/>
          <a:p>
            <a:pPr algn="l">
              <a:lnSpc>
                <a:spcPts val="2859"/>
              </a:lnSpc>
              <a:spcBef>
                <a:spcPct val="0"/>
              </a:spcBef>
            </a:pPr>
            <a:r>
              <a:rPr lang="en-US" b="true" sz="2199" spc="-65">
                <a:solidFill>
                  <a:srgbClr val="FF7B26"/>
                </a:solidFill>
                <a:latin typeface="Muli Ultra-Bold"/>
                <a:ea typeface="Muli Ultra-Bold"/>
                <a:cs typeface="Muli Ultra-Bold"/>
                <a:sym typeface="Muli Ultra-Bold"/>
              </a:rPr>
              <a:t>NEXT WEEK (June 2–5):</a:t>
            </a:r>
          </a:p>
          <a:p>
            <a:pPr algn="l">
              <a:lnSpc>
                <a:spcPts val="2859"/>
              </a:lnSpc>
              <a:spcBef>
                <a:spcPct val="0"/>
              </a:spcBef>
            </a:pPr>
          </a:p>
        </p:txBody>
      </p:sp>
      <p:sp>
        <p:nvSpPr>
          <p:cNvPr name="TextBox 94" id="94"/>
          <p:cNvSpPr txBox="true"/>
          <p:nvPr/>
        </p:nvSpPr>
        <p:spPr>
          <a:xfrm rot="0">
            <a:off x="2390908" y="8312570"/>
            <a:ext cx="7915052" cy="715010"/>
          </a:xfrm>
          <a:prstGeom prst="rect">
            <a:avLst/>
          </a:prstGeom>
        </p:spPr>
        <p:txBody>
          <a:bodyPr anchor="t" rtlCol="false" tIns="0" lIns="0" bIns="0" rIns="0">
            <a:spAutoFit/>
          </a:bodyPr>
          <a:lstStyle/>
          <a:p>
            <a:pPr algn="ctr">
              <a:lnSpc>
                <a:spcPts val="2859"/>
              </a:lnSpc>
              <a:spcBef>
                <a:spcPct val="0"/>
              </a:spcBef>
            </a:pPr>
            <a:r>
              <a:rPr lang="en-US" sz="2199" spc="-65">
                <a:solidFill>
                  <a:srgbClr val="000000"/>
                </a:solidFill>
                <a:latin typeface="Muli"/>
                <a:ea typeface="Muli"/>
                <a:cs typeface="Muli"/>
                <a:sym typeface="Muli"/>
              </a:rPr>
              <a:t>Co</a:t>
            </a:r>
            <a:r>
              <a:rPr lang="en-US" sz="2199" spc="-65">
                <a:solidFill>
                  <a:srgbClr val="000000"/>
                </a:solidFill>
                <a:latin typeface="Muli"/>
                <a:ea typeface="Muli"/>
                <a:cs typeface="Muli"/>
                <a:sym typeface="Muli"/>
              </a:rPr>
              <a:t>ol PCE print or confirmed Iran deal → bias shifts Neutral-Bullish</a:t>
            </a:r>
          </a:p>
          <a:p>
            <a:pPr algn="ctr">
              <a:lnSpc>
                <a:spcPts val="2859"/>
              </a:lnSpc>
              <a:spcBef>
                <a:spcPct val="0"/>
              </a:spcBef>
            </a:pPr>
          </a:p>
        </p:txBody>
      </p:sp>
      <p:sp>
        <p:nvSpPr>
          <p:cNvPr name="TextBox 95" id="95"/>
          <p:cNvSpPr txBox="true"/>
          <p:nvPr/>
        </p:nvSpPr>
        <p:spPr>
          <a:xfrm rot="0">
            <a:off x="3506166" y="8979955"/>
            <a:ext cx="9511085" cy="715010"/>
          </a:xfrm>
          <a:prstGeom prst="rect">
            <a:avLst/>
          </a:prstGeom>
        </p:spPr>
        <p:txBody>
          <a:bodyPr anchor="t" rtlCol="false" tIns="0" lIns="0" bIns="0" rIns="0">
            <a:spAutoFit/>
          </a:bodyPr>
          <a:lstStyle/>
          <a:p>
            <a:pPr algn="ctr">
              <a:lnSpc>
                <a:spcPts val="2859"/>
              </a:lnSpc>
              <a:spcBef>
                <a:spcPct val="0"/>
              </a:spcBef>
            </a:pPr>
            <a:r>
              <a:rPr lang="en-US" sz="2199" spc="-65">
                <a:solidFill>
                  <a:srgbClr val="000000"/>
                </a:solidFill>
                <a:latin typeface="Muli"/>
                <a:ea typeface="Muli"/>
                <a:cs typeface="Muli"/>
                <a:sym typeface="Muli"/>
              </a:rPr>
              <a:t>June</a:t>
            </a:r>
            <a:r>
              <a:rPr lang="en-US" sz="2199" spc="-65">
                <a:solidFill>
                  <a:srgbClr val="000000"/>
                </a:solidFill>
                <a:latin typeface="Muli"/>
                <a:ea typeface="Muli"/>
                <a:cs typeface="Muli"/>
                <a:sym typeface="Muli"/>
              </a:rPr>
              <a:t> ranks #12 in midterm year · S&amp;P avg −2.1% · XLE seasonal SHORT begins</a:t>
            </a:r>
          </a:p>
          <a:p>
            <a:pPr algn="ctr">
              <a:lnSpc>
                <a:spcPts val="2859"/>
              </a:lnSpc>
              <a:spcBef>
                <a:spcPct val="0"/>
              </a:spcBef>
            </a:pPr>
          </a:p>
        </p:txBody>
      </p:sp>
      <p:sp>
        <p:nvSpPr>
          <p:cNvPr name="TextBox 96" id="96"/>
          <p:cNvSpPr txBox="true"/>
          <p:nvPr/>
        </p:nvSpPr>
        <p:spPr>
          <a:xfrm rot="0">
            <a:off x="0" y="9875564"/>
            <a:ext cx="18288000" cy="715010"/>
          </a:xfrm>
          <a:prstGeom prst="rect">
            <a:avLst/>
          </a:prstGeom>
        </p:spPr>
        <p:txBody>
          <a:bodyPr anchor="t" rtlCol="false" tIns="0" lIns="0" bIns="0" rIns="0">
            <a:spAutoFit/>
          </a:bodyPr>
          <a:lstStyle/>
          <a:p>
            <a:pPr algn="l">
              <a:lnSpc>
                <a:spcPts val="2859"/>
              </a:lnSpc>
              <a:spcBef>
                <a:spcPct val="0"/>
              </a:spcBef>
            </a:pPr>
            <a:r>
              <a:rPr lang="en-US" sz="2199" spc="270">
                <a:solidFill>
                  <a:srgbClr val="ADB5BC"/>
                </a:solidFill>
                <a:latin typeface="Muli"/>
                <a:ea typeface="Muli"/>
                <a:cs typeface="Muli"/>
                <a:sym typeface="Muli"/>
              </a:rPr>
              <a:t>S</a:t>
            </a:r>
            <a:r>
              <a:rPr lang="en-US" sz="2199" spc="270">
                <a:solidFill>
                  <a:srgbClr val="ADB5BC"/>
                </a:solidFill>
                <a:latin typeface="Muli"/>
                <a:ea typeface="Muli"/>
                <a:cs typeface="Muli"/>
                <a:sym typeface="Muli"/>
              </a:rPr>
              <a:t>ource: Stock Trader's Almanac 2026, pp. 65–66, p. 94, pp. 10–11 · Accessed: 30 May 2026</a:t>
            </a:r>
          </a:p>
          <a:p>
            <a:pPr algn="l">
              <a:lnSpc>
                <a:spcPts val="2859"/>
              </a:lnSpc>
              <a:spcBef>
                <a:spcPct val="0"/>
              </a:spcBef>
            </a:pPr>
          </a:p>
        </p:txBody>
      </p:sp>
      <p:sp>
        <p:nvSpPr>
          <p:cNvPr name="TextBox 97" id="97"/>
          <p:cNvSpPr txBox="true"/>
          <p:nvPr/>
        </p:nvSpPr>
        <p:spPr>
          <a:xfrm rot="0">
            <a:off x="13172112" y="7309193"/>
            <a:ext cx="4615084" cy="2585421"/>
          </a:xfrm>
          <a:prstGeom prst="rect">
            <a:avLst/>
          </a:prstGeom>
        </p:spPr>
        <p:txBody>
          <a:bodyPr anchor="t" rtlCol="false" tIns="0" lIns="0" bIns="0" rIns="0">
            <a:spAutoFit/>
          </a:bodyPr>
          <a:lstStyle/>
          <a:p>
            <a:pPr algn="ctr">
              <a:lnSpc>
                <a:spcPts val="1014"/>
              </a:lnSpc>
              <a:spcBef>
                <a:spcPct val="0"/>
              </a:spcBef>
            </a:pPr>
            <a:r>
              <a:rPr lang="en-US" sz="780" spc="-23">
                <a:solidFill>
                  <a:srgbClr val="000000"/>
                </a:solidFill>
                <a:latin typeface="Muli"/>
                <a:ea typeface="Muli"/>
                <a:cs typeface="Muli"/>
                <a:sym typeface="Muli"/>
              </a:rPr>
              <a:t>M</a:t>
            </a:r>
            <a:r>
              <a:rPr lang="en-US" sz="780" spc="-23">
                <a:solidFill>
                  <a:srgbClr val="000000"/>
                </a:solidFill>
                <a:latin typeface="Muli"/>
                <a:ea typeface="Muli"/>
                <a:cs typeface="Muli"/>
                <a:sym typeface="Muli"/>
              </a:rPr>
              <a:t>y official Almanac bias for the upcoming Week 23 is strictly Bearish-Neutral, and I assign this a Medium confidence level. All historical probabilities presented on this slide are sourced directly from the Stock Trader's Almanac 2026.</a:t>
            </a:r>
          </a:p>
          <a:p>
            <a:pPr algn="ctr">
              <a:lnSpc>
                <a:spcPts val="1014"/>
              </a:lnSpc>
              <a:spcBef>
                <a:spcPct val="0"/>
              </a:spcBef>
            </a:pPr>
          </a:p>
          <a:p>
            <a:pPr algn="ctr">
              <a:lnSpc>
                <a:spcPts val="1014"/>
              </a:lnSpc>
              <a:spcBef>
                <a:spcPct val="0"/>
              </a:spcBef>
            </a:pPr>
            <a:r>
              <a:rPr lang="en-US" sz="780" spc="-23">
                <a:solidFill>
                  <a:srgbClr val="000000"/>
                </a:solidFill>
                <a:latin typeface="Muli"/>
                <a:ea typeface="Muli"/>
                <a:cs typeface="Muli"/>
                <a:sym typeface="Muli"/>
              </a:rPr>
              <a:t>Zooming out to the cycle context, we are currently navigating 'The Weak Spot' of the Q2 to Q3 Midterm Year cycle. While May is normally flat, the midterm context drags the S&amp;P average down to negative 0.7%. More concerningly, as we enter our prediction window next week, June ranks as the absolute worst-performing month—number 12 out of 12—in a midterm year, with a historical average drop of 2.1%. </a:t>
            </a:r>
          </a:p>
          <a:p>
            <a:pPr algn="ctr">
              <a:lnSpc>
                <a:spcPts val="1014"/>
              </a:lnSpc>
              <a:spcBef>
                <a:spcPct val="0"/>
              </a:spcBef>
            </a:pPr>
          </a:p>
          <a:p>
            <a:pPr algn="ctr">
              <a:lnSpc>
                <a:spcPts val="1014"/>
              </a:lnSpc>
              <a:spcBef>
                <a:spcPct val="0"/>
              </a:spcBef>
            </a:pPr>
            <a:r>
              <a:rPr lang="en-US" sz="780" spc="-23">
                <a:solidFill>
                  <a:srgbClr val="000000"/>
                </a:solidFill>
                <a:latin typeface="Muli"/>
                <a:ea typeface="Muli"/>
                <a:cs typeface="Muli"/>
                <a:sym typeface="Muli"/>
              </a:rPr>
              <a:t>Looking at the micro-patterns for this specific week, the Memorial Day hangover leans heavily bearish. Historically, the Dow drops on the Tuesday after Memorial Day in 8 out of the last 10 years. </a:t>
            </a:r>
          </a:p>
          <a:p>
            <a:pPr algn="ctr">
              <a:lnSpc>
                <a:spcPts val="1014"/>
              </a:lnSpc>
              <a:spcBef>
                <a:spcPct val="0"/>
              </a:spcBef>
            </a:pPr>
          </a:p>
          <a:p>
            <a:pPr algn="ctr">
              <a:lnSpc>
                <a:spcPts val="1014"/>
              </a:lnSpc>
              <a:spcBef>
                <a:spcPct val="0"/>
              </a:spcBef>
            </a:pPr>
            <a:r>
              <a:rPr lang="en-US" sz="780" spc="-23">
                <a:solidFill>
                  <a:srgbClr val="000000"/>
                </a:solidFill>
                <a:latin typeface="Muli"/>
                <a:ea typeface="Muli"/>
                <a:cs typeface="Muli"/>
                <a:sym typeface="Muli"/>
              </a:rPr>
              <a:t>However, from a sector rotation standpoint, the Almanac gives a strong 'LONG' signal for Technology from March through July. This historical baseline perfectly validates the massive tech outperformance that our Data Lead, R8, just highlighted in the actuals. Conversely, Banking and Materials face severe seasonal headwinds and are flagged as 'SHORT'. </a:t>
            </a:r>
          </a:p>
          <a:p>
            <a:pPr algn="ctr">
              <a:lnSpc>
                <a:spcPts val="1014"/>
              </a:lnSpc>
              <a:spcBef>
                <a:spcPct val="0"/>
              </a:spcBef>
            </a:pPr>
          </a:p>
          <a:p>
            <a:pPr algn="ctr">
              <a:lnSpc>
                <a:spcPts val="1014"/>
              </a:lnSpc>
              <a:spcBef>
                <a:spcPct val="0"/>
              </a:spcBef>
            </a:pPr>
            <a:r>
              <a:rPr lang="en-US" sz="780" spc="-23">
                <a:solidFill>
                  <a:srgbClr val="000000"/>
                </a:solidFill>
                <a:latin typeface="Muli"/>
                <a:ea typeface="Muli"/>
                <a:cs typeface="Muli"/>
                <a:sym typeface="Muli"/>
              </a:rPr>
              <a:t>Finally, my Bearish-Neutral baseline will be invalidated and shifted higher only if we get a surprisingly cool PCE print or a confirmed Iran deal. I will now hand over to our Macro Lead to assess those exact real-time catalysts.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6E7DE"/>
        </a:solidFill>
      </p:bgPr>
    </p:bg>
    <p:spTree>
      <p:nvGrpSpPr>
        <p:cNvPr id="1" name=""/>
        <p:cNvGrpSpPr/>
        <p:nvPr/>
      </p:nvGrpSpPr>
      <p:grpSpPr>
        <a:xfrm>
          <a:off x="0" y="0"/>
          <a:ext cx="0" cy="0"/>
          <a:chOff x="0" y="0"/>
          <a:chExt cx="0" cy="0"/>
        </a:xfrm>
      </p:grpSpPr>
      <p:grpSp>
        <p:nvGrpSpPr>
          <p:cNvPr name="Group 2" id="2"/>
          <p:cNvGrpSpPr/>
          <p:nvPr/>
        </p:nvGrpSpPr>
        <p:grpSpPr>
          <a:xfrm rot="0">
            <a:off x="0" y="0"/>
            <a:ext cx="6132553" cy="10287000"/>
            <a:chOff x="0" y="0"/>
            <a:chExt cx="2074469" cy="3479800"/>
          </a:xfrm>
        </p:grpSpPr>
        <p:sp>
          <p:nvSpPr>
            <p:cNvPr name="Freeform 3" id="3"/>
            <p:cNvSpPr/>
            <p:nvPr/>
          </p:nvSpPr>
          <p:spPr>
            <a:xfrm flipH="false" flipV="false" rot="0">
              <a:off x="0" y="0"/>
              <a:ext cx="2074469" cy="3479800"/>
            </a:xfrm>
            <a:custGeom>
              <a:avLst/>
              <a:gdLst/>
              <a:ahLst/>
              <a:cxnLst/>
              <a:rect r="r" b="b" t="t" l="l"/>
              <a:pathLst>
                <a:path h="3479800" w="2074469">
                  <a:moveTo>
                    <a:pt x="1950008" y="3479800"/>
                  </a:moveTo>
                  <a:lnTo>
                    <a:pt x="124460" y="3479800"/>
                  </a:lnTo>
                  <a:cubicBezTo>
                    <a:pt x="55880" y="3479800"/>
                    <a:pt x="0" y="3423920"/>
                    <a:pt x="0" y="3355340"/>
                  </a:cubicBezTo>
                  <a:lnTo>
                    <a:pt x="0" y="124460"/>
                  </a:lnTo>
                  <a:cubicBezTo>
                    <a:pt x="0" y="55880"/>
                    <a:pt x="55880" y="0"/>
                    <a:pt x="124460" y="0"/>
                  </a:cubicBezTo>
                  <a:lnTo>
                    <a:pt x="1950009" y="0"/>
                  </a:lnTo>
                  <a:cubicBezTo>
                    <a:pt x="2018589" y="0"/>
                    <a:pt x="2074469" y="55880"/>
                    <a:pt x="2074469" y="124460"/>
                  </a:cubicBezTo>
                  <a:lnTo>
                    <a:pt x="2074469" y="3355340"/>
                  </a:lnTo>
                  <a:cubicBezTo>
                    <a:pt x="2074469" y="3423920"/>
                    <a:pt x="2018589" y="3479800"/>
                    <a:pt x="1950009" y="3479800"/>
                  </a:cubicBezTo>
                  <a:close/>
                </a:path>
              </a:pathLst>
            </a:custGeom>
            <a:solidFill>
              <a:srgbClr val="FFFFFF"/>
            </a:solidFill>
          </p:spPr>
        </p:sp>
      </p:grpSp>
      <p:sp>
        <p:nvSpPr>
          <p:cNvPr name="Freeform 4" id="4"/>
          <p:cNvSpPr/>
          <p:nvPr/>
        </p:nvSpPr>
        <p:spPr>
          <a:xfrm flipH="false" flipV="false" rot="0">
            <a:off x="6892317" y="1028700"/>
            <a:ext cx="9887264" cy="1520861"/>
          </a:xfrm>
          <a:custGeom>
            <a:avLst/>
            <a:gdLst/>
            <a:ahLst/>
            <a:cxnLst/>
            <a:rect r="r" b="b" t="t" l="l"/>
            <a:pathLst>
              <a:path h="1520861" w="9887264">
                <a:moveTo>
                  <a:pt x="0" y="0"/>
                </a:moveTo>
                <a:lnTo>
                  <a:pt x="9887264" y="0"/>
                </a:lnTo>
                <a:lnTo>
                  <a:pt x="9887264" y="1520861"/>
                </a:lnTo>
                <a:lnTo>
                  <a:pt x="0" y="1520861"/>
                </a:lnTo>
                <a:lnTo>
                  <a:pt x="0" y="0"/>
                </a:lnTo>
                <a:close/>
              </a:path>
            </a:pathLst>
          </a:custGeom>
          <a:blipFill>
            <a:blip r:embed="rId2"/>
            <a:stretch>
              <a:fillRect l="-1699" t="0" r="0" b="0"/>
            </a:stretch>
          </a:blipFill>
        </p:spPr>
      </p:sp>
      <p:sp>
        <p:nvSpPr>
          <p:cNvPr name="Freeform 5" id="5"/>
          <p:cNvSpPr/>
          <p:nvPr/>
        </p:nvSpPr>
        <p:spPr>
          <a:xfrm flipH="false" flipV="false" rot="0">
            <a:off x="6892317" y="2777083"/>
            <a:ext cx="9887264" cy="6253695"/>
          </a:xfrm>
          <a:custGeom>
            <a:avLst/>
            <a:gdLst/>
            <a:ahLst/>
            <a:cxnLst/>
            <a:rect r="r" b="b" t="t" l="l"/>
            <a:pathLst>
              <a:path h="6253695" w="9887264">
                <a:moveTo>
                  <a:pt x="0" y="0"/>
                </a:moveTo>
                <a:lnTo>
                  <a:pt x="9887264" y="0"/>
                </a:lnTo>
                <a:lnTo>
                  <a:pt x="9887264" y="6253695"/>
                </a:lnTo>
                <a:lnTo>
                  <a:pt x="0" y="6253695"/>
                </a:lnTo>
                <a:lnTo>
                  <a:pt x="0" y="0"/>
                </a:lnTo>
                <a:close/>
              </a:path>
            </a:pathLst>
          </a:custGeom>
          <a:blipFill>
            <a:blip r:embed="rId3"/>
            <a:stretch>
              <a:fillRect l="0" t="0" r="0" b="0"/>
            </a:stretch>
          </a:blipFill>
        </p:spPr>
      </p:sp>
      <p:sp>
        <p:nvSpPr>
          <p:cNvPr name="TextBox 6" id="6"/>
          <p:cNvSpPr txBox="true"/>
          <p:nvPr/>
        </p:nvSpPr>
        <p:spPr>
          <a:xfrm rot="0">
            <a:off x="7715376" y="9239250"/>
            <a:ext cx="7460638" cy="352997"/>
          </a:xfrm>
          <a:prstGeom prst="rect">
            <a:avLst/>
          </a:prstGeom>
        </p:spPr>
        <p:txBody>
          <a:bodyPr anchor="t" rtlCol="false" tIns="0" lIns="0" bIns="0" rIns="0">
            <a:spAutoFit/>
          </a:bodyPr>
          <a:lstStyle/>
          <a:p>
            <a:pPr algn="ctr">
              <a:lnSpc>
                <a:spcPts val="2859"/>
              </a:lnSpc>
              <a:spcBef>
                <a:spcPct val="0"/>
              </a:spcBef>
            </a:pPr>
            <a:r>
              <a:rPr lang="en-US" b="true" sz="2199" spc="-65">
                <a:solidFill>
                  <a:srgbClr val="000000"/>
                </a:solidFill>
                <a:latin typeface="Muli Ultra-Bold"/>
                <a:ea typeface="Muli Ultra-Bold"/>
                <a:cs typeface="Muli Ultra-Bold"/>
                <a:sym typeface="Muli Ultra-Bold"/>
              </a:rPr>
              <a:t>Image: Data Tables and charts from CME Fedwatch tool</a:t>
            </a:r>
          </a:p>
        </p:txBody>
      </p:sp>
      <p:sp>
        <p:nvSpPr>
          <p:cNvPr name="TextBox 7" id="7"/>
          <p:cNvSpPr txBox="true"/>
          <p:nvPr/>
        </p:nvSpPr>
        <p:spPr>
          <a:xfrm rot="0">
            <a:off x="158137" y="1009650"/>
            <a:ext cx="5694415" cy="714885"/>
          </a:xfrm>
          <a:prstGeom prst="rect">
            <a:avLst/>
          </a:prstGeom>
        </p:spPr>
        <p:txBody>
          <a:bodyPr anchor="t" rtlCol="false" tIns="0" lIns="0" bIns="0" rIns="0">
            <a:spAutoFit/>
          </a:bodyPr>
          <a:lstStyle/>
          <a:p>
            <a:pPr algn="ctr">
              <a:lnSpc>
                <a:spcPts val="2859"/>
              </a:lnSpc>
              <a:spcBef>
                <a:spcPct val="0"/>
              </a:spcBef>
            </a:pPr>
            <a:r>
              <a:rPr lang="en-US" b="true" sz="2199" spc="-65">
                <a:solidFill>
                  <a:srgbClr val="222222"/>
                </a:solidFill>
                <a:latin typeface="Muli Ultra-Bold"/>
                <a:ea typeface="Muli Ultra-Bold"/>
                <a:cs typeface="Muli Ultra-Bold"/>
                <a:sym typeface="Muli Ultra-Bold"/>
              </a:rPr>
              <a:t>FED </a:t>
            </a:r>
            <a:r>
              <a:rPr lang="en-US" b="true" sz="2199" spc="-65">
                <a:solidFill>
                  <a:srgbClr val="222222"/>
                </a:solidFill>
                <a:latin typeface="Muli Ultra-Bold"/>
                <a:ea typeface="Muli Ultra-Bold"/>
                <a:cs typeface="Muli Ultra-Bold"/>
                <a:sym typeface="Muli Ultra-Bold"/>
              </a:rPr>
              <a:t>&amp; RATES (CME FedWatch + Treasury.gov)</a:t>
            </a:r>
          </a:p>
        </p:txBody>
      </p:sp>
      <p:sp>
        <p:nvSpPr>
          <p:cNvPr name="TextBox 8" id="8"/>
          <p:cNvSpPr txBox="true"/>
          <p:nvPr/>
        </p:nvSpPr>
        <p:spPr>
          <a:xfrm rot="0">
            <a:off x="106374" y="1963133"/>
            <a:ext cx="5746179" cy="2021022"/>
          </a:xfrm>
          <a:prstGeom prst="rect">
            <a:avLst/>
          </a:prstGeom>
        </p:spPr>
        <p:txBody>
          <a:bodyPr anchor="t" rtlCol="false" tIns="0" lIns="0" bIns="0" rIns="0">
            <a:spAutoFit/>
          </a:bodyPr>
          <a:lstStyle/>
          <a:p>
            <a:pPr algn="l" marL="474979" indent="-237490" lvl="1">
              <a:lnSpc>
                <a:spcPts val="3299"/>
              </a:lnSpc>
              <a:buFont typeface="Arial"/>
              <a:buChar char="•"/>
            </a:pPr>
            <a:r>
              <a:rPr lang="en-US" b="true" sz="2199" spc="-65">
                <a:solidFill>
                  <a:srgbClr val="222222"/>
                </a:solidFill>
                <a:latin typeface="Muli Bold"/>
                <a:ea typeface="Muli Bold"/>
                <a:cs typeface="Muli Bold"/>
                <a:sym typeface="Muli Bold"/>
              </a:rPr>
              <a:t>Current Fed rate: 3.50%–3.75%</a:t>
            </a:r>
          </a:p>
          <a:p>
            <a:pPr algn="l" marL="474979" indent="-237490" lvl="1">
              <a:lnSpc>
                <a:spcPts val="3299"/>
              </a:lnSpc>
              <a:buFont typeface="Arial"/>
              <a:buChar char="•"/>
            </a:pPr>
            <a:r>
              <a:rPr lang="en-US" b="true" sz="2199" spc="-65">
                <a:solidFill>
                  <a:srgbClr val="222222"/>
                </a:solidFill>
                <a:latin typeface="Muli Bold"/>
                <a:ea typeface="Muli Bold"/>
                <a:cs typeface="Muli Bold"/>
                <a:sym typeface="Muli Bold"/>
              </a:rPr>
              <a:t>Next FOMC date: June 17, 2026. Hold probability: 99.6%. Cut probability: 0.4%. Direction vs last week: unchanged.</a:t>
            </a:r>
          </a:p>
          <a:p>
            <a:pPr algn="l">
              <a:lnSpc>
                <a:spcPts val="3299"/>
              </a:lnSpc>
            </a:pPr>
          </a:p>
        </p:txBody>
      </p:sp>
      <p:sp>
        <p:nvSpPr>
          <p:cNvPr name="TextBox 9" id="9"/>
          <p:cNvSpPr txBox="true"/>
          <p:nvPr/>
        </p:nvSpPr>
        <p:spPr>
          <a:xfrm rot="0">
            <a:off x="356519" y="5356202"/>
            <a:ext cx="5672507" cy="3609983"/>
          </a:xfrm>
          <a:prstGeom prst="rect">
            <a:avLst/>
          </a:prstGeom>
        </p:spPr>
        <p:txBody>
          <a:bodyPr anchor="t" rtlCol="false" tIns="0" lIns="0" bIns="0" rIns="0">
            <a:spAutoFit/>
          </a:bodyPr>
          <a:lstStyle/>
          <a:p>
            <a:pPr algn="l">
              <a:lnSpc>
                <a:spcPts val="2859"/>
              </a:lnSpc>
            </a:pPr>
            <a:r>
              <a:rPr lang="en-US" sz="2199" spc="-65" b="true">
                <a:solidFill>
                  <a:srgbClr val="222222"/>
                </a:solidFill>
                <a:latin typeface="Muli Ultra-Bold"/>
                <a:ea typeface="Muli Ultra-Bold"/>
                <a:cs typeface="Muli Ultra-Bold"/>
                <a:sym typeface="Muli Ultra-Bold"/>
              </a:rPr>
              <a:t>Presentation Note:</a:t>
            </a:r>
          </a:p>
          <a:p>
            <a:pPr algn="l">
              <a:lnSpc>
                <a:spcPts val="2859"/>
              </a:lnSpc>
              <a:spcBef>
                <a:spcPct val="0"/>
              </a:spcBef>
            </a:pPr>
            <a:r>
              <a:rPr lang="en-US" b="true" sz="2199" spc="-65">
                <a:solidFill>
                  <a:srgbClr val="222222"/>
                </a:solidFill>
                <a:latin typeface="Muli Ultra-Bold"/>
                <a:ea typeface="Muli Ultra-Bold"/>
                <a:cs typeface="Muli Ultra-Bold"/>
                <a:sym typeface="Muli Ultra-Bold"/>
              </a:rPr>
              <a:t>Starting with the Federal Reserve, the current Fed funds target range remains at 3.50% to 3.75%. According to CME FedWatch, markets are assigning a 99.6% probability that the Fed will leave rates unchanged at the June 17 FOMC meeting. This indicates that investors are largely expecting a wait-and-see approach from the Fed.</a:t>
            </a:r>
          </a:p>
        </p:txBody>
      </p:sp>
      <p:sp>
        <p:nvSpPr>
          <p:cNvPr name="TextBox 10" id="10"/>
          <p:cNvSpPr txBox="true"/>
          <p:nvPr/>
        </p:nvSpPr>
        <p:spPr>
          <a:xfrm rot="0">
            <a:off x="17435624" y="148563"/>
            <a:ext cx="505173" cy="512373"/>
          </a:xfrm>
          <a:prstGeom prst="rect">
            <a:avLst/>
          </a:prstGeom>
        </p:spPr>
        <p:txBody>
          <a:bodyPr anchor="t" rtlCol="false" tIns="0" lIns="0" bIns="0" rIns="0">
            <a:spAutoFit/>
          </a:bodyPr>
          <a:lstStyle/>
          <a:p>
            <a:pPr algn="ctr">
              <a:lnSpc>
                <a:spcPts val="4143"/>
              </a:lnSpc>
              <a:spcBef>
                <a:spcPct val="0"/>
              </a:spcBef>
            </a:pPr>
            <a:r>
              <a:rPr lang="en-US" b="true" sz="3187" spc="-95">
                <a:solidFill>
                  <a:srgbClr val="000000"/>
                </a:solidFill>
                <a:latin typeface="Muli Ultra-Bold"/>
                <a:ea typeface="Muli Ultra-Bold"/>
                <a:cs typeface="Muli Ultra-Bold"/>
                <a:sym typeface="Muli Ultra-Bold"/>
              </a:rPr>
              <a:t>R4</a:t>
            </a:r>
          </a:p>
        </p:txBody>
      </p:sp>
      <p:sp>
        <p:nvSpPr>
          <p:cNvPr name="TextBox 11" id="11"/>
          <p:cNvSpPr txBox="true"/>
          <p:nvPr/>
        </p:nvSpPr>
        <p:spPr>
          <a:xfrm rot="0">
            <a:off x="0" y="9709785"/>
            <a:ext cx="18288000" cy="577215"/>
          </a:xfrm>
          <a:prstGeom prst="rect">
            <a:avLst/>
          </a:prstGeom>
        </p:spPr>
        <p:txBody>
          <a:bodyPr anchor="t" rtlCol="false" tIns="0" lIns="0" bIns="0" rIns="0">
            <a:spAutoFit/>
          </a:bodyPr>
          <a:lstStyle/>
          <a:p>
            <a:pPr algn="ctr">
              <a:lnSpc>
                <a:spcPts val="2340"/>
              </a:lnSpc>
              <a:spcBef>
                <a:spcPct val="0"/>
              </a:spcBef>
            </a:pPr>
            <a:r>
              <a:rPr lang="en-US" sz="1800" spc="-54">
                <a:solidFill>
                  <a:srgbClr val="000000"/>
                </a:solidFill>
                <a:latin typeface="Muli"/>
                <a:ea typeface="Muli"/>
                <a:cs typeface="Muli"/>
                <a:sym typeface="Muli"/>
              </a:rPr>
              <a:t>First, looking at monetary policy, the market pricing in a Fed rate hold at 3.50%-3.75% is a "Confirmed" expectation, sitting at 99.6% probability. Similarly, the drop in the 10-year Treasury yield to 4.44% and the 9.5% collapse in WTI crude are "Confirmed" data points, providing significant inflation relief and tailwinds for risk assets.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6E7DE"/>
        </a:solidFill>
      </p:bgPr>
    </p:bg>
    <p:spTree>
      <p:nvGrpSpPr>
        <p:cNvPr id="1" name=""/>
        <p:cNvGrpSpPr/>
        <p:nvPr/>
      </p:nvGrpSpPr>
      <p:grpSpPr>
        <a:xfrm>
          <a:off x="0" y="0"/>
          <a:ext cx="0" cy="0"/>
          <a:chOff x="0" y="0"/>
          <a:chExt cx="0" cy="0"/>
        </a:xfrm>
      </p:grpSpPr>
      <p:grpSp>
        <p:nvGrpSpPr>
          <p:cNvPr name="Group 2" id="2"/>
          <p:cNvGrpSpPr/>
          <p:nvPr/>
        </p:nvGrpSpPr>
        <p:grpSpPr>
          <a:xfrm rot="0">
            <a:off x="0" y="0"/>
            <a:ext cx="6268352" cy="10287000"/>
            <a:chOff x="0" y="0"/>
            <a:chExt cx="2120406" cy="3479800"/>
          </a:xfrm>
        </p:grpSpPr>
        <p:sp>
          <p:nvSpPr>
            <p:cNvPr name="Freeform 3" id="3"/>
            <p:cNvSpPr/>
            <p:nvPr/>
          </p:nvSpPr>
          <p:spPr>
            <a:xfrm flipH="false" flipV="false" rot="0">
              <a:off x="0" y="0"/>
              <a:ext cx="2120406" cy="3479800"/>
            </a:xfrm>
            <a:custGeom>
              <a:avLst/>
              <a:gdLst/>
              <a:ahLst/>
              <a:cxnLst/>
              <a:rect r="r" b="b" t="t" l="l"/>
              <a:pathLst>
                <a:path h="3479800" w="2120406">
                  <a:moveTo>
                    <a:pt x="1995946" y="3479800"/>
                  </a:moveTo>
                  <a:lnTo>
                    <a:pt x="124460" y="3479800"/>
                  </a:lnTo>
                  <a:cubicBezTo>
                    <a:pt x="55880" y="3479800"/>
                    <a:pt x="0" y="3423920"/>
                    <a:pt x="0" y="3355340"/>
                  </a:cubicBezTo>
                  <a:lnTo>
                    <a:pt x="0" y="124460"/>
                  </a:lnTo>
                  <a:cubicBezTo>
                    <a:pt x="0" y="55880"/>
                    <a:pt x="55880" y="0"/>
                    <a:pt x="124460" y="0"/>
                  </a:cubicBezTo>
                  <a:lnTo>
                    <a:pt x="1995946" y="0"/>
                  </a:lnTo>
                  <a:cubicBezTo>
                    <a:pt x="2064526" y="0"/>
                    <a:pt x="2120406" y="55880"/>
                    <a:pt x="2120406" y="124460"/>
                  </a:cubicBezTo>
                  <a:lnTo>
                    <a:pt x="2120406" y="3355340"/>
                  </a:lnTo>
                  <a:cubicBezTo>
                    <a:pt x="2120406" y="3423920"/>
                    <a:pt x="2064526" y="3479800"/>
                    <a:pt x="1995946" y="3479800"/>
                  </a:cubicBezTo>
                  <a:close/>
                </a:path>
              </a:pathLst>
            </a:custGeom>
            <a:solidFill>
              <a:srgbClr val="FFFFFF"/>
            </a:solidFill>
          </p:spPr>
        </p:sp>
      </p:grpSp>
      <p:grpSp>
        <p:nvGrpSpPr>
          <p:cNvPr name="Group 4" id="4"/>
          <p:cNvGrpSpPr/>
          <p:nvPr/>
        </p:nvGrpSpPr>
        <p:grpSpPr>
          <a:xfrm rot="0">
            <a:off x="7438534" y="1096087"/>
            <a:ext cx="8095893" cy="5985023"/>
            <a:chOff x="0" y="0"/>
            <a:chExt cx="2083704" cy="1540413"/>
          </a:xfrm>
        </p:grpSpPr>
        <p:sp>
          <p:nvSpPr>
            <p:cNvPr name="Freeform 5" id="5"/>
            <p:cNvSpPr/>
            <p:nvPr/>
          </p:nvSpPr>
          <p:spPr>
            <a:xfrm flipH="false" flipV="false" rot="0">
              <a:off x="0" y="0"/>
              <a:ext cx="2083704" cy="1540413"/>
            </a:xfrm>
            <a:custGeom>
              <a:avLst/>
              <a:gdLst/>
              <a:ahLst/>
              <a:cxnLst/>
              <a:rect r="r" b="b" t="t" l="l"/>
              <a:pathLst>
                <a:path h="1540413" w="2083704">
                  <a:moveTo>
                    <a:pt x="1959244" y="1540413"/>
                  </a:moveTo>
                  <a:lnTo>
                    <a:pt x="124460" y="1540413"/>
                  </a:lnTo>
                  <a:cubicBezTo>
                    <a:pt x="55880" y="1540413"/>
                    <a:pt x="0" y="1484533"/>
                    <a:pt x="0" y="1415953"/>
                  </a:cubicBezTo>
                  <a:lnTo>
                    <a:pt x="0" y="124460"/>
                  </a:lnTo>
                  <a:cubicBezTo>
                    <a:pt x="0" y="55880"/>
                    <a:pt x="55880" y="0"/>
                    <a:pt x="124460" y="0"/>
                  </a:cubicBezTo>
                  <a:lnTo>
                    <a:pt x="1959244" y="0"/>
                  </a:lnTo>
                  <a:cubicBezTo>
                    <a:pt x="2027824" y="0"/>
                    <a:pt x="2083704" y="55880"/>
                    <a:pt x="2083704" y="124460"/>
                  </a:cubicBezTo>
                  <a:lnTo>
                    <a:pt x="2083704" y="1415953"/>
                  </a:lnTo>
                  <a:cubicBezTo>
                    <a:pt x="2083704" y="1484533"/>
                    <a:pt x="2027824" y="1540413"/>
                    <a:pt x="1959244" y="1540413"/>
                  </a:cubicBezTo>
                  <a:close/>
                </a:path>
              </a:pathLst>
            </a:custGeom>
            <a:solidFill>
              <a:srgbClr val="222222"/>
            </a:solidFill>
          </p:spPr>
        </p:sp>
      </p:grpSp>
      <p:sp>
        <p:nvSpPr>
          <p:cNvPr name="Freeform 6" id="6"/>
          <p:cNvSpPr/>
          <p:nvPr/>
        </p:nvSpPr>
        <p:spPr>
          <a:xfrm flipH="false" flipV="false" rot="0">
            <a:off x="8030335" y="1554063"/>
            <a:ext cx="2221524" cy="4959995"/>
          </a:xfrm>
          <a:custGeom>
            <a:avLst/>
            <a:gdLst/>
            <a:ahLst/>
            <a:cxnLst/>
            <a:rect r="r" b="b" t="t" l="l"/>
            <a:pathLst>
              <a:path h="4959995" w="2221524">
                <a:moveTo>
                  <a:pt x="0" y="0"/>
                </a:moveTo>
                <a:lnTo>
                  <a:pt x="2221525" y="0"/>
                </a:lnTo>
                <a:lnTo>
                  <a:pt x="2221525" y="4959995"/>
                </a:lnTo>
                <a:lnTo>
                  <a:pt x="0" y="4959995"/>
                </a:lnTo>
                <a:lnTo>
                  <a:pt x="0" y="0"/>
                </a:lnTo>
                <a:close/>
              </a:path>
            </a:pathLst>
          </a:custGeom>
          <a:blipFill>
            <a:blip r:embed="rId2"/>
            <a:stretch>
              <a:fillRect l="-7819" t="-3002" r="-1629" b="-1450"/>
            </a:stretch>
          </a:blipFill>
        </p:spPr>
      </p:sp>
      <p:sp>
        <p:nvSpPr>
          <p:cNvPr name="TextBox 7" id="7"/>
          <p:cNvSpPr txBox="true"/>
          <p:nvPr/>
        </p:nvSpPr>
        <p:spPr>
          <a:xfrm rot="0">
            <a:off x="7856619" y="7062060"/>
            <a:ext cx="6690891" cy="352997"/>
          </a:xfrm>
          <a:prstGeom prst="rect">
            <a:avLst/>
          </a:prstGeom>
        </p:spPr>
        <p:txBody>
          <a:bodyPr anchor="t" rtlCol="false" tIns="0" lIns="0" bIns="0" rIns="0">
            <a:spAutoFit/>
          </a:bodyPr>
          <a:lstStyle/>
          <a:p>
            <a:pPr algn="ctr">
              <a:lnSpc>
                <a:spcPts val="2859"/>
              </a:lnSpc>
              <a:spcBef>
                <a:spcPct val="0"/>
              </a:spcBef>
            </a:pPr>
            <a:r>
              <a:rPr lang="en-US" b="true" sz="2199" spc="-65">
                <a:solidFill>
                  <a:srgbClr val="000000"/>
                </a:solidFill>
                <a:latin typeface="Muli Ultra-Bold"/>
                <a:ea typeface="Muli Ultra-Bold"/>
                <a:cs typeface="Muli Ultra-Bold"/>
                <a:sym typeface="Muli Ultra-Bold"/>
              </a:rPr>
              <a:t>Image: Data Table from CME Fedwatch tool</a:t>
            </a:r>
          </a:p>
        </p:txBody>
      </p:sp>
      <p:sp>
        <p:nvSpPr>
          <p:cNvPr name="TextBox 8" id="8"/>
          <p:cNvSpPr txBox="true"/>
          <p:nvPr/>
        </p:nvSpPr>
        <p:spPr>
          <a:xfrm rot="0">
            <a:off x="457199" y="690278"/>
            <a:ext cx="5397477" cy="714885"/>
          </a:xfrm>
          <a:prstGeom prst="rect">
            <a:avLst/>
          </a:prstGeom>
        </p:spPr>
        <p:txBody>
          <a:bodyPr anchor="t" rtlCol="false" tIns="0" lIns="0" bIns="0" rIns="0">
            <a:spAutoFit/>
          </a:bodyPr>
          <a:lstStyle/>
          <a:p>
            <a:pPr algn="ctr">
              <a:lnSpc>
                <a:spcPts val="2859"/>
              </a:lnSpc>
              <a:spcBef>
                <a:spcPct val="0"/>
              </a:spcBef>
            </a:pPr>
            <a:r>
              <a:rPr lang="en-US" b="true" sz="2199" spc="-65">
                <a:solidFill>
                  <a:srgbClr val="222222"/>
                </a:solidFill>
                <a:latin typeface="Muli Ultra-Bold"/>
                <a:ea typeface="Muli Ultra-Bold"/>
                <a:cs typeface="Muli Ultra-Bold"/>
                <a:sym typeface="Muli Ultra-Bold"/>
              </a:rPr>
              <a:t>FED </a:t>
            </a:r>
            <a:r>
              <a:rPr lang="en-US" b="true" sz="2199" spc="-65">
                <a:solidFill>
                  <a:srgbClr val="222222"/>
                </a:solidFill>
                <a:latin typeface="Muli Ultra-Bold"/>
                <a:ea typeface="Muli Ultra-Bold"/>
                <a:cs typeface="Muli Ultra-Bold"/>
                <a:sym typeface="Muli Ultra-Bold"/>
              </a:rPr>
              <a:t>&amp; RATES (CME FedWatch + Treasury.gov)</a:t>
            </a:r>
          </a:p>
        </p:txBody>
      </p:sp>
      <p:sp>
        <p:nvSpPr>
          <p:cNvPr name="TextBox 9" id="9"/>
          <p:cNvSpPr txBox="true"/>
          <p:nvPr/>
        </p:nvSpPr>
        <p:spPr>
          <a:xfrm rot="0">
            <a:off x="108497" y="1188865"/>
            <a:ext cx="5746179" cy="4068714"/>
          </a:xfrm>
          <a:prstGeom prst="rect">
            <a:avLst/>
          </a:prstGeom>
        </p:spPr>
        <p:txBody>
          <a:bodyPr anchor="t" rtlCol="false" tIns="0" lIns="0" bIns="0" rIns="0">
            <a:spAutoFit/>
          </a:bodyPr>
          <a:lstStyle/>
          <a:p>
            <a:pPr algn="l">
              <a:lnSpc>
                <a:spcPts val="3299"/>
              </a:lnSpc>
            </a:pPr>
          </a:p>
          <a:p>
            <a:pPr algn="l" marL="474979" indent="-237490" lvl="1">
              <a:lnSpc>
                <a:spcPts val="3299"/>
              </a:lnSpc>
              <a:buFont typeface="Arial"/>
              <a:buChar char="•"/>
            </a:pPr>
            <a:r>
              <a:rPr lang="en-US" b="true" sz="2199" spc="-65">
                <a:solidFill>
                  <a:srgbClr val="222222"/>
                </a:solidFill>
                <a:latin typeface="Muli Bold"/>
                <a:ea typeface="Muli Bold"/>
                <a:cs typeface="Muli Bold"/>
                <a:sym typeface="Muli Bold"/>
              </a:rPr>
              <a:t>2-year yield: 4.00% 10-year yield: 4.44% 30-year yield: 4.97%</a:t>
            </a:r>
          </a:p>
          <a:p>
            <a:pPr algn="l" marL="474979" indent="-237490" lvl="1">
              <a:lnSpc>
                <a:spcPts val="3299"/>
              </a:lnSpc>
              <a:buFont typeface="Arial"/>
              <a:buChar char="•"/>
            </a:pPr>
            <a:r>
              <a:rPr lang="en-US" b="true" sz="2199" spc="-65">
                <a:solidFill>
                  <a:srgbClr val="222222"/>
                </a:solidFill>
                <a:latin typeface="Muli Bold"/>
                <a:ea typeface="Muli Bold"/>
                <a:cs typeface="Muli Bold"/>
                <a:sym typeface="Muli Bold"/>
              </a:rPr>
              <a:t>Yield curve: normal. 10-year direction this week: falling.</a:t>
            </a:r>
          </a:p>
          <a:p>
            <a:pPr algn="l" marL="474979" indent="-237490" lvl="1">
              <a:lnSpc>
                <a:spcPts val="3299"/>
              </a:lnSpc>
              <a:buFont typeface="Arial"/>
              <a:buChar char="•"/>
            </a:pPr>
            <a:r>
              <a:rPr lang="en-US" b="true" sz="2199" spc="-65">
                <a:solidFill>
                  <a:srgbClr val="222222"/>
                </a:solidFill>
                <a:latin typeface="Muli Bold"/>
                <a:ea typeface="Muli Bold"/>
                <a:cs typeface="Muli Bold"/>
                <a:sym typeface="Muli Bold"/>
              </a:rPr>
              <a:t>Falling 10-year yield gives some relief to growth stocks and rate-sensitive sectors. Market still not pricing near-term Fed action.</a:t>
            </a:r>
          </a:p>
          <a:p>
            <a:pPr algn="l">
              <a:lnSpc>
                <a:spcPts val="3299"/>
              </a:lnSpc>
            </a:pPr>
          </a:p>
        </p:txBody>
      </p:sp>
      <p:sp>
        <p:nvSpPr>
          <p:cNvPr name="TextBox 10" id="10"/>
          <p:cNvSpPr txBox="true"/>
          <p:nvPr/>
        </p:nvSpPr>
        <p:spPr>
          <a:xfrm rot="0">
            <a:off x="457199" y="5238529"/>
            <a:ext cx="5672507" cy="3609983"/>
          </a:xfrm>
          <a:prstGeom prst="rect">
            <a:avLst/>
          </a:prstGeom>
        </p:spPr>
        <p:txBody>
          <a:bodyPr anchor="t" rtlCol="false" tIns="0" lIns="0" bIns="0" rIns="0">
            <a:spAutoFit/>
          </a:bodyPr>
          <a:lstStyle/>
          <a:p>
            <a:pPr algn="l">
              <a:lnSpc>
                <a:spcPts val="2859"/>
              </a:lnSpc>
            </a:pPr>
            <a:r>
              <a:rPr lang="en-US" sz="2199" spc="-65" b="true">
                <a:solidFill>
                  <a:srgbClr val="222222"/>
                </a:solidFill>
                <a:latin typeface="Muli Ultra-Bold"/>
                <a:ea typeface="Muli Ultra-Bold"/>
                <a:cs typeface="Muli Ultra-Bold"/>
                <a:sym typeface="Muli Ultra-Bold"/>
              </a:rPr>
              <a:t>Presentation Note:</a:t>
            </a:r>
          </a:p>
          <a:p>
            <a:pPr algn="l">
              <a:lnSpc>
                <a:spcPts val="2859"/>
              </a:lnSpc>
              <a:spcBef>
                <a:spcPct val="0"/>
              </a:spcBef>
            </a:pPr>
            <a:r>
              <a:rPr lang="en-US" b="true" sz="2199" spc="-65">
                <a:solidFill>
                  <a:srgbClr val="222222"/>
                </a:solidFill>
                <a:latin typeface="Muli Ultra-Bold"/>
                <a:ea typeface="Muli Ultra-Bold"/>
                <a:cs typeface="Muli Ultra-Bold"/>
                <a:sym typeface="Muli Ultra-Bold"/>
              </a:rPr>
              <a:t>Looking at Treasury yields, the 2-year, 10-year, and 30-year yields are approximately 4.00%, 4.44%, and 4.97% respectively. The yield curve remains normal, with longer-term yields above shorter-term yields. During the week, Treasury bond prices rose, implying that yields moved lower. Lower yields generally provide some support to growth and technology stocks.</a:t>
            </a:r>
          </a:p>
        </p:txBody>
      </p:sp>
      <p:sp>
        <p:nvSpPr>
          <p:cNvPr name="TextBox 11" id="11"/>
          <p:cNvSpPr txBox="true"/>
          <p:nvPr/>
        </p:nvSpPr>
        <p:spPr>
          <a:xfrm rot="0">
            <a:off x="17417825" y="223489"/>
            <a:ext cx="477467" cy="485840"/>
          </a:xfrm>
          <a:prstGeom prst="rect">
            <a:avLst/>
          </a:prstGeom>
        </p:spPr>
        <p:txBody>
          <a:bodyPr anchor="t" rtlCol="false" tIns="0" lIns="0" bIns="0" rIns="0">
            <a:spAutoFit/>
          </a:bodyPr>
          <a:lstStyle/>
          <a:p>
            <a:pPr algn="ctr">
              <a:lnSpc>
                <a:spcPts val="3916"/>
              </a:lnSpc>
              <a:spcBef>
                <a:spcPct val="0"/>
              </a:spcBef>
            </a:pPr>
            <a:r>
              <a:rPr lang="en-US" b="true" sz="3012" spc="-90">
                <a:solidFill>
                  <a:srgbClr val="000000"/>
                </a:solidFill>
                <a:latin typeface="Muli Ultra-Bold"/>
                <a:ea typeface="Muli Ultra-Bold"/>
                <a:cs typeface="Muli Ultra-Bold"/>
                <a:sym typeface="Muli Ultra-Bold"/>
              </a:rPr>
              <a:t>R4</a:t>
            </a:r>
          </a:p>
        </p:txBody>
      </p:sp>
      <p:sp>
        <p:nvSpPr>
          <p:cNvPr name="Freeform 12" id="12"/>
          <p:cNvSpPr/>
          <p:nvPr/>
        </p:nvSpPr>
        <p:spPr>
          <a:xfrm flipH="false" flipV="false" rot="0">
            <a:off x="12290586" y="2603348"/>
            <a:ext cx="2583774" cy="530307"/>
          </a:xfrm>
          <a:custGeom>
            <a:avLst/>
            <a:gdLst/>
            <a:ahLst/>
            <a:cxnLst/>
            <a:rect r="r" b="b" t="t" l="l"/>
            <a:pathLst>
              <a:path h="530307" w="2583774">
                <a:moveTo>
                  <a:pt x="0" y="0"/>
                </a:moveTo>
                <a:lnTo>
                  <a:pt x="2583774" y="0"/>
                </a:lnTo>
                <a:lnTo>
                  <a:pt x="2583774" y="530307"/>
                </a:lnTo>
                <a:lnTo>
                  <a:pt x="0" y="530307"/>
                </a:lnTo>
                <a:lnTo>
                  <a:pt x="0" y="0"/>
                </a:lnTo>
                <a:close/>
              </a:path>
            </a:pathLst>
          </a:custGeom>
          <a:blipFill>
            <a:blip r:embed="rId2"/>
            <a:stretch>
              <a:fillRect l="-9198" t="-296173" r="-5103" b="-790469"/>
            </a:stretch>
          </a:blipFill>
        </p:spPr>
      </p:sp>
      <p:sp>
        <p:nvSpPr>
          <p:cNvPr name="Freeform 13" id="13"/>
          <p:cNvSpPr/>
          <p:nvPr/>
        </p:nvSpPr>
        <p:spPr>
          <a:xfrm flipH="false" flipV="false" rot="0">
            <a:off x="12423560" y="4582363"/>
            <a:ext cx="2401475" cy="495902"/>
          </a:xfrm>
          <a:custGeom>
            <a:avLst/>
            <a:gdLst/>
            <a:ahLst/>
            <a:cxnLst/>
            <a:rect r="r" b="b" t="t" l="l"/>
            <a:pathLst>
              <a:path h="495902" w="2401475">
                <a:moveTo>
                  <a:pt x="0" y="0"/>
                </a:moveTo>
                <a:lnTo>
                  <a:pt x="2401474" y="0"/>
                </a:lnTo>
                <a:lnTo>
                  <a:pt x="2401474" y="495902"/>
                </a:lnTo>
                <a:lnTo>
                  <a:pt x="0" y="495902"/>
                </a:lnTo>
                <a:lnTo>
                  <a:pt x="0" y="0"/>
                </a:lnTo>
                <a:close/>
              </a:path>
            </a:pathLst>
          </a:custGeom>
          <a:blipFill>
            <a:blip r:embed="rId2"/>
            <a:stretch>
              <a:fillRect l="-8759" t="-708470" r="-3383" b="-348680"/>
            </a:stretch>
          </a:blipFill>
        </p:spPr>
      </p:sp>
      <p:sp>
        <p:nvSpPr>
          <p:cNvPr name="Freeform 14" id="14"/>
          <p:cNvSpPr/>
          <p:nvPr/>
        </p:nvSpPr>
        <p:spPr>
          <a:xfrm flipH="false" flipV="false" rot="0">
            <a:off x="12423560" y="5884016"/>
            <a:ext cx="2450800" cy="607968"/>
          </a:xfrm>
          <a:custGeom>
            <a:avLst/>
            <a:gdLst/>
            <a:ahLst/>
            <a:cxnLst/>
            <a:rect r="r" b="b" t="t" l="l"/>
            <a:pathLst>
              <a:path h="607968" w="2450800">
                <a:moveTo>
                  <a:pt x="0" y="0"/>
                </a:moveTo>
                <a:lnTo>
                  <a:pt x="2450800" y="0"/>
                </a:lnTo>
                <a:lnTo>
                  <a:pt x="2450800" y="607968"/>
                </a:lnTo>
                <a:lnTo>
                  <a:pt x="0" y="607968"/>
                </a:lnTo>
                <a:lnTo>
                  <a:pt x="0" y="0"/>
                </a:lnTo>
                <a:close/>
              </a:path>
            </a:pathLst>
          </a:custGeom>
          <a:blipFill>
            <a:blip r:embed="rId2"/>
            <a:stretch>
              <a:fillRect l="-11119" t="-884838" r="-5380" b="-15834"/>
            </a:stretch>
          </a:blipFill>
        </p:spPr>
      </p:sp>
      <p:sp>
        <p:nvSpPr>
          <p:cNvPr name="AutoShape 15" id="15"/>
          <p:cNvSpPr/>
          <p:nvPr/>
        </p:nvSpPr>
        <p:spPr>
          <a:xfrm>
            <a:off x="10251860" y="2868501"/>
            <a:ext cx="2038726" cy="0"/>
          </a:xfrm>
          <a:prstGeom prst="line">
            <a:avLst/>
          </a:prstGeom>
          <a:ln cap="flat" w="171450">
            <a:solidFill>
              <a:srgbClr val="F6E7DE"/>
            </a:solidFill>
            <a:prstDash val="solid"/>
            <a:headEnd type="none" len="sm" w="sm"/>
            <a:tailEnd type="triangle" len="med" w="lg"/>
          </a:ln>
        </p:spPr>
      </p:sp>
      <p:sp>
        <p:nvSpPr>
          <p:cNvPr name="AutoShape 16" id="16"/>
          <p:cNvSpPr/>
          <p:nvPr/>
        </p:nvSpPr>
        <p:spPr>
          <a:xfrm flipV="true">
            <a:off x="10251860" y="4830314"/>
            <a:ext cx="2171700" cy="0"/>
          </a:xfrm>
          <a:prstGeom prst="line">
            <a:avLst/>
          </a:prstGeom>
          <a:ln cap="flat" w="171450">
            <a:solidFill>
              <a:srgbClr val="F6E7DE"/>
            </a:solidFill>
            <a:prstDash val="solid"/>
            <a:headEnd type="none" len="sm" w="sm"/>
            <a:tailEnd type="triangle" len="med" w="lg"/>
          </a:ln>
        </p:spPr>
      </p:sp>
      <p:sp>
        <p:nvSpPr>
          <p:cNvPr name="AutoShape 17" id="17"/>
          <p:cNvSpPr/>
          <p:nvPr/>
        </p:nvSpPr>
        <p:spPr>
          <a:xfrm>
            <a:off x="10251860" y="6188000"/>
            <a:ext cx="2171700" cy="0"/>
          </a:xfrm>
          <a:prstGeom prst="line">
            <a:avLst/>
          </a:prstGeom>
          <a:ln cap="flat" w="171450">
            <a:solidFill>
              <a:srgbClr val="F6E7DE"/>
            </a:solidFill>
            <a:prstDash val="solid"/>
            <a:headEnd type="none" len="sm" w="sm"/>
            <a:tailEnd type="triangle" len="med" w="lg"/>
          </a:ln>
        </p:spPr>
      </p:sp>
      <p:sp>
        <p:nvSpPr>
          <p:cNvPr name="TextBox 18" id="18"/>
          <p:cNvSpPr txBox="true"/>
          <p:nvPr/>
        </p:nvSpPr>
        <p:spPr>
          <a:xfrm rot="0">
            <a:off x="7280749" y="9024782"/>
            <a:ext cx="8411464" cy="714885"/>
          </a:xfrm>
          <a:prstGeom prst="rect">
            <a:avLst/>
          </a:prstGeom>
        </p:spPr>
        <p:txBody>
          <a:bodyPr anchor="t" rtlCol="false" tIns="0" lIns="0" bIns="0" rIns="0">
            <a:spAutoFit/>
          </a:bodyPr>
          <a:lstStyle/>
          <a:p>
            <a:pPr algn="l" marL="474979" indent="-237490" lvl="1">
              <a:lnSpc>
                <a:spcPts val="2859"/>
              </a:lnSpc>
              <a:buFont typeface="Arial"/>
              <a:buChar char="•"/>
            </a:pPr>
            <a:r>
              <a:rPr lang="en-US" sz="2199" spc="-65">
                <a:solidFill>
                  <a:srgbClr val="222222"/>
                </a:solidFill>
                <a:latin typeface="Muli"/>
                <a:ea typeface="Muli"/>
                <a:cs typeface="Muli"/>
                <a:sym typeface="Muli"/>
              </a:rPr>
              <a:t>ExtraNote: Link provided for ustreasury is not working so I used CME Fedwatch tool to get the data for the treasury yield.</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6E7DE"/>
        </a:solidFill>
      </p:bgPr>
    </p:bg>
    <p:spTree>
      <p:nvGrpSpPr>
        <p:cNvPr id="1" name=""/>
        <p:cNvGrpSpPr/>
        <p:nvPr/>
      </p:nvGrpSpPr>
      <p:grpSpPr>
        <a:xfrm>
          <a:off x="0" y="0"/>
          <a:ext cx="0" cy="0"/>
          <a:chOff x="0" y="0"/>
          <a:chExt cx="0" cy="0"/>
        </a:xfrm>
      </p:grpSpPr>
      <p:grpSp>
        <p:nvGrpSpPr>
          <p:cNvPr name="Group 2" id="2"/>
          <p:cNvGrpSpPr/>
          <p:nvPr/>
        </p:nvGrpSpPr>
        <p:grpSpPr>
          <a:xfrm rot="0">
            <a:off x="0" y="0"/>
            <a:ext cx="6426337" cy="10287000"/>
            <a:chOff x="0" y="0"/>
            <a:chExt cx="2173847" cy="3479800"/>
          </a:xfrm>
        </p:grpSpPr>
        <p:sp>
          <p:nvSpPr>
            <p:cNvPr name="Freeform 3" id="3"/>
            <p:cNvSpPr/>
            <p:nvPr/>
          </p:nvSpPr>
          <p:spPr>
            <a:xfrm flipH="false" flipV="false" rot="0">
              <a:off x="0" y="0"/>
              <a:ext cx="2173848" cy="3479800"/>
            </a:xfrm>
            <a:custGeom>
              <a:avLst/>
              <a:gdLst/>
              <a:ahLst/>
              <a:cxnLst/>
              <a:rect r="r" b="b" t="t" l="l"/>
              <a:pathLst>
                <a:path h="3479800" w="2173848">
                  <a:moveTo>
                    <a:pt x="2049387" y="3479800"/>
                  </a:moveTo>
                  <a:lnTo>
                    <a:pt x="124460" y="3479800"/>
                  </a:lnTo>
                  <a:cubicBezTo>
                    <a:pt x="55880" y="3479800"/>
                    <a:pt x="0" y="3423920"/>
                    <a:pt x="0" y="3355340"/>
                  </a:cubicBezTo>
                  <a:lnTo>
                    <a:pt x="0" y="124460"/>
                  </a:lnTo>
                  <a:cubicBezTo>
                    <a:pt x="0" y="55880"/>
                    <a:pt x="55880" y="0"/>
                    <a:pt x="124460" y="0"/>
                  </a:cubicBezTo>
                  <a:lnTo>
                    <a:pt x="2049388" y="0"/>
                  </a:lnTo>
                  <a:cubicBezTo>
                    <a:pt x="2117967" y="0"/>
                    <a:pt x="2173848" y="55880"/>
                    <a:pt x="2173848" y="124460"/>
                  </a:cubicBezTo>
                  <a:lnTo>
                    <a:pt x="2173848" y="3355340"/>
                  </a:lnTo>
                  <a:cubicBezTo>
                    <a:pt x="2173848" y="3423920"/>
                    <a:pt x="2117967" y="3479800"/>
                    <a:pt x="2049388" y="3479800"/>
                  </a:cubicBezTo>
                  <a:close/>
                </a:path>
              </a:pathLst>
            </a:custGeom>
            <a:solidFill>
              <a:srgbClr val="FFFFFF"/>
            </a:solidFill>
          </p:spPr>
        </p:sp>
      </p:grpSp>
      <p:grpSp>
        <p:nvGrpSpPr>
          <p:cNvPr name="Group 4" id="4"/>
          <p:cNvGrpSpPr/>
          <p:nvPr/>
        </p:nvGrpSpPr>
        <p:grpSpPr>
          <a:xfrm rot="0">
            <a:off x="6567833" y="8265070"/>
            <a:ext cx="11574174" cy="1952277"/>
            <a:chOff x="0" y="0"/>
            <a:chExt cx="3915214" cy="660400"/>
          </a:xfrm>
        </p:grpSpPr>
        <p:sp>
          <p:nvSpPr>
            <p:cNvPr name="Freeform 5" id="5"/>
            <p:cNvSpPr/>
            <p:nvPr/>
          </p:nvSpPr>
          <p:spPr>
            <a:xfrm flipH="false" flipV="false" rot="0">
              <a:off x="0" y="0"/>
              <a:ext cx="3915215" cy="660400"/>
            </a:xfrm>
            <a:custGeom>
              <a:avLst/>
              <a:gdLst/>
              <a:ahLst/>
              <a:cxnLst/>
              <a:rect r="r" b="b" t="t" l="l"/>
              <a:pathLst>
                <a:path h="660400" w="3915215">
                  <a:moveTo>
                    <a:pt x="3790754" y="660400"/>
                  </a:moveTo>
                  <a:lnTo>
                    <a:pt x="124460" y="660400"/>
                  </a:lnTo>
                  <a:cubicBezTo>
                    <a:pt x="55880" y="660400"/>
                    <a:pt x="0" y="604520"/>
                    <a:pt x="0" y="535940"/>
                  </a:cubicBezTo>
                  <a:lnTo>
                    <a:pt x="0" y="124460"/>
                  </a:lnTo>
                  <a:cubicBezTo>
                    <a:pt x="0" y="55880"/>
                    <a:pt x="55880" y="0"/>
                    <a:pt x="124460" y="0"/>
                  </a:cubicBezTo>
                  <a:lnTo>
                    <a:pt x="3790754" y="0"/>
                  </a:lnTo>
                  <a:cubicBezTo>
                    <a:pt x="3859334" y="0"/>
                    <a:pt x="3915215" y="55880"/>
                    <a:pt x="3915215" y="124460"/>
                  </a:cubicBezTo>
                  <a:lnTo>
                    <a:pt x="3915215" y="535940"/>
                  </a:lnTo>
                  <a:cubicBezTo>
                    <a:pt x="3915215" y="604520"/>
                    <a:pt x="3859334" y="660400"/>
                    <a:pt x="3790754" y="660400"/>
                  </a:cubicBezTo>
                  <a:close/>
                </a:path>
              </a:pathLst>
            </a:custGeom>
            <a:solidFill>
              <a:srgbClr val="FFFFFF"/>
            </a:solidFill>
          </p:spPr>
        </p:sp>
      </p:grpSp>
      <p:sp>
        <p:nvSpPr>
          <p:cNvPr name="TextBox 6" id="6"/>
          <p:cNvSpPr txBox="true"/>
          <p:nvPr/>
        </p:nvSpPr>
        <p:spPr>
          <a:xfrm rot="0">
            <a:off x="7223758" y="7712965"/>
            <a:ext cx="10035542" cy="299756"/>
          </a:xfrm>
          <a:prstGeom prst="rect">
            <a:avLst/>
          </a:prstGeom>
        </p:spPr>
        <p:txBody>
          <a:bodyPr anchor="t" rtlCol="false" tIns="0" lIns="0" bIns="0" rIns="0">
            <a:spAutoFit/>
          </a:bodyPr>
          <a:lstStyle/>
          <a:p>
            <a:pPr algn="ctr">
              <a:lnSpc>
                <a:spcPts val="2470"/>
              </a:lnSpc>
              <a:spcBef>
                <a:spcPct val="0"/>
              </a:spcBef>
            </a:pPr>
            <a:r>
              <a:rPr lang="en-US" b="true" sz="1900" spc="-57">
                <a:solidFill>
                  <a:srgbClr val="000000"/>
                </a:solidFill>
                <a:latin typeface="Muli Ultra-Bold"/>
                <a:ea typeface="Muli Ultra-Bold"/>
                <a:cs typeface="Muli Ultra-Bold"/>
                <a:sym typeface="Muli Ultra-Bold"/>
              </a:rPr>
              <a:t>Image:  Event calendar next week from tradingeconomics.com filtered to highest priorities</a:t>
            </a:r>
          </a:p>
        </p:txBody>
      </p:sp>
      <p:sp>
        <p:nvSpPr>
          <p:cNvPr name="TextBox 7" id="7"/>
          <p:cNvSpPr txBox="true"/>
          <p:nvPr/>
        </p:nvSpPr>
        <p:spPr>
          <a:xfrm rot="0">
            <a:off x="348240" y="256220"/>
            <a:ext cx="5824041" cy="714885"/>
          </a:xfrm>
          <a:prstGeom prst="rect">
            <a:avLst/>
          </a:prstGeom>
        </p:spPr>
        <p:txBody>
          <a:bodyPr anchor="t" rtlCol="false" tIns="0" lIns="0" bIns="0" rIns="0">
            <a:spAutoFit/>
          </a:bodyPr>
          <a:lstStyle/>
          <a:p>
            <a:pPr algn="ctr">
              <a:lnSpc>
                <a:spcPts val="2859"/>
              </a:lnSpc>
              <a:spcBef>
                <a:spcPct val="0"/>
              </a:spcBef>
            </a:pPr>
            <a:r>
              <a:rPr lang="en-US" b="true" sz="2199" spc="-65">
                <a:solidFill>
                  <a:srgbClr val="222222"/>
                </a:solidFill>
                <a:latin typeface="Muli Ultra-Bold"/>
                <a:ea typeface="Muli Ultra-Bold"/>
                <a:cs typeface="Muli Ultra-Bold"/>
                <a:sym typeface="Muli Ultra-Bold"/>
              </a:rPr>
              <a:t>WEEK-AHEAD CALENDAR (TradingEconomics) </a:t>
            </a:r>
          </a:p>
        </p:txBody>
      </p:sp>
      <p:sp>
        <p:nvSpPr>
          <p:cNvPr name="TextBox 8" id="8"/>
          <p:cNvSpPr txBox="true"/>
          <p:nvPr/>
        </p:nvSpPr>
        <p:spPr>
          <a:xfrm rot="0">
            <a:off x="490955" y="1090480"/>
            <a:ext cx="5935382" cy="8895938"/>
          </a:xfrm>
          <a:prstGeom prst="rect">
            <a:avLst/>
          </a:prstGeom>
        </p:spPr>
        <p:txBody>
          <a:bodyPr anchor="t" rtlCol="false" tIns="0" lIns="0" bIns="0" rIns="0">
            <a:spAutoFit/>
          </a:bodyPr>
          <a:lstStyle/>
          <a:p>
            <a:pPr algn="l" marL="388622" indent="-194311" lvl="1">
              <a:lnSpc>
                <a:spcPts val="2700"/>
              </a:lnSpc>
              <a:buFont typeface="Arial"/>
              <a:buChar char="•"/>
            </a:pPr>
            <a:r>
              <a:rPr lang="en-US" b="true" sz="1800" spc="-54">
                <a:solidFill>
                  <a:srgbClr val="222222"/>
                </a:solidFill>
                <a:latin typeface="Muli Bold"/>
                <a:ea typeface="Muli Bold"/>
                <a:cs typeface="Muli Bold"/>
                <a:sym typeface="Muli Bold"/>
              </a:rPr>
              <a:t>Tuesday, June 2: US JOLTS Job Openings (Apr) — Expected: 6.8M, Previous: 6.866M — IMPORTANCE: Medium</a:t>
            </a:r>
          </a:p>
          <a:p>
            <a:pPr algn="l">
              <a:lnSpc>
                <a:spcPts val="2700"/>
              </a:lnSpc>
            </a:pPr>
            <a:r>
              <a:rPr lang="en-US" sz="1800" spc="-54" b="true">
                <a:solidFill>
                  <a:srgbClr val="222222"/>
                </a:solidFill>
                <a:latin typeface="Muli Bold"/>
                <a:ea typeface="Muli Bold"/>
                <a:cs typeface="Muli Bold"/>
                <a:sym typeface="Muli Bold"/>
              </a:rPr>
              <a:t>Labor demand indicator. Market watching for signs of cooling employment conditions before payrolls report.</a:t>
            </a:r>
          </a:p>
          <a:p>
            <a:pPr algn="l" marL="388622" indent="-194311" lvl="1">
              <a:lnSpc>
                <a:spcPts val="2700"/>
              </a:lnSpc>
              <a:buFont typeface="Arial"/>
              <a:buChar char="•"/>
            </a:pPr>
            <a:r>
              <a:rPr lang="en-US" b="true" sz="1800" spc="-54">
                <a:solidFill>
                  <a:srgbClr val="222222"/>
                </a:solidFill>
                <a:latin typeface="Muli Bold"/>
                <a:ea typeface="Muli Bold"/>
                <a:cs typeface="Muli Bold"/>
                <a:sym typeface="Muli Bold"/>
              </a:rPr>
              <a:t>Tuesday, June 2: Euro Area Flash CPI YoY (May) — Expected: 3.3%, Previous: 3.0% — IMPORTANCE: Medium</a:t>
            </a:r>
          </a:p>
          <a:p>
            <a:pPr algn="l">
              <a:lnSpc>
                <a:spcPts val="2700"/>
              </a:lnSpc>
            </a:pPr>
            <a:r>
              <a:rPr lang="en-US" sz="1800" spc="-54" b="true">
                <a:solidFill>
                  <a:srgbClr val="222222"/>
                </a:solidFill>
                <a:latin typeface="Muli Bold"/>
                <a:ea typeface="Muli Bold"/>
                <a:cs typeface="Muli Bold"/>
                <a:sym typeface="Muli Bold"/>
              </a:rPr>
              <a:t>Higher inflation reading could affect ECB policy expectations and global rate sentiment.</a:t>
            </a:r>
          </a:p>
          <a:p>
            <a:pPr algn="l" marL="388622" indent="-194311" lvl="1">
              <a:lnSpc>
                <a:spcPts val="2700"/>
              </a:lnSpc>
              <a:buFont typeface="Arial"/>
              <a:buChar char="•"/>
            </a:pPr>
            <a:r>
              <a:rPr lang="en-US" b="true" sz="1800" spc="-54">
                <a:solidFill>
                  <a:srgbClr val="222222"/>
                </a:solidFill>
                <a:latin typeface="Muli Bold"/>
                <a:ea typeface="Muli Bold"/>
                <a:cs typeface="Muli Bold"/>
                <a:sym typeface="Muli Bold"/>
              </a:rPr>
              <a:t>Wednesday, June 3: US ISM Services PMI (May) — Expected: 53.6, Previous: 53.6 — IMPORTANCE: Medium</a:t>
            </a:r>
          </a:p>
          <a:p>
            <a:pPr algn="l">
              <a:lnSpc>
                <a:spcPts val="2700"/>
              </a:lnSpc>
            </a:pPr>
            <a:r>
              <a:rPr lang="en-US" sz="1800" spc="-54" b="true">
                <a:solidFill>
                  <a:srgbClr val="222222"/>
                </a:solidFill>
                <a:latin typeface="Muli Bold"/>
                <a:ea typeface="Muli Bold"/>
                <a:cs typeface="Muli Bold"/>
                <a:sym typeface="Muli Bold"/>
              </a:rPr>
              <a:t>Measures activity in the services sector, which remains the largest part of the US economy.</a:t>
            </a:r>
          </a:p>
          <a:p>
            <a:pPr algn="l" marL="388622" indent="-194311" lvl="1">
              <a:lnSpc>
                <a:spcPts val="2700"/>
              </a:lnSpc>
              <a:buFont typeface="Arial"/>
              <a:buChar char="•"/>
            </a:pPr>
            <a:r>
              <a:rPr lang="en-US" b="true" sz="1800" spc="-54">
                <a:solidFill>
                  <a:srgbClr val="222222"/>
                </a:solidFill>
                <a:latin typeface="Muli Bold"/>
                <a:ea typeface="Muli Bold"/>
                <a:cs typeface="Muli Bold"/>
                <a:sym typeface="Muli Bold"/>
              </a:rPr>
              <a:t>Friday, June 5: US Unemployment Rate (May) — Expected: 4.3%, Previous: 4.3% — IMPORTANCE: High</a:t>
            </a:r>
          </a:p>
          <a:p>
            <a:pPr algn="l">
              <a:lnSpc>
                <a:spcPts val="2700"/>
              </a:lnSpc>
            </a:pPr>
            <a:r>
              <a:rPr lang="en-US" sz="1800" spc="-54" b="true">
                <a:solidFill>
                  <a:srgbClr val="222222"/>
                </a:solidFill>
                <a:latin typeface="Muli Bold"/>
                <a:ea typeface="Muli Bold"/>
                <a:cs typeface="Muli Bold"/>
                <a:sym typeface="Muli Bold"/>
              </a:rPr>
              <a:t>Stable unemployment would suggest labor market remains resilient despite slower hiring.</a:t>
            </a:r>
          </a:p>
          <a:p>
            <a:pPr algn="l" marL="388622" indent="-194311" lvl="1">
              <a:lnSpc>
                <a:spcPts val="2700"/>
              </a:lnSpc>
              <a:buFont typeface="Arial"/>
              <a:buChar char="•"/>
            </a:pPr>
            <a:r>
              <a:rPr lang="en-US" b="true" sz="1800" spc="-54">
                <a:solidFill>
                  <a:srgbClr val="222222"/>
                </a:solidFill>
                <a:latin typeface="Muli Bold"/>
                <a:ea typeface="Muli Bold"/>
                <a:cs typeface="Muli Bold"/>
                <a:sym typeface="Muli Bold"/>
              </a:rPr>
              <a:t>Friday, June 5: US Nonfarm Payrolls (May) — Expected: 96K, Previous: 115K — IMPORTANCE: High</a:t>
            </a:r>
          </a:p>
          <a:p>
            <a:pPr algn="l">
              <a:lnSpc>
                <a:spcPts val="2700"/>
              </a:lnSpc>
            </a:pPr>
            <a:r>
              <a:rPr lang="en-US" sz="1800" spc="-54" b="true">
                <a:solidFill>
                  <a:srgbClr val="222222"/>
                </a:solidFill>
                <a:latin typeface="Muli Bold"/>
                <a:ea typeface="Muli Bold"/>
                <a:cs typeface="Muli Bold"/>
                <a:sym typeface="Muli Bold"/>
              </a:rPr>
              <a:t>Most market-moving event of the week. A large upside or downside surprise could materially shift Fed rate expectations.</a:t>
            </a:r>
          </a:p>
          <a:p>
            <a:pPr algn="l">
              <a:lnSpc>
                <a:spcPts val="2700"/>
              </a:lnSpc>
            </a:pPr>
          </a:p>
        </p:txBody>
      </p:sp>
      <p:sp>
        <p:nvSpPr>
          <p:cNvPr name="TextBox 9" id="9"/>
          <p:cNvSpPr txBox="true"/>
          <p:nvPr/>
        </p:nvSpPr>
        <p:spPr>
          <a:xfrm rot="0">
            <a:off x="6867270" y="8565231"/>
            <a:ext cx="11274736" cy="1463197"/>
          </a:xfrm>
          <a:prstGeom prst="rect">
            <a:avLst/>
          </a:prstGeom>
        </p:spPr>
        <p:txBody>
          <a:bodyPr anchor="t" rtlCol="false" tIns="0" lIns="0" bIns="0" rIns="0">
            <a:spAutoFit/>
          </a:bodyPr>
          <a:lstStyle/>
          <a:p>
            <a:pPr algn="l">
              <a:lnSpc>
                <a:spcPts val="2340"/>
              </a:lnSpc>
              <a:spcBef>
                <a:spcPct val="0"/>
              </a:spcBef>
            </a:pPr>
            <a:r>
              <a:rPr lang="en-US" b="true" sz="1800" spc="-54">
                <a:solidFill>
                  <a:srgbClr val="222222"/>
                </a:solidFill>
                <a:latin typeface="Muli Ultra-Bold"/>
                <a:ea typeface="Muli Ultra-Bold"/>
                <a:cs typeface="Muli Ultra-Bold"/>
                <a:sym typeface="Muli Ultra-Bold"/>
              </a:rPr>
              <a:t>Presentation Note:</a:t>
            </a:r>
          </a:p>
          <a:p>
            <a:pPr algn="l">
              <a:lnSpc>
                <a:spcPts val="2340"/>
              </a:lnSpc>
              <a:spcBef>
                <a:spcPct val="0"/>
              </a:spcBef>
            </a:pPr>
            <a:r>
              <a:rPr lang="en-US" b="true" sz="1800" spc="-54">
                <a:solidFill>
                  <a:srgbClr val="222222"/>
                </a:solidFill>
                <a:latin typeface="Muli Ultra-Bold"/>
                <a:ea typeface="Muli Ultra-Bold"/>
                <a:cs typeface="Muli Ultra-Bold"/>
                <a:sym typeface="Muli Ultra-Bold"/>
              </a:rPr>
              <a:t>Looking ahead, the key economic events this week are US JOLTS Job Openings, ISM Services PMI, the US Unemployment Rate, and most importantly, US Nonfarm Payrolls on June 5. The market expects payroll growth of 96,000 compared to the previous reading of 115,000. Since labor market conditions directly influence Federal Reserve policy expectations, this is likely to be the most market-moving event of the week.</a:t>
            </a:r>
          </a:p>
        </p:txBody>
      </p:sp>
      <p:sp>
        <p:nvSpPr>
          <p:cNvPr name="TextBox 10" id="10"/>
          <p:cNvSpPr txBox="true"/>
          <p:nvPr/>
        </p:nvSpPr>
        <p:spPr>
          <a:xfrm rot="0">
            <a:off x="17449572" y="172733"/>
            <a:ext cx="523053" cy="519971"/>
          </a:xfrm>
          <a:prstGeom prst="rect">
            <a:avLst/>
          </a:prstGeom>
        </p:spPr>
        <p:txBody>
          <a:bodyPr anchor="t" rtlCol="false" tIns="0" lIns="0" bIns="0" rIns="0">
            <a:spAutoFit/>
          </a:bodyPr>
          <a:lstStyle/>
          <a:p>
            <a:pPr algn="ctr">
              <a:lnSpc>
                <a:spcPts val="4289"/>
              </a:lnSpc>
              <a:spcBef>
                <a:spcPct val="0"/>
              </a:spcBef>
            </a:pPr>
            <a:r>
              <a:rPr lang="en-US" b="true" sz="3299" spc="-98">
                <a:solidFill>
                  <a:srgbClr val="000000"/>
                </a:solidFill>
                <a:latin typeface="Muli Ultra-Bold"/>
                <a:ea typeface="Muli Ultra-Bold"/>
                <a:cs typeface="Muli Ultra-Bold"/>
                <a:sym typeface="Muli Ultra-Bold"/>
              </a:rPr>
              <a:t>R4</a:t>
            </a:r>
          </a:p>
        </p:txBody>
      </p:sp>
      <p:grpSp>
        <p:nvGrpSpPr>
          <p:cNvPr name="Group 11" id="11"/>
          <p:cNvGrpSpPr/>
          <p:nvPr/>
        </p:nvGrpSpPr>
        <p:grpSpPr>
          <a:xfrm rot="0">
            <a:off x="7156775" y="623187"/>
            <a:ext cx="10102525" cy="7108828"/>
            <a:chOff x="0" y="0"/>
            <a:chExt cx="13470033" cy="9478437"/>
          </a:xfrm>
        </p:grpSpPr>
        <p:sp>
          <p:nvSpPr>
            <p:cNvPr name="Freeform 12" id="12"/>
            <p:cNvSpPr/>
            <p:nvPr/>
          </p:nvSpPr>
          <p:spPr>
            <a:xfrm flipH="false" flipV="false" rot="0">
              <a:off x="48289" y="0"/>
              <a:ext cx="13373456" cy="9478437"/>
            </a:xfrm>
            <a:custGeom>
              <a:avLst/>
              <a:gdLst/>
              <a:ahLst/>
              <a:cxnLst/>
              <a:rect r="r" b="b" t="t" l="l"/>
              <a:pathLst>
                <a:path h="9478437" w="13373456">
                  <a:moveTo>
                    <a:pt x="0" y="0"/>
                  </a:moveTo>
                  <a:lnTo>
                    <a:pt x="13373456" y="0"/>
                  </a:lnTo>
                  <a:lnTo>
                    <a:pt x="13373456" y="9478437"/>
                  </a:lnTo>
                  <a:lnTo>
                    <a:pt x="0" y="9478437"/>
                  </a:lnTo>
                  <a:lnTo>
                    <a:pt x="0" y="0"/>
                  </a:lnTo>
                  <a:close/>
                </a:path>
              </a:pathLst>
            </a:custGeom>
            <a:blipFill>
              <a:blip r:embed="rId2"/>
              <a:stretch>
                <a:fillRect l="0" t="0" r="0" b="0"/>
              </a:stretch>
            </a:blipFill>
          </p:spPr>
        </p:sp>
        <p:sp>
          <p:nvSpPr>
            <p:cNvPr name="AutoShape 13" id="13"/>
            <p:cNvSpPr/>
            <p:nvPr/>
          </p:nvSpPr>
          <p:spPr>
            <a:xfrm flipV="true">
              <a:off x="24144" y="3357363"/>
              <a:ext cx="13373456" cy="24648"/>
            </a:xfrm>
            <a:prstGeom prst="line">
              <a:avLst/>
            </a:prstGeom>
            <a:ln cap="flat" w="48289">
              <a:solidFill>
                <a:srgbClr val="000000"/>
              </a:solidFill>
              <a:prstDash val="solid"/>
              <a:headEnd type="none" len="sm" w="sm"/>
              <a:tailEnd type="none" len="sm" w="sm"/>
            </a:ln>
          </p:spPr>
        </p:sp>
        <p:sp>
          <p:nvSpPr>
            <p:cNvPr name="AutoShape 14" id="14"/>
            <p:cNvSpPr/>
            <p:nvPr/>
          </p:nvSpPr>
          <p:spPr>
            <a:xfrm flipH="true">
              <a:off x="24144" y="3440573"/>
              <a:ext cx="0" cy="932072"/>
            </a:xfrm>
            <a:prstGeom prst="line">
              <a:avLst/>
            </a:prstGeom>
            <a:ln cap="flat" w="48289">
              <a:solidFill>
                <a:srgbClr val="000000"/>
              </a:solidFill>
              <a:prstDash val="solid"/>
              <a:headEnd type="none" len="sm" w="sm"/>
              <a:tailEnd type="none" len="sm" w="sm"/>
            </a:ln>
          </p:spPr>
        </p:sp>
        <p:sp>
          <p:nvSpPr>
            <p:cNvPr name="AutoShape 15" id="15"/>
            <p:cNvSpPr/>
            <p:nvPr/>
          </p:nvSpPr>
          <p:spPr>
            <a:xfrm flipH="true">
              <a:off x="24144" y="4265000"/>
              <a:ext cx="13373456" cy="107646"/>
            </a:xfrm>
            <a:prstGeom prst="line">
              <a:avLst/>
            </a:prstGeom>
            <a:ln cap="flat" w="48289">
              <a:solidFill>
                <a:srgbClr val="000000"/>
              </a:solidFill>
              <a:prstDash val="solid"/>
              <a:headEnd type="none" len="sm" w="sm"/>
              <a:tailEnd type="none" len="sm" w="sm"/>
            </a:ln>
          </p:spPr>
        </p:sp>
        <p:sp>
          <p:nvSpPr>
            <p:cNvPr name="AutoShape 16" id="16"/>
            <p:cNvSpPr/>
            <p:nvPr/>
          </p:nvSpPr>
          <p:spPr>
            <a:xfrm flipV="true">
              <a:off x="13397600" y="3357363"/>
              <a:ext cx="0" cy="907636"/>
            </a:xfrm>
            <a:prstGeom prst="line">
              <a:avLst/>
            </a:prstGeom>
            <a:ln cap="flat" w="48289">
              <a:solidFill>
                <a:srgbClr val="000000"/>
              </a:solidFill>
              <a:prstDash val="solid"/>
              <a:headEnd type="none" len="sm" w="sm"/>
              <a:tailEnd type="none" len="sm" w="sm"/>
            </a:ln>
          </p:spPr>
        </p:sp>
        <p:sp>
          <p:nvSpPr>
            <p:cNvPr name="AutoShape 17" id="17"/>
            <p:cNvSpPr/>
            <p:nvPr/>
          </p:nvSpPr>
          <p:spPr>
            <a:xfrm flipV="true">
              <a:off x="72433" y="5215164"/>
              <a:ext cx="13373456" cy="13899"/>
            </a:xfrm>
            <a:prstGeom prst="line">
              <a:avLst/>
            </a:prstGeom>
            <a:ln cap="flat" w="48289">
              <a:solidFill>
                <a:srgbClr val="000000"/>
              </a:solidFill>
              <a:prstDash val="solid"/>
              <a:headEnd type="none" len="sm" w="sm"/>
              <a:tailEnd type="none" len="sm" w="sm"/>
            </a:ln>
          </p:spPr>
        </p:sp>
        <p:sp>
          <p:nvSpPr>
            <p:cNvPr name="AutoShape 18" id="18"/>
            <p:cNvSpPr/>
            <p:nvPr/>
          </p:nvSpPr>
          <p:spPr>
            <a:xfrm flipH="true">
              <a:off x="72433" y="5262086"/>
              <a:ext cx="0" cy="525600"/>
            </a:xfrm>
            <a:prstGeom prst="line">
              <a:avLst/>
            </a:prstGeom>
            <a:ln cap="flat" w="48289">
              <a:solidFill>
                <a:srgbClr val="000000"/>
              </a:solidFill>
              <a:prstDash val="solid"/>
              <a:headEnd type="none" len="sm" w="sm"/>
              <a:tailEnd type="none" len="sm" w="sm"/>
            </a:ln>
          </p:spPr>
        </p:sp>
        <p:sp>
          <p:nvSpPr>
            <p:cNvPr name="AutoShape 19" id="19"/>
            <p:cNvSpPr/>
            <p:nvPr/>
          </p:nvSpPr>
          <p:spPr>
            <a:xfrm flipH="true">
              <a:off x="72433" y="5726984"/>
              <a:ext cx="13373456" cy="60702"/>
            </a:xfrm>
            <a:prstGeom prst="line">
              <a:avLst/>
            </a:prstGeom>
            <a:ln cap="flat" w="48289">
              <a:solidFill>
                <a:srgbClr val="000000"/>
              </a:solidFill>
              <a:prstDash val="solid"/>
              <a:headEnd type="none" len="sm" w="sm"/>
              <a:tailEnd type="none" len="sm" w="sm"/>
            </a:ln>
          </p:spPr>
        </p:sp>
        <p:sp>
          <p:nvSpPr>
            <p:cNvPr name="AutoShape 20" id="20"/>
            <p:cNvSpPr/>
            <p:nvPr/>
          </p:nvSpPr>
          <p:spPr>
            <a:xfrm flipV="true">
              <a:off x="13445889" y="5215164"/>
              <a:ext cx="0" cy="511820"/>
            </a:xfrm>
            <a:prstGeom prst="line">
              <a:avLst/>
            </a:prstGeom>
            <a:ln cap="flat" w="48289">
              <a:solidFill>
                <a:srgbClr val="000000"/>
              </a:solidFill>
              <a:prstDash val="solid"/>
              <a:headEnd type="none" len="sm" w="sm"/>
              <a:tailEnd type="none" len="sm" w="sm"/>
            </a:ln>
          </p:spPr>
        </p:sp>
        <p:sp>
          <p:nvSpPr>
            <p:cNvPr name="AutoShape 21" id="21"/>
            <p:cNvSpPr/>
            <p:nvPr/>
          </p:nvSpPr>
          <p:spPr>
            <a:xfrm flipV="true">
              <a:off x="72433" y="8500685"/>
              <a:ext cx="13373456" cy="11532"/>
            </a:xfrm>
            <a:prstGeom prst="line">
              <a:avLst/>
            </a:prstGeom>
            <a:ln cap="flat" w="48289">
              <a:solidFill>
                <a:srgbClr val="000000"/>
              </a:solidFill>
              <a:prstDash val="solid"/>
              <a:headEnd type="none" len="sm" w="sm"/>
              <a:tailEnd type="none" len="sm" w="sm"/>
            </a:ln>
          </p:spPr>
        </p:sp>
        <p:sp>
          <p:nvSpPr>
            <p:cNvPr name="AutoShape 22" id="22"/>
            <p:cNvSpPr/>
            <p:nvPr/>
          </p:nvSpPr>
          <p:spPr>
            <a:xfrm flipH="true">
              <a:off x="72433" y="8539616"/>
              <a:ext cx="0" cy="436088"/>
            </a:xfrm>
            <a:prstGeom prst="line">
              <a:avLst/>
            </a:prstGeom>
            <a:ln cap="flat" w="48289">
              <a:solidFill>
                <a:srgbClr val="000000"/>
              </a:solidFill>
              <a:prstDash val="solid"/>
              <a:headEnd type="none" len="sm" w="sm"/>
              <a:tailEnd type="none" len="sm" w="sm"/>
            </a:ln>
          </p:spPr>
        </p:sp>
        <p:sp>
          <p:nvSpPr>
            <p:cNvPr name="AutoShape 23" id="23"/>
            <p:cNvSpPr/>
            <p:nvPr/>
          </p:nvSpPr>
          <p:spPr>
            <a:xfrm flipH="true">
              <a:off x="72433" y="8925340"/>
              <a:ext cx="13373456" cy="50364"/>
            </a:xfrm>
            <a:prstGeom prst="line">
              <a:avLst/>
            </a:prstGeom>
            <a:ln cap="flat" w="48289">
              <a:solidFill>
                <a:srgbClr val="000000"/>
              </a:solidFill>
              <a:prstDash val="solid"/>
              <a:headEnd type="none" len="sm" w="sm"/>
              <a:tailEnd type="none" len="sm" w="sm"/>
            </a:ln>
          </p:spPr>
        </p:sp>
        <p:sp>
          <p:nvSpPr>
            <p:cNvPr name="AutoShape 24" id="24"/>
            <p:cNvSpPr/>
            <p:nvPr/>
          </p:nvSpPr>
          <p:spPr>
            <a:xfrm flipV="true">
              <a:off x="13445889" y="8500685"/>
              <a:ext cx="0" cy="424656"/>
            </a:xfrm>
            <a:prstGeom prst="line">
              <a:avLst/>
            </a:prstGeom>
            <a:ln cap="flat" w="48289">
              <a:solidFill>
                <a:srgbClr val="000000"/>
              </a:solidFill>
              <a:prstDash val="solid"/>
              <a:headEnd type="none" len="sm" w="sm"/>
              <a:tailEnd type="none" len="sm" w="sm"/>
            </a:ln>
          </p:spPr>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6E7DE"/>
        </a:solidFill>
      </p:bgPr>
    </p:bg>
    <p:spTree>
      <p:nvGrpSpPr>
        <p:cNvPr id="1" name=""/>
        <p:cNvGrpSpPr/>
        <p:nvPr/>
      </p:nvGrpSpPr>
      <p:grpSpPr>
        <a:xfrm>
          <a:off x="0" y="0"/>
          <a:ext cx="0" cy="0"/>
          <a:chOff x="0" y="0"/>
          <a:chExt cx="0" cy="0"/>
        </a:xfrm>
      </p:grpSpPr>
      <p:grpSp>
        <p:nvGrpSpPr>
          <p:cNvPr name="Group 2" id="2"/>
          <p:cNvGrpSpPr/>
          <p:nvPr/>
        </p:nvGrpSpPr>
        <p:grpSpPr>
          <a:xfrm rot="0">
            <a:off x="0" y="0"/>
            <a:ext cx="7063942" cy="10287000"/>
            <a:chOff x="0" y="0"/>
            <a:chExt cx="2389531" cy="3479800"/>
          </a:xfrm>
        </p:grpSpPr>
        <p:sp>
          <p:nvSpPr>
            <p:cNvPr name="Freeform 3" id="3"/>
            <p:cNvSpPr/>
            <p:nvPr/>
          </p:nvSpPr>
          <p:spPr>
            <a:xfrm flipH="false" flipV="false" rot="0">
              <a:off x="0" y="0"/>
              <a:ext cx="2389531" cy="3479800"/>
            </a:xfrm>
            <a:custGeom>
              <a:avLst/>
              <a:gdLst/>
              <a:ahLst/>
              <a:cxnLst/>
              <a:rect r="r" b="b" t="t" l="l"/>
              <a:pathLst>
                <a:path h="3479800" w="2389531">
                  <a:moveTo>
                    <a:pt x="2265071" y="3479800"/>
                  </a:moveTo>
                  <a:lnTo>
                    <a:pt x="124460" y="3479800"/>
                  </a:lnTo>
                  <a:cubicBezTo>
                    <a:pt x="55880" y="3479800"/>
                    <a:pt x="0" y="3423920"/>
                    <a:pt x="0" y="3355340"/>
                  </a:cubicBezTo>
                  <a:lnTo>
                    <a:pt x="0" y="124460"/>
                  </a:lnTo>
                  <a:cubicBezTo>
                    <a:pt x="0" y="55880"/>
                    <a:pt x="55880" y="0"/>
                    <a:pt x="124460" y="0"/>
                  </a:cubicBezTo>
                  <a:lnTo>
                    <a:pt x="2265071" y="0"/>
                  </a:lnTo>
                  <a:cubicBezTo>
                    <a:pt x="2333651" y="0"/>
                    <a:pt x="2389531" y="55880"/>
                    <a:pt x="2389531" y="124460"/>
                  </a:cubicBezTo>
                  <a:lnTo>
                    <a:pt x="2389531" y="3355340"/>
                  </a:lnTo>
                  <a:cubicBezTo>
                    <a:pt x="2389531" y="3423920"/>
                    <a:pt x="2333651" y="3479800"/>
                    <a:pt x="2265071" y="3479800"/>
                  </a:cubicBezTo>
                  <a:close/>
                </a:path>
              </a:pathLst>
            </a:custGeom>
            <a:solidFill>
              <a:srgbClr val="FFFFFF"/>
            </a:solidFill>
          </p:spPr>
        </p:sp>
      </p:grpSp>
      <p:sp>
        <p:nvSpPr>
          <p:cNvPr name="TextBox 4" id="4"/>
          <p:cNvSpPr txBox="true"/>
          <p:nvPr/>
        </p:nvSpPr>
        <p:spPr>
          <a:xfrm rot="0">
            <a:off x="8285110" y="8329810"/>
            <a:ext cx="6930801" cy="352997"/>
          </a:xfrm>
          <a:prstGeom prst="rect">
            <a:avLst/>
          </a:prstGeom>
        </p:spPr>
        <p:txBody>
          <a:bodyPr anchor="t" rtlCol="false" tIns="0" lIns="0" bIns="0" rIns="0">
            <a:spAutoFit/>
          </a:bodyPr>
          <a:lstStyle/>
          <a:p>
            <a:pPr algn="ctr">
              <a:lnSpc>
                <a:spcPts val="2859"/>
              </a:lnSpc>
              <a:spcBef>
                <a:spcPct val="0"/>
              </a:spcBef>
            </a:pPr>
            <a:r>
              <a:rPr lang="en-US" b="true" sz="2199" spc="-65">
                <a:solidFill>
                  <a:srgbClr val="000000"/>
                </a:solidFill>
                <a:latin typeface="Muli Ultra-Bold"/>
                <a:ea typeface="Muli Ultra-Bold"/>
                <a:cs typeface="Muli Ultra-Bold"/>
                <a:sym typeface="Muli Ultra-Bold"/>
              </a:rPr>
              <a:t>Image: 1 Week performance Bar Chart by finviz.com</a:t>
            </a:r>
          </a:p>
        </p:txBody>
      </p:sp>
      <p:sp>
        <p:nvSpPr>
          <p:cNvPr name="TextBox 5" id="5"/>
          <p:cNvSpPr txBox="true"/>
          <p:nvPr/>
        </p:nvSpPr>
        <p:spPr>
          <a:xfrm rot="0">
            <a:off x="811753" y="339707"/>
            <a:ext cx="5787058" cy="714885"/>
          </a:xfrm>
          <a:prstGeom prst="rect">
            <a:avLst/>
          </a:prstGeom>
        </p:spPr>
        <p:txBody>
          <a:bodyPr anchor="t" rtlCol="false" tIns="0" lIns="0" bIns="0" rIns="0">
            <a:spAutoFit/>
          </a:bodyPr>
          <a:lstStyle/>
          <a:p>
            <a:pPr algn="ctr">
              <a:lnSpc>
                <a:spcPts val="2859"/>
              </a:lnSpc>
              <a:spcBef>
                <a:spcPct val="0"/>
              </a:spcBef>
            </a:pPr>
            <a:r>
              <a:rPr lang="en-US" b="true" sz="2199" spc="-65">
                <a:solidFill>
                  <a:srgbClr val="222222"/>
                </a:solidFill>
                <a:latin typeface="Muli Ultra-Bold"/>
                <a:ea typeface="Muli Ultra-Bold"/>
                <a:cs typeface="Muli Ultra-Bold"/>
                <a:sym typeface="Muli Ultra-Bold"/>
              </a:rPr>
              <a:t>COMMODITIES &amp; DOLLAR (Finviz Futures 1W)</a:t>
            </a:r>
          </a:p>
        </p:txBody>
      </p:sp>
      <p:sp>
        <p:nvSpPr>
          <p:cNvPr name="TextBox 6" id="6"/>
          <p:cNvSpPr txBox="true"/>
          <p:nvPr/>
        </p:nvSpPr>
        <p:spPr>
          <a:xfrm rot="0">
            <a:off x="640378" y="1347719"/>
            <a:ext cx="5958433" cy="4478253"/>
          </a:xfrm>
          <a:prstGeom prst="rect">
            <a:avLst/>
          </a:prstGeom>
        </p:spPr>
        <p:txBody>
          <a:bodyPr anchor="t" rtlCol="false" tIns="0" lIns="0" bIns="0" rIns="0">
            <a:spAutoFit/>
          </a:bodyPr>
          <a:lstStyle/>
          <a:p>
            <a:pPr algn="l" marL="474979" indent="-237490" lvl="1">
              <a:lnSpc>
                <a:spcPts val="3299"/>
              </a:lnSpc>
              <a:buFont typeface="Arial"/>
              <a:buChar char="•"/>
            </a:pPr>
            <a:r>
              <a:rPr lang="en-US" b="true" sz="2199" spc="-65">
                <a:solidFill>
                  <a:srgbClr val="222222"/>
                </a:solidFill>
                <a:latin typeface="Muli Bold"/>
                <a:ea typeface="Muli Bold"/>
                <a:cs typeface="Muli Bold"/>
                <a:sym typeface="Muli Bold"/>
              </a:rPr>
              <a:t>WTI Crude Oil: weekly ch</a:t>
            </a:r>
            <a:r>
              <a:rPr lang="en-US" b="true" sz="2199" spc="-65">
                <a:solidFill>
                  <a:srgbClr val="222222"/>
                </a:solidFill>
                <a:latin typeface="Muli Bold"/>
                <a:ea typeface="Muli Bold"/>
                <a:cs typeface="Muli Bold"/>
                <a:sym typeface="Muli Bold"/>
              </a:rPr>
              <a:t>ange -9.57%, direction: falling</a:t>
            </a:r>
          </a:p>
          <a:p>
            <a:pPr algn="l" marL="474979" indent="-237490" lvl="1">
              <a:lnSpc>
                <a:spcPts val="3299"/>
              </a:lnSpc>
              <a:buFont typeface="Arial"/>
              <a:buChar char="•"/>
            </a:pPr>
            <a:r>
              <a:rPr lang="en-US" b="true" sz="2199" spc="-65">
                <a:solidFill>
                  <a:srgbClr val="222222"/>
                </a:solidFill>
                <a:latin typeface="Muli Bold"/>
                <a:ea typeface="Muli Bold"/>
                <a:cs typeface="Muli Bold"/>
                <a:sym typeface="Muli Bold"/>
              </a:rPr>
              <a:t>Gold: weekly change +0.81%, direction: rising</a:t>
            </a:r>
          </a:p>
          <a:p>
            <a:pPr algn="l" marL="474979" indent="-237490" lvl="1">
              <a:lnSpc>
                <a:spcPts val="3299"/>
              </a:lnSpc>
              <a:buFont typeface="Arial"/>
              <a:buChar char="•"/>
            </a:pPr>
            <a:r>
              <a:rPr lang="en-US" b="true" sz="2199" spc="-65">
                <a:solidFill>
                  <a:srgbClr val="222222"/>
                </a:solidFill>
                <a:latin typeface="Muli Bold"/>
                <a:ea typeface="Muli Bold"/>
                <a:cs typeface="Muli Bold"/>
                <a:sym typeface="Muli Bold"/>
              </a:rPr>
              <a:t>DXY (Dollar): weekly change -0.34%, direction: weakening</a:t>
            </a:r>
          </a:p>
          <a:p>
            <a:pPr algn="l" marL="474979" indent="-237490" lvl="1">
              <a:lnSpc>
                <a:spcPts val="3299"/>
              </a:lnSpc>
              <a:buFont typeface="Arial"/>
              <a:buChar char="•"/>
            </a:pPr>
            <a:r>
              <a:rPr lang="en-US" b="true" sz="2199" spc="-65">
                <a:solidFill>
                  <a:srgbClr val="222222"/>
                </a:solidFill>
                <a:latin typeface="Muli Bold"/>
                <a:ea typeface="Muli Bold"/>
                <a:cs typeface="Muli Bold"/>
                <a:sym typeface="Muli Bold"/>
              </a:rPr>
              <a:t>Cross-asset implication: Oil falling is inflation relief. Lower yields and weaker dollar are generally supportive for risk assets.</a:t>
            </a:r>
          </a:p>
          <a:p>
            <a:pPr algn="l">
              <a:lnSpc>
                <a:spcPts val="3299"/>
              </a:lnSpc>
            </a:pPr>
          </a:p>
        </p:txBody>
      </p:sp>
      <p:sp>
        <p:nvSpPr>
          <p:cNvPr name="TextBox 7" id="7"/>
          <p:cNvSpPr txBox="true"/>
          <p:nvPr/>
        </p:nvSpPr>
        <p:spPr>
          <a:xfrm rot="0">
            <a:off x="755165" y="5806922"/>
            <a:ext cx="5900234" cy="3248096"/>
          </a:xfrm>
          <a:prstGeom prst="rect">
            <a:avLst/>
          </a:prstGeom>
        </p:spPr>
        <p:txBody>
          <a:bodyPr anchor="t" rtlCol="false" tIns="0" lIns="0" bIns="0" rIns="0">
            <a:spAutoFit/>
          </a:bodyPr>
          <a:lstStyle/>
          <a:p>
            <a:pPr algn="l">
              <a:lnSpc>
                <a:spcPts val="2859"/>
              </a:lnSpc>
            </a:pPr>
            <a:r>
              <a:rPr lang="en-US" sz="2199" spc="-65" b="true">
                <a:solidFill>
                  <a:srgbClr val="222222"/>
                </a:solidFill>
                <a:latin typeface="Muli Ultra-Bold"/>
                <a:ea typeface="Muli Ultra-Bold"/>
                <a:cs typeface="Muli Ultra-Bold"/>
                <a:sym typeface="Muli Ultra-Bold"/>
              </a:rPr>
              <a:t>Presentation Notes:</a:t>
            </a:r>
          </a:p>
          <a:p>
            <a:pPr algn="l">
              <a:lnSpc>
                <a:spcPts val="2859"/>
              </a:lnSpc>
              <a:spcBef>
                <a:spcPct val="0"/>
              </a:spcBef>
            </a:pPr>
            <a:r>
              <a:rPr lang="en-US" b="true" sz="2199" spc="-65">
                <a:solidFill>
                  <a:srgbClr val="222222"/>
                </a:solidFill>
                <a:latin typeface="Muli Ultra-Bold"/>
                <a:ea typeface="Muli Ultra-Bold"/>
                <a:cs typeface="Muli Ultra-Bold"/>
                <a:sym typeface="Muli Ultra-Bold"/>
              </a:rPr>
              <a:t>For major macro assets, WTI crude oil recorded the largest move, falling 9.57% during the week. Gold increased by 0.81%, while the US Dollar Index weakened by 0.34%. The decline in oil prices may help ease inflation concerns, while lower yields and a weaker dollar are generally supportive for risk assets.</a:t>
            </a:r>
          </a:p>
        </p:txBody>
      </p:sp>
      <p:sp>
        <p:nvSpPr>
          <p:cNvPr name="TextBox 8" id="8"/>
          <p:cNvSpPr txBox="true"/>
          <p:nvPr/>
        </p:nvSpPr>
        <p:spPr>
          <a:xfrm rot="0">
            <a:off x="17601016" y="89246"/>
            <a:ext cx="523053" cy="519971"/>
          </a:xfrm>
          <a:prstGeom prst="rect">
            <a:avLst/>
          </a:prstGeom>
        </p:spPr>
        <p:txBody>
          <a:bodyPr anchor="t" rtlCol="false" tIns="0" lIns="0" bIns="0" rIns="0">
            <a:spAutoFit/>
          </a:bodyPr>
          <a:lstStyle/>
          <a:p>
            <a:pPr algn="ctr">
              <a:lnSpc>
                <a:spcPts val="4289"/>
              </a:lnSpc>
              <a:spcBef>
                <a:spcPct val="0"/>
              </a:spcBef>
            </a:pPr>
            <a:r>
              <a:rPr lang="en-US" b="true" sz="3299" spc="-98">
                <a:solidFill>
                  <a:srgbClr val="000000"/>
                </a:solidFill>
                <a:latin typeface="Muli Ultra-Bold"/>
                <a:ea typeface="Muli Ultra-Bold"/>
                <a:cs typeface="Muli Ultra-Bold"/>
                <a:sym typeface="Muli Ultra-Bold"/>
              </a:rPr>
              <a:t>R4</a:t>
            </a:r>
          </a:p>
        </p:txBody>
      </p:sp>
      <p:grpSp>
        <p:nvGrpSpPr>
          <p:cNvPr name="Group 9" id="9"/>
          <p:cNvGrpSpPr/>
          <p:nvPr/>
        </p:nvGrpSpPr>
        <p:grpSpPr>
          <a:xfrm rot="0">
            <a:off x="7435417" y="706674"/>
            <a:ext cx="10688651" cy="7531627"/>
            <a:chOff x="0" y="0"/>
            <a:chExt cx="14251535" cy="10042170"/>
          </a:xfrm>
        </p:grpSpPr>
        <p:sp>
          <p:nvSpPr>
            <p:cNvPr name="Freeform 10" id="10"/>
            <p:cNvSpPr/>
            <p:nvPr/>
          </p:nvSpPr>
          <p:spPr>
            <a:xfrm flipH="false" flipV="false" rot="0">
              <a:off x="0" y="0"/>
              <a:ext cx="10915402" cy="10042170"/>
            </a:xfrm>
            <a:custGeom>
              <a:avLst/>
              <a:gdLst/>
              <a:ahLst/>
              <a:cxnLst/>
              <a:rect r="r" b="b" t="t" l="l"/>
              <a:pathLst>
                <a:path h="10042170" w="10915402">
                  <a:moveTo>
                    <a:pt x="0" y="0"/>
                  </a:moveTo>
                  <a:lnTo>
                    <a:pt x="10915402" y="0"/>
                  </a:lnTo>
                  <a:lnTo>
                    <a:pt x="10915402" y="10042170"/>
                  </a:lnTo>
                  <a:lnTo>
                    <a:pt x="0" y="10042170"/>
                  </a:lnTo>
                  <a:lnTo>
                    <a:pt x="0" y="0"/>
                  </a:lnTo>
                  <a:close/>
                </a:path>
              </a:pathLst>
            </a:custGeom>
            <a:blipFill>
              <a:blip r:embed="rId2"/>
              <a:stretch>
                <a:fillRect l="0" t="0" r="0" b="0"/>
              </a:stretch>
            </a:blipFill>
          </p:spPr>
        </p:sp>
        <p:sp>
          <p:nvSpPr>
            <p:cNvPr name="AutoShape 11" id="11"/>
            <p:cNvSpPr/>
            <p:nvPr/>
          </p:nvSpPr>
          <p:spPr>
            <a:xfrm flipH="true">
              <a:off x="8443849" y="8353243"/>
              <a:ext cx="2645392" cy="0"/>
            </a:xfrm>
            <a:prstGeom prst="line">
              <a:avLst/>
            </a:prstGeom>
            <a:ln cap="flat" w="101600">
              <a:solidFill>
                <a:srgbClr val="007ACC"/>
              </a:solidFill>
              <a:prstDash val="solid"/>
              <a:headEnd type="none" len="sm" w="sm"/>
              <a:tailEnd type="triangle" len="med" w="lg"/>
            </a:ln>
          </p:spPr>
        </p:sp>
        <p:sp>
          <p:nvSpPr>
            <p:cNvPr name="TextBox 12" id="12"/>
            <p:cNvSpPr txBox="true"/>
            <p:nvPr/>
          </p:nvSpPr>
          <p:spPr>
            <a:xfrm rot="0">
              <a:off x="11089242" y="8125670"/>
              <a:ext cx="3162293" cy="426571"/>
            </a:xfrm>
            <a:prstGeom prst="rect">
              <a:avLst/>
            </a:prstGeom>
          </p:spPr>
          <p:txBody>
            <a:bodyPr anchor="t" rtlCol="false" tIns="0" lIns="0" bIns="0" rIns="0">
              <a:spAutoFit/>
            </a:bodyPr>
            <a:lstStyle/>
            <a:p>
              <a:pPr algn="ctr">
                <a:lnSpc>
                  <a:spcPts val="2600"/>
                </a:lnSpc>
                <a:spcBef>
                  <a:spcPct val="0"/>
                </a:spcBef>
              </a:pPr>
              <a:r>
                <a:rPr lang="en-US" b="true" sz="2000" spc="-60">
                  <a:solidFill>
                    <a:srgbClr val="000000"/>
                  </a:solidFill>
                  <a:latin typeface="Muli Bold"/>
                  <a:ea typeface="Muli Bold"/>
                  <a:cs typeface="Muli Bold"/>
                  <a:sym typeface="Muli Bold"/>
                </a:rPr>
                <a:t>Crude Oil WTI(-9.57)</a:t>
              </a:r>
            </a:p>
          </p:txBody>
        </p:sp>
        <p:sp>
          <p:nvSpPr>
            <p:cNvPr name="AutoShape 13" id="13"/>
            <p:cNvSpPr/>
            <p:nvPr/>
          </p:nvSpPr>
          <p:spPr>
            <a:xfrm flipH="true" flipV="true">
              <a:off x="3230716" y="2931931"/>
              <a:ext cx="9355859" cy="0"/>
            </a:xfrm>
            <a:prstGeom prst="line">
              <a:avLst/>
            </a:prstGeom>
            <a:ln cap="flat" w="101600">
              <a:solidFill>
                <a:srgbClr val="007ACC"/>
              </a:solidFill>
              <a:prstDash val="solid"/>
              <a:headEnd type="none" len="sm" w="sm"/>
              <a:tailEnd type="triangle" len="med" w="lg"/>
            </a:ln>
          </p:spPr>
        </p:sp>
        <p:sp>
          <p:nvSpPr>
            <p:cNvPr name="TextBox 14" id="14"/>
            <p:cNvSpPr txBox="true"/>
            <p:nvPr/>
          </p:nvSpPr>
          <p:spPr>
            <a:xfrm rot="0">
              <a:off x="12586575" y="2704358"/>
              <a:ext cx="1664960" cy="426571"/>
            </a:xfrm>
            <a:prstGeom prst="rect">
              <a:avLst/>
            </a:prstGeom>
          </p:spPr>
          <p:txBody>
            <a:bodyPr anchor="t" rtlCol="false" tIns="0" lIns="0" bIns="0" rIns="0">
              <a:spAutoFit/>
            </a:bodyPr>
            <a:lstStyle/>
            <a:p>
              <a:pPr algn="ctr">
                <a:lnSpc>
                  <a:spcPts val="2600"/>
                </a:lnSpc>
                <a:spcBef>
                  <a:spcPct val="0"/>
                </a:spcBef>
              </a:pPr>
              <a:r>
                <a:rPr lang="en-US" b="true" sz="2000" spc="-60">
                  <a:solidFill>
                    <a:srgbClr val="000000"/>
                  </a:solidFill>
                  <a:latin typeface="Muli Bold"/>
                  <a:ea typeface="Muli Bold"/>
                  <a:cs typeface="Muli Bold"/>
                  <a:sym typeface="Muli Bold"/>
                </a:rPr>
                <a:t>Gold (+0.8)</a:t>
              </a:r>
            </a:p>
          </p:txBody>
        </p:sp>
        <p:sp>
          <p:nvSpPr>
            <p:cNvPr name="AutoShape 15" id="15"/>
            <p:cNvSpPr/>
            <p:nvPr/>
          </p:nvSpPr>
          <p:spPr>
            <a:xfrm flipH="true" flipV="true">
              <a:off x="2933440" y="5389847"/>
              <a:ext cx="8472565" cy="29234"/>
            </a:xfrm>
            <a:prstGeom prst="line">
              <a:avLst/>
            </a:prstGeom>
            <a:ln cap="flat" w="101600">
              <a:solidFill>
                <a:srgbClr val="007ACC"/>
              </a:solidFill>
              <a:prstDash val="solid"/>
              <a:headEnd type="none" len="sm" w="sm"/>
              <a:tailEnd type="triangle" len="med" w="lg"/>
            </a:ln>
          </p:spPr>
        </p:sp>
        <p:sp>
          <p:nvSpPr>
            <p:cNvPr name="TextBox 16" id="16"/>
            <p:cNvSpPr txBox="true"/>
            <p:nvPr/>
          </p:nvSpPr>
          <p:spPr>
            <a:xfrm rot="0">
              <a:off x="11406005" y="5191508"/>
              <a:ext cx="2845530" cy="426571"/>
            </a:xfrm>
            <a:prstGeom prst="rect">
              <a:avLst/>
            </a:prstGeom>
          </p:spPr>
          <p:txBody>
            <a:bodyPr anchor="t" rtlCol="false" tIns="0" lIns="0" bIns="0" rIns="0">
              <a:spAutoFit/>
            </a:bodyPr>
            <a:lstStyle/>
            <a:p>
              <a:pPr algn="ctr">
                <a:lnSpc>
                  <a:spcPts val="2600"/>
                </a:lnSpc>
                <a:spcBef>
                  <a:spcPct val="0"/>
                </a:spcBef>
              </a:pPr>
              <a:r>
                <a:rPr lang="en-US" b="true" sz="2000" spc="-60">
                  <a:solidFill>
                    <a:srgbClr val="000000"/>
                  </a:solidFill>
                  <a:latin typeface="Muli Bold"/>
                  <a:ea typeface="Muli Bold"/>
                  <a:cs typeface="Muli Bold"/>
                  <a:sym typeface="Muli Bold"/>
                </a:rPr>
                <a:t>DXY(USD) (-0.34)</a:t>
              </a: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6E7DE"/>
        </a:solidFill>
      </p:bgPr>
    </p:bg>
    <p:spTree>
      <p:nvGrpSpPr>
        <p:cNvPr id="1" name=""/>
        <p:cNvGrpSpPr/>
        <p:nvPr/>
      </p:nvGrpSpPr>
      <p:grpSpPr>
        <a:xfrm>
          <a:off x="0" y="0"/>
          <a:ext cx="0" cy="0"/>
          <a:chOff x="0" y="0"/>
          <a:chExt cx="0" cy="0"/>
        </a:xfrm>
      </p:grpSpPr>
      <p:grpSp>
        <p:nvGrpSpPr>
          <p:cNvPr name="Group 2" id="2"/>
          <p:cNvGrpSpPr/>
          <p:nvPr/>
        </p:nvGrpSpPr>
        <p:grpSpPr>
          <a:xfrm rot="0">
            <a:off x="0" y="0"/>
            <a:ext cx="8202481" cy="10287000"/>
            <a:chOff x="0" y="0"/>
            <a:chExt cx="2774666" cy="3479800"/>
          </a:xfrm>
        </p:grpSpPr>
        <p:sp>
          <p:nvSpPr>
            <p:cNvPr name="Freeform 3" id="3"/>
            <p:cNvSpPr/>
            <p:nvPr/>
          </p:nvSpPr>
          <p:spPr>
            <a:xfrm flipH="false" flipV="false" rot="0">
              <a:off x="0" y="0"/>
              <a:ext cx="2774667" cy="3479800"/>
            </a:xfrm>
            <a:custGeom>
              <a:avLst/>
              <a:gdLst/>
              <a:ahLst/>
              <a:cxnLst/>
              <a:rect r="r" b="b" t="t" l="l"/>
              <a:pathLst>
                <a:path h="3479800" w="2774667">
                  <a:moveTo>
                    <a:pt x="2650206" y="3479800"/>
                  </a:moveTo>
                  <a:lnTo>
                    <a:pt x="124460" y="3479800"/>
                  </a:lnTo>
                  <a:cubicBezTo>
                    <a:pt x="55880" y="3479800"/>
                    <a:pt x="0" y="3423920"/>
                    <a:pt x="0" y="3355340"/>
                  </a:cubicBezTo>
                  <a:lnTo>
                    <a:pt x="0" y="124460"/>
                  </a:lnTo>
                  <a:cubicBezTo>
                    <a:pt x="0" y="55880"/>
                    <a:pt x="55880" y="0"/>
                    <a:pt x="124460" y="0"/>
                  </a:cubicBezTo>
                  <a:lnTo>
                    <a:pt x="2650207" y="0"/>
                  </a:lnTo>
                  <a:cubicBezTo>
                    <a:pt x="2718787" y="0"/>
                    <a:pt x="2774667" y="55880"/>
                    <a:pt x="2774667" y="124460"/>
                  </a:cubicBezTo>
                  <a:lnTo>
                    <a:pt x="2774667" y="3355340"/>
                  </a:lnTo>
                  <a:cubicBezTo>
                    <a:pt x="2774667" y="3423920"/>
                    <a:pt x="2718787" y="3479800"/>
                    <a:pt x="2650207" y="3479800"/>
                  </a:cubicBezTo>
                  <a:close/>
                </a:path>
              </a:pathLst>
            </a:custGeom>
            <a:solidFill>
              <a:srgbClr val="FFFFFF"/>
            </a:solidFill>
          </p:spPr>
        </p:sp>
      </p:grpSp>
      <p:sp>
        <p:nvSpPr>
          <p:cNvPr name="TextBox 4" id="4"/>
          <p:cNvSpPr txBox="true"/>
          <p:nvPr/>
        </p:nvSpPr>
        <p:spPr>
          <a:xfrm rot="0">
            <a:off x="8723538" y="9239250"/>
            <a:ext cx="8959845" cy="352997"/>
          </a:xfrm>
          <a:prstGeom prst="rect">
            <a:avLst/>
          </a:prstGeom>
        </p:spPr>
        <p:txBody>
          <a:bodyPr anchor="t" rtlCol="false" tIns="0" lIns="0" bIns="0" rIns="0">
            <a:spAutoFit/>
          </a:bodyPr>
          <a:lstStyle/>
          <a:p>
            <a:pPr algn="ctr">
              <a:lnSpc>
                <a:spcPts val="2859"/>
              </a:lnSpc>
              <a:spcBef>
                <a:spcPct val="0"/>
              </a:spcBef>
            </a:pPr>
            <a:r>
              <a:rPr lang="en-US" b="true" sz="2199" spc="-65">
                <a:solidFill>
                  <a:srgbClr val="000000"/>
                </a:solidFill>
                <a:latin typeface="Muli Ultra-Bold"/>
                <a:ea typeface="Muli Ultra-Bold"/>
                <a:cs typeface="Muli Ultra-Bold"/>
                <a:sym typeface="Muli Ultra-Bold"/>
              </a:rPr>
              <a:t>Image: Earning prediction calendar by earningwhispers.com for 3 June</a:t>
            </a:r>
          </a:p>
        </p:txBody>
      </p:sp>
      <p:sp>
        <p:nvSpPr>
          <p:cNvPr name="TextBox 5" id="5"/>
          <p:cNvSpPr txBox="true"/>
          <p:nvPr/>
        </p:nvSpPr>
        <p:spPr>
          <a:xfrm rot="0">
            <a:off x="1028700" y="172733"/>
            <a:ext cx="4893416" cy="352997"/>
          </a:xfrm>
          <a:prstGeom prst="rect">
            <a:avLst/>
          </a:prstGeom>
        </p:spPr>
        <p:txBody>
          <a:bodyPr anchor="t" rtlCol="false" tIns="0" lIns="0" bIns="0" rIns="0">
            <a:spAutoFit/>
          </a:bodyPr>
          <a:lstStyle/>
          <a:p>
            <a:pPr algn="ctr">
              <a:lnSpc>
                <a:spcPts val="2859"/>
              </a:lnSpc>
              <a:spcBef>
                <a:spcPct val="0"/>
              </a:spcBef>
            </a:pPr>
            <a:r>
              <a:rPr lang="en-US" b="true" sz="2199" spc="-65">
                <a:solidFill>
                  <a:srgbClr val="222222"/>
                </a:solidFill>
                <a:latin typeface="Muli Ultra-Bold"/>
                <a:ea typeface="Muli Ultra-Bold"/>
                <a:cs typeface="Muli Ultra-Bold"/>
                <a:sym typeface="Muli Ultra-Bold"/>
              </a:rPr>
              <a:t>KEY EARNINGS (Earnings Whispers)</a:t>
            </a:r>
          </a:p>
        </p:txBody>
      </p:sp>
      <p:sp>
        <p:nvSpPr>
          <p:cNvPr name="TextBox 6" id="6"/>
          <p:cNvSpPr txBox="true"/>
          <p:nvPr/>
        </p:nvSpPr>
        <p:spPr>
          <a:xfrm rot="0">
            <a:off x="525515" y="649473"/>
            <a:ext cx="7251167" cy="6116407"/>
          </a:xfrm>
          <a:prstGeom prst="rect">
            <a:avLst/>
          </a:prstGeom>
        </p:spPr>
        <p:txBody>
          <a:bodyPr anchor="t" rtlCol="false" tIns="0" lIns="0" bIns="0" rIns="0">
            <a:spAutoFit/>
          </a:bodyPr>
          <a:lstStyle/>
          <a:p>
            <a:pPr algn="l" marL="474979" indent="-237490" lvl="1">
              <a:lnSpc>
                <a:spcPts val="3299"/>
              </a:lnSpc>
              <a:buFont typeface="Arial"/>
              <a:buChar char="•"/>
            </a:pPr>
            <a:r>
              <a:rPr lang="en-US" b="true" sz="2199" spc="-65">
                <a:solidFill>
                  <a:srgbClr val="222222"/>
                </a:solidFill>
                <a:latin typeface="Muli Bold"/>
                <a:ea typeface="Muli Bold"/>
                <a:cs typeface="Muli Bold"/>
                <a:sym typeface="Muli Bold"/>
              </a:rPr>
              <a:t>Palo Alto Networks (PANW) — 2 June Tuesday (After Close) — Sector: XLK (Technology / Cybersecurity) — What to watch: Security platform growth, customer spending trends, and AI-related product demand.</a:t>
            </a:r>
          </a:p>
          <a:p>
            <a:pPr algn="l" marL="474979" indent="-237490" lvl="1">
              <a:lnSpc>
                <a:spcPts val="3299"/>
              </a:lnSpc>
              <a:buFont typeface="Arial"/>
              <a:buChar char="•"/>
            </a:pPr>
            <a:r>
              <a:rPr lang="en-US" b="true" sz="2199" spc="-65">
                <a:solidFill>
                  <a:srgbClr val="222222"/>
                </a:solidFill>
                <a:latin typeface="Muli Bold"/>
                <a:ea typeface="Muli Bold"/>
                <a:cs typeface="Muli Bold"/>
                <a:sym typeface="Muli Bold"/>
              </a:rPr>
              <a:t>Broadcom (AVGO) — 3 June Wednesday (After Close) — Sector: XLK (Technology/Semiconductors) — What to watch: AI infrastructure demand, semiconductor revenue growth, and management outlook for enterprise spending.</a:t>
            </a:r>
          </a:p>
          <a:p>
            <a:pPr algn="l" marL="474979" indent="-237490" lvl="1">
              <a:lnSpc>
                <a:spcPts val="3299"/>
              </a:lnSpc>
              <a:buFont typeface="Arial"/>
              <a:buChar char="•"/>
            </a:pPr>
            <a:r>
              <a:rPr lang="en-US" b="true" sz="2199" spc="-65">
                <a:solidFill>
                  <a:srgbClr val="222222"/>
                </a:solidFill>
                <a:latin typeface="Muli Bold"/>
                <a:ea typeface="Muli Bold"/>
                <a:cs typeface="Muli Bold"/>
                <a:sym typeface="Muli Bold"/>
              </a:rPr>
              <a:t>CrowdStrike (CRWD) — 3 June Wednesday (After Close) — Sector: XLK (Technology / Cybersecurity) — What to watch: Cybersecurity spending trends and forward guidance, which may affect sentiment across software and security stocks.</a:t>
            </a:r>
          </a:p>
          <a:p>
            <a:pPr algn="l">
              <a:lnSpc>
                <a:spcPts val="3299"/>
              </a:lnSpc>
            </a:pPr>
          </a:p>
        </p:txBody>
      </p:sp>
      <p:sp>
        <p:nvSpPr>
          <p:cNvPr name="TextBox 7" id="7"/>
          <p:cNvSpPr txBox="true"/>
          <p:nvPr/>
        </p:nvSpPr>
        <p:spPr>
          <a:xfrm rot="0">
            <a:off x="769214" y="6797138"/>
            <a:ext cx="7251167" cy="2886209"/>
          </a:xfrm>
          <a:prstGeom prst="rect">
            <a:avLst/>
          </a:prstGeom>
        </p:spPr>
        <p:txBody>
          <a:bodyPr anchor="t" rtlCol="false" tIns="0" lIns="0" bIns="0" rIns="0">
            <a:spAutoFit/>
          </a:bodyPr>
          <a:lstStyle/>
          <a:p>
            <a:pPr algn="l">
              <a:lnSpc>
                <a:spcPts val="2859"/>
              </a:lnSpc>
            </a:pPr>
            <a:r>
              <a:rPr lang="en-US" sz="2199" spc="-65" b="true">
                <a:solidFill>
                  <a:srgbClr val="222222"/>
                </a:solidFill>
                <a:latin typeface="Muli Ultra-Bold"/>
                <a:ea typeface="Muli Ultra-Bold"/>
                <a:cs typeface="Muli Ultra-Bold"/>
                <a:sym typeface="Muli Ultra-Bold"/>
              </a:rPr>
              <a:t>Presentation Notes:</a:t>
            </a:r>
          </a:p>
          <a:p>
            <a:pPr algn="l">
              <a:lnSpc>
                <a:spcPts val="2859"/>
              </a:lnSpc>
              <a:spcBef>
                <a:spcPct val="0"/>
              </a:spcBef>
            </a:pPr>
            <a:r>
              <a:rPr lang="en-US" b="true" sz="2199" spc="-65">
                <a:solidFill>
                  <a:srgbClr val="222222"/>
                </a:solidFill>
                <a:latin typeface="Muli Ultra-Bold"/>
                <a:ea typeface="Muli Ultra-Bold"/>
                <a:cs typeface="Muli Ultra-Bold"/>
                <a:sym typeface="Muli Ultra-Bold"/>
              </a:rPr>
              <a:t>For the biggest earnings of the next week, the main sector-level catalysts are Palo Alto Networks (a company in cybersecurity field), Broadcom (semiconductor manufacturing company), and CrowdStrike (cybersecuity). These companies provide important signals on technology spending, cybersecurity demand, and AI-related investment trends.</a:t>
            </a:r>
          </a:p>
        </p:txBody>
      </p:sp>
      <p:sp>
        <p:nvSpPr>
          <p:cNvPr name="TextBox 8" id="8"/>
          <p:cNvSpPr txBox="true"/>
          <p:nvPr/>
        </p:nvSpPr>
        <p:spPr>
          <a:xfrm rot="0">
            <a:off x="17561162" y="89246"/>
            <a:ext cx="523053" cy="519971"/>
          </a:xfrm>
          <a:prstGeom prst="rect">
            <a:avLst/>
          </a:prstGeom>
        </p:spPr>
        <p:txBody>
          <a:bodyPr anchor="t" rtlCol="false" tIns="0" lIns="0" bIns="0" rIns="0">
            <a:spAutoFit/>
          </a:bodyPr>
          <a:lstStyle/>
          <a:p>
            <a:pPr algn="ctr">
              <a:lnSpc>
                <a:spcPts val="4289"/>
              </a:lnSpc>
              <a:spcBef>
                <a:spcPct val="0"/>
              </a:spcBef>
            </a:pPr>
            <a:r>
              <a:rPr lang="en-US" b="true" sz="3299" spc="-98">
                <a:solidFill>
                  <a:srgbClr val="000000"/>
                </a:solidFill>
                <a:latin typeface="Muli Ultra-Bold"/>
                <a:ea typeface="Muli Ultra-Bold"/>
                <a:cs typeface="Muli Ultra-Bold"/>
                <a:sym typeface="Muli Ultra-Bold"/>
              </a:rPr>
              <a:t>R4</a:t>
            </a:r>
          </a:p>
        </p:txBody>
      </p:sp>
      <p:grpSp>
        <p:nvGrpSpPr>
          <p:cNvPr name="Group 9" id="9"/>
          <p:cNvGrpSpPr/>
          <p:nvPr/>
        </p:nvGrpSpPr>
        <p:grpSpPr>
          <a:xfrm rot="0">
            <a:off x="8497756" y="743912"/>
            <a:ext cx="9238457" cy="3039993"/>
            <a:chOff x="0" y="0"/>
            <a:chExt cx="12317942" cy="4053323"/>
          </a:xfrm>
        </p:grpSpPr>
        <p:sp>
          <p:nvSpPr>
            <p:cNvPr name="Freeform 10" id="10"/>
            <p:cNvSpPr/>
            <p:nvPr/>
          </p:nvSpPr>
          <p:spPr>
            <a:xfrm flipH="false" flipV="false" rot="0">
              <a:off x="3836" y="0"/>
              <a:ext cx="12314089" cy="4053323"/>
            </a:xfrm>
            <a:custGeom>
              <a:avLst/>
              <a:gdLst/>
              <a:ahLst/>
              <a:cxnLst/>
              <a:rect r="r" b="b" t="t" l="l"/>
              <a:pathLst>
                <a:path h="4053323" w="12314089">
                  <a:moveTo>
                    <a:pt x="0" y="0"/>
                  </a:moveTo>
                  <a:lnTo>
                    <a:pt x="12314089" y="0"/>
                  </a:lnTo>
                  <a:lnTo>
                    <a:pt x="12314089" y="4053323"/>
                  </a:lnTo>
                  <a:lnTo>
                    <a:pt x="0" y="4053323"/>
                  </a:lnTo>
                  <a:lnTo>
                    <a:pt x="0" y="0"/>
                  </a:lnTo>
                  <a:close/>
                </a:path>
              </a:pathLst>
            </a:custGeom>
            <a:blipFill>
              <a:blip r:embed="rId2"/>
              <a:stretch>
                <a:fillRect l="0" t="0" r="0" b="0"/>
              </a:stretch>
            </a:blipFill>
          </p:spPr>
        </p:sp>
        <p:sp>
          <p:nvSpPr>
            <p:cNvPr name="AutoShape 11" id="11"/>
            <p:cNvSpPr/>
            <p:nvPr/>
          </p:nvSpPr>
          <p:spPr>
            <a:xfrm flipV="true">
              <a:off x="28890" y="702548"/>
              <a:ext cx="12260161" cy="13377"/>
            </a:xfrm>
            <a:prstGeom prst="line">
              <a:avLst/>
            </a:prstGeom>
            <a:ln cap="flat" w="57781">
              <a:solidFill>
                <a:srgbClr val="5CC97B"/>
              </a:solidFill>
              <a:prstDash val="solid"/>
              <a:headEnd type="none" len="sm" w="sm"/>
              <a:tailEnd type="none" len="sm" w="sm"/>
            </a:ln>
          </p:spPr>
        </p:sp>
        <p:sp>
          <p:nvSpPr>
            <p:cNvPr name="AutoShape 12" id="12"/>
            <p:cNvSpPr/>
            <p:nvPr/>
          </p:nvSpPr>
          <p:spPr>
            <a:xfrm flipH="true">
              <a:off x="28890" y="747708"/>
              <a:ext cx="0" cy="505858"/>
            </a:xfrm>
            <a:prstGeom prst="line">
              <a:avLst/>
            </a:prstGeom>
            <a:ln cap="flat" w="57781">
              <a:solidFill>
                <a:srgbClr val="5CC97B"/>
              </a:solidFill>
              <a:prstDash val="solid"/>
              <a:headEnd type="none" len="sm" w="sm"/>
              <a:tailEnd type="none" len="sm" w="sm"/>
            </a:ln>
          </p:spPr>
        </p:sp>
        <p:sp>
          <p:nvSpPr>
            <p:cNvPr name="AutoShape 13" id="13"/>
            <p:cNvSpPr/>
            <p:nvPr/>
          </p:nvSpPr>
          <p:spPr>
            <a:xfrm flipH="true">
              <a:off x="28890" y="1195145"/>
              <a:ext cx="12260161" cy="58422"/>
            </a:xfrm>
            <a:prstGeom prst="line">
              <a:avLst/>
            </a:prstGeom>
            <a:ln cap="flat" w="57781">
              <a:solidFill>
                <a:srgbClr val="5CC97B"/>
              </a:solidFill>
              <a:prstDash val="solid"/>
              <a:headEnd type="none" len="sm" w="sm"/>
              <a:tailEnd type="none" len="sm" w="sm"/>
            </a:ln>
          </p:spPr>
        </p:sp>
        <p:sp>
          <p:nvSpPr>
            <p:cNvPr name="AutoShape 14" id="14"/>
            <p:cNvSpPr/>
            <p:nvPr/>
          </p:nvSpPr>
          <p:spPr>
            <a:xfrm flipV="true">
              <a:off x="12289052" y="702548"/>
              <a:ext cx="0" cy="492596"/>
            </a:xfrm>
            <a:prstGeom prst="line">
              <a:avLst/>
            </a:prstGeom>
            <a:ln cap="flat" w="57781">
              <a:solidFill>
                <a:srgbClr val="5CC97B"/>
              </a:solidFill>
              <a:prstDash val="solid"/>
              <a:headEnd type="none" len="sm" w="sm"/>
              <a:tailEnd type="none" len="sm" w="sm"/>
            </a:ln>
          </p:spPr>
        </p:sp>
      </p:grpSp>
      <p:grpSp>
        <p:nvGrpSpPr>
          <p:cNvPr name="Group 15" id="15"/>
          <p:cNvGrpSpPr/>
          <p:nvPr/>
        </p:nvGrpSpPr>
        <p:grpSpPr>
          <a:xfrm rot="0">
            <a:off x="8584232" y="4605424"/>
            <a:ext cx="9238457" cy="4421528"/>
            <a:chOff x="0" y="0"/>
            <a:chExt cx="12317942" cy="5895370"/>
          </a:xfrm>
        </p:grpSpPr>
        <p:sp>
          <p:nvSpPr>
            <p:cNvPr name="Freeform 16" id="16"/>
            <p:cNvSpPr/>
            <p:nvPr/>
          </p:nvSpPr>
          <p:spPr>
            <a:xfrm flipH="false" flipV="false" rot="0">
              <a:off x="0" y="0"/>
              <a:ext cx="12314089" cy="5895370"/>
            </a:xfrm>
            <a:custGeom>
              <a:avLst/>
              <a:gdLst/>
              <a:ahLst/>
              <a:cxnLst/>
              <a:rect r="r" b="b" t="t" l="l"/>
              <a:pathLst>
                <a:path h="5895370" w="12314089">
                  <a:moveTo>
                    <a:pt x="0" y="0"/>
                  </a:moveTo>
                  <a:lnTo>
                    <a:pt x="12314089" y="0"/>
                  </a:lnTo>
                  <a:lnTo>
                    <a:pt x="12314089" y="5895370"/>
                  </a:lnTo>
                  <a:lnTo>
                    <a:pt x="0" y="5895370"/>
                  </a:lnTo>
                  <a:lnTo>
                    <a:pt x="0" y="0"/>
                  </a:lnTo>
                  <a:close/>
                </a:path>
              </a:pathLst>
            </a:custGeom>
            <a:blipFill>
              <a:blip r:embed="rId3"/>
              <a:stretch>
                <a:fillRect l="0" t="0" r="0" b="0"/>
              </a:stretch>
            </a:blipFill>
          </p:spPr>
        </p:sp>
        <p:sp>
          <p:nvSpPr>
            <p:cNvPr name="AutoShape 17" id="17"/>
            <p:cNvSpPr/>
            <p:nvPr/>
          </p:nvSpPr>
          <p:spPr>
            <a:xfrm flipV="true">
              <a:off x="28890" y="755175"/>
              <a:ext cx="12260161" cy="25038"/>
            </a:xfrm>
            <a:prstGeom prst="line">
              <a:avLst/>
            </a:prstGeom>
            <a:ln cap="flat" w="57781">
              <a:solidFill>
                <a:srgbClr val="5CC97B"/>
              </a:solidFill>
              <a:prstDash val="solid"/>
              <a:headEnd type="none" len="sm" w="sm"/>
              <a:tailEnd type="none" len="sm" w="sm"/>
            </a:ln>
          </p:spPr>
        </p:sp>
        <p:sp>
          <p:nvSpPr>
            <p:cNvPr name="AutoShape 18" id="18"/>
            <p:cNvSpPr/>
            <p:nvPr/>
          </p:nvSpPr>
          <p:spPr>
            <a:xfrm flipH="true">
              <a:off x="28890" y="839701"/>
              <a:ext cx="0" cy="946817"/>
            </a:xfrm>
            <a:prstGeom prst="line">
              <a:avLst/>
            </a:prstGeom>
            <a:ln cap="flat" w="57781">
              <a:solidFill>
                <a:srgbClr val="5CC97B"/>
              </a:solidFill>
              <a:prstDash val="solid"/>
              <a:headEnd type="none" len="sm" w="sm"/>
              <a:tailEnd type="none" len="sm" w="sm"/>
            </a:ln>
          </p:spPr>
        </p:sp>
        <p:sp>
          <p:nvSpPr>
            <p:cNvPr name="AutoShape 19" id="19"/>
            <p:cNvSpPr/>
            <p:nvPr/>
          </p:nvSpPr>
          <p:spPr>
            <a:xfrm flipH="true">
              <a:off x="28890" y="1677170"/>
              <a:ext cx="12260161" cy="109349"/>
            </a:xfrm>
            <a:prstGeom prst="line">
              <a:avLst/>
            </a:prstGeom>
            <a:ln cap="flat" w="57781">
              <a:solidFill>
                <a:srgbClr val="5CC97B"/>
              </a:solidFill>
              <a:prstDash val="solid"/>
              <a:headEnd type="none" len="sm" w="sm"/>
              <a:tailEnd type="none" len="sm" w="sm"/>
            </a:ln>
          </p:spPr>
        </p:sp>
        <p:sp>
          <p:nvSpPr>
            <p:cNvPr name="AutoShape 20" id="20"/>
            <p:cNvSpPr/>
            <p:nvPr/>
          </p:nvSpPr>
          <p:spPr>
            <a:xfrm flipV="true">
              <a:off x="12289052" y="755175"/>
              <a:ext cx="0" cy="921995"/>
            </a:xfrm>
            <a:prstGeom prst="line">
              <a:avLst/>
            </a:prstGeom>
            <a:ln cap="flat" w="57781">
              <a:solidFill>
                <a:srgbClr val="5CC97B"/>
              </a:solidFill>
              <a:prstDash val="solid"/>
              <a:headEnd type="none" len="sm" w="sm"/>
              <a:tailEnd type="none" len="sm" w="sm"/>
            </a:ln>
          </p:spPr>
        </p:sp>
      </p:grpSp>
      <p:sp>
        <p:nvSpPr>
          <p:cNvPr name="TextBox 21" id="21"/>
          <p:cNvSpPr txBox="true"/>
          <p:nvPr/>
        </p:nvSpPr>
        <p:spPr>
          <a:xfrm rot="0">
            <a:off x="8723277" y="3899550"/>
            <a:ext cx="8960106" cy="352997"/>
          </a:xfrm>
          <a:prstGeom prst="rect">
            <a:avLst/>
          </a:prstGeom>
        </p:spPr>
        <p:txBody>
          <a:bodyPr anchor="t" rtlCol="false" tIns="0" lIns="0" bIns="0" rIns="0">
            <a:spAutoFit/>
          </a:bodyPr>
          <a:lstStyle/>
          <a:p>
            <a:pPr algn="ctr">
              <a:lnSpc>
                <a:spcPts val="2859"/>
              </a:lnSpc>
              <a:spcBef>
                <a:spcPct val="0"/>
              </a:spcBef>
            </a:pPr>
            <a:r>
              <a:rPr lang="en-US" b="true" sz="2199" spc="-65">
                <a:solidFill>
                  <a:srgbClr val="000000"/>
                </a:solidFill>
                <a:latin typeface="Muli Ultra-Bold"/>
                <a:ea typeface="Muli Ultra-Bold"/>
                <a:cs typeface="Muli Ultra-Bold"/>
                <a:sym typeface="Muli Ultra-Bold"/>
              </a:rPr>
              <a:t>Image: Earning prediction calendar by earningwhispers.com for 2 June</a:t>
            </a:r>
          </a:p>
        </p:txBody>
      </p:sp>
      <p:sp>
        <p:nvSpPr>
          <p:cNvPr name="TextBox 22" id="22"/>
          <p:cNvSpPr txBox="true"/>
          <p:nvPr/>
        </p:nvSpPr>
        <p:spPr>
          <a:xfrm rot="0">
            <a:off x="682738" y="10026246"/>
            <a:ext cx="17053475" cy="253375"/>
          </a:xfrm>
          <a:prstGeom prst="rect">
            <a:avLst/>
          </a:prstGeom>
        </p:spPr>
        <p:txBody>
          <a:bodyPr anchor="t" rtlCol="false" tIns="0" lIns="0" bIns="0" rIns="0">
            <a:spAutoFit/>
          </a:bodyPr>
          <a:lstStyle/>
          <a:p>
            <a:pPr algn="ctr">
              <a:lnSpc>
                <a:spcPts val="1040"/>
              </a:lnSpc>
              <a:spcBef>
                <a:spcPct val="0"/>
              </a:spcBef>
            </a:pPr>
            <a:r>
              <a:rPr lang="en-US" sz="800" spc="-24">
                <a:solidFill>
                  <a:srgbClr val="000000"/>
                </a:solidFill>
                <a:latin typeface="Muli"/>
                <a:ea typeface="Muli"/>
                <a:cs typeface="Muli"/>
                <a:sym typeface="Muli"/>
              </a:rPr>
              <a:t>Looking ahead to our primary catalysts, while AI-related tech earnings from Broadcom and CrowdStrike are "Confirmed" scheduled events, our ultimate macro driver for Week 23 is Friday's Nonfarm Payrolls (NFP) report. The data outcome of the NFP remains completely "Unverified" and is a highly "Contested" debate among economists, forming the core risk to our prediction. I will now pass it to R5 to map out the technical charts.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6E7DE"/>
        </a:solidFill>
      </p:bgPr>
    </p:bg>
    <p:spTree>
      <p:nvGrpSpPr>
        <p:cNvPr id="1" name=""/>
        <p:cNvGrpSpPr/>
        <p:nvPr/>
      </p:nvGrpSpPr>
      <p:grpSpPr>
        <a:xfrm>
          <a:off x="0" y="0"/>
          <a:ext cx="0" cy="0"/>
          <a:chOff x="0" y="0"/>
          <a:chExt cx="0" cy="0"/>
        </a:xfrm>
      </p:grpSpPr>
      <p:grpSp>
        <p:nvGrpSpPr>
          <p:cNvPr name="Group 2" id="2"/>
          <p:cNvGrpSpPr/>
          <p:nvPr/>
        </p:nvGrpSpPr>
        <p:grpSpPr>
          <a:xfrm rot="0">
            <a:off x="0" y="0"/>
            <a:ext cx="6449850" cy="10287000"/>
            <a:chOff x="0" y="0"/>
            <a:chExt cx="2181801" cy="3479800"/>
          </a:xfrm>
        </p:grpSpPr>
        <p:sp>
          <p:nvSpPr>
            <p:cNvPr name="Freeform 3" id="3"/>
            <p:cNvSpPr/>
            <p:nvPr/>
          </p:nvSpPr>
          <p:spPr>
            <a:xfrm flipH="false" flipV="false" rot="0">
              <a:off x="0" y="0"/>
              <a:ext cx="2181801" cy="3479800"/>
            </a:xfrm>
            <a:custGeom>
              <a:avLst/>
              <a:gdLst/>
              <a:ahLst/>
              <a:cxnLst/>
              <a:rect r="r" b="b" t="t" l="l"/>
              <a:pathLst>
                <a:path h="3479800" w="2181801">
                  <a:moveTo>
                    <a:pt x="2057341" y="3479800"/>
                  </a:moveTo>
                  <a:lnTo>
                    <a:pt x="124460" y="3479800"/>
                  </a:lnTo>
                  <a:cubicBezTo>
                    <a:pt x="55880" y="3479800"/>
                    <a:pt x="0" y="3423920"/>
                    <a:pt x="0" y="3355340"/>
                  </a:cubicBezTo>
                  <a:lnTo>
                    <a:pt x="0" y="124460"/>
                  </a:lnTo>
                  <a:cubicBezTo>
                    <a:pt x="0" y="55880"/>
                    <a:pt x="55880" y="0"/>
                    <a:pt x="124460" y="0"/>
                  </a:cubicBezTo>
                  <a:lnTo>
                    <a:pt x="2057341" y="0"/>
                  </a:lnTo>
                  <a:cubicBezTo>
                    <a:pt x="2125921" y="0"/>
                    <a:pt x="2181801" y="55880"/>
                    <a:pt x="2181801" y="124460"/>
                  </a:cubicBezTo>
                  <a:lnTo>
                    <a:pt x="2181801" y="3355340"/>
                  </a:lnTo>
                  <a:cubicBezTo>
                    <a:pt x="2181801" y="3423920"/>
                    <a:pt x="2125921" y="3479800"/>
                    <a:pt x="2057341" y="3479800"/>
                  </a:cubicBezTo>
                  <a:close/>
                </a:path>
              </a:pathLst>
            </a:custGeom>
            <a:solidFill>
              <a:srgbClr val="FFFFFF"/>
            </a:solidFill>
          </p:spPr>
        </p:sp>
      </p:grpSp>
      <p:sp>
        <p:nvSpPr>
          <p:cNvPr name="Freeform 4" id="4"/>
          <p:cNvSpPr/>
          <p:nvPr/>
        </p:nvSpPr>
        <p:spPr>
          <a:xfrm flipH="false" flipV="false" rot="0">
            <a:off x="6642389" y="1762446"/>
            <a:ext cx="11301259" cy="5424604"/>
          </a:xfrm>
          <a:custGeom>
            <a:avLst/>
            <a:gdLst/>
            <a:ahLst/>
            <a:cxnLst/>
            <a:rect r="r" b="b" t="t" l="l"/>
            <a:pathLst>
              <a:path h="5424604" w="11301259">
                <a:moveTo>
                  <a:pt x="0" y="0"/>
                </a:moveTo>
                <a:lnTo>
                  <a:pt x="11301259" y="0"/>
                </a:lnTo>
                <a:lnTo>
                  <a:pt x="11301259" y="5424604"/>
                </a:lnTo>
                <a:lnTo>
                  <a:pt x="0" y="5424604"/>
                </a:lnTo>
                <a:lnTo>
                  <a:pt x="0" y="0"/>
                </a:lnTo>
                <a:close/>
              </a:path>
            </a:pathLst>
          </a:custGeom>
          <a:blipFill>
            <a:blip r:embed="rId2"/>
            <a:stretch>
              <a:fillRect l="0" t="0" r="0" b="0"/>
            </a:stretch>
          </a:blipFill>
        </p:spPr>
      </p:sp>
      <p:sp>
        <p:nvSpPr>
          <p:cNvPr name="TextBox 5" id="5"/>
          <p:cNvSpPr txBox="true"/>
          <p:nvPr/>
        </p:nvSpPr>
        <p:spPr>
          <a:xfrm rot="0">
            <a:off x="8594794" y="7375511"/>
            <a:ext cx="5539409" cy="352997"/>
          </a:xfrm>
          <a:prstGeom prst="rect">
            <a:avLst/>
          </a:prstGeom>
        </p:spPr>
        <p:txBody>
          <a:bodyPr anchor="t" rtlCol="false" tIns="0" lIns="0" bIns="0" rIns="0">
            <a:spAutoFit/>
          </a:bodyPr>
          <a:lstStyle/>
          <a:p>
            <a:pPr algn="ctr">
              <a:lnSpc>
                <a:spcPts val="2859"/>
              </a:lnSpc>
              <a:spcBef>
                <a:spcPct val="0"/>
              </a:spcBef>
            </a:pPr>
            <a:r>
              <a:rPr lang="en-US" b="true" sz="2199" spc="-65">
                <a:solidFill>
                  <a:srgbClr val="000000"/>
                </a:solidFill>
                <a:latin typeface="Muli Ultra-Bold"/>
                <a:ea typeface="Muli Ultra-Bold"/>
                <a:cs typeface="Muli Ultra-Bold"/>
                <a:sym typeface="Muli Ultra-Bold"/>
              </a:rPr>
              <a:t>Image: News about Iran war by Reuter.com</a:t>
            </a:r>
          </a:p>
        </p:txBody>
      </p:sp>
      <p:sp>
        <p:nvSpPr>
          <p:cNvPr name="TextBox 6" id="6"/>
          <p:cNvSpPr txBox="true"/>
          <p:nvPr/>
        </p:nvSpPr>
        <p:spPr>
          <a:xfrm rot="0">
            <a:off x="416991" y="1009650"/>
            <a:ext cx="5615869" cy="352997"/>
          </a:xfrm>
          <a:prstGeom prst="rect">
            <a:avLst/>
          </a:prstGeom>
        </p:spPr>
        <p:txBody>
          <a:bodyPr anchor="t" rtlCol="false" tIns="0" lIns="0" bIns="0" rIns="0">
            <a:spAutoFit/>
          </a:bodyPr>
          <a:lstStyle/>
          <a:p>
            <a:pPr algn="ctr">
              <a:lnSpc>
                <a:spcPts val="2859"/>
              </a:lnSpc>
              <a:spcBef>
                <a:spcPct val="0"/>
              </a:spcBef>
            </a:pPr>
            <a:r>
              <a:rPr lang="en-US" b="true" sz="2199" spc="-65">
                <a:solidFill>
                  <a:srgbClr val="222222"/>
                </a:solidFill>
                <a:latin typeface="Muli Ultra-Bold"/>
                <a:ea typeface="Muli Ultra-Bold"/>
                <a:cs typeface="Muli Ultra-Bold"/>
                <a:sym typeface="Muli Ultra-Bold"/>
              </a:rPr>
              <a:t>CONFIRMED NEWS EVENTS (Reuters / AP)</a:t>
            </a:r>
          </a:p>
        </p:txBody>
      </p:sp>
      <p:sp>
        <p:nvSpPr>
          <p:cNvPr name="TextBox 7" id="7"/>
          <p:cNvSpPr txBox="true"/>
          <p:nvPr/>
        </p:nvSpPr>
        <p:spPr>
          <a:xfrm rot="0">
            <a:off x="310012" y="1705296"/>
            <a:ext cx="5829827" cy="3249638"/>
          </a:xfrm>
          <a:prstGeom prst="rect">
            <a:avLst/>
          </a:prstGeom>
        </p:spPr>
        <p:txBody>
          <a:bodyPr anchor="t" rtlCol="false" tIns="0" lIns="0" bIns="0" rIns="0">
            <a:spAutoFit/>
          </a:bodyPr>
          <a:lstStyle/>
          <a:p>
            <a:pPr algn="l" marL="474979" indent="-237490" lvl="1">
              <a:lnSpc>
                <a:spcPts val="3299"/>
              </a:lnSpc>
              <a:buFont typeface="Arial"/>
              <a:buChar char="•"/>
            </a:pPr>
            <a:r>
              <a:rPr lang="en-US" b="true" sz="2199" spc="-65">
                <a:solidFill>
                  <a:srgbClr val="222222"/>
                </a:solidFill>
                <a:latin typeface="Muli Bold"/>
                <a:ea typeface="Muli Bold"/>
                <a:cs typeface="Muli Bold"/>
                <a:sym typeface="Muli Bold"/>
              </a:rPr>
              <a:t>Trump said he will soon decide on Iran deal and repeated demands for reopening of the Strait of Hormuz and removal of Iran nuclear capability. Source: Reuters — May 2026. Market implication: Any escalation could affect oil supply expectations and energy markets.</a:t>
            </a:r>
          </a:p>
          <a:p>
            <a:pPr algn="l">
              <a:lnSpc>
                <a:spcPts val="3299"/>
              </a:lnSpc>
            </a:pPr>
          </a:p>
        </p:txBody>
      </p:sp>
      <p:sp>
        <p:nvSpPr>
          <p:cNvPr name="TextBox 8" id="8"/>
          <p:cNvSpPr txBox="true"/>
          <p:nvPr/>
        </p:nvSpPr>
        <p:spPr>
          <a:xfrm rot="0">
            <a:off x="501339" y="5734421"/>
            <a:ext cx="5639711" cy="2886209"/>
          </a:xfrm>
          <a:prstGeom prst="rect">
            <a:avLst/>
          </a:prstGeom>
        </p:spPr>
        <p:txBody>
          <a:bodyPr anchor="t" rtlCol="false" tIns="0" lIns="0" bIns="0" rIns="0">
            <a:spAutoFit/>
          </a:bodyPr>
          <a:lstStyle/>
          <a:p>
            <a:pPr algn="l">
              <a:lnSpc>
                <a:spcPts val="2859"/>
              </a:lnSpc>
            </a:pPr>
            <a:r>
              <a:rPr lang="en-US" sz="2199" spc="-65" b="true">
                <a:solidFill>
                  <a:srgbClr val="222222"/>
                </a:solidFill>
                <a:latin typeface="Muli Ultra-Bold"/>
                <a:ea typeface="Muli Ultra-Bold"/>
                <a:cs typeface="Muli Ultra-Bold"/>
                <a:sym typeface="Muli Ultra-Bold"/>
              </a:rPr>
              <a:t>Presentation Notes:</a:t>
            </a:r>
          </a:p>
          <a:p>
            <a:pPr algn="l">
              <a:lnSpc>
                <a:spcPts val="2859"/>
              </a:lnSpc>
              <a:spcBef>
                <a:spcPct val="0"/>
              </a:spcBef>
            </a:pPr>
            <a:r>
              <a:rPr lang="en-US" b="true" sz="2199" spc="-65">
                <a:solidFill>
                  <a:srgbClr val="222222"/>
                </a:solidFill>
                <a:latin typeface="Muli Ultra-Bold"/>
                <a:ea typeface="Muli Ultra-Bold"/>
                <a:cs typeface="Muli Ultra-Bold"/>
                <a:sym typeface="Muli Ultra-Bold"/>
              </a:rPr>
              <a:t>On the geopolitical front, Reuters reported that President Trump is expected to make a decision regarding Iran and has reiterated demands concerning the Strait of Hormuz and Iran’s nuclear capabilities. Any escalation could affect oil supply expectations and energy markets.</a:t>
            </a:r>
          </a:p>
        </p:txBody>
      </p:sp>
      <p:sp>
        <p:nvSpPr>
          <p:cNvPr name="TextBox 9" id="9"/>
          <p:cNvSpPr txBox="true"/>
          <p:nvPr/>
        </p:nvSpPr>
        <p:spPr>
          <a:xfrm rot="0">
            <a:off x="17420595" y="256220"/>
            <a:ext cx="523053" cy="519971"/>
          </a:xfrm>
          <a:prstGeom prst="rect">
            <a:avLst/>
          </a:prstGeom>
        </p:spPr>
        <p:txBody>
          <a:bodyPr anchor="t" rtlCol="false" tIns="0" lIns="0" bIns="0" rIns="0">
            <a:spAutoFit/>
          </a:bodyPr>
          <a:lstStyle/>
          <a:p>
            <a:pPr algn="ctr">
              <a:lnSpc>
                <a:spcPts val="4289"/>
              </a:lnSpc>
              <a:spcBef>
                <a:spcPct val="0"/>
              </a:spcBef>
            </a:pPr>
            <a:r>
              <a:rPr lang="en-US" b="true" sz="3299" spc="-98">
                <a:solidFill>
                  <a:srgbClr val="000000"/>
                </a:solidFill>
                <a:latin typeface="Muli Ultra-Bold"/>
                <a:ea typeface="Muli Ultra-Bold"/>
                <a:cs typeface="Muli Ultra-Bold"/>
                <a:sym typeface="Muli Ultra-Bold"/>
              </a:rPr>
              <a:t>R4</a:t>
            </a:r>
          </a:p>
        </p:txBody>
      </p:sp>
      <p:sp>
        <p:nvSpPr>
          <p:cNvPr name="TextBox 10" id="10"/>
          <p:cNvSpPr txBox="true"/>
          <p:nvPr/>
        </p:nvSpPr>
        <p:spPr>
          <a:xfrm rot="0">
            <a:off x="1522709" y="9687429"/>
            <a:ext cx="16765291" cy="193040"/>
          </a:xfrm>
          <a:prstGeom prst="rect">
            <a:avLst/>
          </a:prstGeom>
        </p:spPr>
        <p:txBody>
          <a:bodyPr anchor="t" rtlCol="false" tIns="0" lIns="0" bIns="0" rIns="0">
            <a:spAutoFit/>
          </a:bodyPr>
          <a:lstStyle/>
          <a:p>
            <a:pPr algn="ctr">
              <a:lnSpc>
                <a:spcPts val="1690"/>
              </a:lnSpc>
              <a:spcBef>
                <a:spcPct val="0"/>
              </a:spcBef>
            </a:pPr>
            <a:r>
              <a:rPr lang="en-US" sz="1300" spc="-39">
                <a:solidFill>
                  <a:srgbClr val="000000"/>
                </a:solidFill>
                <a:latin typeface="Muli"/>
                <a:ea typeface="Muli"/>
                <a:cs typeface="Muli"/>
                <a:sym typeface="Muli"/>
              </a:rPr>
              <a:t>On the geopolitical front, Trump's statement regarding the Iran nuclear deal and the Strait of Hormuz is a "Confirmed" news event via Reuters. However, any actual escalation or supply disruption remains highly "Unverified" at this stage. </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6E7DE"/>
        </a:solidFill>
      </p:bgPr>
    </p:bg>
    <p:spTree>
      <p:nvGrpSpPr>
        <p:cNvPr id="1" name=""/>
        <p:cNvGrpSpPr/>
        <p:nvPr/>
      </p:nvGrpSpPr>
      <p:grpSpPr>
        <a:xfrm>
          <a:off x="0" y="0"/>
          <a:ext cx="0" cy="0"/>
          <a:chOff x="0" y="0"/>
          <a:chExt cx="0" cy="0"/>
        </a:xfrm>
      </p:grpSpPr>
      <p:grpSp>
        <p:nvGrpSpPr>
          <p:cNvPr name="Group 2" id="2"/>
          <p:cNvGrpSpPr/>
          <p:nvPr/>
        </p:nvGrpSpPr>
        <p:grpSpPr>
          <a:xfrm rot="0">
            <a:off x="148021" y="649388"/>
            <a:ext cx="5875943" cy="4904018"/>
            <a:chOff x="0" y="0"/>
            <a:chExt cx="5060161" cy="4223172"/>
          </a:xfrm>
        </p:grpSpPr>
        <p:sp>
          <p:nvSpPr>
            <p:cNvPr name="Freeform 3" id="3"/>
            <p:cNvSpPr/>
            <p:nvPr/>
          </p:nvSpPr>
          <p:spPr>
            <a:xfrm flipH="false" flipV="false" rot="0">
              <a:off x="0" y="0"/>
              <a:ext cx="5060161" cy="4223172"/>
            </a:xfrm>
            <a:custGeom>
              <a:avLst/>
              <a:gdLst/>
              <a:ahLst/>
              <a:cxnLst/>
              <a:rect r="r" b="b" t="t" l="l"/>
              <a:pathLst>
                <a:path h="4223172" w="5060161">
                  <a:moveTo>
                    <a:pt x="4935701" y="4223172"/>
                  </a:moveTo>
                  <a:lnTo>
                    <a:pt x="124460" y="4223172"/>
                  </a:lnTo>
                  <a:cubicBezTo>
                    <a:pt x="55880" y="4223172"/>
                    <a:pt x="0" y="4167293"/>
                    <a:pt x="0" y="4098712"/>
                  </a:cubicBezTo>
                  <a:lnTo>
                    <a:pt x="0" y="124460"/>
                  </a:lnTo>
                  <a:cubicBezTo>
                    <a:pt x="0" y="55880"/>
                    <a:pt x="55880" y="0"/>
                    <a:pt x="124460" y="0"/>
                  </a:cubicBezTo>
                  <a:lnTo>
                    <a:pt x="4935701" y="0"/>
                  </a:lnTo>
                  <a:cubicBezTo>
                    <a:pt x="5004281" y="0"/>
                    <a:pt x="5060161" y="55880"/>
                    <a:pt x="5060161" y="124460"/>
                  </a:cubicBezTo>
                  <a:lnTo>
                    <a:pt x="5060161" y="4098713"/>
                  </a:lnTo>
                  <a:cubicBezTo>
                    <a:pt x="5060161" y="4167293"/>
                    <a:pt x="5004281" y="4223172"/>
                    <a:pt x="4935701" y="4223172"/>
                  </a:cubicBezTo>
                  <a:close/>
                </a:path>
              </a:pathLst>
            </a:custGeom>
            <a:solidFill>
              <a:srgbClr val="FFFFFF"/>
            </a:solidFill>
          </p:spPr>
        </p:sp>
      </p:grpSp>
      <p:sp>
        <p:nvSpPr>
          <p:cNvPr name="Freeform 4" id="4"/>
          <p:cNvSpPr/>
          <p:nvPr/>
        </p:nvSpPr>
        <p:spPr>
          <a:xfrm flipH="false" flipV="false" rot="0">
            <a:off x="12026395" y="6694094"/>
            <a:ext cx="6124962" cy="3105968"/>
          </a:xfrm>
          <a:custGeom>
            <a:avLst/>
            <a:gdLst/>
            <a:ahLst/>
            <a:cxnLst/>
            <a:rect r="r" b="b" t="t" l="l"/>
            <a:pathLst>
              <a:path h="3105968" w="6124962">
                <a:moveTo>
                  <a:pt x="0" y="0"/>
                </a:moveTo>
                <a:lnTo>
                  <a:pt x="6124962" y="0"/>
                </a:lnTo>
                <a:lnTo>
                  <a:pt x="6124962" y="3105968"/>
                </a:lnTo>
                <a:lnTo>
                  <a:pt x="0" y="3105968"/>
                </a:lnTo>
                <a:lnTo>
                  <a:pt x="0" y="0"/>
                </a:lnTo>
                <a:close/>
              </a:path>
            </a:pathLst>
          </a:custGeom>
          <a:blipFill>
            <a:blip r:embed="rId3"/>
            <a:stretch>
              <a:fillRect l="-3414" t="0" r="-2230" b="0"/>
            </a:stretch>
          </a:blipFill>
        </p:spPr>
      </p:sp>
      <p:sp>
        <p:nvSpPr>
          <p:cNvPr name="TextBox 5" id="5"/>
          <p:cNvSpPr txBox="true"/>
          <p:nvPr/>
        </p:nvSpPr>
        <p:spPr>
          <a:xfrm rot="0">
            <a:off x="13506325" y="9790537"/>
            <a:ext cx="3171702" cy="200733"/>
          </a:xfrm>
          <a:prstGeom prst="rect">
            <a:avLst/>
          </a:prstGeom>
        </p:spPr>
        <p:txBody>
          <a:bodyPr anchor="t" rtlCol="false" tIns="0" lIns="0" bIns="0" rIns="0">
            <a:spAutoFit/>
          </a:bodyPr>
          <a:lstStyle/>
          <a:p>
            <a:pPr algn="ctr">
              <a:lnSpc>
                <a:spcPts val="1637"/>
              </a:lnSpc>
              <a:spcBef>
                <a:spcPct val="0"/>
              </a:spcBef>
            </a:pPr>
            <a:r>
              <a:rPr lang="en-US" b="true" sz="1259" spc="-37">
                <a:solidFill>
                  <a:srgbClr val="000000"/>
                </a:solidFill>
                <a:latin typeface="Muli Ultra-Bold"/>
                <a:ea typeface="Muli Ultra-Bold"/>
                <a:cs typeface="Muli Ultra-Bold"/>
                <a:sym typeface="Muli Ultra-Bold"/>
              </a:rPr>
              <a:t>Image: News about Iran war by Reuter.com</a:t>
            </a:r>
          </a:p>
        </p:txBody>
      </p:sp>
      <p:grpSp>
        <p:nvGrpSpPr>
          <p:cNvPr name="Group 6" id="6"/>
          <p:cNvGrpSpPr/>
          <p:nvPr/>
        </p:nvGrpSpPr>
        <p:grpSpPr>
          <a:xfrm rot="0">
            <a:off x="6126683" y="769576"/>
            <a:ext cx="5655726" cy="4467195"/>
            <a:chOff x="0" y="0"/>
            <a:chExt cx="4809313" cy="3798653"/>
          </a:xfrm>
        </p:grpSpPr>
        <p:sp>
          <p:nvSpPr>
            <p:cNvPr name="Freeform 7" id="7"/>
            <p:cNvSpPr/>
            <p:nvPr/>
          </p:nvSpPr>
          <p:spPr>
            <a:xfrm flipH="false" flipV="false" rot="0">
              <a:off x="0" y="0"/>
              <a:ext cx="4809313" cy="3798653"/>
            </a:xfrm>
            <a:custGeom>
              <a:avLst/>
              <a:gdLst/>
              <a:ahLst/>
              <a:cxnLst/>
              <a:rect r="r" b="b" t="t" l="l"/>
              <a:pathLst>
                <a:path h="3798653" w="4809313">
                  <a:moveTo>
                    <a:pt x="4684853" y="3798653"/>
                  </a:moveTo>
                  <a:lnTo>
                    <a:pt x="124460" y="3798653"/>
                  </a:lnTo>
                  <a:cubicBezTo>
                    <a:pt x="55880" y="3798653"/>
                    <a:pt x="0" y="3742773"/>
                    <a:pt x="0" y="3674193"/>
                  </a:cubicBezTo>
                  <a:lnTo>
                    <a:pt x="0" y="124460"/>
                  </a:lnTo>
                  <a:cubicBezTo>
                    <a:pt x="0" y="55880"/>
                    <a:pt x="55880" y="0"/>
                    <a:pt x="124460" y="0"/>
                  </a:cubicBezTo>
                  <a:lnTo>
                    <a:pt x="4684854" y="0"/>
                  </a:lnTo>
                  <a:cubicBezTo>
                    <a:pt x="4753433" y="0"/>
                    <a:pt x="4809313" y="55880"/>
                    <a:pt x="4809313" y="124460"/>
                  </a:cubicBezTo>
                  <a:lnTo>
                    <a:pt x="4809313" y="3674193"/>
                  </a:lnTo>
                  <a:cubicBezTo>
                    <a:pt x="4809313" y="3742773"/>
                    <a:pt x="4753433" y="3798653"/>
                    <a:pt x="4684854" y="3798653"/>
                  </a:cubicBezTo>
                  <a:close/>
                </a:path>
              </a:pathLst>
            </a:custGeom>
            <a:solidFill>
              <a:srgbClr val="FFFFFF"/>
            </a:solidFill>
          </p:spPr>
        </p:sp>
      </p:grpSp>
      <p:sp>
        <p:nvSpPr>
          <p:cNvPr name="TextBox 8" id="8"/>
          <p:cNvSpPr txBox="true"/>
          <p:nvPr/>
        </p:nvSpPr>
        <p:spPr>
          <a:xfrm rot="0">
            <a:off x="146842" y="237325"/>
            <a:ext cx="8752235" cy="317363"/>
          </a:xfrm>
          <a:prstGeom prst="rect">
            <a:avLst/>
          </a:prstGeom>
        </p:spPr>
        <p:txBody>
          <a:bodyPr anchor="t" rtlCol="false" tIns="0" lIns="0" bIns="0" rIns="0">
            <a:spAutoFit/>
          </a:bodyPr>
          <a:lstStyle/>
          <a:p>
            <a:pPr algn="ctr">
              <a:lnSpc>
                <a:spcPts val="2618"/>
              </a:lnSpc>
              <a:spcBef>
                <a:spcPct val="0"/>
              </a:spcBef>
            </a:pPr>
            <a:r>
              <a:rPr lang="en-US" b="true" sz="2014" spc="-60">
                <a:solidFill>
                  <a:srgbClr val="222222"/>
                </a:solidFill>
                <a:latin typeface="Muli Ultra-Bold"/>
                <a:ea typeface="Muli Ultra-Bold"/>
                <a:cs typeface="Muli Ultra-Bold"/>
                <a:sym typeface="Muli Ultra-Bold"/>
              </a:rPr>
              <a:t>Final Slide For R4 Macro Agent Output in case only one slide per person</a:t>
            </a:r>
          </a:p>
        </p:txBody>
      </p:sp>
      <p:grpSp>
        <p:nvGrpSpPr>
          <p:cNvPr name="Group 9" id="9"/>
          <p:cNvGrpSpPr/>
          <p:nvPr/>
        </p:nvGrpSpPr>
        <p:grpSpPr>
          <a:xfrm rot="0">
            <a:off x="12026395" y="769576"/>
            <a:ext cx="6124962" cy="5621205"/>
            <a:chOff x="0" y="0"/>
            <a:chExt cx="4809313" cy="4413764"/>
          </a:xfrm>
        </p:grpSpPr>
        <p:sp>
          <p:nvSpPr>
            <p:cNvPr name="Freeform 10" id="10"/>
            <p:cNvSpPr/>
            <p:nvPr/>
          </p:nvSpPr>
          <p:spPr>
            <a:xfrm flipH="false" flipV="false" rot="0">
              <a:off x="0" y="0"/>
              <a:ext cx="4809313" cy="4413764"/>
            </a:xfrm>
            <a:custGeom>
              <a:avLst/>
              <a:gdLst/>
              <a:ahLst/>
              <a:cxnLst/>
              <a:rect r="r" b="b" t="t" l="l"/>
              <a:pathLst>
                <a:path h="4413764" w="4809313">
                  <a:moveTo>
                    <a:pt x="4684853" y="4413764"/>
                  </a:moveTo>
                  <a:lnTo>
                    <a:pt x="124460" y="4413764"/>
                  </a:lnTo>
                  <a:cubicBezTo>
                    <a:pt x="55880" y="4413764"/>
                    <a:pt x="0" y="4357884"/>
                    <a:pt x="0" y="4289304"/>
                  </a:cubicBezTo>
                  <a:lnTo>
                    <a:pt x="0" y="124460"/>
                  </a:lnTo>
                  <a:cubicBezTo>
                    <a:pt x="0" y="55880"/>
                    <a:pt x="55880" y="0"/>
                    <a:pt x="124460" y="0"/>
                  </a:cubicBezTo>
                  <a:lnTo>
                    <a:pt x="4684854" y="0"/>
                  </a:lnTo>
                  <a:cubicBezTo>
                    <a:pt x="4753433" y="0"/>
                    <a:pt x="4809313" y="55880"/>
                    <a:pt x="4809313" y="124460"/>
                  </a:cubicBezTo>
                  <a:lnTo>
                    <a:pt x="4809313" y="4289304"/>
                  </a:lnTo>
                  <a:cubicBezTo>
                    <a:pt x="4809313" y="4357884"/>
                    <a:pt x="4753433" y="4413764"/>
                    <a:pt x="4684854" y="4413764"/>
                  </a:cubicBezTo>
                  <a:close/>
                </a:path>
              </a:pathLst>
            </a:custGeom>
            <a:solidFill>
              <a:srgbClr val="FFFFFF"/>
            </a:solidFill>
          </p:spPr>
        </p:sp>
      </p:grpSp>
      <p:sp>
        <p:nvSpPr>
          <p:cNvPr name="TextBox 11" id="11"/>
          <p:cNvSpPr txBox="true"/>
          <p:nvPr/>
        </p:nvSpPr>
        <p:spPr>
          <a:xfrm rot="0">
            <a:off x="17628305" y="118204"/>
            <a:ext cx="523053" cy="519971"/>
          </a:xfrm>
          <a:prstGeom prst="rect">
            <a:avLst/>
          </a:prstGeom>
        </p:spPr>
        <p:txBody>
          <a:bodyPr anchor="t" rtlCol="false" tIns="0" lIns="0" bIns="0" rIns="0">
            <a:spAutoFit/>
          </a:bodyPr>
          <a:lstStyle/>
          <a:p>
            <a:pPr algn="ctr">
              <a:lnSpc>
                <a:spcPts val="4289"/>
              </a:lnSpc>
              <a:spcBef>
                <a:spcPct val="0"/>
              </a:spcBef>
            </a:pPr>
            <a:r>
              <a:rPr lang="en-US" b="true" sz="3299" spc="-98">
                <a:solidFill>
                  <a:srgbClr val="000000"/>
                </a:solidFill>
                <a:latin typeface="Muli Ultra-Bold"/>
                <a:ea typeface="Muli Ultra-Bold"/>
                <a:cs typeface="Muli Ultra-Bold"/>
                <a:sym typeface="Muli Ultra-Bold"/>
              </a:rPr>
              <a:t>R4</a:t>
            </a:r>
          </a:p>
        </p:txBody>
      </p:sp>
      <p:sp>
        <p:nvSpPr>
          <p:cNvPr name="Freeform 12" id="12"/>
          <p:cNvSpPr/>
          <p:nvPr/>
        </p:nvSpPr>
        <p:spPr>
          <a:xfrm flipH="false" flipV="false" rot="0">
            <a:off x="279590" y="876077"/>
            <a:ext cx="5525021" cy="849860"/>
          </a:xfrm>
          <a:custGeom>
            <a:avLst/>
            <a:gdLst/>
            <a:ahLst/>
            <a:cxnLst/>
            <a:rect r="r" b="b" t="t" l="l"/>
            <a:pathLst>
              <a:path h="849860" w="5525021">
                <a:moveTo>
                  <a:pt x="0" y="0"/>
                </a:moveTo>
                <a:lnTo>
                  <a:pt x="5525021" y="0"/>
                </a:lnTo>
                <a:lnTo>
                  <a:pt x="5525021" y="849860"/>
                </a:lnTo>
                <a:lnTo>
                  <a:pt x="0" y="849860"/>
                </a:lnTo>
                <a:lnTo>
                  <a:pt x="0" y="0"/>
                </a:lnTo>
                <a:close/>
              </a:path>
            </a:pathLst>
          </a:custGeom>
          <a:blipFill>
            <a:blip r:embed="rId4"/>
            <a:stretch>
              <a:fillRect l="-1699" t="0" r="0" b="0"/>
            </a:stretch>
          </a:blipFill>
        </p:spPr>
      </p:sp>
      <p:sp>
        <p:nvSpPr>
          <p:cNvPr name="Freeform 13" id="13"/>
          <p:cNvSpPr/>
          <p:nvPr/>
        </p:nvSpPr>
        <p:spPr>
          <a:xfrm flipH="false" flipV="false" rot="0">
            <a:off x="234915" y="1764037"/>
            <a:ext cx="5525021" cy="3494576"/>
          </a:xfrm>
          <a:custGeom>
            <a:avLst/>
            <a:gdLst/>
            <a:ahLst/>
            <a:cxnLst/>
            <a:rect r="r" b="b" t="t" l="l"/>
            <a:pathLst>
              <a:path h="3494576" w="5525021">
                <a:moveTo>
                  <a:pt x="0" y="0"/>
                </a:moveTo>
                <a:lnTo>
                  <a:pt x="5525021" y="0"/>
                </a:lnTo>
                <a:lnTo>
                  <a:pt x="5525021" y="3494575"/>
                </a:lnTo>
                <a:lnTo>
                  <a:pt x="0" y="3494575"/>
                </a:lnTo>
                <a:lnTo>
                  <a:pt x="0" y="0"/>
                </a:lnTo>
                <a:close/>
              </a:path>
            </a:pathLst>
          </a:custGeom>
          <a:blipFill>
            <a:blip r:embed="rId5"/>
            <a:stretch>
              <a:fillRect l="0" t="0" r="0" b="0"/>
            </a:stretch>
          </a:blipFill>
        </p:spPr>
      </p:sp>
      <p:sp>
        <p:nvSpPr>
          <p:cNvPr name="TextBox 14" id="14"/>
          <p:cNvSpPr txBox="true"/>
          <p:nvPr/>
        </p:nvSpPr>
        <p:spPr>
          <a:xfrm rot="0">
            <a:off x="703145" y="5296712"/>
            <a:ext cx="4169018" cy="186610"/>
          </a:xfrm>
          <a:prstGeom prst="rect">
            <a:avLst/>
          </a:prstGeom>
        </p:spPr>
        <p:txBody>
          <a:bodyPr anchor="t" rtlCol="false" tIns="0" lIns="0" bIns="0" rIns="0">
            <a:spAutoFit/>
          </a:bodyPr>
          <a:lstStyle/>
          <a:p>
            <a:pPr algn="ctr">
              <a:lnSpc>
                <a:spcPts val="1598"/>
              </a:lnSpc>
              <a:spcBef>
                <a:spcPct val="0"/>
              </a:spcBef>
            </a:pPr>
            <a:r>
              <a:rPr lang="en-US" b="true" sz="1229" spc="-36">
                <a:solidFill>
                  <a:srgbClr val="000000"/>
                </a:solidFill>
                <a:latin typeface="Muli Ultra-Bold"/>
                <a:ea typeface="Muli Ultra-Bold"/>
                <a:cs typeface="Muli Ultra-Bold"/>
                <a:sym typeface="Muli Ultra-Bold"/>
              </a:rPr>
              <a:t>Image: Data Tables and charts from CME Fedwatch tool</a:t>
            </a:r>
          </a:p>
        </p:txBody>
      </p:sp>
      <p:sp>
        <p:nvSpPr>
          <p:cNvPr name="TextBox 15" id="15"/>
          <p:cNvSpPr txBox="true"/>
          <p:nvPr/>
        </p:nvSpPr>
        <p:spPr>
          <a:xfrm rot="0">
            <a:off x="1157298" y="666780"/>
            <a:ext cx="3714864" cy="209297"/>
          </a:xfrm>
          <a:prstGeom prst="rect">
            <a:avLst/>
          </a:prstGeom>
        </p:spPr>
        <p:txBody>
          <a:bodyPr anchor="t" rtlCol="false" tIns="0" lIns="0" bIns="0" rIns="0">
            <a:spAutoFit/>
          </a:bodyPr>
          <a:lstStyle/>
          <a:p>
            <a:pPr algn="ctr">
              <a:lnSpc>
                <a:spcPts val="1710"/>
              </a:lnSpc>
              <a:spcBef>
                <a:spcPct val="0"/>
              </a:spcBef>
            </a:pPr>
            <a:r>
              <a:rPr lang="en-US" b="true" sz="1316" spc="-39">
                <a:solidFill>
                  <a:srgbClr val="222222"/>
                </a:solidFill>
                <a:latin typeface="Muli Ultra-Bold"/>
                <a:ea typeface="Muli Ultra-Bold"/>
                <a:cs typeface="Muli Ultra-Bold"/>
                <a:sym typeface="Muli Ultra-Bold"/>
              </a:rPr>
              <a:t>FED </a:t>
            </a:r>
            <a:r>
              <a:rPr lang="en-US" b="true" sz="1316" spc="-39">
                <a:solidFill>
                  <a:srgbClr val="222222"/>
                </a:solidFill>
                <a:latin typeface="Muli Ultra-Bold"/>
                <a:ea typeface="Muli Ultra-Bold"/>
                <a:cs typeface="Muli Ultra-Bold"/>
                <a:sym typeface="Muli Ultra-Bold"/>
              </a:rPr>
              <a:t>&amp; RATES (CME FedWatch + Treasury.gov)</a:t>
            </a:r>
          </a:p>
        </p:txBody>
      </p:sp>
      <p:grpSp>
        <p:nvGrpSpPr>
          <p:cNvPr name="Group 16" id="16"/>
          <p:cNvGrpSpPr/>
          <p:nvPr/>
        </p:nvGrpSpPr>
        <p:grpSpPr>
          <a:xfrm rot="0">
            <a:off x="148021" y="5691889"/>
            <a:ext cx="5656590" cy="4482466"/>
            <a:chOff x="0" y="0"/>
            <a:chExt cx="5860443" cy="4644006"/>
          </a:xfrm>
        </p:grpSpPr>
        <p:sp>
          <p:nvSpPr>
            <p:cNvPr name="Freeform 17" id="17"/>
            <p:cNvSpPr/>
            <p:nvPr/>
          </p:nvSpPr>
          <p:spPr>
            <a:xfrm flipH="false" flipV="false" rot="0">
              <a:off x="0" y="0"/>
              <a:ext cx="5860443" cy="4644006"/>
            </a:xfrm>
            <a:custGeom>
              <a:avLst/>
              <a:gdLst/>
              <a:ahLst/>
              <a:cxnLst/>
              <a:rect r="r" b="b" t="t" l="l"/>
              <a:pathLst>
                <a:path h="4644006" w="5860443">
                  <a:moveTo>
                    <a:pt x="5735983" y="4644006"/>
                  </a:moveTo>
                  <a:lnTo>
                    <a:pt x="124460" y="4644006"/>
                  </a:lnTo>
                  <a:cubicBezTo>
                    <a:pt x="55880" y="4644006"/>
                    <a:pt x="0" y="4588126"/>
                    <a:pt x="0" y="4519546"/>
                  </a:cubicBezTo>
                  <a:lnTo>
                    <a:pt x="0" y="124460"/>
                  </a:lnTo>
                  <a:cubicBezTo>
                    <a:pt x="0" y="55880"/>
                    <a:pt x="55880" y="0"/>
                    <a:pt x="124460" y="0"/>
                  </a:cubicBezTo>
                  <a:lnTo>
                    <a:pt x="5735983" y="0"/>
                  </a:lnTo>
                  <a:cubicBezTo>
                    <a:pt x="5804563" y="0"/>
                    <a:pt x="5860443" y="55880"/>
                    <a:pt x="5860443" y="124460"/>
                  </a:cubicBezTo>
                  <a:lnTo>
                    <a:pt x="5860443" y="4519546"/>
                  </a:lnTo>
                  <a:cubicBezTo>
                    <a:pt x="5860443" y="4588126"/>
                    <a:pt x="5804563" y="4644006"/>
                    <a:pt x="5735983" y="4644006"/>
                  </a:cubicBezTo>
                  <a:close/>
                </a:path>
              </a:pathLst>
            </a:custGeom>
            <a:solidFill>
              <a:srgbClr val="FFFFFF"/>
            </a:solidFill>
          </p:spPr>
        </p:sp>
      </p:grpSp>
      <p:grpSp>
        <p:nvGrpSpPr>
          <p:cNvPr name="Group 18" id="18"/>
          <p:cNvGrpSpPr/>
          <p:nvPr/>
        </p:nvGrpSpPr>
        <p:grpSpPr>
          <a:xfrm rot="0">
            <a:off x="270754" y="6011849"/>
            <a:ext cx="5333021" cy="4162506"/>
            <a:chOff x="0" y="0"/>
            <a:chExt cx="7110695" cy="5550008"/>
          </a:xfrm>
        </p:grpSpPr>
        <p:grpSp>
          <p:nvGrpSpPr>
            <p:cNvPr name="Group 19" id="19"/>
            <p:cNvGrpSpPr/>
            <p:nvPr/>
          </p:nvGrpSpPr>
          <p:grpSpPr>
            <a:xfrm rot="0">
              <a:off x="0" y="0"/>
              <a:ext cx="7110695" cy="5256699"/>
              <a:chOff x="0" y="0"/>
              <a:chExt cx="2083704" cy="1540413"/>
            </a:xfrm>
          </p:grpSpPr>
          <p:sp>
            <p:nvSpPr>
              <p:cNvPr name="Freeform 20" id="20"/>
              <p:cNvSpPr/>
              <p:nvPr/>
            </p:nvSpPr>
            <p:spPr>
              <a:xfrm flipH="false" flipV="false" rot="0">
                <a:off x="0" y="0"/>
                <a:ext cx="2083704" cy="1540413"/>
              </a:xfrm>
              <a:custGeom>
                <a:avLst/>
                <a:gdLst/>
                <a:ahLst/>
                <a:cxnLst/>
                <a:rect r="r" b="b" t="t" l="l"/>
                <a:pathLst>
                  <a:path h="1540413" w="2083704">
                    <a:moveTo>
                      <a:pt x="1959244" y="1540413"/>
                    </a:moveTo>
                    <a:lnTo>
                      <a:pt x="124460" y="1540413"/>
                    </a:lnTo>
                    <a:cubicBezTo>
                      <a:pt x="55880" y="1540413"/>
                      <a:pt x="0" y="1484533"/>
                      <a:pt x="0" y="1415953"/>
                    </a:cubicBezTo>
                    <a:lnTo>
                      <a:pt x="0" y="124460"/>
                    </a:lnTo>
                    <a:cubicBezTo>
                      <a:pt x="0" y="55880"/>
                      <a:pt x="55880" y="0"/>
                      <a:pt x="124460" y="0"/>
                    </a:cubicBezTo>
                    <a:lnTo>
                      <a:pt x="1959244" y="0"/>
                    </a:lnTo>
                    <a:cubicBezTo>
                      <a:pt x="2027824" y="0"/>
                      <a:pt x="2083704" y="55880"/>
                      <a:pt x="2083704" y="124460"/>
                    </a:cubicBezTo>
                    <a:lnTo>
                      <a:pt x="2083704" y="1415953"/>
                    </a:lnTo>
                    <a:cubicBezTo>
                      <a:pt x="2083704" y="1484533"/>
                      <a:pt x="2027824" y="1540413"/>
                      <a:pt x="1959244" y="1540413"/>
                    </a:cubicBezTo>
                    <a:close/>
                  </a:path>
                </a:pathLst>
              </a:custGeom>
              <a:solidFill>
                <a:srgbClr val="222222"/>
              </a:solidFill>
            </p:spPr>
          </p:sp>
        </p:grpSp>
        <p:sp>
          <p:nvSpPr>
            <p:cNvPr name="Freeform 21" id="21"/>
            <p:cNvSpPr/>
            <p:nvPr/>
          </p:nvSpPr>
          <p:spPr>
            <a:xfrm flipH="false" flipV="false" rot="0">
              <a:off x="519784" y="402244"/>
              <a:ext cx="1951185" cy="4356407"/>
            </a:xfrm>
            <a:custGeom>
              <a:avLst/>
              <a:gdLst/>
              <a:ahLst/>
              <a:cxnLst/>
              <a:rect r="r" b="b" t="t" l="l"/>
              <a:pathLst>
                <a:path h="4356407" w="1951185">
                  <a:moveTo>
                    <a:pt x="0" y="0"/>
                  </a:moveTo>
                  <a:lnTo>
                    <a:pt x="1951185" y="0"/>
                  </a:lnTo>
                  <a:lnTo>
                    <a:pt x="1951185" y="4356407"/>
                  </a:lnTo>
                  <a:lnTo>
                    <a:pt x="0" y="4356407"/>
                  </a:lnTo>
                  <a:lnTo>
                    <a:pt x="0" y="0"/>
                  </a:lnTo>
                  <a:close/>
                </a:path>
              </a:pathLst>
            </a:custGeom>
            <a:blipFill>
              <a:blip r:embed="rId6"/>
              <a:stretch>
                <a:fillRect l="-7819" t="-3002" r="-1629" b="-1450"/>
              </a:stretch>
            </a:blipFill>
          </p:spPr>
        </p:sp>
        <p:sp>
          <p:nvSpPr>
            <p:cNvPr name="TextBox 22" id="22"/>
            <p:cNvSpPr txBox="true"/>
            <p:nvPr/>
          </p:nvSpPr>
          <p:spPr>
            <a:xfrm rot="0">
              <a:off x="367207" y="5247174"/>
              <a:ext cx="5876669" cy="302834"/>
            </a:xfrm>
            <a:prstGeom prst="rect">
              <a:avLst/>
            </a:prstGeom>
          </p:spPr>
          <p:txBody>
            <a:bodyPr anchor="t" rtlCol="false" tIns="0" lIns="0" bIns="0" rIns="0">
              <a:spAutoFit/>
            </a:bodyPr>
            <a:lstStyle/>
            <a:p>
              <a:pPr algn="ctr">
                <a:lnSpc>
                  <a:spcPts val="1883"/>
                </a:lnSpc>
                <a:spcBef>
                  <a:spcPct val="0"/>
                </a:spcBef>
              </a:pPr>
              <a:r>
                <a:rPr lang="en-US" b="true" sz="1449" spc="-43">
                  <a:solidFill>
                    <a:srgbClr val="000000"/>
                  </a:solidFill>
                  <a:latin typeface="Muli Ultra-Bold"/>
                  <a:ea typeface="Muli Ultra-Bold"/>
                  <a:cs typeface="Muli Ultra-Bold"/>
                  <a:sym typeface="Muli Ultra-Bold"/>
                </a:rPr>
                <a:t>Image: Data Table from CME Fedwatch tool</a:t>
              </a:r>
            </a:p>
          </p:txBody>
        </p:sp>
        <p:sp>
          <p:nvSpPr>
            <p:cNvPr name="Freeform 23" id="23"/>
            <p:cNvSpPr/>
            <p:nvPr/>
          </p:nvSpPr>
          <p:spPr>
            <a:xfrm flipH="false" flipV="false" rot="0">
              <a:off x="4261600" y="1323840"/>
              <a:ext cx="2269352" cy="465774"/>
            </a:xfrm>
            <a:custGeom>
              <a:avLst/>
              <a:gdLst/>
              <a:ahLst/>
              <a:cxnLst/>
              <a:rect r="r" b="b" t="t" l="l"/>
              <a:pathLst>
                <a:path h="465774" w="2269352">
                  <a:moveTo>
                    <a:pt x="0" y="0"/>
                  </a:moveTo>
                  <a:lnTo>
                    <a:pt x="2269351" y="0"/>
                  </a:lnTo>
                  <a:lnTo>
                    <a:pt x="2269351" y="465774"/>
                  </a:lnTo>
                  <a:lnTo>
                    <a:pt x="0" y="465774"/>
                  </a:lnTo>
                  <a:lnTo>
                    <a:pt x="0" y="0"/>
                  </a:lnTo>
                  <a:close/>
                </a:path>
              </a:pathLst>
            </a:custGeom>
            <a:blipFill>
              <a:blip r:embed="rId6"/>
              <a:stretch>
                <a:fillRect l="-9198" t="-296173" r="-5103" b="-790469"/>
              </a:stretch>
            </a:blipFill>
          </p:spPr>
        </p:sp>
        <p:sp>
          <p:nvSpPr>
            <p:cNvPr name="Freeform 24" id="24"/>
            <p:cNvSpPr/>
            <p:nvPr/>
          </p:nvSpPr>
          <p:spPr>
            <a:xfrm flipH="false" flipV="false" rot="0">
              <a:off x="4378392" y="3062026"/>
              <a:ext cx="2109237" cy="435555"/>
            </a:xfrm>
            <a:custGeom>
              <a:avLst/>
              <a:gdLst/>
              <a:ahLst/>
              <a:cxnLst/>
              <a:rect r="r" b="b" t="t" l="l"/>
              <a:pathLst>
                <a:path h="435555" w="2109237">
                  <a:moveTo>
                    <a:pt x="0" y="0"/>
                  </a:moveTo>
                  <a:lnTo>
                    <a:pt x="2109237" y="0"/>
                  </a:lnTo>
                  <a:lnTo>
                    <a:pt x="2109237" y="435556"/>
                  </a:lnTo>
                  <a:lnTo>
                    <a:pt x="0" y="435556"/>
                  </a:lnTo>
                  <a:lnTo>
                    <a:pt x="0" y="0"/>
                  </a:lnTo>
                  <a:close/>
                </a:path>
              </a:pathLst>
            </a:custGeom>
            <a:blipFill>
              <a:blip r:embed="rId6"/>
              <a:stretch>
                <a:fillRect l="-8759" t="-708470" r="-3383" b="-348680"/>
              </a:stretch>
            </a:blipFill>
          </p:spPr>
        </p:sp>
        <p:sp>
          <p:nvSpPr>
            <p:cNvPr name="Freeform 25" id="25"/>
            <p:cNvSpPr/>
            <p:nvPr/>
          </p:nvSpPr>
          <p:spPr>
            <a:xfrm flipH="false" flipV="false" rot="0">
              <a:off x="4378392" y="4205280"/>
              <a:ext cx="2152559" cy="533983"/>
            </a:xfrm>
            <a:custGeom>
              <a:avLst/>
              <a:gdLst/>
              <a:ahLst/>
              <a:cxnLst/>
              <a:rect r="r" b="b" t="t" l="l"/>
              <a:pathLst>
                <a:path h="533983" w="2152559">
                  <a:moveTo>
                    <a:pt x="0" y="0"/>
                  </a:moveTo>
                  <a:lnTo>
                    <a:pt x="2152559" y="0"/>
                  </a:lnTo>
                  <a:lnTo>
                    <a:pt x="2152559" y="533984"/>
                  </a:lnTo>
                  <a:lnTo>
                    <a:pt x="0" y="533984"/>
                  </a:lnTo>
                  <a:lnTo>
                    <a:pt x="0" y="0"/>
                  </a:lnTo>
                  <a:close/>
                </a:path>
              </a:pathLst>
            </a:custGeom>
            <a:blipFill>
              <a:blip r:embed="rId6"/>
              <a:stretch>
                <a:fillRect l="-11119" t="-884838" r="-5380" b="-15834"/>
              </a:stretch>
            </a:blipFill>
          </p:spPr>
        </p:sp>
        <p:sp>
          <p:nvSpPr>
            <p:cNvPr name="AutoShape 26" id="26"/>
            <p:cNvSpPr/>
            <p:nvPr/>
          </p:nvSpPr>
          <p:spPr>
            <a:xfrm flipV="true">
              <a:off x="2470969" y="1556727"/>
              <a:ext cx="1790631" cy="0"/>
            </a:xfrm>
            <a:prstGeom prst="line">
              <a:avLst/>
            </a:prstGeom>
            <a:ln cap="flat" w="150586">
              <a:solidFill>
                <a:srgbClr val="F6E7DE"/>
              </a:solidFill>
              <a:prstDash val="solid"/>
              <a:headEnd type="none" len="sm" w="sm"/>
              <a:tailEnd type="triangle" len="med" w="lg"/>
            </a:ln>
          </p:spPr>
        </p:sp>
        <p:sp>
          <p:nvSpPr>
            <p:cNvPr name="AutoShape 27" id="27"/>
            <p:cNvSpPr/>
            <p:nvPr/>
          </p:nvSpPr>
          <p:spPr>
            <a:xfrm>
              <a:off x="2470969" y="3279804"/>
              <a:ext cx="1907423" cy="0"/>
            </a:xfrm>
            <a:prstGeom prst="line">
              <a:avLst/>
            </a:prstGeom>
            <a:ln cap="flat" w="150586">
              <a:solidFill>
                <a:srgbClr val="F6E7DE"/>
              </a:solidFill>
              <a:prstDash val="solid"/>
              <a:headEnd type="none" len="sm" w="sm"/>
              <a:tailEnd type="triangle" len="med" w="lg"/>
            </a:ln>
          </p:spPr>
        </p:sp>
        <p:sp>
          <p:nvSpPr>
            <p:cNvPr name="AutoShape 28" id="28"/>
            <p:cNvSpPr/>
            <p:nvPr/>
          </p:nvSpPr>
          <p:spPr>
            <a:xfrm>
              <a:off x="2470969" y="4472272"/>
              <a:ext cx="1907423" cy="0"/>
            </a:xfrm>
            <a:prstGeom prst="line">
              <a:avLst/>
            </a:prstGeom>
            <a:ln cap="flat" w="150586">
              <a:solidFill>
                <a:srgbClr val="F6E7DE"/>
              </a:solidFill>
              <a:prstDash val="solid"/>
              <a:headEnd type="none" len="sm" w="sm"/>
              <a:tailEnd type="triangle" len="med" w="lg"/>
            </a:ln>
          </p:spPr>
        </p:sp>
      </p:grpSp>
      <p:sp>
        <p:nvSpPr>
          <p:cNvPr name="TextBox 29" id="29"/>
          <p:cNvSpPr txBox="true"/>
          <p:nvPr/>
        </p:nvSpPr>
        <p:spPr>
          <a:xfrm rot="0">
            <a:off x="7109417" y="750526"/>
            <a:ext cx="3579322" cy="195990"/>
          </a:xfrm>
          <a:prstGeom prst="rect">
            <a:avLst/>
          </a:prstGeom>
        </p:spPr>
        <p:txBody>
          <a:bodyPr anchor="t" rtlCol="false" tIns="0" lIns="0" bIns="0" rIns="0">
            <a:spAutoFit/>
          </a:bodyPr>
          <a:lstStyle/>
          <a:p>
            <a:pPr algn="ctr">
              <a:lnSpc>
                <a:spcPts val="1515"/>
              </a:lnSpc>
              <a:spcBef>
                <a:spcPct val="0"/>
              </a:spcBef>
            </a:pPr>
            <a:r>
              <a:rPr lang="en-US" b="true" sz="1165" spc="-34">
                <a:solidFill>
                  <a:srgbClr val="222222"/>
                </a:solidFill>
                <a:latin typeface="Muli Ultra-Bold"/>
                <a:ea typeface="Muli Ultra-Bold"/>
                <a:cs typeface="Muli Ultra-Bold"/>
                <a:sym typeface="Muli Ultra-Bold"/>
              </a:rPr>
              <a:t>WEEK-AHEAD CALENDAR (TradingEconomics) </a:t>
            </a:r>
          </a:p>
        </p:txBody>
      </p:sp>
      <p:grpSp>
        <p:nvGrpSpPr>
          <p:cNvPr name="Group 30" id="30"/>
          <p:cNvGrpSpPr/>
          <p:nvPr/>
        </p:nvGrpSpPr>
        <p:grpSpPr>
          <a:xfrm rot="0">
            <a:off x="6198508" y="950056"/>
            <a:ext cx="5462836" cy="3995815"/>
            <a:chOff x="0" y="0"/>
            <a:chExt cx="7283782" cy="5327753"/>
          </a:xfrm>
        </p:grpSpPr>
        <p:sp>
          <p:nvSpPr>
            <p:cNvPr name="TextBox 31" id="31"/>
            <p:cNvSpPr txBox="true"/>
            <p:nvPr/>
          </p:nvSpPr>
          <p:spPr>
            <a:xfrm rot="0">
              <a:off x="48293" y="5115842"/>
              <a:ext cx="7235488" cy="211911"/>
            </a:xfrm>
            <a:prstGeom prst="rect">
              <a:avLst/>
            </a:prstGeom>
          </p:spPr>
          <p:txBody>
            <a:bodyPr anchor="t" rtlCol="false" tIns="0" lIns="0" bIns="0" rIns="0">
              <a:spAutoFit/>
            </a:bodyPr>
            <a:lstStyle/>
            <a:p>
              <a:pPr algn="ctr">
                <a:lnSpc>
                  <a:spcPts val="1335"/>
                </a:lnSpc>
                <a:spcBef>
                  <a:spcPct val="0"/>
                </a:spcBef>
              </a:pPr>
              <a:r>
                <a:rPr lang="en-US" b="true" sz="1027" spc="-30">
                  <a:solidFill>
                    <a:srgbClr val="000000"/>
                  </a:solidFill>
                  <a:latin typeface="Muli Ultra-Bold"/>
                  <a:ea typeface="Muli Ultra-Bold"/>
                  <a:cs typeface="Muli Ultra-Bold"/>
                  <a:sym typeface="Muli Ultra-Bold"/>
                </a:rPr>
                <a:t>Image:  Event calendar next week from tradingeconomics.com filtered to highest priorities</a:t>
              </a:r>
            </a:p>
          </p:txBody>
        </p:sp>
        <p:sp>
          <p:nvSpPr>
            <p:cNvPr name="Freeform 32" id="32"/>
            <p:cNvSpPr/>
            <p:nvPr/>
          </p:nvSpPr>
          <p:spPr>
            <a:xfrm flipH="false" flipV="false" rot="0">
              <a:off x="26112" y="0"/>
              <a:ext cx="7231559" cy="5125367"/>
            </a:xfrm>
            <a:custGeom>
              <a:avLst/>
              <a:gdLst/>
              <a:ahLst/>
              <a:cxnLst/>
              <a:rect r="r" b="b" t="t" l="l"/>
              <a:pathLst>
                <a:path h="5125367" w="7231559">
                  <a:moveTo>
                    <a:pt x="0" y="0"/>
                  </a:moveTo>
                  <a:lnTo>
                    <a:pt x="7231558" y="0"/>
                  </a:lnTo>
                  <a:lnTo>
                    <a:pt x="7231558" y="5125367"/>
                  </a:lnTo>
                  <a:lnTo>
                    <a:pt x="0" y="5125367"/>
                  </a:lnTo>
                  <a:lnTo>
                    <a:pt x="0" y="0"/>
                  </a:lnTo>
                  <a:close/>
                </a:path>
              </a:pathLst>
            </a:custGeom>
            <a:blipFill>
              <a:blip r:embed="rId7"/>
              <a:stretch>
                <a:fillRect l="0" t="0" r="0" b="0"/>
              </a:stretch>
            </a:blipFill>
          </p:spPr>
        </p:sp>
        <p:sp>
          <p:nvSpPr>
            <p:cNvPr name="AutoShape 33" id="33"/>
            <p:cNvSpPr/>
            <p:nvPr/>
          </p:nvSpPr>
          <p:spPr>
            <a:xfrm flipV="true">
              <a:off x="13056" y="1815460"/>
              <a:ext cx="7231559" cy="13328"/>
            </a:xfrm>
            <a:prstGeom prst="line">
              <a:avLst/>
            </a:prstGeom>
            <a:ln cap="flat" w="26112">
              <a:solidFill>
                <a:srgbClr val="000000"/>
              </a:solidFill>
              <a:prstDash val="solid"/>
              <a:headEnd type="none" len="sm" w="sm"/>
              <a:tailEnd type="none" len="sm" w="sm"/>
            </a:ln>
          </p:spPr>
        </p:sp>
        <p:sp>
          <p:nvSpPr>
            <p:cNvPr name="AutoShape 34" id="34"/>
            <p:cNvSpPr/>
            <p:nvPr/>
          </p:nvSpPr>
          <p:spPr>
            <a:xfrm flipH="true">
              <a:off x="13056" y="1860454"/>
              <a:ext cx="0" cy="504009"/>
            </a:xfrm>
            <a:prstGeom prst="line">
              <a:avLst/>
            </a:prstGeom>
            <a:ln cap="flat" w="26112">
              <a:solidFill>
                <a:srgbClr val="000000"/>
              </a:solidFill>
              <a:prstDash val="solid"/>
              <a:headEnd type="none" len="sm" w="sm"/>
              <a:tailEnd type="none" len="sm" w="sm"/>
            </a:ln>
          </p:spPr>
        </p:sp>
        <p:sp>
          <p:nvSpPr>
            <p:cNvPr name="AutoShape 35" id="35"/>
            <p:cNvSpPr/>
            <p:nvPr/>
          </p:nvSpPr>
          <p:spPr>
            <a:xfrm flipH="true">
              <a:off x="13056" y="2306255"/>
              <a:ext cx="7231559" cy="58208"/>
            </a:xfrm>
            <a:prstGeom prst="line">
              <a:avLst/>
            </a:prstGeom>
            <a:ln cap="flat" w="26112">
              <a:solidFill>
                <a:srgbClr val="000000"/>
              </a:solidFill>
              <a:prstDash val="solid"/>
              <a:headEnd type="none" len="sm" w="sm"/>
              <a:tailEnd type="none" len="sm" w="sm"/>
            </a:ln>
          </p:spPr>
        </p:sp>
        <p:sp>
          <p:nvSpPr>
            <p:cNvPr name="AutoShape 36" id="36"/>
            <p:cNvSpPr/>
            <p:nvPr/>
          </p:nvSpPr>
          <p:spPr>
            <a:xfrm flipV="true">
              <a:off x="7244614" y="1815460"/>
              <a:ext cx="0" cy="490795"/>
            </a:xfrm>
            <a:prstGeom prst="line">
              <a:avLst/>
            </a:prstGeom>
            <a:ln cap="flat" w="26112">
              <a:solidFill>
                <a:srgbClr val="000000"/>
              </a:solidFill>
              <a:prstDash val="solid"/>
              <a:headEnd type="none" len="sm" w="sm"/>
              <a:tailEnd type="none" len="sm" w="sm"/>
            </a:ln>
          </p:spPr>
        </p:sp>
        <p:sp>
          <p:nvSpPr>
            <p:cNvPr name="AutoShape 37" id="37"/>
            <p:cNvSpPr/>
            <p:nvPr/>
          </p:nvSpPr>
          <p:spPr>
            <a:xfrm flipV="true">
              <a:off x="39167" y="2820046"/>
              <a:ext cx="7231559" cy="7516"/>
            </a:xfrm>
            <a:prstGeom prst="line">
              <a:avLst/>
            </a:prstGeom>
            <a:ln cap="flat" w="26112">
              <a:solidFill>
                <a:srgbClr val="000000"/>
              </a:solidFill>
              <a:prstDash val="solid"/>
              <a:headEnd type="none" len="sm" w="sm"/>
              <a:tailEnd type="none" len="sm" w="sm"/>
            </a:ln>
          </p:spPr>
        </p:sp>
        <p:sp>
          <p:nvSpPr>
            <p:cNvPr name="AutoShape 38" id="38"/>
            <p:cNvSpPr/>
            <p:nvPr/>
          </p:nvSpPr>
          <p:spPr>
            <a:xfrm flipH="true">
              <a:off x="39167" y="2845419"/>
              <a:ext cx="0" cy="284213"/>
            </a:xfrm>
            <a:prstGeom prst="line">
              <a:avLst/>
            </a:prstGeom>
            <a:ln cap="flat" w="26112">
              <a:solidFill>
                <a:srgbClr val="000000"/>
              </a:solidFill>
              <a:prstDash val="solid"/>
              <a:headEnd type="none" len="sm" w="sm"/>
              <a:tailEnd type="none" len="sm" w="sm"/>
            </a:ln>
          </p:spPr>
        </p:sp>
        <p:sp>
          <p:nvSpPr>
            <p:cNvPr name="AutoShape 39" id="39"/>
            <p:cNvSpPr/>
            <p:nvPr/>
          </p:nvSpPr>
          <p:spPr>
            <a:xfrm flipH="true">
              <a:off x="39167" y="3096808"/>
              <a:ext cx="7231559" cy="32824"/>
            </a:xfrm>
            <a:prstGeom prst="line">
              <a:avLst/>
            </a:prstGeom>
            <a:ln cap="flat" w="26112">
              <a:solidFill>
                <a:srgbClr val="000000"/>
              </a:solidFill>
              <a:prstDash val="solid"/>
              <a:headEnd type="none" len="sm" w="sm"/>
              <a:tailEnd type="none" len="sm" w="sm"/>
            </a:ln>
          </p:spPr>
        </p:sp>
        <p:sp>
          <p:nvSpPr>
            <p:cNvPr name="AutoShape 40" id="40"/>
            <p:cNvSpPr/>
            <p:nvPr/>
          </p:nvSpPr>
          <p:spPr>
            <a:xfrm flipV="true">
              <a:off x="7270726" y="2820046"/>
              <a:ext cx="0" cy="276762"/>
            </a:xfrm>
            <a:prstGeom prst="line">
              <a:avLst/>
            </a:prstGeom>
            <a:ln cap="flat" w="26112">
              <a:solidFill>
                <a:srgbClr val="000000"/>
              </a:solidFill>
              <a:prstDash val="solid"/>
              <a:headEnd type="none" len="sm" w="sm"/>
              <a:tailEnd type="none" len="sm" w="sm"/>
            </a:ln>
          </p:spPr>
        </p:sp>
        <p:sp>
          <p:nvSpPr>
            <p:cNvPr name="AutoShape 41" id="41"/>
            <p:cNvSpPr/>
            <p:nvPr/>
          </p:nvSpPr>
          <p:spPr>
            <a:xfrm flipV="true">
              <a:off x="39167" y="4596658"/>
              <a:ext cx="7231559" cy="6236"/>
            </a:xfrm>
            <a:prstGeom prst="line">
              <a:avLst/>
            </a:prstGeom>
            <a:ln cap="flat" w="26112">
              <a:solidFill>
                <a:srgbClr val="000000"/>
              </a:solidFill>
              <a:prstDash val="solid"/>
              <a:headEnd type="none" len="sm" w="sm"/>
              <a:tailEnd type="none" len="sm" w="sm"/>
            </a:ln>
          </p:spPr>
        </p:sp>
        <p:sp>
          <p:nvSpPr>
            <p:cNvPr name="AutoShape 42" id="42"/>
            <p:cNvSpPr/>
            <p:nvPr/>
          </p:nvSpPr>
          <p:spPr>
            <a:xfrm flipH="true">
              <a:off x="39167" y="4617709"/>
              <a:ext cx="0" cy="235810"/>
            </a:xfrm>
            <a:prstGeom prst="line">
              <a:avLst/>
            </a:prstGeom>
            <a:ln cap="flat" w="26112">
              <a:solidFill>
                <a:srgbClr val="000000"/>
              </a:solidFill>
              <a:prstDash val="solid"/>
              <a:headEnd type="none" len="sm" w="sm"/>
              <a:tailEnd type="none" len="sm" w="sm"/>
            </a:ln>
          </p:spPr>
        </p:sp>
        <p:sp>
          <p:nvSpPr>
            <p:cNvPr name="AutoShape 43" id="43"/>
            <p:cNvSpPr/>
            <p:nvPr/>
          </p:nvSpPr>
          <p:spPr>
            <a:xfrm flipH="true">
              <a:off x="39167" y="4826286"/>
              <a:ext cx="7231559" cy="27234"/>
            </a:xfrm>
            <a:prstGeom prst="line">
              <a:avLst/>
            </a:prstGeom>
            <a:ln cap="flat" w="26112">
              <a:solidFill>
                <a:srgbClr val="000000"/>
              </a:solidFill>
              <a:prstDash val="solid"/>
              <a:headEnd type="none" len="sm" w="sm"/>
              <a:tailEnd type="none" len="sm" w="sm"/>
            </a:ln>
          </p:spPr>
        </p:sp>
        <p:sp>
          <p:nvSpPr>
            <p:cNvPr name="AutoShape 44" id="44"/>
            <p:cNvSpPr/>
            <p:nvPr/>
          </p:nvSpPr>
          <p:spPr>
            <a:xfrm flipV="true">
              <a:off x="7270726" y="4596658"/>
              <a:ext cx="0" cy="229628"/>
            </a:xfrm>
            <a:prstGeom prst="line">
              <a:avLst/>
            </a:prstGeom>
            <a:ln cap="flat" w="26112">
              <a:solidFill>
                <a:srgbClr val="000000"/>
              </a:solidFill>
              <a:prstDash val="solid"/>
              <a:headEnd type="none" len="sm" w="sm"/>
              <a:tailEnd type="none" len="sm" w="sm"/>
            </a:ln>
          </p:spPr>
        </p:sp>
      </p:grpSp>
      <p:grpSp>
        <p:nvGrpSpPr>
          <p:cNvPr name="Group 45" id="45"/>
          <p:cNvGrpSpPr/>
          <p:nvPr/>
        </p:nvGrpSpPr>
        <p:grpSpPr>
          <a:xfrm rot="0">
            <a:off x="6102521" y="5778613"/>
            <a:ext cx="5538455" cy="4257705"/>
            <a:chOff x="0" y="0"/>
            <a:chExt cx="6040959" cy="4644006"/>
          </a:xfrm>
        </p:grpSpPr>
        <p:sp>
          <p:nvSpPr>
            <p:cNvPr name="Freeform 46" id="46"/>
            <p:cNvSpPr/>
            <p:nvPr/>
          </p:nvSpPr>
          <p:spPr>
            <a:xfrm flipH="false" flipV="false" rot="0">
              <a:off x="0" y="0"/>
              <a:ext cx="6040959" cy="4644006"/>
            </a:xfrm>
            <a:custGeom>
              <a:avLst/>
              <a:gdLst/>
              <a:ahLst/>
              <a:cxnLst/>
              <a:rect r="r" b="b" t="t" l="l"/>
              <a:pathLst>
                <a:path h="4644006" w="6040959">
                  <a:moveTo>
                    <a:pt x="5916499" y="4644006"/>
                  </a:moveTo>
                  <a:lnTo>
                    <a:pt x="124460" y="4644006"/>
                  </a:lnTo>
                  <a:cubicBezTo>
                    <a:pt x="55880" y="4644006"/>
                    <a:pt x="0" y="4588126"/>
                    <a:pt x="0" y="4519546"/>
                  </a:cubicBezTo>
                  <a:lnTo>
                    <a:pt x="0" y="124460"/>
                  </a:lnTo>
                  <a:cubicBezTo>
                    <a:pt x="0" y="55880"/>
                    <a:pt x="55880" y="0"/>
                    <a:pt x="124460" y="0"/>
                  </a:cubicBezTo>
                  <a:lnTo>
                    <a:pt x="5916499" y="0"/>
                  </a:lnTo>
                  <a:cubicBezTo>
                    <a:pt x="5985079" y="0"/>
                    <a:pt x="6040959" y="55880"/>
                    <a:pt x="6040959" y="124460"/>
                  </a:cubicBezTo>
                  <a:lnTo>
                    <a:pt x="6040959" y="4519546"/>
                  </a:lnTo>
                  <a:cubicBezTo>
                    <a:pt x="6040959" y="4588126"/>
                    <a:pt x="5985079" y="4644006"/>
                    <a:pt x="5916499" y="4644006"/>
                  </a:cubicBezTo>
                  <a:close/>
                </a:path>
              </a:pathLst>
            </a:custGeom>
            <a:solidFill>
              <a:srgbClr val="FFFFFF"/>
            </a:solidFill>
          </p:spPr>
        </p:sp>
      </p:grpSp>
      <p:sp>
        <p:nvSpPr>
          <p:cNvPr name="TextBox 47" id="47"/>
          <p:cNvSpPr txBox="true"/>
          <p:nvPr/>
        </p:nvSpPr>
        <p:spPr>
          <a:xfrm rot="0">
            <a:off x="7732551" y="5847182"/>
            <a:ext cx="2354505" cy="139802"/>
          </a:xfrm>
          <a:prstGeom prst="rect">
            <a:avLst/>
          </a:prstGeom>
        </p:spPr>
        <p:txBody>
          <a:bodyPr anchor="t" rtlCol="false" tIns="0" lIns="0" bIns="0" rIns="0">
            <a:spAutoFit/>
          </a:bodyPr>
          <a:lstStyle/>
          <a:p>
            <a:pPr algn="ctr">
              <a:lnSpc>
                <a:spcPts val="1115"/>
              </a:lnSpc>
              <a:spcBef>
                <a:spcPct val="0"/>
              </a:spcBef>
            </a:pPr>
            <a:r>
              <a:rPr lang="en-US" b="true" sz="858" spc="-25">
                <a:solidFill>
                  <a:srgbClr val="222222"/>
                </a:solidFill>
                <a:latin typeface="Muli Ultra-Bold"/>
                <a:ea typeface="Muli Ultra-Bold"/>
                <a:cs typeface="Muli Ultra-Bold"/>
                <a:sym typeface="Muli Ultra-Bold"/>
              </a:rPr>
              <a:t>COMMODITIES &amp; DOLLAR (Finviz Futures 1W)</a:t>
            </a:r>
          </a:p>
        </p:txBody>
      </p:sp>
      <p:grpSp>
        <p:nvGrpSpPr>
          <p:cNvPr name="Group 48" id="48"/>
          <p:cNvGrpSpPr/>
          <p:nvPr/>
        </p:nvGrpSpPr>
        <p:grpSpPr>
          <a:xfrm rot="0">
            <a:off x="6422064" y="6025085"/>
            <a:ext cx="5058769" cy="3774977"/>
            <a:chOff x="0" y="0"/>
            <a:chExt cx="6745025" cy="5033303"/>
          </a:xfrm>
        </p:grpSpPr>
        <p:sp>
          <p:nvSpPr>
            <p:cNvPr name="TextBox 49" id="49"/>
            <p:cNvSpPr txBox="true"/>
            <p:nvPr/>
          </p:nvSpPr>
          <p:spPr>
            <a:xfrm rot="0">
              <a:off x="536195" y="4813042"/>
              <a:ext cx="4373651" cy="220261"/>
            </a:xfrm>
            <a:prstGeom prst="rect">
              <a:avLst/>
            </a:prstGeom>
          </p:spPr>
          <p:txBody>
            <a:bodyPr anchor="t" rtlCol="false" tIns="0" lIns="0" bIns="0" rIns="0">
              <a:spAutoFit/>
            </a:bodyPr>
            <a:lstStyle/>
            <a:p>
              <a:pPr algn="ctr">
                <a:lnSpc>
                  <a:spcPts val="1353"/>
                </a:lnSpc>
                <a:spcBef>
                  <a:spcPct val="0"/>
                </a:spcBef>
              </a:pPr>
              <a:r>
                <a:rPr lang="en-US" b="true" sz="1041" spc="-31">
                  <a:solidFill>
                    <a:srgbClr val="000000"/>
                  </a:solidFill>
                  <a:latin typeface="Muli Ultra-Bold"/>
                  <a:ea typeface="Muli Ultra-Bold"/>
                  <a:cs typeface="Muli Ultra-Bold"/>
                  <a:sym typeface="Muli Ultra-Bold"/>
                </a:rPr>
                <a:t>Image: 1 Week performance Bar Chart by finviz.com</a:t>
              </a:r>
            </a:p>
          </p:txBody>
        </p:sp>
        <p:sp>
          <p:nvSpPr>
            <p:cNvPr name="Freeform 50" id="50"/>
            <p:cNvSpPr/>
            <p:nvPr/>
          </p:nvSpPr>
          <p:spPr>
            <a:xfrm flipH="false" flipV="false" rot="0">
              <a:off x="0" y="0"/>
              <a:ext cx="5166086" cy="4752800"/>
            </a:xfrm>
            <a:custGeom>
              <a:avLst/>
              <a:gdLst/>
              <a:ahLst/>
              <a:cxnLst/>
              <a:rect r="r" b="b" t="t" l="l"/>
              <a:pathLst>
                <a:path h="4752800" w="5166086">
                  <a:moveTo>
                    <a:pt x="0" y="0"/>
                  </a:moveTo>
                  <a:lnTo>
                    <a:pt x="5166086" y="0"/>
                  </a:lnTo>
                  <a:lnTo>
                    <a:pt x="5166086" y="4752800"/>
                  </a:lnTo>
                  <a:lnTo>
                    <a:pt x="0" y="4752800"/>
                  </a:lnTo>
                  <a:lnTo>
                    <a:pt x="0" y="0"/>
                  </a:lnTo>
                  <a:close/>
                </a:path>
              </a:pathLst>
            </a:custGeom>
            <a:blipFill>
              <a:blip r:embed="rId8"/>
              <a:stretch>
                <a:fillRect l="0" t="0" r="0" b="0"/>
              </a:stretch>
            </a:blipFill>
          </p:spPr>
        </p:sp>
        <p:sp>
          <p:nvSpPr>
            <p:cNvPr name="AutoShape 51" id="51"/>
            <p:cNvSpPr/>
            <p:nvPr/>
          </p:nvSpPr>
          <p:spPr>
            <a:xfrm flipH="true">
              <a:off x="3996340" y="3953457"/>
              <a:ext cx="1252022" cy="0"/>
            </a:xfrm>
            <a:prstGeom prst="line">
              <a:avLst/>
            </a:prstGeom>
            <a:ln cap="flat" w="48086">
              <a:solidFill>
                <a:srgbClr val="007ACC"/>
              </a:solidFill>
              <a:prstDash val="solid"/>
              <a:headEnd type="none" len="sm" w="sm"/>
              <a:tailEnd type="triangle" len="med" w="lg"/>
            </a:ln>
          </p:spPr>
        </p:sp>
        <p:sp>
          <p:nvSpPr>
            <p:cNvPr name="TextBox 52" id="52"/>
            <p:cNvSpPr txBox="true"/>
            <p:nvPr/>
          </p:nvSpPr>
          <p:spPr>
            <a:xfrm rot="0">
              <a:off x="5248362" y="3849750"/>
              <a:ext cx="1496663" cy="197890"/>
            </a:xfrm>
            <a:prstGeom prst="rect">
              <a:avLst/>
            </a:prstGeom>
          </p:spPr>
          <p:txBody>
            <a:bodyPr anchor="t" rtlCol="false" tIns="0" lIns="0" bIns="0" rIns="0">
              <a:spAutoFit/>
            </a:bodyPr>
            <a:lstStyle/>
            <a:p>
              <a:pPr algn="ctr">
                <a:lnSpc>
                  <a:spcPts val="1230"/>
                </a:lnSpc>
                <a:spcBef>
                  <a:spcPct val="0"/>
                </a:spcBef>
              </a:pPr>
              <a:r>
                <a:rPr lang="en-US" b="true" sz="946" spc="-28">
                  <a:solidFill>
                    <a:srgbClr val="000000"/>
                  </a:solidFill>
                  <a:latin typeface="Muli Bold"/>
                  <a:ea typeface="Muli Bold"/>
                  <a:cs typeface="Muli Bold"/>
                  <a:sym typeface="Muli Bold"/>
                </a:rPr>
                <a:t>Crude Oil WTI(-9.57)</a:t>
              </a:r>
            </a:p>
          </p:txBody>
        </p:sp>
        <p:sp>
          <p:nvSpPr>
            <p:cNvPr name="AutoShape 53" id="53"/>
            <p:cNvSpPr/>
            <p:nvPr/>
          </p:nvSpPr>
          <p:spPr>
            <a:xfrm flipH="true" flipV="true">
              <a:off x="1529047" y="1387636"/>
              <a:ext cx="4427980" cy="0"/>
            </a:xfrm>
            <a:prstGeom prst="line">
              <a:avLst/>
            </a:prstGeom>
            <a:ln cap="flat" w="48086">
              <a:solidFill>
                <a:srgbClr val="007ACC"/>
              </a:solidFill>
              <a:prstDash val="solid"/>
              <a:headEnd type="none" len="sm" w="sm"/>
              <a:tailEnd type="triangle" len="med" w="lg"/>
            </a:ln>
          </p:spPr>
        </p:sp>
        <p:sp>
          <p:nvSpPr>
            <p:cNvPr name="TextBox 54" id="54"/>
            <p:cNvSpPr txBox="true"/>
            <p:nvPr/>
          </p:nvSpPr>
          <p:spPr>
            <a:xfrm rot="0">
              <a:off x="5957026" y="1283929"/>
              <a:ext cx="787999" cy="197890"/>
            </a:xfrm>
            <a:prstGeom prst="rect">
              <a:avLst/>
            </a:prstGeom>
          </p:spPr>
          <p:txBody>
            <a:bodyPr anchor="t" rtlCol="false" tIns="0" lIns="0" bIns="0" rIns="0">
              <a:spAutoFit/>
            </a:bodyPr>
            <a:lstStyle/>
            <a:p>
              <a:pPr algn="ctr">
                <a:lnSpc>
                  <a:spcPts val="1230"/>
                </a:lnSpc>
                <a:spcBef>
                  <a:spcPct val="0"/>
                </a:spcBef>
              </a:pPr>
              <a:r>
                <a:rPr lang="en-US" b="true" sz="946" spc="-28">
                  <a:solidFill>
                    <a:srgbClr val="000000"/>
                  </a:solidFill>
                  <a:latin typeface="Muli Bold"/>
                  <a:ea typeface="Muli Bold"/>
                  <a:cs typeface="Muli Bold"/>
                  <a:sym typeface="Muli Bold"/>
                </a:rPr>
                <a:t>Gold (+0.8)</a:t>
              </a:r>
            </a:p>
          </p:txBody>
        </p:sp>
        <p:sp>
          <p:nvSpPr>
            <p:cNvPr name="AutoShape 55" id="55"/>
            <p:cNvSpPr/>
            <p:nvPr/>
          </p:nvSpPr>
          <p:spPr>
            <a:xfrm flipH="true" flipV="true">
              <a:off x="1388351" y="2550929"/>
              <a:ext cx="4009930" cy="13836"/>
            </a:xfrm>
            <a:prstGeom prst="line">
              <a:avLst/>
            </a:prstGeom>
            <a:ln cap="flat" w="48086">
              <a:solidFill>
                <a:srgbClr val="007ACC"/>
              </a:solidFill>
              <a:prstDash val="solid"/>
              <a:headEnd type="none" len="sm" w="sm"/>
              <a:tailEnd type="triangle" len="med" w="lg"/>
            </a:ln>
          </p:spPr>
        </p:sp>
        <p:sp>
          <p:nvSpPr>
            <p:cNvPr name="TextBox 56" id="56"/>
            <p:cNvSpPr txBox="true"/>
            <p:nvPr/>
          </p:nvSpPr>
          <p:spPr>
            <a:xfrm rot="0">
              <a:off x="5398281" y="2461057"/>
              <a:ext cx="1346744" cy="197890"/>
            </a:xfrm>
            <a:prstGeom prst="rect">
              <a:avLst/>
            </a:prstGeom>
          </p:spPr>
          <p:txBody>
            <a:bodyPr anchor="t" rtlCol="false" tIns="0" lIns="0" bIns="0" rIns="0">
              <a:spAutoFit/>
            </a:bodyPr>
            <a:lstStyle/>
            <a:p>
              <a:pPr algn="ctr">
                <a:lnSpc>
                  <a:spcPts val="1230"/>
                </a:lnSpc>
                <a:spcBef>
                  <a:spcPct val="0"/>
                </a:spcBef>
              </a:pPr>
              <a:r>
                <a:rPr lang="en-US" b="true" sz="946" spc="-28">
                  <a:solidFill>
                    <a:srgbClr val="000000"/>
                  </a:solidFill>
                  <a:latin typeface="Muli Bold"/>
                  <a:ea typeface="Muli Bold"/>
                  <a:cs typeface="Muli Bold"/>
                  <a:sym typeface="Muli Bold"/>
                </a:rPr>
                <a:t>DXY(USD) (-0.34)</a:t>
              </a:r>
            </a:p>
          </p:txBody>
        </p:sp>
      </p:grpSp>
      <p:sp>
        <p:nvSpPr>
          <p:cNvPr name="TextBox 57" id="57"/>
          <p:cNvSpPr txBox="true"/>
          <p:nvPr/>
        </p:nvSpPr>
        <p:spPr>
          <a:xfrm rot="0">
            <a:off x="13646016" y="736154"/>
            <a:ext cx="2557279" cy="184044"/>
          </a:xfrm>
          <a:prstGeom prst="rect">
            <a:avLst/>
          </a:prstGeom>
        </p:spPr>
        <p:txBody>
          <a:bodyPr anchor="t" rtlCol="false" tIns="0" lIns="0" bIns="0" rIns="0">
            <a:spAutoFit/>
          </a:bodyPr>
          <a:lstStyle/>
          <a:p>
            <a:pPr algn="ctr">
              <a:lnSpc>
                <a:spcPts val="1494"/>
              </a:lnSpc>
              <a:spcBef>
                <a:spcPct val="0"/>
              </a:spcBef>
            </a:pPr>
            <a:r>
              <a:rPr lang="en-US" b="true" sz="1149" spc="-34">
                <a:solidFill>
                  <a:srgbClr val="222222"/>
                </a:solidFill>
                <a:latin typeface="Muli Ultra-Bold"/>
                <a:ea typeface="Muli Ultra-Bold"/>
                <a:cs typeface="Muli Ultra-Bold"/>
                <a:sym typeface="Muli Ultra-Bold"/>
              </a:rPr>
              <a:t>KEY EARNINGS (Earnings Whispers)</a:t>
            </a:r>
          </a:p>
        </p:txBody>
      </p:sp>
      <p:grpSp>
        <p:nvGrpSpPr>
          <p:cNvPr name="Group 58" id="58"/>
          <p:cNvGrpSpPr/>
          <p:nvPr/>
        </p:nvGrpSpPr>
        <p:grpSpPr>
          <a:xfrm rot="0">
            <a:off x="12220559" y="946516"/>
            <a:ext cx="5743234" cy="2181199"/>
            <a:chOff x="0" y="0"/>
            <a:chExt cx="7657646" cy="2908265"/>
          </a:xfrm>
        </p:grpSpPr>
        <p:sp>
          <p:nvSpPr>
            <p:cNvPr name="Freeform 59" id="59"/>
            <p:cNvSpPr/>
            <p:nvPr/>
          </p:nvSpPr>
          <p:spPr>
            <a:xfrm flipH="false" flipV="false" rot="0">
              <a:off x="2385" y="0"/>
              <a:ext cx="7655250" cy="2519813"/>
            </a:xfrm>
            <a:custGeom>
              <a:avLst/>
              <a:gdLst/>
              <a:ahLst/>
              <a:cxnLst/>
              <a:rect r="r" b="b" t="t" l="l"/>
              <a:pathLst>
                <a:path h="2519813" w="7655250">
                  <a:moveTo>
                    <a:pt x="0" y="0"/>
                  </a:moveTo>
                  <a:lnTo>
                    <a:pt x="7655250" y="0"/>
                  </a:lnTo>
                  <a:lnTo>
                    <a:pt x="7655250" y="2519813"/>
                  </a:lnTo>
                  <a:lnTo>
                    <a:pt x="0" y="2519813"/>
                  </a:lnTo>
                  <a:lnTo>
                    <a:pt x="0" y="0"/>
                  </a:lnTo>
                  <a:close/>
                </a:path>
              </a:pathLst>
            </a:custGeom>
            <a:blipFill>
              <a:blip r:embed="rId9"/>
              <a:stretch>
                <a:fillRect l="0" t="0" r="0" b="0"/>
              </a:stretch>
            </a:blipFill>
          </p:spPr>
        </p:sp>
        <p:sp>
          <p:nvSpPr>
            <p:cNvPr name="AutoShape 60" id="60"/>
            <p:cNvSpPr/>
            <p:nvPr/>
          </p:nvSpPr>
          <p:spPr>
            <a:xfrm flipV="true">
              <a:off x="17960" y="436750"/>
              <a:ext cx="7621725" cy="8316"/>
            </a:xfrm>
            <a:prstGeom prst="line">
              <a:avLst/>
            </a:prstGeom>
            <a:ln cap="flat" w="35920">
              <a:solidFill>
                <a:srgbClr val="5CC97B"/>
              </a:solidFill>
              <a:prstDash val="solid"/>
              <a:headEnd type="none" len="sm" w="sm"/>
              <a:tailEnd type="none" len="sm" w="sm"/>
            </a:ln>
          </p:spPr>
        </p:sp>
        <p:sp>
          <p:nvSpPr>
            <p:cNvPr name="AutoShape 61" id="61"/>
            <p:cNvSpPr/>
            <p:nvPr/>
          </p:nvSpPr>
          <p:spPr>
            <a:xfrm flipH="true">
              <a:off x="17960" y="464825"/>
              <a:ext cx="0" cy="314475"/>
            </a:xfrm>
            <a:prstGeom prst="line">
              <a:avLst/>
            </a:prstGeom>
            <a:ln cap="flat" w="35920">
              <a:solidFill>
                <a:srgbClr val="5CC97B"/>
              </a:solidFill>
              <a:prstDash val="solid"/>
              <a:headEnd type="none" len="sm" w="sm"/>
              <a:tailEnd type="none" len="sm" w="sm"/>
            </a:ln>
          </p:spPr>
        </p:sp>
        <p:sp>
          <p:nvSpPr>
            <p:cNvPr name="AutoShape 62" id="62"/>
            <p:cNvSpPr/>
            <p:nvPr/>
          </p:nvSpPr>
          <p:spPr>
            <a:xfrm flipH="true">
              <a:off x="17960" y="742981"/>
              <a:ext cx="7621725" cy="36319"/>
            </a:xfrm>
            <a:prstGeom prst="line">
              <a:avLst/>
            </a:prstGeom>
            <a:ln cap="flat" w="35920">
              <a:solidFill>
                <a:srgbClr val="5CC97B"/>
              </a:solidFill>
              <a:prstDash val="solid"/>
              <a:headEnd type="none" len="sm" w="sm"/>
              <a:tailEnd type="none" len="sm" w="sm"/>
            </a:ln>
          </p:spPr>
        </p:sp>
        <p:sp>
          <p:nvSpPr>
            <p:cNvPr name="AutoShape 63" id="63"/>
            <p:cNvSpPr/>
            <p:nvPr/>
          </p:nvSpPr>
          <p:spPr>
            <a:xfrm flipV="true">
              <a:off x="7639685" y="436750"/>
              <a:ext cx="0" cy="306230"/>
            </a:xfrm>
            <a:prstGeom prst="line">
              <a:avLst/>
            </a:prstGeom>
            <a:ln cap="flat" w="35920">
              <a:solidFill>
                <a:srgbClr val="5CC97B"/>
              </a:solidFill>
              <a:prstDash val="solid"/>
              <a:headEnd type="none" len="sm" w="sm"/>
              <a:tailEnd type="none" len="sm" w="sm"/>
            </a:ln>
          </p:spPr>
        </p:sp>
        <p:sp>
          <p:nvSpPr>
            <p:cNvPr name="TextBox 64" id="64"/>
            <p:cNvSpPr txBox="true"/>
            <p:nvPr/>
          </p:nvSpPr>
          <p:spPr>
            <a:xfrm rot="0">
              <a:off x="186931" y="2621935"/>
              <a:ext cx="7426924" cy="286330"/>
            </a:xfrm>
            <a:prstGeom prst="rect">
              <a:avLst/>
            </a:prstGeom>
          </p:spPr>
          <p:txBody>
            <a:bodyPr anchor="t" rtlCol="false" tIns="0" lIns="0" bIns="0" rIns="0">
              <a:spAutoFit/>
            </a:bodyPr>
            <a:lstStyle/>
            <a:p>
              <a:pPr algn="ctr">
                <a:lnSpc>
                  <a:spcPts val="1777"/>
                </a:lnSpc>
                <a:spcBef>
                  <a:spcPct val="0"/>
                </a:spcBef>
              </a:pPr>
              <a:r>
                <a:rPr lang="en-US" b="true" sz="1367" spc="-41">
                  <a:solidFill>
                    <a:srgbClr val="000000"/>
                  </a:solidFill>
                  <a:latin typeface="Muli Ultra-Bold"/>
                  <a:ea typeface="Muli Ultra-Bold"/>
                  <a:cs typeface="Muli Ultra-Bold"/>
                  <a:sym typeface="Muli Ultra-Bold"/>
                </a:rPr>
                <a:t>Image: Earning prediction calendar by earningwhispers.com for 2 June</a:t>
              </a:r>
            </a:p>
          </p:txBody>
        </p:sp>
      </p:grpSp>
      <p:grpSp>
        <p:nvGrpSpPr>
          <p:cNvPr name="Group 65" id="65"/>
          <p:cNvGrpSpPr/>
          <p:nvPr/>
        </p:nvGrpSpPr>
        <p:grpSpPr>
          <a:xfrm rot="0">
            <a:off x="12220559" y="3156290"/>
            <a:ext cx="5743234" cy="3100139"/>
            <a:chOff x="0" y="0"/>
            <a:chExt cx="7657646" cy="4133518"/>
          </a:xfrm>
        </p:grpSpPr>
        <p:sp>
          <p:nvSpPr>
            <p:cNvPr name="TextBox 66" id="66"/>
            <p:cNvSpPr txBox="true"/>
            <p:nvPr/>
          </p:nvSpPr>
          <p:spPr>
            <a:xfrm rot="0">
              <a:off x="115469" y="3847188"/>
              <a:ext cx="7426708" cy="286330"/>
            </a:xfrm>
            <a:prstGeom prst="rect">
              <a:avLst/>
            </a:prstGeom>
          </p:spPr>
          <p:txBody>
            <a:bodyPr anchor="t" rtlCol="false" tIns="0" lIns="0" bIns="0" rIns="0">
              <a:spAutoFit/>
            </a:bodyPr>
            <a:lstStyle/>
            <a:p>
              <a:pPr algn="ctr">
                <a:lnSpc>
                  <a:spcPts val="1777"/>
                </a:lnSpc>
                <a:spcBef>
                  <a:spcPct val="0"/>
                </a:spcBef>
              </a:pPr>
              <a:r>
                <a:rPr lang="en-US" b="true" sz="1367" spc="-41">
                  <a:solidFill>
                    <a:srgbClr val="000000"/>
                  </a:solidFill>
                  <a:latin typeface="Muli Ultra-Bold"/>
                  <a:ea typeface="Muli Ultra-Bold"/>
                  <a:cs typeface="Muli Ultra-Bold"/>
                  <a:sym typeface="Muli Ultra-Bold"/>
                </a:rPr>
                <a:t>Image: Earning prediction calendar by earningwhispers.com for 3 June</a:t>
              </a:r>
            </a:p>
          </p:txBody>
        </p:sp>
        <p:sp>
          <p:nvSpPr>
            <p:cNvPr name="Freeform 67" id="67"/>
            <p:cNvSpPr/>
            <p:nvPr/>
          </p:nvSpPr>
          <p:spPr>
            <a:xfrm flipH="false" flipV="false" rot="0">
              <a:off x="0" y="0"/>
              <a:ext cx="7655250" cy="3664951"/>
            </a:xfrm>
            <a:custGeom>
              <a:avLst/>
              <a:gdLst/>
              <a:ahLst/>
              <a:cxnLst/>
              <a:rect r="r" b="b" t="t" l="l"/>
              <a:pathLst>
                <a:path h="3664951" w="7655250">
                  <a:moveTo>
                    <a:pt x="0" y="0"/>
                  </a:moveTo>
                  <a:lnTo>
                    <a:pt x="7655250" y="0"/>
                  </a:lnTo>
                  <a:lnTo>
                    <a:pt x="7655250" y="3664951"/>
                  </a:lnTo>
                  <a:lnTo>
                    <a:pt x="0" y="3664951"/>
                  </a:lnTo>
                  <a:lnTo>
                    <a:pt x="0" y="0"/>
                  </a:lnTo>
                  <a:close/>
                </a:path>
              </a:pathLst>
            </a:custGeom>
            <a:blipFill>
              <a:blip r:embed="rId10"/>
              <a:stretch>
                <a:fillRect l="0" t="0" r="0" b="0"/>
              </a:stretch>
            </a:blipFill>
          </p:spPr>
        </p:sp>
        <p:sp>
          <p:nvSpPr>
            <p:cNvPr name="AutoShape 68" id="68"/>
            <p:cNvSpPr/>
            <p:nvPr/>
          </p:nvSpPr>
          <p:spPr>
            <a:xfrm flipV="true">
              <a:off x="17960" y="469467"/>
              <a:ext cx="7621725" cy="15565"/>
            </a:xfrm>
            <a:prstGeom prst="line">
              <a:avLst/>
            </a:prstGeom>
            <a:ln cap="flat" w="35920">
              <a:solidFill>
                <a:srgbClr val="5CC97B"/>
              </a:solidFill>
              <a:prstDash val="solid"/>
              <a:headEnd type="none" len="sm" w="sm"/>
              <a:tailEnd type="none" len="sm" w="sm"/>
            </a:ln>
          </p:spPr>
        </p:sp>
        <p:sp>
          <p:nvSpPr>
            <p:cNvPr name="AutoShape 69" id="69"/>
            <p:cNvSpPr/>
            <p:nvPr/>
          </p:nvSpPr>
          <p:spPr>
            <a:xfrm flipH="true">
              <a:off x="17960" y="522014"/>
              <a:ext cx="0" cy="588604"/>
            </a:xfrm>
            <a:prstGeom prst="line">
              <a:avLst/>
            </a:prstGeom>
            <a:ln cap="flat" w="35920">
              <a:solidFill>
                <a:srgbClr val="5CC97B"/>
              </a:solidFill>
              <a:prstDash val="solid"/>
              <a:headEnd type="none" len="sm" w="sm"/>
              <a:tailEnd type="none" len="sm" w="sm"/>
            </a:ln>
          </p:spPr>
        </p:sp>
        <p:sp>
          <p:nvSpPr>
            <p:cNvPr name="AutoShape 70" id="70"/>
            <p:cNvSpPr/>
            <p:nvPr/>
          </p:nvSpPr>
          <p:spPr>
            <a:xfrm flipH="true">
              <a:off x="17960" y="1042639"/>
              <a:ext cx="7621725" cy="67978"/>
            </a:xfrm>
            <a:prstGeom prst="line">
              <a:avLst/>
            </a:prstGeom>
            <a:ln cap="flat" w="35920">
              <a:solidFill>
                <a:srgbClr val="5CC97B"/>
              </a:solidFill>
              <a:prstDash val="solid"/>
              <a:headEnd type="none" len="sm" w="sm"/>
              <a:tailEnd type="none" len="sm" w="sm"/>
            </a:ln>
          </p:spPr>
        </p:sp>
        <p:sp>
          <p:nvSpPr>
            <p:cNvPr name="AutoShape 71" id="71"/>
            <p:cNvSpPr/>
            <p:nvPr/>
          </p:nvSpPr>
          <p:spPr>
            <a:xfrm flipV="true">
              <a:off x="7639685" y="469467"/>
              <a:ext cx="0" cy="573173"/>
            </a:xfrm>
            <a:prstGeom prst="line">
              <a:avLst/>
            </a:prstGeom>
            <a:ln cap="flat" w="35920">
              <a:solidFill>
                <a:srgbClr val="5CC97B"/>
              </a:solidFill>
              <a:prstDash val="solid"/>
              <a:headEnd type="none" len="sm" w="sm"/>
              <a:tailEnd type="none" len="sm" w="sm"/>
            </a:ln>
          </p:spPr>
        </p:sp>
      </p:grpSp>
      <p:sp>
        <p:nvSpPr>
          <p:cNvPr name="TextBox 72" id="72"/>
          <p:cNvSpPr txBox="true"/>
          <p:nvPr/>
        </p:nvSpPr>
        <p:spPr>
          <a:xfrm rot="0">
            <a:off x="1084347" y="5769088"/>
            <a:ext cx="3826158" cy="209297"/>
          </a:xfrm>
          <a:prstGeom prst="rect">
            <a:avLst/>
          </a:prstGeom>
        </p:spPr>
        <p:txBody>
          <a:bodyPr anchor="t" rtlCol="false" tIns="0" lIns="0" bIns="0" rIns="0">
            <a:spAutoFit/>
          </a:bodyPr>
          <a:lstStyle/>
          <a:p>
            <a:pPr algn="ctr">
              <a:lnSpc>
                <a:spcPts val="1710"/>
              </a:lnSpc>
              <a:spcBef>
                <a:spcPct val="0"/>
              </a:spcBef>
            </a:pPr>
            <a:r>
              <a:rPr lang="en-US" b="true" sz="1316" spc="-39">
                <a:solidFill>
                  <a:srgbClr val="222222"/>
                </a:solidFill>
                <a:latin typeface="Muli Ultra-Bold"/>
                <a:ea typeface="Muli Ultra-Bold"/>
                <a:cs typeface="Muli Ultra-Bold"/>
                <a:sym typeface="Muli Ultra-Bold"/>
              </a:rPr>
              <a:t>FED </a:t>
            </a:r>
            <a:r>
              <a:rPr lang="en-US" b="true" sz="1316" spc="-39">
                <a:solidFill>
                  <a:srgbClr val="222222"/>
                </a:solidFill>
                <a:latin typeface="Muli Ultra-Bold"/>
                <a:ea typeface="Muli Ultra-Bold"/>
                <a:cs typeface="Muli Ultra-Bold"/>
                <a:sym typeface="Muli Ultra-Bold"/>
              </a:rPr>
              <a:t>&amp; RATES (CME FedWatch + Treasury.gov) p2</a:t>
            </a:r>
          </a:p>
        </p:txBody>
      </p:sp>
      <p:sp>
        <p:nvSpPr>
          <p:cNvPr name="TextBox 73" id="73"/>
          <p:cNvSpPr txBox="true"/>
          <p:nvPr/>
        </p:nvSpPr>
        <p:spPr>
          <a:xfrm rot="0">
            <a:off x="13600958" y="6497693"/>
            <a:ext cx="2982437" cy="196400"/>
          </a:xfrm>
          <a:prstGeom prst="rect">
            <a:avLst/>
          </a:prstGeom>
        </p:spPr>
        <p:txBody>
          <a:bodyPr anchor="t" rtlCol="false" tIns="0" lIns="0" bIns="0" rIns="0">
            <a:spAutoFit/>
          </a:bodyPr>
          <a:lstStyle/>
          <a:p>
            <a:pPr algn="ctr">
              <a:lnSpc>
                <a:spcPts val="1518"/>
              </a:lnSpc>
              <a:spcBef>
                <a:spcPct val="0"/>
              </a:spcBef>
            </a:pPr>
            <a:r>
              <a:rPr lang="en-US" b="true" sz="1168" spc="-35">
                <a:solidFill>
                  <a:srgbClr val="222222"/>
                </a:solidFill>
                <a:latin typeface="Muli Ultra-Bold"/>
                <a:ea typeface="Muli Ultra-Bold"/>
                <a:cs typeface="Muli Ultra-Bold"/>
                <a:sym typeface="Muli Ultra-Bold"/>
              </a:rPr>
              <a:t>CONFIRMED NEWS EVENTS (Reuters / AP)</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6E7DE"/>
        </a:solidFill>
      </p:bgPr>
    </p:bg>
    <p:spTree>
      <p:nvGrpSpPr>
        <p:cNvPr id="1" name=""/>
        <p:cNvGrpSpPr/>
        <p:nvPr/>
      </p:nvGrpSpPr>
      <p:grpSpPr>
        <a:xfrm>
          <a:off x="0" y="0"/>
          <a:ext cx="0" cy="0"/>
          <a:chOff x="0" y="0"/>
          <a:chExt cx="0" cy="0"/>
        </a:xfrm>
      </p:grpSpPr>
      <p:grpSp>
        <p:nvGrpSpPr>
          <p:cNvPr name="Group 2" id="2"/>
          <p:cNvGrpSpPr/>
          <p:nvPr/>
        </p:nvGrpSpPr>
        <p:grpSpPr>
          <a:xfrm rot="0">
            <a:off x="-495300" y="0"/>
            <a:ext cx="7379779" cy="10287000"/>
            <a:chOff x="0" y="0"/>
            <a:chExt cx="2496370" cy="3479800"/>
          </a:xfrm>
        </p:grpSpPr>
        <p:sp>
          <p:nvSpPr>
            <p:cNvPr name="Freeform 3" id="3"/>
            <p:cNvSpPr/>
            <p:nvPr/>
          </p:nvSpPr>
          <p:spPr>
            <a:xfrm flipH="false" flipV="false" rot="0">
              <a:off x="0" y="0"/>
              <a:ext cx="2496370" cy="3479800"/>
            </a:xfrm>
            <a:custGeom>
              <a:avLst/>
              <a:gdLst/>
              <a:ahLst/>
              <a:cxnLst/>
              <a:rect r="r" b="b" t="t" l="l"/>
              <a:pathLst>
                <a:path h="3479800" w="2496370">
                  <a:moveTo>
                    <a:pt x="2371909" y="3479800"/>
                  </a:moveTo>
                  <a:lnTo>
                    <a:pt x="124460" y="3479800"/>
                  </a:lnTo>
                  <a:cubicBezTo>
                    <a:pt x="55880" y="3479800"/>
                    <a:pt x="0" y="3423920"/>
                    <a:pt x="0" y="3355340"/>
                  </a:cubicBezTo>
                  <a:lnTo>
                    <a:pt x="0" y="124460"/>
                  </a:lnTo>
                  <a:cubicBezTo>
                    <a:pt x="0" y="55880"/>
                    <a:pt x="55880" y="0"/>
                    <a:pt x="124460" y="0"/>
                  </a:cubicBezTo>
                  <a:lnTo>
                    <a:pt x="2371910" y="0"/>
                  </a:lnTo>
                  <a:cubicBezTo>
                    <a:pt x="2440490" y="0"/>
                    <a:pt x="2496370" y="55880"/>
                    <a:pt x="2496370" y="124460"/>
                  </a:cubicBezTo>
                  <a:lnTo>
                    <a:pt x="2496370" y="3355340"/>
                  </a:lnTo>
                  <a:cubicBezTo>
                    <a:pt x="2496370" y="3423920"/>
                    <a:pt x="2440490" y="3479800"/>
                    <a:pt x="2371910" y="3479800"/>
                  </a:cubicBezTo>
                  <a:close/>
                </a:path>
              </a:pathLst>
            </a:custGeom>
            <a:solidFill>
              <a:srgbClr val="FFFFFF"/>
            </a:solidFill>
          </p:spPr>
        </p:sp>
      </p:grpSp>
      <p:sp>
        <p:nvSpPr>
          <p:cNvPr name="Freeform 4" id="4"/>
          <p:cNvSpPr/>
          <p:nvPr/>
        </p:nvSpPr>
        <p:spPr>
          <a:xfrm flipH="false" flipV="false" rot="0">
            <a:off x="7342259" y="1028700"/>
            <a:ext cx="10530014" cy="6580251"/>
          </a:xfrm>
          <a:custGeom>
            <a:avLst/>
            <a:gdLst/>
            <a:ahLst/>
            <a:cxnLst/>
            <a:rect r="r" b="b" t="t" l="l"/>
            <a:pathLst>
              <a:path h="6580251" w="10530014">
                <a:moveTo>
                  <a:pt x="0" y="0"/>
                </a:moveTo>
                <a:lnTo>
                  <a:pt x="10530014" y="0"/>
                </a:lnTo>
                <a:lnTo>
                  <a:pt x="10530014" y="6580251"/>
                </a:lnTo>
                <a:lnTo>
                  <a:pt x="0" y="6580251"/>
                </a:lnTo>
                <a:lnTo>
                  <a:pt x="0" y="0"/>
                </a:lnTo>
                <a:close/>
              </a:path>
            </a:pathLst>
          </a:custGeom>
          <a:blipFill>
            <a:blip r:embed="rId2"/>
            <a:stretch>
              <a:fillRect l="0" t="0" r="0" b="-215"/>
            </a:stretch>
          </a:blipFill>
        </p:spPr>
      </p:sp>
      <p:graphicFrame>
        <p:nvGraphicFramePr>
          <p:cNvPr name="Object 5" id="5"/>
          <p:cNvGraphicFramePr/>
          <p:nvPr/>
        </p:nvGraphicFramePr>
        <p:xfrm>
          <a:off x="351028" y="1619885"/>
          <a:ext cx="4829175" cy="4114800"/>
        </p:xfrm>
        <a:graphic>
          <a:graphicData uri="http://schemas.openxmlformats.org/presentationml/2006/ole">
            <p:oleObj imgW="5791200" imgH="50673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6" id="6"/>
          <p:cNvSpPr txBox="true"/>
          <p:nvPr/>
        </p:nvSpPr>
        <p:spPr>
          <a:xfrm rot="0">
            <a:off x="7758597" y="8154255"/>
            <a:ext cx="8750350" cy="353060"/>
          </a:xfrm>
          <a:prstGeom prst="rect">
            <a:avLst/>
          </a:prstGeom>
        </p:spPr>
        <p:txBody>
          <a:bodyPr anchor="t" rtlCol="false" tIns="0" lIns="0" bIns="0" rIns="0">
            <a:spAutoFit/>
          </a:bodyPr>
          <a:lstStyle/>
          <a:p>
            <a:pPr algn="ctr">
              <a:lnSpc>
                <a:spcPts val="2859"/>
              </a:lnSpc>
              <a:spcBef>
                <a:spcPct val="0"/>
              </a:spcBef>
            </a:pPr>
            <a:r>
              <a:rPr lang="en-US" b="true" sz="2199" spc="-65">
                <a:solidFill>
                  <a:srgbClr val="000000"/>
                </a:solidFill>
                <a:latin typeface="Muli Ultra-Bold"/>
                <a:ea typeface="Muli Ultra-Bold"/>
                <a:cs typeface="Muli Ultra-Bold"/>
                <a:sym typeface="Muli Ultra-Bold"/>
              </a:rPr>
              <a:t>Bullish (High) | 8 EMA 7,505 | 21 EMA 7,389 | Invalidate: close &lt; 7,500</a:t>
            </a:r>
          </a:p>
        </p:txBody>
      </p:sp>
      <p:sp>
        <p:nvSpPr>
          <p:cNvPr name="TextBox 7" id="7"/>
          <p:cNvSpPr txBox="true"/>
          <p:nvPr/>
        </p:nvSpPr>
        <p:spPr>
          <a:xfrm rot="0">
            <a:off x="9919943" y="423194"/>
            <a:ext cx="4144268" cy="353060"/>
          </a:xfrm>
          <a:prstGeom prst="rect">
            <a:avLst/>
          </a:prstGeom>
        </p:spPr>
        <p:txBody>
          <a:bodyPr anchor="t" rtlCol="false" tIns="0" lIns="0" bIns="0" rIns="0">
            <a:spAutoFit/>
          </a:bodyPr>
          <a:lstStyle/>
          <a:p>
            <a:pPr algn="ctr">
              <a:lnSpc>
                <a:spcPts val="2859"/>
              </a:lnSpc>
              <a:spcBef>
                <a:spcPct val="0"/>
              </a:spcBef>
            </a:pPr>
            <a:r>
              <a:rPr lang="en-US" b="true" sz="2199" spc="-65">
                <a:solidFill>
                  <a:srgbClr val="222222"/>
                </a:solidFill>
                <a:latin typeface="Muli Ultra-Bold"/>
                <a:ea typeface="Muli Ultra-Bold"/>
                <a:cs typeface="Muli Ultra-Bold"/>
                <a:sym typeface="Muli Ultra-Bold"/>
              </a:rPr>
              <a:t>S&amp;P 500 (SPX) — Close 7,580.06</a:t>
            </a:r>
          </a:p>
        </p:txBody>
      </p:sp>
      <p:sp>
        <p:nvSpPr>
          <p:cNvPr name="TextBox 8" id="8"/>
          <p:cNvSpPr txBox="true"/>
          <p:nvPr/>
        </p:nvSpPr>
        <p:spPr>
          <a:xfrm rot="0">
            <a:off x="549401" y="423194"/>
            <a:ext cx="1886099" cy="353060"/>
          </a:xfrm>
          <a:prstGeom prst="rect">
            <a:avLst/>
          </a:prstGeom>
        </p:spPr>
        <p:txBody>
          <a:bodyPr anchor="t" rtlCol="false" tIns="0" lIns="0" bIns="0" rIns="0">
            <a:spAutoFit/>
          </a:bodyPr>
          <a:lstStyle/>
          <a:p>
            <a:pPr algn="ctr">
              <a:lnSpc>
                <a:spcPts val="2859"/>
              </a:lnSpc>
              <a:spcBef>
                <a:spcPct val="0"/>
              </a:spcBef>
            </a:pPr>
            <a:r>
              <a:rPr lang="en-US" b="true" sz="2199" spc="-65">
                <a:solidFill>
                  <a:srgbClr val="222222"/>
                </a:solidFill>
                <a:latin typeface="Muli Ultra-Bold"/>
                <a:ea typeface="Muli Ultra-Bold"/>
                <a:cs typeface="Muli Ultra-Bold"/>
                <a:sym typeface="Muli Ultra-Bold"/>
              </a:rPr>
              <a:t>S&amp;P 500 (SPX)</a:t>
            </a:r>
          </a:p>
        </p:txBody>
      </p:sp>
      <p:sp>
        <p:nvSpPr>
          <p:cNvPr name="TextBox 9" id="9"/>
          <p:cNvSpPr txBox="true"/>
          <p:nvPr/>
        </p:nvSpPr>
        <p:spPr>
          <a:xfrm rot="0">
            <a:off x="549401" y="1009650"/>
            <a:ext cx="4882604" cy="353060"/>
          </a:xfrm>
          <a:prstGeom prst="rect">
            <a:avLst/>
          </a:prstGeom>
        </p:spPr>
        <p:txBody>
          <a:bodyPr anchor="t" rtlCol="false" tIns="0" lIns="0" bIns="0" rIns="0">
            <a:spAutoFit/>
          </a:bodyPr>
          <a:lstStyle/>
          <a:p>
            <a:pPr algn="ctr">
              <a:lnSpc>
                <a:spcPts val="2859"/>
              </a:lnSpc>
              <a:spcBef>
                <a:spcPct val="0"/>
              </a:spcBef>
            </a:pPr>
            <a:r>
              <a:rPr lang="en-US" b="true" sz="2199" spc="-65">
                <a:solidFill>
                  <a:srgbClr val="222222"/>
                </a:solidFill>
                <a:latin typeface="Muli Ultra-Bold"/>
                <a:ea typeface="Muli Ultra-Bold"/>
                <a:cs typeface="Muli Ultra-Bold"/>
                <a:sym typeface="Muli Ultra-Bold"/>
              </a:rPr>
              <a:t>Close 7,580.06 · Week of May 30, 2026</a:t>
            </a:r>
          </a:p>
        </p:txBody>
      </p:sp>
      <p:sp>
        <p:nvSpPr>
          <p:cNvPr name="TextBox 10" id="10"/>
          <p:cNvSpPr txBox="true"/>
          <p:nvPr/>
        </p:nvSpPr>
        <p:spPr>
          <a:xfrm rot="0">
            <a:off x="549401" y="6131941"/>
            <a:ext cx="5107781" cy="1611630"/>
          </a:xfrm>
          <a:prstGeom prst="rect">
            <a:avLst/>
          </a:prstGeom>
        </p:spPr>
        <p:txBody>
          <a:bodyPr anchor="t" rtlCol="false" tIns="0" lIns="0" bIns="0" rIns="0">
            <a:spAutoFit/>
          </a:bodyPr>
          <a:lstStyle/>
          <a:p>
            <a:pPr algn="l">
              <a:lnSpc>
                <a:spcPts val="3299"/>
              </a:lnSpc>
            </a:pPr>
            <a:r>
              <a:rPr lang="en-US" b="true" sz="2199" spc="-65">
                <a:solidFill>
                  <a:srgbClr val="222222"/>
                </a:solidFill>
                <a:latin typeface="Muli Ultra-Bold"/>
                <a:ea typeface="Muli Ultra-Bold"/>
                <a:cs typeface="Muli Ultra-Bold"/>
                <a:sym typeface="Muli Ultra-Bold"/>
              </a:rPr>
              <a:t>Bias: </a:t>
            </a:r>
            <a:r>
              <a:rPr lang="en-US" b="true" sz="2199" spc="-65">
                <a:solidFill>
                  <a:srgbClr val="1B7D3A"/>
                </a:solidFill>
                <a:latin typeface="Muli Ultra-Bold"/>
                <a:ea typeface="Muli Ultra-Bold"/>
                <a:cs typeface="Muli Ultra-Bold"/>
                <a:sym typeface="Muli Ultra-Bold"/>
              </a:rPr>
              <a:t>Bullish</a:t>
            </a:r>
          </a:p>
          <a:p>
            <a:pPr algn="l">
              <a:lnSpc>
                <a:spcPts val="3299"/>
              </a:lnSpc>
            </a:pPr>
            <a:r>
              <a:rPr lang="en-US" b="true" sz="2199" spc="-65">
                <a:solidFill>
                  <a:srgbClr val="222222"/>
                </a:solidFill>
                <a:latin typeface="Muli Ultra-Bold"/>
                <a:ea typeface="Muli Ultra-Bold"/>
                <a:cs typeface="Muli Ultra-Bold"/>
                <a:sym typeface="Muli Ultra-Bold"/>
              </a:rPr>
              <a:t>Confidence: High</a:t>
            </a:r>
          </a:p>
          <a:p>
            <a:pPr algn="l">
              <a:lnSpc>
                <a:spcPts val="3299"/>
              </a:lnSpc>
            </a:pPr>
            <a:r>
              <a:rPr lang="en-US" b="true" sz="2199" spc="-65">
                <a:solidFill>
                  <a:srgbClr val="C0392B"/>
                </a:solidFill>
                <a:latin typeface="Muli Ultra-Bold"/>
                <a:ea typeface="Muli Ultra-Bold"/>
                <a:cs typeface="Muli Ultra-Bold"/>
                <a:sym typeface="Muli Ultra-Bold"/>
              </a:rPr>
              <a:t>Invalidation: Close below 7,500</a:t>
            </a:r>
          </a:p>
          <a:p>
            <a:pPr algn="l">
              <a:lnSpc>
                <a:spcPts val="3299"/>
              </a:lnSpc>
            </a:pPr>
            <a:r>
              <a:rPr lang="en-US" b="true" sz="2199" spc="-65">
                <a:solidFill>
                  <a:srgbClr val="222222"/>
                </a:solidFill>
                <a:latin typeface="Muli Ultra-Bold"/>
                <a:ea typeface="Muli Ultra-Bold"/>
                <a:cs typeface="Muli Ultra-Bold"/>
                <a:sym typeface="Muli Ultra-Bold"/>
              </a:rPr>
              <a:t>Watch: Hold above 7,516? Reach 7,600?</a:t>
            </a:r>
          </a:p>
        </p:txBody>
      </p:sp>
      <p:sp>
        <p:nvSpPr>
          <p:cNvPr name="TextBox 11" id="11"/>
          <p:cNvSpPr txBox="true"/>
          <p:nvPr/>
        </p:nvSpPr>
        <p:spPr>
          <a:xfrm rot="0">
            <a:off x="7758597" y="9050240"/>
            <a:ext cx="9068842" cy="353060"/>
          </a:xfrm>
          <a:prstGeom prst="rect">
            <a:avLst/>
          </a:prstGeom>
        </p:spPr>
        <p:txBody>
          <a:bodyPr anchor="t" rtlCol="false" tIns="0" lIns="0" bIns="0" rIns="0">
            <a:spAutoFit/>
          </a:bodyPr>
          <a:lstStyle/>
          <a:p>
            <a:pPr algn="ctr">
              <a:lnSpc>
                <a:spcPts val="2859"/>
              </a:lnSpc>
              <a:spcBef>
                <a:spcPct val="0"/>
              </a:spcBef>
            </a:pPr>
            <a:r>
              <a:rPr lang="en-US" b="true" sz="2199" spc="-65">
                <a:solidFill>
                  <a:srgbClr val="222222"/>
                </a:solidFill>
                <a:latin typeface="Muli Ultra-Bold"/>
                <a:ea typeface="Muli Ultra-Bold"/>
                <a:cs typeface="Muli Ultra-Bold"/>
                <a:sym typeface="Muli Ultra-Bold"/>
              </a:rPr>
              <a:t>Price above both EMAs — Zone 1 bullish. Uptrend from April low intact.</a:t>
            </a:r>
          </a:p>
        </p:txBody>
      </p:sp>
      <p:sp>
        <p:nvSpPr>
          <p:cNvPr name="TextBox 12" id="12"/>
          <p:cNvSpPr txBox="true"/>
          <p:nvPr/>
        </p:nvSpPr>
        <p:spPr>
          <a:xfrm rot="0">
            <a:off x="108496" y="66040"/>
            <a:ext cx="348704" cy="353060"/>
          </a:xfrm>
          <a:prstGeom prst="rect">
            <a:avLst/>
          </a:prstGeom>
        </p:spPr>
        <p:txBody>
          <a:bodyPr anchor="t" rtlCol="false" tIns="0" lIns="0" bIns="0" rIns="0">
            <a:spAutoFit/>
          </a:bodyPr>
          <a:lstStyle/>
          <a:p>
            <a:pPr algn="ctr">
              <a:lnSpc>
                <a:spcPts val="2859"/>
              </a:lnSpc>
              <a:spcBef>
                <a:spcPct val="0"/>
              </a:spcBef>
            </a:pPr>
            <a:r>
              <a:rPr lang="en-US" b="true" sz="2199" spc="-65">
                <a:solidFill>
                  <a:srgbClr val="000000"/>
                </a:solidFill>
                <a:latin typeface="Muli Ultra-Bold"/>
                <a:ea typeface="Muli Ultra-Bold"/>
                <a:cs typeface="Muli Ultra-Bold"/>
                <a:sym typeface="Muli Ultra-Bold"/>
              </a:rPr>
              <a:t>R5</a:t>
            </a:r>
          </a:p>
        </p:txBody>
      </p:sp>
      <p:sp>
        <p:nvSpPr>
          <p:cNvPr name="TextBox 13" id="13"/>
          <p:cNvSpPr txBox="true"/>
          <p:nvPr/>
        </p:nvSpPr>
        <p:spPr>
          <a:xfrm rot="0">
            <a:off x="282848" y="9660475"/>
            <a:ext cx="17722304" cy="612140"/>
          </a:xfrm>
          <a:prstGeom prst="rect">
            <a:avLst/>
          </a:prstGeom>
        </p:spPr>
        <p:txBody>
          <a:bodyPr anchor="t" rtlCol="false" tIns="0" lIns="0" bIns="0" rIns="0">
            <a:spAutoFit/>
          </a:bodyPr>
          <a:lstStyle/>
          <a:p>
            <a:pPr algn="ctr">
              <a:lnSpc>
                <a:spcPts val="1690"/>
              </a:lnSpc>
              <a:spcBef>
                <a:spcPct val="0"/>
              </a:spcBef>
            </a:pPr>
            <a:r>
              <a:rPr lang="en-US" sz="1300" spc="-39">
                <a:solidFill>
                  <a:srgbClr val="000000"/>
                </a:solidFill>
                <a:latin typeface="Muli"/>
                <a:ea typeface="Muli"/>
                <a:cs typeface="Muli"/>
                <a:sym typeface="Muli"/>
              </a:rPr>
              <a:t> I will map out the structural health of the market across all three major indices, starting with the S&amp;P 500. Based on the Friday close at 7,580, the SPX is in a confirmed 'Zone 1 Bullish' state, holding firmly above its 8 and 21 EMAs with the April uptrend intact. Therefore, our bias is Bullish with High confidence. However, strict risk management is our core mandate. To satisfy this, I must state our specific invalidation level: our bullish thesis for the S&amp;P 500 is strictly invalidated if the index registers a daily close below 7,500.</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6E7DE"/>
        </a:solidFill>
      </p:bgPr>
    </p:bg>
    <p:spTree>
      <p:nvGrpSpPr>
        <p:cNvPr id="1" name=""/>
        <p:cNvGrpSpPr/>
        <p:nvPr/>
      </p:nvGrpSpPr>
      <p:grpSpPr>
        <a:xfrm>
          <a:off x="0" y="0"/>
          <a:ext cx="0" cy="0"/>
          <a:chOff x="0" y="0"/>
          <a:chExt cx="0" cy="0"/>
        </a:xfrm>
      </p:grpSpPr>
      <p:grpSp>
        <p:nvGrpSpPr>
          <p:cNvPr name="Group 2" id="2"/>
          <p:cNvGrpSpPr/>
          <p:nvPr/>
        </p:nvGrpSpPr>
        <p:grpSpPr>
          <a:xfrm rot="0">
            <a:off x="-495300" y="0"/>
            <a:ext cx="7379779" cy="10287000"/>
            <a:chOff x="0" y="0"/>
            <a:chExt cx="2496370" cy="3479800"/>
          </a:xfrm>
        </p:grpSpPr>
        <p:sp>
          <p:nvSpPr>
            <p:cNvPr name="Freeform 3" id="3"/>
            <p:cNvSpPr/>
            <p:nvPr/>
          </p:nvSpPr>
          <p:spPr>
            <a:xfrm flipH="false" flipV="false" rot="0">
              <a:off x="0" y="0"/>
              <a:ext cx="2496370" cy="3479800"/>
            </a:xfrm>
            <a:custGeom>
              <a:avLst/>
              <a:gdLst/>
              <a:ahLst/>
              <a:cxnLst/>
              <a:rect r="r" b="b" t="t" l="l"/>
              <a:pathLst>
                <a:path h="3479800" w="2496370">
                  <a:moveTo>
                    <a:pt x="2371909" y="3479800"/>
                  </a:moveTo>
                  <a:lnTo>
                    <a:pt x="124460" y="3479800"/>
                  </a:lnTo>
                  <a:cubicBezTo>
                    <a:pt x="55880" y="3479800"/>
                    <a:pt x="0" y="3423920"/>
                    <a:pt x="0" y="3355340"/>
                  </a:cubicBezTo>
                  <a:lnTo>
                    <a:pt x="0" y="124460"/>
                  </a:lnTo>
                  <a:cubicBezTo>
                    <a:pt x="0" y="55880"/>
                    <a:pt x="55880" y="0"/>
                    <a:pt x="124460" y="0"/>
                  </a:cubicBezTo>
                  <a:lnTo>
                    <a:pt x="2371910" y="0"/>
                  </a:lnTo>
                  <a:cubicBezTo>
                    <a:pt x="2440490" y="0"/>
                    <a:pt x="2496370" y="55880"/>
                    <a:pt x="2496370" y="124460"/>
                  </a:cubicBezTo>
                  <a:lnTo>
                    <a:pt x="2496370" y="3355340"/>
                  </a:lnTo>
                  <a:cubicBezTo>
                    <a:pt x="2496370" y="3423920"/>
                    <a:pt x="2440490" y="3479800"/>
                    <a:pt x="2371910" y="3479800"/>
                  </a:cubicBezTo>
                  <a:close/>
                </a:path>
              </a:pathLst>
            </a:custGeom>
            <a:solidFill>
              <a:srgbClr val="FFFFFF"/>
            </a:solidFill>
          </p:spPr>
        </p:sp>
      </p:grpSp>
      <p:sp>
        <p:nvSpPr>
          <p:cNvPr name="Freeform 4" id="4"/>
          <p:cNvSpPr/>
          <p:nvPr/>
        </p:nvSpPr>
        <p:spPr>
          <a:xfrm flipH="false" flipV="false" rot="0">
            <a:off x="7758597" y="1138204"/>
            <a:ext cx="9686404" cy="5981354"/>
          </a:xfrm>
          <a:custGeom>
            <a:avLst/>
            <a:gdLst/>
            <a:ahLst/>
            <a:cxnLst/>
            <a:rect r="r" b="b" t="t" l="l"/>
            <a:pathLst>
              <a:path h="5981354" w="9686404">
                <a:moveTo>
                  <a:pt x="0" y="0"/>
                </a:moveTo>
                <a:lnTo>
                  <a:pt x="9686404" y="0"/>
                </a:lnTo>
                <a:lnTo>
                  <a:pt x="9686404" y="5981354"/>
                </a:lnTo>
                <a:lnTo>
                  <a:pt x="0" y="5981354"/>
                </a:lnTo>
                <a:lnTo>
                  <a:pt x="0" y="0"/>
                </a:lnTo>
                <a:close/>
              </a:path>
            </a:pathLst>
          </a:custGeom>
          <a:blipFill>
            <a:blip r:embed="rId2"/>
            <a:stretch>
              <a:fillRect l="0" t="0" r="0" b="0"/>
            </a:stretch>
          </a:blipFill>
        </p:spPr>
      </p:sp>
      <p:graphicFrame>
        <p:nvGraphicFramePr>
          <p:cNvPr name="Object 5" id="5"/>
          <p:cNvGraphicFramePr/>
          <p:nvPr/>
        </p:nvGraphicFramePr>
        <p:xfrm>
          <a:off x="576116" y="1724660"/>
          <a:ext cx="4829175" cy="4114800"/>
        </p:xfrm>
        <a:graphic>
          <a:graphicData uri="http://schemas.openxmlformats.org/presentationml/2006/ole">
            <p:oleObj imgW="5791200" imgH="50673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6" id="6"/>
          <p:cNvSpPr txBox="true"/>
          <p:nvPr/>
        </p:nvSpPr>
        <p:spPr>
          <a:xfrm rot="0">
            <a:off x="7589454" y="8154255"/>
            <a:ext cx="9088636" cy="715010"/>
          </a:xfrm>
          <a:prstGeom prst="rect">
            <a:avLst/>
          </a:prstGeom>
        </p:spPr>
        <p:txBody>
          <a:bodyPr anchor="t" rtlCol="false" tIns="0" lIns="0" bIns="0" rIns="0">
            <a:spAutoFit/>
          </a:bodyPr>
          <a:lstStyle/>
          <a:p>
            <a:pPr algn="ctr">
              <a:lnSpc>
                <a:spcPts val="2859"/>
              </a:lnSpc>
              <a:spcBef>
                <a:spcPct val="0"/>
              </a:spcBef>
            </a:pPr>
            <a:r>
              <a:rPr lang="en-US" b="true" sz="2199" spc="-65">
                <a:solidFill>
                  <a:srgbClr val="000000"/>
                </a:solidFill>
                <a:latin typeface="Muli Ultra-Bold"/>
                <a:ea typeface="Muli Ultra-Bold"/>
                <a:cs typeface="Muli Ultra-Bold"/>
                <a:sym typeface="Muli Ultra-Bold"/>
              </a:rPr>
              <a:t>Bullish (High) |8 EMA 29,811 | 21 EMA 28,983| Invalidate: close &lt; 29,600</a:t>
            </a:r>
          </a:p>
          <a:p>
            <a:pPr algn="ctr">
              <a:lnSpc>
                <a:spcPts val="2859"/>
              </a:lnSpc>
              <a:spcBef>
                <a:spcPct val="0"/>
              </a:spcBef>
            </a:pPr>
          </a:p>
        </p:txBody>
      </p:sp>
      <p:sp>
        <p:nvSpPr>
          <p:cNvPr name="TextBox 7" id="7"/>
          <p:cNvSpPr txBox="true"/>
          <p:nvPr/>
        </p:nvSpPr>
        <p:spPr>
          <a:xfrm rot="0">
            <a:off x="9614622" y="423194"/>
            <a:ext cx="4754910" cy="715010"/>
          </a:xfrm>
          <a:prstGeom prst="rect">
            <a:avLst/>
          </a:prstGeom>
        </p:spPr>
        <p:txBody>
          <a:bodyPr anchor="t" rtlCol="false" tIns="0" lIns="0" bIns="0" rIns="0">
            <a:spAutoFit/>
          </a:bodyPr>
          <a:lstStyle/>
          <a:p>
            <a:pPr algn="ctr">
              <a:lnSpc>
                <a:spcPts val="2859"/>
              </a:lnSpc>
              <a:spcBef>
                <a:spcPct val="0"/>
              </a:spcBef>
            </a:pPr>
            <a:r>
              <a:rPr lang="en-US" b="true" sz="2199" spc="-65">
                <a:solidFill>
                  <a:srgbClr val="222222"/>
                </a:solidFill>
                <a:latin typeface="Muli Ultra-Bold"/>
                <a:ea typeface="Muli Ultra-Bold"/>
                <a:cs typeface="Muli Ultra-Bold"/>
                <a:sym typeface="Muli Ultra-Bold"/>
              </a:rPr>
              <a:t>Nasdaq</a:t>
            </a:r>
            <a:r>
              <a:rPr lang="en-US" b="true" sz="2199" spc="-65">
                <a:solidFill>
                  <a:srgbClr val="222222"/>
                </a:solidFill>
                <a:latin typeface="Muli Ultra-Bold"/>
                <a:ea typeface="Muli Ultra-Bold"/>
                <a:cs typeface="Muli Ultra-Bold"/>
                <a:sym typeface="Muli Ultra-Bold"/>
              </a:rPr>
              <a:t> 100 (NDX) —Close 30,333.18</a:t>
            </a:r>
          </a:p>
          <a:p>
            <a:pPr algn="ctr">
              <a:lnSpc>
                <a:spcPts val="2859"/>
              </a:lnSpc>
              <a:spcBef>
                <a:spcPct val="0"/>
              </a:spcBef>
            </a:pPr>
          </a:p>
        </p:txBody>
      </p:sp>
      <p:sp>
        <p:nvSpPr>
          <p:cNvPr name="TextBox 8" id="8"/>
          <p:cNvSpPr txBox="true"/>
          <p:nvPr/>
        </p:nvSpPr>
        <p:spPr>
          <a:xfrm rot="0">
            <a:off x="549401" y="465705"/>
            <a:ext cx="2345219" cy="696980"/>
          </a:xfrm>
          <a:prstGeom prst="rect">
            <a:avLst/>
          </a:prstGeom>
        </p:spPr>
        <p:txBody>
          <a:bodyPr anchor="t" rtlCol="false" tIns="0" lIns="0" bIns="0" rIns="0">
            <a:spAutoFit/>
          </a:bodyPr>
          <a:lstStyle/>
          <a:p>
            <a:pPr algn="ctr">
              <a:lnSpc>
                <a:spcPts val="2785"/>
              </a:lnSpc>
              <a:spcBef>
                <a:spcPct val="0"/>
              </a:spcBef>
            </a:pPr>
            <a:r>
              <a:rPr lang="en-US" b="true" sz="2143" spc="-64">
                <a:solidFill>
                  <a:srgbClr val="222222"/>
                </a:solidFill>
                <a:latin typeface="Muli Ultra-Bold"/>
                <a:ea typeface="Muli Ultra-Bold"/>
                <a:cs typeface="Muli Ultra-Bold"/>
                <a:sym typeface="Muli Ultra-Bold"/>
              </a:rPr>
              <a:t>Nasdaq</a:t>
            </a:r>
            <a:r>
              <a:rPr lang="en-US" b="true" sz="2143" spc="-64">
                <a:solidFill>
                  <a:srgbClr val="222222"/>
                </a:solidFill>
                <a:latin typeface="Muli Ultra-Bold"/>
                <a:ea typeface="Muli Ultra-Bold"/>
                <a:cs typeface="Muli Ultra-Bold"/>
                <a:sym typeface="Muli Ultra-Bold"/>
              </a:rPr>
              <a:t> 100 (NDX)</a:t>
            </a:r>
          </a:p>
          <a:p>
            <a:pPr algn="ctr">
              <a:lnSpc>
                <a:spcPts val="2785"/>
              </a:lnSpc>
              <a:spcBef>
                <a:spcPct val="0"/>
              </a:spcBef>
            </a:pPr>
          </a:p>
        </p:txBody>
      </p:sp>
      <p:sp>
        <p:nvSpPr>
          <p:cNvPr name="TextBox 9" id="9"/>
          <p:cNvSpPr txBox="true"/>
          <p:nvPr/>
        </p:nvSpPr>
        <p:spPr>
          <a:xfrm rot="0">
            <a:off x="469778" y="1009650"/>
            <a:ext cx="5041850" cy="715010"/>
          </a:xfrm>
          <a:prstGeom prst="rect">
            <a:avLst/>
          </a:prstGeom>
        </p:spPr>
        <p:txBody>
          <a:bodyPr anchor="t" rtlCol="false" tIns="0" lIns="0" bIns="0" rIns="0">
            <a:spAutoFit/>
          </a:bodyPr>
          <a:lstStyle/>
          <a:p>
            <a:pPr algn="ctr">
              <a:lnSpc>
                <a:spcPts val="2859"/>
              </a:lnSpc>
              <a:spcBef>
                <a:spcPct val="0"/>
              </a:spcBef>
            </a:pPr>
            <a:r>
              <a:rPr lang="en-US" b="true" sz="2199" spc="-65">
                <a:solidFill>
                  <a:srgbClr val="222222"/>
                </a:solidFill>
                <a:latin typeface="Muli Ultra-Bold"/>
                <a:ea typeface="Muli Ultra-Bold"/>
                <a:cs typeface="Muli Ultra-Bold"/>
                <a:sym typeface="Muli Ultra-Bold"/>
              </a:rPr>
              <a:t>Close 30,333.18 · Week of May 30, 2026</a:t>
            </a:r>
          </a:p>
          <a:p>
            <a:pPr algn="ctr">
              <a:lnSpc>
                <a:spcPts val="2859"/>
              </a:lnSpc>
              <a:spcBef>
                <a:spcPct val="0"/>
              </a:spcBef>
            </a:pPr>
          </a:p>
        </p:txBody>
      </p:sp>
      <p:sp>
        <p:nvSpPr>
          <p:cNvPr name="TextBox 10" id="10"/>
          <p:cNvSpPr txBox="true"/>
          <p:nvPr/>
        </p:nvSpPr>
        <p:spPr>
          <a:xfrm rot="0">
            <a:off x="549401" y="6131941"/>
            <a:ext cx="5824835" cy="2021205"/>
          </a:xfrm>
          <a:prstGeom prst="rect">
            <a:avLst/>
          </a:prstGeom>
        </p:spPr>
        <p:txBody>
          <a:bodyPr anchor="t" rtlCol="false" tIns="0" lIns="0" bIns="0" rIns="0">
            <a:spAutoFit/>
          </a:bodyPr>
          <a:lstStyle/>
          <a:p>
            <a:pPr algn="l">
              <a:lnSpc>
                <a:spcPts val="3299"/>
              </a:lnSpc>
            </a:pPr>
            <a:r>
              <a:rPr lang="en-US" b="true" sz="2199" spc="-65">
                <a:solidFill>
                  <a:srgbClr val="222222"/>
                </a:solidFill>
                <a:latin typeface="Muli Ultra-Bold"/>
                <a:ea typeface="Muli Ultra-Bold"/>
                <a:cs typeface="Muli Ultra-Bold"/>
                <a:sym typeface="Muli Ultra-Bold"/>
              </a:rPr>
              <a:t>Bias: </a:t>
            </a:r>
            <a:r>
              <a:rPr lang="en-US" b="true" sz="2199" spc="-65">
                <a:solidFill>
                  <a:srgbClr val="1B7D3A"/>
                </a:solidFill>
                <a:latin typeface="Muli Ultra-Bold"/>
                <a:ea typeface="Muli Ultra-Bold"/>
                <a:cs typeface="Muli Ultra-Bold"/>
                <a:sym typeface="Muli Ultra-Bold"/>
              </a:rPr>
              <a:t>Bullish</a:t>
            </a:r>
          </a:p>
          <a:p>
            <a:pPr algn="l">
              <a:lnSpc>
                <a:spcPts val="3299"/>
              </a:lnSpc>
            </a:pPr>
            <a:r>
              <a:rPr lang="en-US" b="true" sz="2199" spc="-65">
                <a:solidFill>
                  <a:srgbClr val="222222"/>
                </a:solidFill>
                <a:latin typeface="Muli Ultra-Bold"/>
                <a:ea typeface="Muli Ultra-Bold"/>
                <a:cs typeface="Muli Ultra-Bold"/>
                <a:sym typeface="Muli Ultra-Bold"/>
              </a:rPr>
              <a:t>Confidence: High</a:t>
            </a:r>
          </a:p>
          <a:p>
            <a:pPr algn="l">
              <a:lnSpc>
                <a:spcPts val="3299"/>
              </a:lnSpc>
            </a:pPr>
            <a:r>
              <a:rPr lang="en-US" b="true" sz="2199" spc="-65">
                <a:solidFill>
                  <a:srgbClr val="C0392B"/>
                </a:solidFill>
                <a:latin typeface="Muli Ultra-Bold"/>
                <a:ea typeface="Muli Ultra-Bold"/>
                <a:cs typeface="Muli Ultra-Bold"/>
                <a:sym typeface="Muli Ultra-Bold"/>
              </a:rPr>
              <a:t>Invalidation: Close below 29,600</a:t>
            </a:r>
          </a:p>
          <a:p>
            <a:pPr algn="l">
              <a:lnSpc>
                <a:spcPts val="3299"/>
              </a:lnSpc>
            </a:pPr>
            <a:r>
              <a:rPr lang="en-US" b="true" sz="2199" spc="-65">
                <a:solidFill>
                  <a:srgbClr val="222222"/>
                </a:solidFill>
                <a:latin typeface="Muli Ultra-Bold"/>
                <a:ea typeface="Muli Ultra-Bold"/>
                <a:cs typeface="Muli Ultra-Bold"/>
                <a:sym typeface="Muli Ultra-Bold"/>
              </a:rPr>
              <a:t>Watch: Push to 30,500? 29,696 holds on dips?</a:t>
            </a:r>
          </a:p>
          <a:p>
            <a:pPr algn="l">
              <a:lnSpc>
                <a:spcPts val="3299"/>
              </a:lnSpc>
            </a:pPr>
          </a:p>
        </p:txBody>
      </p:sp>
      <p:sp>
        <p:nvSpPr>
          <p:cNvPr name="TextBox 11" id="11"/>
          <p:cNvSpPr txBox="true"/>
          <p:nvPr/>
        </p:nvSpPr>
        <p:spPr>
          <a:xfrm rot="0">
            <a:off x="8401014" y="9050240"/>
            <a:ext cx="7784009" cy="715010"/>
          </a:xfrm>
          <a:prstGeom prst="rect">
            <a:avLst/>
          </a:prstGeom>
        </p:spPr>
        <p:txBody>
          <a:bodyPr anchor="t" rtlCol="false" tIns="0" lIns="0" bIns="0" rIns="0">
            <a:spAutoFit/>
          </a:bodyPr>
          <a:lstStyle/>
          <a:p>
            <a:pPr algn="ctr">
              <a:lnSpc>
                <a:spcPts val="2859"/>
              </a:lnSpc>
              <a:spcBef>
                <a:spcPct val="0"/>
              </a:spcBef>
            </a:pPr>
            <a:r>
              <a:rPr lang="en-US" b="true" sz="2199" spc="-65">
                <a:solidFill>
                  <a:srgbClr val="222222"/>
                </a:solidFill>
                <a:latin typeface="Muli Ultra-Bold"/>
                <a:ea typeface="Muli Ultra-Bold"/>
                <a:cs typeface="Muli Ultra-Bold"/>
                <a:sym typeface="Muli Ultra-Bold"/>
              </a:rPr>
              <a:t>St</a:t>
            </a:r>
            <a:r>
              <a:rPr lang="en-US" b="true" sz="2199" spc="-65">
                <a:solidFill>
                  <a:srgbClr val="222222"/>
                </a:solidFill>
                <a:latin typeface="Muli Ultra-Bold"/>
                <a:ea typeface="Muli Ultra-Bold"/>
                <a:cs typeface="Muli Ultra-Bold"/>
                <a:sym typeface="Muli Ultra-Bold"/>
              </a:rPr>
              <a:t>rongest chart — widest EMA gap. Tech leading the market.</a:t>
            </a:r>
          </a:p>
          <a:p>
            <a:pPr algn="ctr">
              <a:lnSpc>
                <a:spcPts val="2859"/>
              </a:lnSpc>
              <a:spcBef>
                <a:spcPct val="0"/>
              </a:spcBef>
            </a:pPr>
          </a:p>
        </p:txBody>
      </p:sp>
      <p:sp>
        <p:nvSpPr>
          <p:cNvPr name="TextBox 12" id="12"/>
          <p:cNvSpPr txBox="true"/>
          <p:nvPr/>
        </p:nvSpPr>
        <p:spPr>
          <a:xfrm rot="0">
            <a:off x="108496" y="66040"/>
            <a:ext cx="348704" cy="353060"/>
          </a:xfrm>
          <a:prstGeom prst="rect">
            <a:avLst/>
          </a:prstGeom>
        </p:spPr>
        <p:txBody>
          <a:bodyPr anchor="t" rtlCol="false" tIns="0" lIns="0" bIns="0" rIns="0">
            <a:spAutoFit/>
          </a:bodyPr>
          <a:lstStyle/>
          <a:p>
            <a:pPr algn="ctr">
              <a:lnSpc>
                <a:spcPts val="2859"/>
              </a:lnSpc>
              <a:spcBef>
                <a:spcPct val="0"/>
              </a:spcBef>
            </a:pPr>
            <a:r>
              <a:rPr lang="en-US" b="true" sz="2199" spc="-65">
                <a:solidFill>
                  <a:srgbClr val="000000"/>
                </a:solidFill>
                <a:latin typeface="Muli Ultra-Bold"/>
                <a:ea typeface="Muli Ultra-Bold"/>
                <a:cs typeface="Muli Ultra-Bold"/>
                <a:sym typeface="Muli Ultra-Bold"/>
              </a:rPr>
              <a:t>R5</a:t>
            </a:r>
          </a:p>
        </p:txBody>
      </p:sp>
      <p:sp>
        <p:nvSpPr>
          <p:cNvPr name="TextBox 13" id="13"/>
          <p:cNvSpPr txBox="true"/>
          <p:nvPr/>
        </p:nvSpPr>
        <p:spPr>
          <a:xfrm rot="0">
            <a:off x="0" y="9765250"/>
            <a:ext cx="18288000" cy="402590"/>
          </a:xfrm>
          <a:prstGeom prst="rect">
            <a:avLst/>
          </a:prstGeom>
        </p:spPr>
        <p:txBody>
          <a:bodyPr anchor="t" rtlCol="false" tIns="0" lIns="0" bIns="0" rIns="0">
            <a:spAutoFit/>
          </a:bodyPr>
          <a:lstStyle/>
          <a:p>
            <a:pPr algn="ctr">
              <a:lnSpc>
                <a:spcPts val="1690"/>
              </a:lnSpc>
              <a:spcBef>
                <a:spcPct val="0"/>
              </a:spcBef>
            </a:pPr>
            <a:r>
              <a:rPr lang="en-US" sz="1300" spc="-39">
                <a:solidFill>
                  <a:srgbClr val="000000"/>
                </a:solidFill>
                <a:latin typeface="Muli"/>
                <a:ea typeface="Muli"/>
                <a:cs typeface="Muli"/>
                <a:sym typeface="Muli"/>
              </a:rPr>
              <a:t>Moving to the Nasdaq 100, we see the absolute strongest chart in the market, perfectly aligning with our Data Lead's observation of Tech outperformance. Closing at 30,333, the NDX features the widest gap between the 8 and 21 EMAs, indicating intense, highly concentrated momentum. Our bias here is confidently Bullish. Again, maintaining our risk framework, I must state our specific invalidation level: this technology-led structural uptrend is invalidated only if we see a breakdown and a close below 29,600.</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6E7DE"/>
        </a:solidFill>
      </p:bgPr>
    </p:bg>
    <p:spTree>
      <p:nvGrpSpPr>
        <p:cNvPr id="1" name=""/>
        <p:cNvGrpSpPr/>
        <p:nvPr/>
      </p:nvGrpSpPr>
      <p:grpSpPr>
        <a:xfrm>
          <a:off x="0" y="0"/>
          <a:ext cx="0" cy="0"/>
          <a:chOff x="0" y="0"/>
          <a:chExt cx="0" cy="0"/>
        </a:xfrm>
      </p:grpSpPr>
      <p:grpSp>
        <p:nvGrpSpPr>
          <p:cNvPr name="Group 2" id="2"/>
          <p:cNvGrpSpPr/>
          <p:nvPr/>
        </p:nvGrpSpPr>
        <p:grpSpPr>
          <a:xfrm rot="0">
            <a:off x="-495300" y="0"/>
            <a:ext cx="7379779" cy="10287000"/>
            <a:chOff x="0" y="0"/>
            <a:chExt cx="2496370" cy="3479800"/>
          </a:xfrm>
        </p:grpSpPr>
        <p:sp>
          <p:nvSpPr>
            <p:cNvPr name="Freeform 3" id="3"/>
            <p:cNvSpPr/>
            <p:nvPr/>
          </p:nvSpPr>
          <p:spPr>
            <a:xfrm flipH="false" flipV="false" rot="0">
              <a:off x="0" y="0"/>
              <a:ext cx="2496370" cy="3479800"/>
            </a:xfrm>
            <a:custGeom>
              <a:avLst/>
              <a:gdLst/>
              <a:ahLst/>
              <a:cxnLst/>
              <a:rect r="r" b="b" t="t" l="l"/>
              <a:pathLst>
                <a:path h="3479800" w="2496370">
                  <a:moveTo>
                    <a:pt x="2371909" y="3479800"/>
                  </a:moveTo>
                  <a:lnTo>
                    <a:pt x="124460" y="3479800"/>
                  </a:lnTo>
                  <a:cubicBezTo>
                    <a:pt x="55880" y="3479800"/>
                    <a:pt x="0" y="3423920"/>
                    <a:pt x="0" y="3355340"/>
                  </a:cubicBezTo>
                  <a:lnTo>
                    <a:pt x="0" y="124460"/>
                  </a:lnTo>
                  <a:cubicBezTo>
                    <a:pt x="0" y="55880"/>
                    <a:pt x="55880" y="0"/>
                    <a:pt x="124460" y="0"/>
                  </a:cubicBezTo>
                  <a:lnTo>
                    <a:pt x="2371910" y="0"/>
                  </a:lnTo>
                  <a:cubicBezTo>
                    <a:pt x="2440490" y="0"/>
                    <a:pt x="2496370" y="55880"/>
                    <a:pt x="2496370" y="124460"/>
                  </a:cubicBezTo>
                  <a:lnTo>
                    <a:pt x="2496370" y="3355340"/>
                  </a:lnTo>
                  <a:cubicBezTo>
                    <a:pt x="2496370" y="3423920"/>
                    <a:pt x="2440490" y="3479800"/>
                    <a:pt x="2371910" y="3479800"/>
                  </a:cubicBezTo>
                  <a:close/>
                </a:path>
              </a:pathLst>
            </a:custGeom>
            <a:solidFill>
              <a:srgbClr val="FFFFFF"/>
            </a:solidFill>
          </p:spPr>
        </p:sp>
      </p:grpSp>
      <p:sp>
        <p:nvSpPr>
          <p:cNvPr name="Freeform 4" id="4"/>
          <p:cNvSpPr/>
          <p:nvPr/>
        </p:nvSpPr>
        <p:spPr>
          <a:xfrm flipH="false" flipV="false" rot="0">
            <a:off x="7760856" y="1376680"/>
            <a:ext cx="9865024" cy="6412265"/>
          </a:xfrm>
          <a:custGeom>
            <a:avLst/>
            <a:gdLst/>
            <a:ahLst/>
            <a:cxnLst/>
            <a:rect r="r" b="b" t="t" l="l"/>
            <a:pathLst>
              <a:path h="6412265" w="9865024">
                <a:moveTo>
                  <a:pt x="0" y="0"/>
                </a:moveTo>
                <a:lnTo>
                  <a:pt x="9865024" y="0"/>
                </a:lnTo>
                <a:lnTo>
                  <a:pt x="9865024" y="6412265"/>
                </a:lnTo>
                <a:lnTo>
                  <a:pt x="0" y="6412265"/>
                </a:lnTo>
                <a:lnTo>
                  <a:pt x="0" y="0"/>
                </a:lnTo>
                <a:close/>
              </a:path>
            </a:pathLst>
          </a:custGeom>
          <a:blipFill>
            <a:blip r:embed="rId2"/>
            <a:stretch>
              <a:fillRect l="0" t="0" r="0" b="0"/>
            </a:stretch>
          </a:blipFill>
        </p:spPr>
      </p:sp>
      <p:graphicFrame>
        <p:nvGraphicFramePr>
          <p:cNvPr name="Object 5" id="5"/>
          <p:cNvGraphicFramePr/>
          <p:nvPr/>
        </p:nvGraphicFramePr>
        <p:xfrm>
          <a:off x="919903" y="1780237"/>
          <a:ext cx="4829175" cy="4114800"/>
        </p:xfrm>
        <a:graphic>
          <a:graphicData uri="http://schemas.openxmlformats.org/presentationml/2006/ole">
            <p:oleObj imgW="5791200" imgH="50673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6" id="6"/>
          <p:cNvSpPr txBox="true"/>
          <p:nvPr/>
        </p:nvSpPr>
        <p:spPr>
          <a:xfrm rot="0">
            <a:off x="7426413" y="8154255"/>
            <a:ext cx="9414718" cy="715010"/>
          </a:xfrm>
          <a:prstGeom prst="rect">
            <a:avLst/>
          </a:prstGeom>
        </p:spPr>
        <p:txBody>
          <a:bodyPr anchor="t" rtlCol="false" tIns="0" lIns="0" bIns="0" rIns="0">
            <a:spAutoFit/>
          </a:bodyPr>
          <a:lstStyle/>
          <a:p>
            <a:pPr algn="ctr">
              <a:lnSpc>
                <a:spcPts val="2859"/>
              </a:lnSpc>
              <a:spcBef>
                <a:spcPct val="0"/>
              </a:spcBef>
            </a:pPr>
            <a:r>
              <a:rPr lang="en-US" b="true" sz="2199" spc="-65">
                <a:solidFill>
                  <a:srgbClr val="000000"/>
                </a:solidFill>
                <a:latin typeface="Muli Ultra-Bold"/>
                <a:ea typeface="Muli Ultra-Bold"/>
                <a:cs typeface="Muli Ultra-Bold"/>
                <a:sym typeface="Muli Ultra-Bold"/>
              </a:rPr>
              <a:t>Neutral-</a:t>
            </a:r>
            <a:r>
              <a:rPr lang="en-US" b="true" sz="2199" spc="-65">
                <a:solidFill>
                  <a:srgbClr val="000000"/>
                </a:solidFill>
                <a:latin typeface="Muli Ultra-Bold"/>
                <a:ea typeface="Muli Ultra-Bold"/>
                <a:cs typeface="Muli Ultra-Bold"/>
                <a:sym typeface="Muli Ultra-Bold"/>
              </a:rPr>
              <a:t>Bullish (Medium) | 8 EMA 287| 21 EMA 282 |Invalidate: close &lt; 285</a:t>
            </a:r>
          </a:p>
          <a:p>
            <a:pPr algn="ctr">
              <a:lnSpc>
                <a:spcPts val="2859"/>
              </a:lnSpc>
              <a:spcBef>
                <a:spcPct val="0"/>
              </a:spcBef>
            </a:pPr>
          </a:p>
        </p:txBody>
      </p:sp>
      <p:sp>
        <p:nvSpPr>
          <p:cNvPr name="TextBox 7" id="7"/>
          <p:cNvSpPr txBox="true"/>
          <p:nvPr/>
        </p:nvSpPr>
        <p:spPr>
          <a:xfrm rot="0">
            <a:off x="9770519" y="423194"/>
            <a:ext cx="4443115" cy="715010"/>
          </a:xfrm>
          <a:prstGeom prst="rect">
            <a:avLst/>
          </a:prstGeom>
        </p:spPr>
        <p:txBody>
          <a:bodyPr anchor="t" rtlCol="false" tIns="0" lIns="0" bIns="0" rIns="0">
            <a:spAutoFit/>
          </a:bodyPr>
          <a:lstStyle/>
          <a:p>
            <a:pPr algn="ctr">
              <a:lnSpc>
                <a:spcPts val="2859"/>
              </a:lnSpc>
              <a:spcBef>
                <a:spcPct val="0"/>
              </a:spcBef>
            </a:pPr>
            <a:r>
              <a:rPr lang="en-US" b="true" sz="2199" spc="-65">
                <a:solidFill>
                  <a:srgbClr val="222222"/>
                </a:solidFill>
                <a:latin typeface="Muli Ultra-Bold"/>
                <a:ea typeface="Muli Ultra-Bold"/>
                <a:cs typeface="Muli Ultra-Bold"/>
                <a:sym typeface="Muli Ultra-Bold"/>
              </a:rPr>
              <a:t>Russell</a:t>
            </a:r>
            <a:r>
              <a:rPr lang="en-US" b="true" sz="2199" spc="-65">
                <a:solidFill>
                  <a:srgbClr val="222222"/>
                </a:solidFill>
                <a:latin typeface="Muli Ultra-Bold"/>
                <a:ea typeface="Muli Ultra-Bold"/>
                <a:cs typeface="Muli Ultra-Bold"/>
                <a:sym typeface="Muli Ultra-Bold"/>
              </a:rPr>
              <a:t> 2000 (IWM) —Close 290.43</a:t>
            </a:r>
          </a:p>
          <a:p>
            <a:pPr algn="ctr">
              <a:lnSpc>
                <a:spcPts val="2859"/>
              </a:lnSpc>
              <a:spcBef>
                <a:spcPct val="0"/>
              </a:spcBef>
            </a:pPr>
          </a:p>
        </p:txBody>
      </p:sp>
      <p:sp>
        <p:nvSpPr>
          <p:cNvPr name="TextBox 8" id="8"/>
          <p:cNvSpPr txBox="true"/>
          <p:nvPr/>
        </p:nvSpPr>
        <p:spPr>
          <a:xfrm rot="0">
            <a:off x="549401" y="6131941"/>
            <a:ext cx="5524202" cy="2021205"/>
          </a:xfrm>
          <a:prstGeom prst="rect">
            <a:avLst/>
          </a:prstGeom>
        </p:spPr>
        <p:txBody>
          <a:bodyPr anchor="t" rtlCol="false" tIns="0" lIns="0" bIns="0" rIns="0">
            <a:spAutoFit/>
          </a:bodyPr>
          <a:lstStyle/>
          <a:p>
            <a:pPr algn="l">
              <a:lnSpc>
                <a:spcPts val="3299"/>
              </a:lnSpc>
            </a:pPr>
            <a:r>
              <a:rPr lang="en-US" b="true" sz="2199" spc="-65">
                <a:solidFill>
                  <a:srgbClr val="222222"/>
                </a:solidFill>
                <a:latin typeface="Muli Ultra-Bold"/>
                <a:ea typeface="Muli Ultra-Bold"/>
                <a:cs typeface="Muli Ultra-Bold"/>
                <a:sym typeface="Muli Ultra-Bold"/>
              </a:rPr>
              <a:t>Bias:</a:t>
            </a:r>
            <a:r>
              <a:rPr lang="en-US" b="true" sz="2199" spc="-65">
                <a:solidFill>
                  <a:srgbClr val="1B7D3A"/>
                </a:solidFill>
                <a:latin typeface="Muli Ultra-Bold"/>
                <a:ea typeface="Muli Ultra-Bold"/>
                <a:cs typeface="Muli Ultra-Bold"/>
                <a:sym typeface="Muli Ultra-Bold"/>
              </a:rPr>
              <a:t> Neutral-Bullish</a:t>
            </a:r>
          </a:p>
          <a:p>
            <a:pPr algn="l">
              <a:lnSpc>
                <a:spcPts val="3299"/>
              </a:lnSpc>
            </a:pPr>
            <a:r>
              <a:rPr lang="en-US" b="true" sz="2199" spc="-65">
                <a:solidFill>
                  <a:srgbClr val="222222"/>
                </a:solidFill>
                <a:latin typeface="Muli Ultra-Bold"/>
                <a:ea typeface="Muli Ultra-Bold"/>
                <a:cs typeface="Muli Ultra-Bold"/>
                <a:sym typeface="Muli Ultra-Bold"/>
              </a:rPr>
              <a:t>Confidence: Medium</a:t>
            </a:r>
          </a:p>
          <a:p>
            <a:pPr algn="l">
              <a:lnSpc>
                <a:spcPts val="3299"/>
              </a:lnSpc>
            </a:pPr>
            <a:r>
              <a:rPr lang="en-US" b="true" sz="2199" spc="-65">
                <a:solidFill>
                  <a:srgbClr val="C0392B"/>
                </a:solidFill>
                <a:latin typeface="Muli Ultra-Bold"/>
                <a:ea typeface="Muli Ultra-Bold"/>
                <a:cs typeface="Muli Ultra-Bold"/>
                <a:sym typeface="Muli Ultra-Bold"/>
              </a:rPr>
              <a:t>Invalidation: Close below 285</a:t>
            </a:r>
          </a:p>
          <a:p>
            <a:pPr algn="l">
              <a:lnSpc>
                <a:spcPts val="3299"/>
              </a:lnSpc>
            </a:pPr>
            <a:r>
              <a:rPr lang="en-US" b="true" sz="2199" spc="-65">
                <a:solidFill>
                  <a:srgbClr val="222222"/>
                </a:solidFill>
                <a:latin typeface="Muli Ultra-Bold"/>
                <a:ea typeface="Muli Ultra-Bold"/>
                <a:cs typeface="Muli Ultra-Bold"/>
                <a:sym typeface="Muli Ultra-Bold"/>
              </a:rPr>
              <a:t>Watch: Stay above 286? Move toward 295?</a:t>
            </a:r>
          </a:p>
          <a:p>
            <a:pPr algn="l">
              <a:lnSpc>
                <a:spcPts val="3299"/>
              </a:lnSpc>
            </a:pPr>
          </a:p>
        </p:txBody>
      </p:sp>
      <p:sp>
        <p:nvSpPr>
          <p:cNvPr name="TextBox 9" id="9"/>
          <p:cNvSpPr txBox="true"/>
          <p:nvPr/>
        </p:nvSpPr>
        <p:spPr>
          <a:xfrm rot="0">
            <a:off x="7953413" y="9050240"/>
            <a:ext cx="8679210" cy="715010"/>
          </a:xfrm>
          <a:prstGeom prst="rect">
            <a:avLst/>
          </a:prstGeom>
        </p:spPr>
        <p:txBody>
          <a:bodyPr anchor="t" rtlCol="false" tIns="0" lIns="0" bIns="0" rIns="0">
            <a:spAutoFit/>
          </a:bodyPr>
          <a:lstStyle/>
          <a:p>
            <a:pPr algn="ctr">
              <a:lnSpc>
                <a:spcPts val="2859"/>
              </a:lnSpc>
              <a:spcBef>
                <a:spcPct val="0"/>
              </a:spcBef>
            </a:pPr>
            <a:r>
              <a:rPr lang="en-US" b="true" sz="2199" spc="-65">
                <a:solidFill>
                  <a:srgbClr val="222222"/>
                </a:solidFill>
                <a:latin typeface="Muli Ultra-Bold"/>
                <a:ea typeface="Muli Ultra-Bold"/>
                <a:cs typeface="Muli Ultra-Bold"/>
                <a:sym typeface="Muli Ultra-Bold"/>
              </a:rPr>
              <a:t>B</a:t>
            </a:r>
            <a:r>
              <a:rPr lang="en-US" b="true" sz="2199" spc="-65">
                <a:solidFill>
                  <a:srgbClr val="222222"/>
                </a:solidFill>
                <a:latin typeface="Muli Ultra-Bold"/>
                <a:ea typeface="Muli Ultra-Bold"/>
                <a:cs typeface="Muli Ultra-Bold"/>
                <a:sym typeface="Muli Ultra-Bold"/>
              </a:rPr>
              <a:t>reakout from sideways range. EMA gap still narrow — less certain.</a:t>
            </a:r>
          </a:p>
          <a:p>
            <a:pPr algn="ctr">
              <a:lnSpc>
                <a:spcPts val="2859"/>
              </a:lnSpc>
              <a:spcBef>
                <a:spcPct val="0"/>
              </a:spcBef>
            </a:pPr>
          </a:p>
        </p:txBody>
      </p:sp>
      <p:sp>
        <p:nvSpPr>
          <p:cNvPr name="TextBox 10" id="10"/>
          <p:cNvSpPr txBox="true"/>
          <p:nvPr/>
        </p:nvSpPr>
        <p:spPr>
          <a:xfrm rot="0">
            <a:off x="661320" y="771174"/>
            <a:ext cx="4658767" cy="715010"/>
          </a:xfrm>
          <a:prstGeom prst="rect">
            <a:avLst/>
          </a:prstGeom>
        </p:spPr>
        <p:txBody>
          <a:bodyPr anchor="t" rtlCol="false" tIns="0" lIns="0" bIns="0" rIns="0">
            <a:spAutoFit/>
          </a:bodyPr>
          <a:lstStyle/>
          <a:p>
            <a:pPr algn="ctr">
              <a:lnSpc>
                <a:spcPts val="2859"/>
              </a:lnSpc>
              <a:spcBef>
                <a:spcPct val="0"/>
              </a:spcBef>
            </a:pPr>
            <a:r>
              <a:rPr lang="en-US" b="true" sz="2199" spc="-65">
                <a:solidFill>
                  <a:srgbClr val="222222"/>
                </a:solidFill>
                <a:latin typeface="Muli Ultra-Bold"/>
                <a:ea typeface="Muli Ultra-Bold"/>
                <a:cs typeface="Muli Ultra-Bold"/>
                <a:sym typeface="Muli Ultra-Bold"/>
              </a:rPr>
              <a:t>Russell 2000 (IWM)</a:t>
            </a:r>
          </a:p>
          <a:p>
            <a:pPr algn="ctr">
              <a:lnSpc>
                <a:spcPts val="2859"/>
              </a:lnSpc>
              <a:spcBef>
                <a:spcPct val="0"/>
              </a:spcBef>
            </a:pPr>
            <a:r>
              <a:rPr lang="en-US" b="true" sz="2199" spc="-65">
                <a:solidFill>
                  <a:srgbClr val="222222"/>
                </a:solidFill>
                <a:latin typeface="Muli Ultra-Bold"/>
                <a:ea typeface="Muli Ultra-Bold"/>
                <a:cs typeface="Muli Ultra-Bold"/>
                <a:sym typeface="Muli Ultra-Bold"/>
              </a:rPr>
              <a:t>Close 290.43 · Week of May 30, 2026</a:t>
            </a:r>
          </a:p>
        </p:txBody>
      </p:sp>
      <p:sp>
        <p:nvSpPr>
          <p:cNvPr name="TextBox 11" id="11"/>
          <p:cNvSpPr txBox="true"/>
          <p:nvPr/>
        </p:nvSpPr>
        <p:spPr>
          <a:xfrm rot="0">
            <a:off x="108521" y="66040"/>
            <a:ext cx="348655" cy="353060"/>
          </a:xfrm>
          <a:prstGeom prst="rect">
            <a:avLst/>
          </a:prstGeom>
        </p:spPr>
        <p:txBody>
          <a:bodyPr anchor="t" rtlCol="false" tIns="0" lIns="0" bIns="0" rIns="0">
            <a:spAutoFit/>
          </a:bodyPr>
          <a:lstStyle/>
          <a:p>
            <a:pPr algn="ctr">
              <a:lnSpc>
                <a:spcPts val="2859"/>
              </a:lnSpc>
              <a:spcBef>
                <a:spcPct val="0"/>
              </a:spcBef>
            </a:pPr>
            <a:r>
              <a:rPr lang="en-US" b="true" sz="2199" spc="-65">
                <a:solidFill>
                  <a:srgbClr val="000000"/>
                </a:solidFill>
                <a:latin typeface="Muli Ultra-Bold"/>
                <a:ea typeface="Muli Ultra-Bold"/>
                <a:cs typeface="Muli Ultra-Bold"/>
                <a:sym typeface="Muli Ultra-Bold"/>
              </a:rPr>
              <a:t>R5</a:t>
            </a:r>
          </a:p>
        </p:txBody>
      </p:sp>
      <p:sp>
        <p:nvSpPr>
          <p:cNvPr name="TextBox 12" id="12"/>
          <p:cNvSpPr txBox="true"/>
          <p:nvPr/>
        </p:nvSpPr>
        <p:spPr>
          <a:xfrm rot="0">
            <a:off x="108521" y="9674860"/>
            <a:ext cx="18288000" cy="612140"/>
          </a:xfrm>
          <a:prstGeom prst="rect">
            <a:avLst/>
          </a:prstGeom>
        </p:spPr>
        <p:txBody>
          <a:bodyPr anchor="t" rtlCol="false" tIns="0" lIns="0" bIns="0" rIns="0">
            <a:spAutoFit/>
          </a:bodyPr>
          <a:lstStyle/>
          <a:p>
            <a:pPr algn="ctr">
              <a:lnSpc>
                <a:spcPts val="1690"/>
              </a:lnSpc>
              <a:spcBef>
                <a:spcPct val="0"/>
              </a:spcBef>
            </a:pPr>
            <a:r>
              <a:rPr lang="en-US" sz="1300" spc="-39">
                <a:solidFill>
                  <a:srgbClr val="000000"/>
                </a:solidFill>
                <a:latin typeface="Muli"/>
                <a:ea typeface="Muli"/>
                <a:cs typeface="Muli"/>
                <a:sym typeface="Muli"/>
              </a:rPr>
              <a:t>Finally, looking at the Russell 2000 small caps, the technical picture reveals underlying hesitation. While the IWM closed at 290.43 and staged a breakout from a sideways range, the gap between the EMAs remains extremely narrow, signaling much less certainty than the mega-caps. Because of this fragility, our bias is downgraded to Neutral-Bullish with Medium confidence. For the small caps, I must state our specific invalidation level: this breakout fails, and our thesis is invalidated, if the price closes below 285. I will now hand over to R6 to reveal how the AI models interpreted these exact technical divergences.</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81A1B"/>
            </a:solidFill>
          </p:spPr>
        </p:sp>
      </p:grpSp>
      <p:grpSp>
        <p:nvGrpSpPr>
          <p:cNvPr name="Group 4" id="4"/>
          <p:cNvGrpSpPr/>
          <p:nvPr/>
        </p:nvGrpSpPr>
        <p:grpSpPr>
          <a:xfrm rot="0">
            <a:off x="-76" y="-21108"/>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11213"/>
            </a:solidFill>
          </p:spPr>
        </p:sp>
      </p:grpSp>
      <p:sp>
        <p:nvSpPr>
          <p:cNvPr name="TextBox 6" id="6"/>
          <p:cNvSpPr txBox="true"/>
          <p:nvPr/>
        </p:nvSpPr>
        <p:spPr>
          <a:xfrm rot="0">
            <a:off x="1886245" y="562870"/>
            <a:ext cx="12456166" cy="584749"/>
          </a:xfrm>
          <a:prstGeom prst="rect">
            <a:avLst/>
          </a:prstGeom>
        </p:spPr>
        <p:txBody>
          <a:bodyPr anchor="t" rtlCol="false" tIns="0" lIns="0" bIns="0" rIns="0">
            <a:spAutoFit/>
          </a:bodyPr>
          <a:lstStyle/>
          <a:p>
            <a:pPr algn="l">
              <a:lnSpc>
                <a:spcPts val="4492"/>
              </a:lnSpc>
            </a:pPr>
            <a:r>
              <a:rPr lang="en-US" sz="3600" b="true">
                <a:solidFill>
                  <a:srgbClr val="FFFFFF"/>
                </a:solidFill>
                <a:latin typeface="Montserrat Bold"/>
                <a:ea typeface="Montserrat Bold"/>
                <a:cs typeface="Montserrat Bold"/>
                <a:sym typeface="Montserrat Bold"/>
              </a:rPr>
              <a:t>LLM Synthesis: The Shared Prompt Architecture</a:t>
            </a:r>
          </a:p>
        </p:txBody>
      </p:sp>
      <p:sp>
        <p:nvSpPr>
          <p:cNvPr name="TextBox 7" id="7"/>
          <p:cNvSpPr txBox="true"/>
          <p:nvPr/>
        </p:nvSpPr>
        <p:spPr>
          <a:xfrm rot="0">
            <a:off x="1886245" y="1441694"/>
            <a:ext cx="14515357" cy="540839"/>
          </a:xfrm>
          <a:prstGeom prst="rect">
            <a:avLst/>
          </a:prstGeom>
        </p:spPr>
        <p:txBody>
          <a:bodyPr anchor="t" rtlCol="false" tIns="0" lIns="0" bIns="0" rIns="0">
            <a:spAutoFit/>
          </a:bodyPr>
          <a:lstStyle/>
          <a:p>
            <a:pPr algn="l">
              <a:lnSpc>
                <a:spcPts val="1962"/>
              </a:lnSpc>
            </a:pPr>
            <a:r>
              <a:rPr lang="en-US" sz="1500">
                <a:solidFill>
                  <a:srgbClr val="E2E6E9"/>
                </a:solidFill>
                <a:latin typeface="Source Sans 3"/>
                <a:ea typeface="Source Sans 3"/>
                <a:cs typeface="Source Sans 3"/>
                <a:sym typeface="Source Sans 3"/>
              </a:rPr>
              <a:t>A rigorous, zero-bias stress-test methodology feeding an identical structured payload into four frontier language models simultaneously — Claude, ChatGPT, Gemini, and DeepSeek — to benchmark AI-driven market regime detection.</a:t>
            </a:r>
          </a:p>
        </p:txBody>
      </p:sp>
      <p:grpSp>
        <p:nvGrpSpPr>
          <p:cNvPr name="Group 8" id="8"/>
          <p:cNvGrpSpPr/>
          <p:nvPr/>
        </p:nvGrpSpPr>
        <p:grpSpPr>
          <a:xfrm rot="0">
            <a:off x="1740541" y="2153250"/>
            <a:ext cx="5500983" cy="5938284"/>
            <a:chOff x="0" y="0"/>
            <a:chExt cx="7334644" cy="7917712"/>
          </a:xfrm>
        </p:grpSpPr>
        <p:sp>
          <p:nvSpPr>
            <p:cNvPr name="Freeform 9" id="9"/>
            <p:cNvSpPr/>
            <p:nvPr/>
          </p:nvSpPr>
          <p:spPr>
            <a:xfrm flipH="false" flipV="false" rot="0">
              <a:off x="0" y="0"/>
              <a:ext cx="7334631" cy="7917788"/>
            </a:xfrm>
            <a:custGeom>
              <a:avLst/>
              <a:gdLst/>
              <a:ahLst/>
              <a:cxnLst/>
              <a:rect r="r" b="b" t="t" l="l"/>
              <a:pathLst>
                <a:path h="7917788" w="7334631">
                  <a:moveTo>
                    <a:pt x="0" y="31817"/>
                  </a:moveTo>
                  <a:cubicBezTo>
                    <a:pt x="0" y="14263"/>
                    <a:pt x="18161" y="0"/>
                    <a:pt x="40513" y="0"/>
                  </a:cubicBezTo>
                  <a:lnTo>
                    <a:pt x="7294118" y="0"/>
                  </a:lnTo>
                  <a:cubicBezTo>
                    <a:pt x="7316470" y="0"/>
                    <a:pt x="7334631" y="14263"/>
                    <a:pt x="7334631" y="31817"/>
                  </a:cubicBezTo>
                  <a:lnTo>
                    <a:pt x="7334631" y="7885955"/>
                  </a:lnTo>
                  <a:cubicBezTo>
                    <a:pt x="7334631" y="7903509"/>
                    <a:pt x="7316470" y="7917788"/>
                    <a:pt x="7294118" y="7917788"/>
                  </a:cubicBezTo>
                  <a:lnTo>
                    <a:pt x="40513" y="7917788"/>
                  </a:lnTo>
                  <a:cubicBezTo>
                    <a:pt x="18161" y="7917788"/>
                    <a:pt x="0" y="7903509"/>
                    <a:pt x="0" y="7885955"/>
                  </a:cubicBezTo>
                  <a:close/>
                </a:path>
              </a:pathLst>
            </a:custGeom>
            <a:solidFill>
              <a:srgbClr val="1D1F22"/>
            </a:solidFill>
          </p:spPr>
        </p:sp>
      </p:grpSp>
      <p:sp>
        <p:nvSpPr>
          <p:cNvPr name="TextBox 10" id="10"/>
          <p:cNvSpPr txBox="true"/>
          <p:nvPr/>
        </p:nvSpPr>
        <p:spPr>
          <a:xfrm rot="0">
            <a:off x="1942948" y="2295525"/>
            <a:ext cx="3775177" cy="297066"/>
          </a:xfrm>
          <a:prstGeom prst="rect">
            <a:avLst/>
          </a:prstGeom>
        </p:spPr>
        <p:txBody>
          <a:bodyPr anchor="t" rtlCol="false" tIns="0" lIns="0" bIns="0" rIns="0">
            <a:spAutoFit/>
          </a:bodyPr>
          <a:lstStyle/>
          <a:p>
            <a:pPr algn="l">
              <a:lnSpc>
                <a:spcPts val="2246"/>
              </a:lnSpc>
            </a:pPr>
            <a:r>
              <a:rPr lang="en-US" sz="1800" b="true">
                <a:solidFill>
                  <a:srgbClr val="FFFFFF"/>
                </a:solidFill>
                <a:latin typeface="Montserrat Bold"/>
                <a:ea typeface="Montserrat Bold"/>
                <a:cs typeface="Montserrat Bold"/>
                <a:sym typeface="Montserrat Bold"/>
              </a:rPr>
              <a:t>Methodology Principles</a:t>
            </a:r>
          </a:p>
        </p:txBody>
      </p:sp>
      <p:sp>
        <p:nvSpPr>
          <p:cNvPr name="Freeform 11" id="11" descr="preencoded.png"/>
          <p:cNvSpPr/>
          <p:nvPr/>
        </p:nvSpPr>
        <p:spPr>
          <a:xfrm flipH="false" flipV="false" rot="0">
            <a:off x="2018852" y="2769470"/>
            <a:ext cx="303609" cy="303609"/>
          </a:xfrm>
          <a:custGeom>
            <a:avLst/>
            <a:gdLst/>
            <a:ahLst/>
            <a:cxnLst/>
            <a:rect r="r" b="b" t="t" l="l"/>
            <a:pathLst>
              <a:path h="303609" w="303609">
                <a:moveTo>
                  <a:pt x="0" y="0"/>
                </a:moveTo>
                <a:lnTo>
                  <a:pt x="303610" y="0"/>
                </a:lnTo>
                <a:lnTo>
                  <a:pt x="303610" y="303609"/>
                </a:lnTo>
                <a:lnTo>
                  <a:pt x="0" y="303609"/>
                </a:lnTo>
                <a:lnTo>
                  <a:pt x="0" y="0"/>
                </a:lnTo>
                <a:close/>
              </a:path>
            </a:pathLst>
          </a:custGeom>
          <a:blipFill>
            <a:blip r:embed="rId2">
              <a:extLst>
                <a:ext uri="{96DAC541-7B7A-43D3-8B79-37D633B846F1}">
                  <asvg:svgBlip xmlns:asvg="http://schemas.microsoft.com/office/drawing/2016/SVG/main" r:embed="rId3"/>
                </a:ext>
              </a:extLst>
            </a:blip>
            <a:stretch>
              <a:fillRect l="-9374" t="0" r="-9377" b="0"/>
            </a:stretch>
          </a:blipFill>
        </p:spPr>
      </p:sp>
      <p:sp>
        <p:nvSpPr>
          <p:cNvPr name="TextBox 12" id="12"/>
          <p:cNvSpPr txBox="true"/>
          <p:nvPr/>
        </p:nvSpPr>
        <p:spPr>
          <a:xfrm rot="0">
            <a:off x="2600916" y="2753763"/>
            <a:ext cx="3542557" cy="297066"/>
          </a:xfrm>
          <a:prstGeom prst="rect">
            <a:avLst/>
          </a:prstGeom>
        </p:spPr>
        <p:txBody>
          <a:bodyPr anchor="t" rtlCol="false" tIns="0" lIns="0" bIns="0" rIns="0">
            <a:spAutoFit/>
          </a:bodyPr>
          <a:lstStyle/>
          <a:p>
            <a:pPr algn="l">
              <a:lnSpc>
                <a:spcPts val="2246"/>
              </a:lnSpc>
            </a:pPr>
            <a:r>
              <a:rPr lang="en-US" sz="1800" b="true">
                <a:solidFill>
                  <a:srgbClr val="E2E6E9"/>
                </a:solidFill>
                <a:latin typeface="Montserrat Bold"/>
                <a:ea typeface="Montserrat Bold"/>
                <a:cs typeface="Montserrat Bold"/>
                <a:sym typeface="Montserrat Bold"/>
              </a:rPr>
              <a:t>Identical Prompt Distribution</a:t>
            </a:r>
          </a:p>
        </p:txBody>
      </p:sp>
      <p:sp>
        <p:nvSpPr>
          <p:cNvPr name="TextBox 13" id="13"/>
          <p:cNvSpPr txBox="true"/>
          <p:nvPr/>
        </p:nvSpPr>
        <p:spPr>
          <a:xfrm rot="0">
            <a:off x="2600916" y="3193104"/>
            <a:ext cx="4438202" cy="1072153"/>
          </a:xfrm>
          <a:prstGeom prst="rect">
            <a:avLst/>
          </a:prstGeom>
        </p:spPr>
        <p:txBody>
          <a:bodyPr anchor="t" rtlCol="false" tIns="0" lIns="0" bIns="0" rIns="0">
            <a:spAutoFit/>
          </a:bodyPr>
          <a:lstStyle/>
          <a:p>
            <a:pPr algn="l">
              <a:lnSpc>
                <a:spcPts val="1962"/>
              </a:lnSpc>
            </a:pPr>
            <a:r>
              <a:rPr lang="en-US" sz="1500">
                <a:solidFill>
                  <a:srgbClr val="E2E6E9"/>
                </a:solidFill>
                <a:latin typeface="Source Sans 3"/>
                <a:ea typeface="Source Sans 3"/>
                <a:cs typeface="Source Sans 3"/>
                <a:sym typeface="Source Sans 3"/>
              </a:rPr>
              <a:t>The exact same structured prompt payload was fed simultaneously into Claude, ChatGPT, Gemini, and DeepSeek — no model received preferential or altered input.</a:t>
            </a:r>
          </a:p>
        </p:txBody>
      </p:sp>
      <p:sp>
        <p:nvSpPr>
          <p:cNvPr name="Freeform 14" id="14" descr="preencoded.png"/>
          <p:cNvSpPr/>
          <p:nvPr/>
        </p:nvSpPr>
        <p:spPr>
          <a:xfrm flipH="false" flipV="false" rot="0">
            <a:off x="2018852" y="4575048"/>
            <a:ext cx="303609" cy="303609"/>
          </a:xfrm>
          <a:custGeom>
            <a:avLst/>
            <a:gdLst/>
            <a:ahLst/>
            <a:cxnLst/>
            <a:rect r="r" b="b" t="t" l="l"/>
            <a:pathLst>
              <a:path h="303609" w="303609">
                <a:moveTo>
                  <a:pt x="0" y="0"/>
                </a:moveTo>
                <a:lnTo>
                  <a:pt x="303610" y="0"/>
                </a:lnTo>
                <a:lnTo>
                  <a:pt x="303610" y="303609"/>
                </a:lnTo>
                <a:lnTo>
                  <a:pt x="0" y="303609"/>
                </a:lnTo>
                <a:lnTo>
                  <a:pt x="0" y="0"/>
                </a:lnTo>
                <a:close/>
              </a:path>
            </a:pathLst>
          </a:custGeom>
          <a:blipFill>
            <a:blip r:embed="rId2">
              <a:extLst>
                <a:ext uri="{96DAC541-7B7A-43D3-8B79-37D633B846F1}">
                  <asvg:svgBlip xmlns:asvg="http://schemas.microsoft.com/office/drawing/2016/SVG/main" r:embed="rId3"/>
                </a:ext>
              </a:extLst>
            </a:blip>
            <a:stretch>
              <a:fillRect l="-9374" t="0" r="-9377" b="0"/>
            </a:stretch>
          </a:blipFill>
        </p:spPr>
      </p:sp>
      <p:sp>
        <p:nvSpPr>
          <p:cNvPr name="TextBox 15" id="15"/>
          <p:cNvSpPr txBox="true"/>
          <p:nvPr/>
        </p:nvSpPr>
        <p:spPr>
          <a:xfrm rot="0">
            <a:off x="2600916" y="4559351"/>
            <a:ext cx="2884437" cy="297066"/>
          </a:xfrm>
          <a:prstGeom prst="rect">
            <a:avLst/>
          </a:prstGeom>
        </p:spPr>
        <p:txBody>
          <a:bodyPr anchor="t" rtlCol="false" tIns="0" lIns="0" bIns="0" rIns="0">
            <a:spAutoFit/>
          </a:bodyPr>
          <a:lstStyle/>
          <a:p>
            <a:pPr algn="l">
              <a:lnSpc>
                <a:spcPts val="2246"/>
              </a:lnSpc>
            </a:pPr>
            <a:r>
              <a:rPr lang="en-US" sz="1800" b="true">
                <a:solidFill>
                  <a:srgbClr val="E2E6E9"/>
                </a:solidFill>
                <a:latin typeface="Montserrat Bold"/>
                <a:ea typeface="Montserrat Bold"/>
                <a:cs typeface="Montserrat Bold"/>
                <a:sym typeface="Montserrat Bold"/>
              </a:rPr>
              <a:t>Zero Manual Alterations</a:t>
            </a:r>
          </a:p>
        </p:txBody>
      </p:sp>
      <p:sp>
        <p:nvSpPr>
          <p:cNvPr name="TextBox 16" id="16"/>
          <p:cNvSpPr txBox="true"/>
          <p:nvPr/>
        </p:nvSpPr>
        <p:spPr>
          <a:xfrm rot="0">
            <a:off x="2600916" y="4998691"/>
            <a:ext cx="4438202" cy="1072153"/>
          </a:xfrm>
          <a:prstGeom prst="rect">
            <a:avLst/>
          </a:prstGeom>
        </p:spPr>
        <p:txBody>
          <a:bodyPr anchor="t" rtlCol="false" tIns="0" lIns="0" bIns="0" rIns="0">
            <a:spAutoFit/>
          </a:bodyPr>
          <a:lstStyle/>
          <a:p>
            <a:pPr algn="l">
              <a:lnSpc>
                <a:spcPts val="1962"/>
              </a:lnSpc>
            </a:pPr>
            <a:r>
              <a:rPr lang="en-US" sz="1500">
                <a:solidFill>
                  <a:srgbClr val="E2E6E9"/>
                </a:solidFill>
                <a:latin typeface="Source Sans 3"/>
                <a:ea typeface="Source Sans 3"/>
                <a:cs typeface="Source Sans 3"/>
                <a:sym typeface="Source Sans 3"/>
              </a:rPr>
              <a:t>No human edits were made between model submissions, ensuring that any variation in regime calls derives strictly from each model's internal reasoning architecture.</a:t>
            </a:r>
          </a:p>
        </p:txBody>
      </p:sp>
      <p:sp>
        <p:nvSpPr>
          <p:cNvPr name="Freeform 17" id="17" descr="preencoded.png"/>
          <p:cNvSpPr/>
          <p:nvPr/>
        </p:nvSpPr>
        <p:spPr>
          <a:xfrm flipH="false" flipV="false" rot="0">
            <a:off x="2018852" y="6380636"/>
            <a:ext cx="303609" cy="303609"/>
          </a:xfrm>
          <a:custGeom>
            <a:avLst/>
            <a:gdLst/>
            <a:ahLst/>
            <a:cxnLst/>
            <a:rect r="r" b="b" t="t" l="l"/>
            <a:pathLst>
              <a:path h="303609" w="303609">
                <a:moveTo>
                  <a:pt x="0" y="0"/>
                </a:moveTo>
                <a:lnTo>
                  <a:pt x="303610" y="0"/>
                </a:lnTo>
                <a:lnTo>
                  <a:pt x="303610" y="303609"/>
                </a:lnTo>
                <a:lnTo>
                  <a:pt x="0" y="303609"/>
                </a:lnTo>
                <a:lnTo>
                  <a:pt x="0" y="0"/>
                </a:lnTo>
                <a:close/>
              </a:path>
            </a:pathLst>
          </a:custGeom>
          <a:blipFill>
            <a:blip r:embed="rId2">
              <a:extLst>
                <a:ext uri="{96DAC541-7B7A-43D3-8B79-37D633B846F1}">
                  <asvg:svgBlip xmlns:asvg="http://schemas.microsoft.com/office/drawing/2016/SVG/main" r:embed="rId3"/>
                </a:ext>
              </a:extLst>
            </a:blip>
            <a:stretch>
              <a:fillRect l="-9374" t="0" r="-9377" b="0"/>
            </a:stretch>
          </a:blipFill>
        </p:spPr>
      </p:sp>
      <p:sp>
        <p:nvSpPr>
          <p:cNvPr name="TextBox 18" id="18"/>
          <p:cNvSpPr txBox="true"/>
          <p:nvPr/>
        </p:nvSpPr>
        <p:spPr>
          <a:xfrm rot="0">
            <a:off x="2600916" y="6364929"/>
            <a:ext cx="3104702" cy="297066"/>
          </a:xfrm>
          <a:prstGeom prst="rect">
            <a:avLst/>
          </a:prstGeom>
        </p:spPr>
        <p:txBody>
          <a:bodyPr anchor="t" rtlCol="false" tIns="0" lIns="0" bIns="0" rIns="0">
            <a:spAutoFit/>
          </a:bodyPr>
          <a:lstStyle/>
          <a:p>
            <a:pPr algn="l">
              <a:lnSpc>
                <a:spcPts val="2246"/>
              </a:lnSpc>
            </a:pPr>
            <a:r>
              <a:rPr lang="en-US" sz="1800" b="true">
                <a:solidFill>
                  <a:srgbClr val="E2E6E9"/>
                </a:solidFill>
                <a:latin typeface="Montserrat Bold"/>
                <a:ea typeface="Montserrat Bold"/>
                <a:cs typeface="Montserrat Bold"/>
                <a:sym typeface="Montserrat Bold"/>
              </a:rPr>
              <a:t>Strict Constraint Mapping</a:t>
            </a:r>
          </a:p>
        </p:txBody>
      </p:sp>
      <p:sp>
        <p:nvSpPr>
          <p:cNvPr name="TextBox 19" id="19"/>
          <p:cNvSpPr txBox="true"/>
          <p:nvPr/>
        </p:nvSpPr>
        <p:spPr>
          <a:xfrm rot="0">
            <a:off x="2600916" y="6804269"/>
            <a:ext cx="4438202" cy="1072153"/>
          </a:xfrm>
          <a:prstGeom prst="rect">
            <a:avLst/>
          </a:prstGeom>
        </p:spPr>
        <p:txBody>
          <a:bodyPr anchor="t" rtlCol="false" tIns="0" lIns="0" bIns="0" rIns="0">
            <a:spAutoFit/>
          </a:bodyPr>
          <a:lstStyle/>
          <a:p>
            <a:pPr algn="l">
              <a:lnSpc>
                <a:spcPts val="1962"/>
              </a:lnSpc>
            </a:pPr>
            <a:r>
              <a:rPr lang="en-US" sz="1500">
                <a:solidFill>
                  <a:srgbClr val="E2E6E9"/>
                </a:solidFill>
                <a:latin typeface="Source Sans 3"/>
                <a:ea typeface="Source Sans 3"/>
                <a:cs typeface="Source Sans 3"/>
                <a:sym typeface="Source Sans 3"/>
              </a:rPr>
              <a:t>Output structure constraints were hardcoded into the system prompt to enforce uniform, comparable responses — eliminating format-driven divergence from the analysis.</a:t>
            </a:r>
          </a:p>
        </p:txBody>
      </p:sp>
      <p:sp>
        <p:nvSpPr>
          <p:cNvPr name="TextBox 20" id="20"/>
          <p:cNvSpPr txBox="true"/>
          <p:nvPr/>
        </p:nvSpPr>
        <p:spPr>
          <a:xfrm rot="0">
            <a:off x="7599159" y="1999955"/>
            <a:ext cx="5682263" cy="297066"/>
          </a:xfrm>
          <a:prstGeom prst="rect">
            <a:avLst/>
          </a:prstGeom>
        </p:spPr>
        <p:txBody>
          <a:bodyPr anchor="t" rtlCol="false" tIns="0" lIns="0" bIns="0" rIns="0">
            <a:spAutoFit/>
          </a:bodyPr>
          <a:lstStyle/>
          <a:p>
            <a:pPr algn="l">
              <a:lnSpc>
                <a:spcPts val="2246"/>
              </a:lnSpc>
            </a:pPr>
            <a:r>
              <a:rPr lang="en-US" sz="1800" b="true">
                <a:solidFill>
                  <a:srgbClr val="FFFFFF"/>
                </a:solidFill>
                <a:latin typeface="Montserrat Bold"/>
                <a:ea typeface="Montserrat Bold"/>
                <a:cs typeface="Montserrat Bold"/>
                <a:sym typeface="Montserrat Bold"/>
              </a:rPr>
              <a:t>Prompt Architecture — System Payload</a:t>
            </a:r>
          </a:p>
        </p:txBody>
      </p:sp>
      <p:grpSp>
        <p:nvGrpSpPr>
          <p:cNvPr name="Group 21" id="21"/>
          <p:cNvGrpSpPr/>
          <p:nvPr/>
        </p:nvGrpSpPr>
        <p:grpSpPr>
          <a:xfrm rot="0">
            <a:off x="7599159" y="2763288"/>
            <a:ext cx="8811816" cy="6331141"/>
            <a:chOff x="0" y="0"/>
            <a:chExt cx="11749088" cy="8441522"/>
          </a:xfrm>
        </p:grpSpPr>
        <p:sp>
          <p:nvSpPr>
            <p:cNvPr name="Freeform 22" id="22"/>
            <p:cNvSpPr/>
            <p:nvPr/>
          </p:nvSpPr>
          <p:spPr>
            <a:xfrm flipH="false" flipV="false" rot="0">
              <a:off x="0" y="0"/>
              <a:ext cx="11749151" cy="8441585"/>
            </a:xfrm>
            <a:custGeom>
              <a:avLst/>
              <a:gdLst/>
              <a:ahLst/>
              <a:cxnLst/>
              <a:rect r="r" b="b" t="t" l="l"/>
              <a:pathLst>
                <a:path h="8441585" w="11749151">
                  <a:moveTo>
                    <a:pt x="0" y="37828"/>
                  </a:moveTo>
                  <a:cubicBezTo>
                    <a:pt x="0" y="16957"/>
                    <a:pt x="18161" y="0"/>
                    <a:pt x="40513" y="0"/>
                  </a:cubicBezTo>
                  <a:lnTo>
                    <a:pt x="11708638" y="0"/>
                  </a:lnTo>
                  <a:cubicBezTo>
                    <a:pt x="11730990" y="0"/>
                    <a:pt x="11749151" y="16957"/>
                    <a:pt x="11749151" y="37828"/>
                  </a:cubicBezTo>
                  <a:lnTo>
                    <a:pt x="11749151" y="8403753"/>
                  </a:lnTo>
                  <a:cubicBezTo>
                    <a:pt x="11749151" y="8424624"/>
                    <a:pt x="11730990" y="8441585"/>
                    <a:pt x="11708638" y="8441585"/>
                  </a:cubicBezTo>
                  <a:lnTo>
                    <a:pt x="40513" y="8441585"/>
                  </a:lnTo>
                  <a:cubicBezTo>
                    <a:pt x="18161" y="8441585"/>
                    <a:pt x="0" y="8424624"/>
                    <a:pt x="0" y="8403753"/>
                  </a:cubicBezTo>
                  <a:close/>
                </a:path>
              </a:pathLst>
            </a:custGeom>
            <a:solidFill>
              <a:srgbClr val="1E1F20"/>
            </a:solidFill>
          </p:spPr>
        </p:sp>
      </p:grpSp>
      <p:grpSp>
        <p:nvGrpSpPr>
          <p:cNvPr name="Group 23" id="23"/>
          <p:cNvGrpSpPr/>
          <p:nvPr/>
        </p:nvGrpSpPr>
        <p:grpSpPr>
          <a:xfrm rot="0">
            <a:off x="7589044" y="2515638"/>
            <a:ext cx="8832056" cy="6331141"/>
            <a:chOff x="0" y="0"/>
            <a:chExt cx="11776075" cy="8441522"/>
          </a:xfrm>
        </p:grpSpPr>
        <p:sp>
          <p:nvSpPr>
            <p:cNvPr name="Freeform 24" id="24"/>
            <p:cNvSpPr/>
            <p:nvPr/>
          </p:nvSpPr>
          <p:spPr>
            <a:xfrm flipH="false" flipV="false" rot="0">
              <a:off x="0" y="0"/>
              <a:ext cx="11776075" cy="8441585"/>
            </a:xfrm>
            <a:custGeom>
              <a:avLst/>
              <a:gdLst/>
              <a:ahLst/>
              <a:cxnLst/>
              <a:rect r="r" b="b" t="t" l="l"/>
              <a:pathLst>
                <a:path h="8441585" w="11776075">
                  <a:moveTo>
                    <a:pt x="0" y="37828"/>
                  </a:moveTo>
                  <a:cubicBezTo>
                    <a:pt x="0" y="16957"/>
                    <a:pt x="18161" y="0"/>
                    <a:pt x="40513" y="0"/>
                  </a:cubicBezTo>
                  <a:lnTo>
                    <a:pt x="11735562" y="0"/>
                  </a:lnTo>
                  <a:cubicBezTo>
                    <a:pt x="11757914" y="0"/>
                    <a:pt x="11776075" y="16957"/>
                    <a:pt x="11776075" y="37828"/>
                  </a:cubicBezTo>
                  <a:lnTo>
                    <a:pt x="11776075" y="8403753"/>
                  </a:lnTo>
                  <a:cubicBezTo>
                    <a:pt x="11776075" y="8424624"/>
                    <a:pt x="11757914" y="8441585"/>
                    <a:pt x="11735562" y="8441585"/>
                  </a:cubicBezTo>
                  <a:lnTo>
                    <a:pt x="40513" y="8441585"/>
                  </a:lnTo>
                  <a:cubicBezTo>
                    <a:pt x="18161" y="8441585"/>
                    <a:pt x="0" y="8424624"/>
                    <a:pt x="0" y="8403753"/>
                  </a:cubicBezTo>
                  <a:close/>
                </a:path>
              </a:pathLst>
            </a:custGeom>
            <a:solidFill>
              <a:srgbClr val="1E1F20"/>
            </a:solidFill>
          </p:spPr>
        </p:sp>
      </p:grpSp>
      <p:sp>
        <p:nvSpPr>
          <p:cNvPr name="TextBox 25" id="25"/>
          <p:cNvSpPr txBox="true"/>
          <p:nvPr/>
        </p:nvSpPr>
        <p:spPr>
          <a:xfrm rot="0">
            <a:off x="7842047" y="2672071"/>
            <a:ext cx="8326041" cy="5970651"/>
          </a:xfrm>
          <a:prstGeom prst="rect">
            <a:avLst/>
          </a:prstGeom>
        </p:spPr>
        <p:txBody>
          <a:bodyPr anchor="t" rtlCol="false" tIns="0" lIns="0" bIns="0" rIns="0">
            <a:spAutoFit/>
          </a:bodyPr>
          <a:lstStyle/>
          <a:p>
            <a:pPr algn="l">
              <a:lnSpc>
                <a:spcPts val="1962"/>
              </a:lnSpc>
            </a:pPr>
            <a:r>
              <a:rPr lang="en-US" sz="1500">
                <a:solidFill>
                  <a:srgbClr val="E2E6E9"/>
                </a:solidFill>
                <a:latin typeface="Consolas"/>
                <a:ea typeface="Consolas"/>
                <a:cs typeface="Consolas"/>
                <a:sym typeface="Consolas"/>
              </a:rPr>
              <a:t>System: You are a market intelligence</a:t>
            </a:r>
          </a:p>
          <a:p>
            <a:pPr algn="l">
              <a:lnSpc>
                <a:spcPts val="1962"/>
              </a:lnSpc>
            </a:pPr>
            <a:r>
              <a:rPr lang="en-US" sz="1500">
                <a:solidFill>
                  <a:srgbClr val="E2E6E9"/>
                </a:solidFill>
                <a:latin typeface="Consolas"/>
                <a:ea typeface="Consolas"/>
                <a:cs typeface="Consolas"/>
                <a:sym typeface="Consolas"/>
              </a:rPr>
              <a:t> synthesis assistant.</a:t>
            </a:r>
          </a:p>
          <a:p>
            <a:pPr algn="l">
              <a:lnSpc>
                <a:spcPts val="1962"/>
              </a:lnSpc>
            </a:pPr>
          </a:p>
          <a:p>
            <a:pPr algn="l">
              <a:lnSpc>
                <a:spcPts val="1962"/>
              </a:lnSpc>
            </a:pPr>
            <a:r>
              <a:rPr lang="en-US" sz="1500">
                <a:solidFill>
                  <a:srgbClr val="E2E6E9"/>
                </a:solidFill>
                <a:latin typeface="Consolas"/>
                <a:ea typeface="Consolas"/>
                <a:cs typeface="Consolas"/>
                <a:sym typeface="Consolas"/>
              </a:rPr>
              <a:t>Input 1: ALMANAC EVIDENCE</a:t>
            </a:r>
          </a:p>
          <a:p>
            <a:pPr algn="l">
              <a:lnSpc>
                <a:spcPts val="1962"/>
              </a:lnSpc>
            </a:pPr>
            <a:r>
              <a:rPr lang="en-US" sz="1500">
                <a:solidFill>
                  <a:srgbClr val="E2E6E9"/>
                </a:solidFill>
                <a:latin typeface="Consolas"/>
                <a:ea typeface="Consolas"/>
                <a:cs typeface="Consolas"/>
                <a:sym typeface="Consolas"/>
              </a:rPr>
              <a:t> (Seasonal Bias &amp; Trends)</a:t>
            </a:r>
          </a:p>
          <a:p>
            <a:pPr algn="l">
              <a:lnSpc>
                <a:spcPts val="1962"/>
              </a:lnSpc>
            </a:pPr>
          </a:p>
          <a:p>
            <a:pPr algn="l">
              <a:lnSpc>
                <a:spcPts val="1962"/>
              </a:lnSpc>
            </a:pPr>
            <a:r>
              <a:rPr lang="en-US" sz="1500">
                <a:solidFill>
                  <a:srgbClr val="E2E6E9"/>
                </a:solidFill>
                <a:latin typeface="Consolas"/>
                <a:ea typeface="Consolas"/>
                <a:cs typeface="Consolas"/>
                <a:sym typeface="Consolas"/>
              </a:rPr>
              <a:t>Input 2: MACRO EVIDENCE</a:t>
            </a:r>
          </a:p>
          <a:p>
            <a:pPr algn="l">
              <a:lnSpc>
                <a:spcPts val="1962"/>
              </a:lnSpc>
            </a:pPr>
            <a:r>
              <a:rPr lang="en-US" sz="1500">
                <a:solidFill>
                  <a:srgbClr val="E2E6E9"/>
                </a:solidFill>
                <a:latin typeface="Consolas"/>
                <a:ea typeface="Consolas"/>
                <a:cs typeface="Consolas"/>
                <a:sym typeface="Consolas"/>
              </a:rPr>
              <a:t> (Fed Rates, Yields, NFP Risk)</a:t>
            </a:r>
          </a:p>
          <a:p>
            <a:pPr algn="l">
              <a:lnSpc>
                <a:spcPts val="1962"/>
              </a:lnSpc>
            </a:pPr>
          </a:p>
          <a:p>
            <a:pPr algn="l">
              <a:lnSpc>
                <a:spcPts val="1962"/>
              </a:lnSpc>
            </a:pPr>
            <a:r>
              <a:rPr lang="en-US" sz="1500">
                <a:solidFill>
                  <a:srgbClr val="E2E6E9"/>
                </a:solidFill>
                <a:latin typeface="Consolas"/>
                <a:ea typeface="Consolas"/>
                <a:cs typeface="Consolas"/>
                <a:sym typeface="Consolas"/>
              </a:rPr>
              <a:t>Input 3: TECHNICAL EVIDENCE</a:t>
            </a:r>
          </a:p>
          <a:p>
            <a:pPr algn="l">
              <a:lnSpc>
                <a:spcPts val="1962"/>
              </a:lnSpc>
            </a:pPr>
            <a:r>
              <a:rPr lang="en-US" sz="1500">
                <a:solidFill>
                  <a:srgbClr val="E2E6E9"/>
                </a:solidFill>
                <a:latin typeface="Consolas"/>
                <a:ea typeface="Consolas"/>
                <a:cs typeface="Consolas"/>
                <a:sym typeface="Consolas"/>
              </a:rPr>
              <a:t> (8/21 EMAs, Zones, Resistance)</a:t>
            </a:r>
          </a:p>
          <a:p>
            <a:pPr algn="l">
              <a:lnSpc>
                <a:spcPts val="1962"/>
              </a:lnSpc>
            </a:pPr>
          </a:p>
          <a:p>
            <a:pPr algn="l">
              <a:lnSpc>
                <a:spcPts val="1962"/>
              </a:lnSpc>
            </a:pPr>
            <a:r>
              <a:rPr lang="en-US" sz="1500">
                <a:solidFill>
                  <a:srgbClr val="E2E6E9"/>
                </a:solidFill>
                <a:latin typeface="Consolas"/>
                <a:ea typeface="Consolas"/>
                <a:cs typeface="Consolas"/>
                <a:sym typeface="Consolas"/>
              </a:rPr>
              <a:t>─────────────────────────────────────────</a:t>
            </a:r>
          </a:p>
          <a:p>
            <a:pPr algn="l">
              <a:lnSpc>
                <a:spcPts val="1962"/>
              </a:lnSpc>
            </a:pPr>
            <a:r>
              <a:rPr lang="en-US" sz="1500">
                <a:solidFill>
                  <a:srgbClr val="E2E6E9"/>
                </a:solidFill>
                <a:latin typeface="Consolas"/>
                <a:ea typeface="Consolas"/>
                <a:cs typeface="Consolas"/>
                <a:sym typeface="Consolas"/>
              </a:rPr>
              <a:t>Required Output Structure:</a:t>
            </a:r>
          </a:p>
          <a:p>
            <a:pPr algn="l">
              <a:lnSpc>
                <a:spcPts val="1962"/>
              </a:lnSpc>
            </a:pPr>
          </a:p>
          <a:p>
            <a:pPr algn="l">
              <a:lnSpc>
                <a:spcPts val="1962"/>
              </a:lnSpc>
            </a:pPr>
            <a:r>
              <a:rPr lang="en-US" sz="1500">
                <a:solidFill>
                  <a:srgbClr val="E2E6E9"/>
                </a:solidFill>
                <a:latin typeface="Consolas"/>
                <a:ea typeface="Consolas"/>
                <a:cs typeface="Consolas"/>
                <a:sym typeface="Consolas"/>
              </a:rPr>
              <a:t> 1. Weekly Regime</a:t>
            </a:r>
          </a:p>
          <a:p>
            <a:pPr algn="l">
              <a:lnSpc>
                <a:spcPts val="1962"/>
              </a:lnSpc>
            </a:pPr>
            <a:r>
              <a:rPr lang="en-US" sz="1500">
                <a:solidFill>
                  <a:srgbClr val="E2E6E9"/>
                </a:solidFill>
                <a:latin typeface="Consolas"/>
                <a:ea typeface="Consolas"/>
                <a:cs typeface="Consolas"/>
                <a:sym typeface="Consolas"/>
              </a:rPr>
              <a:t> 2. Confidence Score</a:t>
            </a:r>
          </a:p>
          <a:p>
            <a:pPr algn="l">
              <a:lnSpc>
                <a:spcPts val="1962"/>
              </a:lnSpc>
            </a:pPr>
            <a:r>
              <a:rPr lang="en-US" sz="1500">
                <a:solidFill>
                  <a:srgbClr val="E2E6E9"/>
                </a:solidFill>
                <a:latin typeface="Consolas"/>
                <a:ea typeface="Consolas"/>
                <a:cs typeface="Consolas"/>
                <a:sym typeface="Consolas"/>
              </a:rPr>
              <a:t> 3. Key Supporting Evidence (Max 3 pts)</a:t>
            </a:r>
          </a:p>
          <a:p>
            <a:pPr algn="l">
              <a:lnSpc>
                <a:spcPts val="1962"/>
              </a:lnSpc>
            </a:pPr>
            <a:r>
              <a:rPr lang="en-US" sz="1500">
                <a:solidFill>
                  <a:srgbClr val="E2E6E9"/>
                </a:solidFill>
                <a:latin typeface="Consolas"/>
                <a:ea typeface="Consolas"/>
                <a:cs typeface="Consolas"/>
                <a:sym typeface="Consolas"/>
              </a:rPr>
              <a:t> 4. Key Contradictions (Max 2 pts)</a:t>
            </a:r>
          </a:p>
          <a:p>
            <a:pPr algn="l">
              <a:lnSpc>
                <a:spcPts val="1962"/>
              </a:lnSpc>
            </a:pPr>
            <a:r>
              <a:rPr lang="en-US" sz="1500">
                <a:solidFill>
                  <a:srgbClr val="E2E6E9"/>
                </a:solidFill>
                <a:latin typeface="Consolas"/>
                <a:ea typeface="Consolas"/>
                <a:cs typeface="Consolas"/>
                <a:sym typeface="Consolas"/>
              </a:rPr>
              <a:t> 5. Invalidation Conditions</a:t>
            </a:r>
          </a:p>
          <a:p>
            <a:pPr algn="l">
              <a:lnSpc>
                <a:spcPts val="1962"/>
              </a:lnSpc>
            </a:pPr>
            <a:r>
              <a:rPr lang="en-US" sz="1500">
                <a:solidFill>
                  <a:srgbClr val="E2E6E9"/>
                </a:solidFill>
                <a:latin typeface="Consolas"/>
                <a:ea typeface="Consolas"/>
                <a:cs typeface="Consolas"/>
                <a:sym typeface="Consolas"/>
              </a:rPr>
              <a:t> 6. Predicted % Move (SPX, NDX, IWM)</a:t>
            </a:r>
          </a:p>
          <a:p>
            <a:pPr algn="l">
              <a:lnSpc>
                <a:spcPts val="1962"/>
              </a:lnSpc>
            </a:pPr>
            <a:r>
              <a:rPr lang="en-US" sz="1500">
                <a:solidFill>
                  <a:srgbClr val="E2E6E9"/>
                </a:solidFill>
                <a:latin typeface="Consolas"/>
                <a:ea typeface="Consolas"/>
                <a:cs typeface="Consolas"/>
                <a:sym typeface="Consolas"/>
              </a:rPr>
              <a:t> 7. Plain-English Brief</a:t>
            </a:r>
          </a:p>
          <a:p>
            <a:pPr algn="l">
              <a:lnSpc>
                <a:spcPts val="1962"/>
              </a:lnSpc>
            </a:pPr>
            <a:r>
              <a:rPr lang="en-US" sz="1500">
                <a:solidFill>
                  <a:srgbClr val="E2E6E9"/>
                </a:solidFill>
                <a:latin typeface="Consolas"/>
                <a:ea typeface="Consolas"/>
                <a:cs typeface="Consolas"/>
                <a:sym typeface="Consolas"/>
              </a:rPr>
              <a:t> 8. Disclaimer</a:t>
            </a:r>
          </a:p>
          <a:p>
            <a:pPr algn="l">
              <a:lnSpc>
                <a:spcPts val="1962"/>
              </a:lnSpc>
            </a:pPr>
            <a:r>
              <a:rPr lang="en-US" sz="1500">
                <a:solidFill>
                  <a:srgbClr val="E2E6E9"/>
                </a:solidFill>
                <a:latin typeface="Consolas"/>
                <a:ea typeface="Consolas"/>
                <a:cs typeface="Consolas"/>
                <a:sym typeface="Consolas"/>
              </a:rPr>
              <a:t>─────────────────────────────────────────</a:t>
            </a:r>
          </a:p>
        </p:txBody>
      </p:sp>
      <p:sp>
        <p:nvSpPr>
          <p:cNvPr name="TextBox 26" id="26"/>
          <p:cNvSpPr txBox="true"/>
          <p:nvPr/>
        </p:nvSpPr>
        <p:spPr>
          <a:xfrm rot="0">
            <a:off x="328353" y="198611"/>
            <a:ext cx="348655" cy="353060"/>
          </a:xfrm>
          <a:prstGeom prst="rect">
            <a:avLst/>
          </a:prstGeom>
        </p:spPr>
        <p:txBody>
          <a:bodyPr anchor="t" rtlCol="false" tIns="0" lIns="0" bIns="0" rIns="0">
            <a:spAutoFit/>
          </a:bodyPr>
          <a:lstStyle/>
          <a:p>
            <a:pPr algn="ctr">
              <a:lnSpc>
                <a:spcPts val="2859"/>
              </a:lnSpc>
              <a:spcBef>
                <a:spcPct val="0"/>
              </a:spcBef>
            </a:pPr>
            <a:r>
              <a:rPr lang="en-US" b="true" sz="2199" spc="-65">
                <a:solidFill>
                  <a:srgbClr val="FFFFFF"/>
                </a:solidFill>
                <a:latin typeface="Muli Ultra-Bold"/>
                <a:ea typeface="Muli Ultra-Bold"/>
                <a:cs typeface="Muli Ultra-Bold"/>
                <a:sym typeface="Muli Ultra-Bold"/>
              </a:rPr>
              <a:t>R6</a:t>
            </a:r>
          </a:p>
        </p:txBody>
      </p:sp>
      <p:sp>
        <p:nvSpPr>
          <p:cNvPr name="TextBox 27" id="27"/>
          <p:cNvSpPr txBox="true"/>
          <p:nvPr/>
        </p:nvSpPr>
        <p:spPr>
          <a:xfrm rot="0">
            <a:off x="174717" y="9389704"/>
            <a:ext cx="18288000" cy="677545"/>
          </a:xfrm>
          <a:prstGeom prst="rect">
            <a:avLst/>
          </a:prstGeom>
        </p:spPr>
        <p:txBody>
          <a:bodyPr anchor="t" rtlCol="false" tIns="0" lIns="0" bIns="0" rIns="0">
            <a:spAutoFit/>
          </a:bodyPr>
          <a:lstStyle/>
          <a:p>
            <a:pPr algn="ctr">
              <a:lnSpc>
                <a:spcPts val="1820"/>
              </a:lnSpc>
              <a:spcBef>
                <a:spcPct val="0"/>
              </a:spcBef>
            </a:pPr>
            <a:r>
              <a:rPr lang="en-US" b="true" sz="1400" spc="-42">
                <a:solidFill>
                  <a:srgbClr val="FFFFFF"/>
                </a:solidFill>
                <a:latin typeface="Muli Ultra-Bold"/>
                <a:ea typeface="Muli Ultra-Bold"/>
                <a:cs typeface="Muli Ultra-Bold"/>
                <a:sym typeface="Muli Ultra-Bold"/>
              </a:rPr>
              <a:t>On this slide, we demonstrate our rigorous methodology for the LLM input layer. To ensure absolute data integrity and a fair benchmark, we engineered a static Prompt Architecture combining the raw outputs from our Almanac, Macro, and Technical agents. This identical payload was fed simultaneously into Claude, ChatGPT, Gemini, and DeepSeek with zero manual alterations, ensuring that any variation in the market regime call stems strictly from the models' internal reasoning rather than input bias.</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81A1B"/>
            </a:solidFill>
          </p:spPr>
        </p:sp>
      </p:grpSp>
      <p:grpSp>
        <p:nvGrpSpPr>
          <p:cNvPr name="Group 4" id="4"/>
          <p:cNvGrpSpPr/>
          <p:nvPr/>
        </p:nvGrpSpPr>
        <p:grpSpPr>
          <a:xfrm rot="0">
            <a:off x="0" y="-238578"/>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11213"/>
            </a:solidFill>
          </p:spPr>
        </p:sp>
      </p:grpSp>
      <p:sp>
        <p:nvSpPr>
          <p:cNvPr name="TextBox 6" id="6"/>
          <p:cNvSpPr txBox="true"/>
          <p:nvPr/>
        </p:nvSpPr>
        <p:spPr>
          <a:xfrm rot="0">
            <a:off x="1281560" y="675827"/>
            <a:ext cx="9856737" cy="642195"/>
          </a:xfrm>
          <a:prstGeom prst="rect">
            <a:avLst/>
          </a:prstGeom>
        </p:spPr>
        <p:txBody>
          <a:bodyPr anchor="t" rtlCol="false" tIns="0" lIns="0" bIns="0" rIns="0">
            <a:spAutoFit/>
          </a:bodyPr>
          <a:lstStyle/>
          <a:p>
            <a:pPr algn="l">
              <a:lnSpc>
                <a:spcPts val="4867"/>
              </a:lnSpc>
            </a:pPr>
            <a:r>
              <a:rPr lang="en-US" sz="3900" b="true">
                <a:solidFill>
                  <a:srgbClr val="FFFFFF"/>
                </a:solidFill>
                <a:latin typeface="Montserrat Bold"/>
                <a:ea typeface="Montserrat Bold"/>
                <a:cs typeface="Montserrat Bold"/>
                <a:sym typeface="Montserrat Bold"/>
              </a:rPr>
              <a:t>AI Consensus &amp; Divergence Matrix</a:t>
            </a:r>
          </a:p>
        </p:txBody>
      </p:sp>
      <p:sp>
        <p:nvSpPr>
          <p:cNvPr name="TextBox 7" id="7"/>
          <p:cNvSpPr txBox="true"/>
          <p:nvPr/>
        </p:nvSpPr>
        <p:spPr>
          <a:xfrm rot="0">
            <a:off x="1281560" y="1645891"/>
            <a:ext cx="15724880" cy="624783"/>
          </a:xfrm>
          <a:prstGeom prst="rect">
            <a:avLst/>
          </a:prstGeom>
        </p:spPr>
        <p:txBody>
          <a:bodyPr anchor="t" rtlCol="false" tIns="0" lIns="0" bIns="0" rIns="0">
            <a:spAutoFit/>
          </a:bodyPr>
          <a:lstStyle/>
          <a:p>
            <a:pPr algn="l">
              <a:lnSpc>
                <a:spcPts val="2305"/>
              </a:lnSpc>
            </a:pPr>
            <a:r>
              <a:rPr lang="en-US" sz="1700">
                <a:solidFill>
                  <a:srgbClr val="E2E6E9"/>
                </a:solidFill>
                <a:latin typeface="Source Sans 3"/>
                <a:ea typeface="Source Sans 3"/>
                <a:cs typeface="Source Sans 3"/>
                <a:sym typeface="Source Sans 3"/>
              </a:rPr>
              <a:t>All four frontier models converged on a </a:t>
            </a:r>
            <a:r>
              <a:rPr lang="en-US" sz="1700" b="true">
                <a:solidFill>
                  <a:srgbClr val="E2E6E9"/>
                </a:solidFill>
                <a:latin typeface="Source Sans 3 Bold"/>
                <a:ea typeface="Source Sans 3 Bold"/>
                <a:cs typeface="Source Sans 3 Bold"/>
                <a:sym typeface="Source Sans 3 Bold"/>
              </a:rPr>
              <a:t>Bullish regime</a:t>
            </a:r>
            <a:r>
              <a:rPr lang="en-US" sz="1700">
                <a:solidFill>
                  <a:srgbClr val="E2E6E9"/>
                </a:solidFill>
                <a:latin typeface="Source Sans 3"/>
                <a:ea typeface="Source Sans 3"/>
                <a:cs typeface="Source Sans 3"/>
                <a:sym typeface="Source Sans 3"/>
              </a:rPr>
              <a:t> with </a:t>
            </a:r>
            <a:r>
              <a:rPr lang="en-US" sz="1700" b="true">
                <a:solidFill>
                  <a:srgbClr val="E2E6E9"/>
                </a:solidFill>
                <a:latin typeface="Source Sans 3 Bold"/>
                <a:ea typeface="Source Sans 3 Bold"/>
                <a:cs typeface="Source Sans 3 Bold"/>
                <a:sym typeface="Source Sans 3 Bold"/>
              </a:rPr>
              <a:t>Medium confidence</a:t>
            </a:r>
            <a:r>
              <a:rPr lang="en-US" sz="1700">
                <a:solidFill>
                  <a:srgbClr val="E2E6E9"/>
                </a:solidFill>
                <a:latin typeface="Source Sans 3"/>
                <a:ea typeface="Source Sans 3"/>
                <a:cs typeface="Source Sans 3"/>
                <a:sym typeface="Source Sans 3"/>
              </a:rPr>
              <a:t>, driven by the dominant Zone 1 technical breakout. Significant divergence emerged on magnitude — particularly regarding small-cap rotation via IWM — and on qualitative tone, reflecting each model's internal weighting of macro tail risk and NFP exposure.</a:t>
            </a:r>
          </a:p>
        </p:txBody>
      </p:sp>
      <p:grpSp>
        <p:nvGrpSpPr>
          <p:cNvPr name="Group 8" id="8"/>
          <p:cNvGrpSpPr/>
          <p:nvPr/>
        </p:nvGrpSpPr>
        <p:grpSpPr>
          <a:xfrm rot="0">
            <a:off x="1276798" y="2466375"/>
            <a:ext cx="15734405" cy="5532987"/>
            <a:chOff x="0" y="0"/>
            <a:chExt cx="20979206" cy="7377316"/>
          </a:xfrm>
        </p:grpSpPr>
        <p:sp>
          <p:nvSpPr>
            <p:cNvPr name="Freeform 9" id="9"/>
            <p:cNvSpPr/>
            <p:nvPr/>
          </p:nvSpPr>
          <p:spPr>
            <a:xfrm flipH="false" flipV="false" rot="0">
              <a:off x="0" y="0"/>
              <a:ext cx="20979129" cy="7377303"/>
            </a:xfrm>
            <a:custGeom>
              <a:avLst/>
              <a:gdLst/>
              <a:ahLst/>
              <a:cxnLst/>
              <a:rect r="r" b="b" t="t" l="l"/>
              <a:pathLst>
                <a:path h="7377303" w="20979129">
                  <a:moveTo>
                    <a:pt x="0" y="43942"/>
                  </a:moveTo>
                  <a:cubicBezTo>
                    <a:pt x="0" y="19685"/>
                    <a:pt x="19685" y="0"/>
                    <a:pt x="43942" y="0"/>
                  </a:cubicBezTo>
                  <a:lnTo>
                    <a:pt x="20935187" y="0"/>
                  </a:lnTo>
                  <a:cubicBezTo>
                    <a:pt x="20959445" y="0"/>
                    <a:pt x="20979129" y="19685"/>
                    <a:pt x="20979129" y="43942"/>
                  </a:cubicBezTo>
                  <a:lnTo>
                    <a:pt x="20979129" y="7333361"/>
                  </a:lnTo>
                  <a:cubicBezTo>
                    <a:pt x="20979129" y="7357618"/>
                    <a:pt x="20959445" y="7377303"/>
                    <a:pt x="20935187" y="7377303"/>
                  </a:cubicBezTo>
                  <a:lnTo>
                    <a:pt x="43942" y="7377303"/>
                  </a:lnTo>
                  <a:cubicBezTo>
                    <a:pt x="19685" y="7377303"/>
                    <a:pt x="0" y="7357618"/>
                    <a:pt x="0" y="7333361"/>
                  </a:cubicBezTo>
                  <a:close/>
                </a:path>
              </a:pathLst>
            </a:custGeom>
            <a:blipFill>
              <a:blip r:embed="rId2">
                <a:alphaModFix amt="0"/>
              </a:blip>
              <a:stretch>
                <a:fillRect l="0" t="-5410" r="0" b="-5410"/>
              </a:stretch>
            </a:blipFill>
            <a:ln w="9526" cap="sq">
              <a:solidFill>
                <a:srgbClr val="FFFFFF"/>
              </a:solidFill>
              <a:prstDash val="solid"/>
              <a:miter/>
            </a:ln>
          </p:spPr>
        </p:sp>
      </p:grpSp>
      <p:sp>
        <p:nvSpPr>
          <p:cNvPr name="TextBox 10" id="10"/>
          <p:cNvSpPr txBox="true"/>
          <p:nvPr/>
        </p:nvSpPr>
        <p:spPr>
          <a:xfrm rot="0">
            <a:off x="1510608" y="2568473"/>
            <a:ext cx="3931148" cy="326679"/>
          </a:xfrm>
          <a:prstGeom prst="rect">
            <a:avLst/>
          </a:prstGeom>
        </p:spPr>
        <p:txBody>
          <a:bodyPr anchor="t" rtlCol="false" tIns="0" lIns="0" bIns="0" rIns="0">
            <a:spAutoFit/>
          </a:bodyPr>
          <a:lstStyle/>
          <a:p>
            <a:pPr algn="l">
              <a:lnSpc>
                <a:spcPts val="2305"/>
              </a:lnSpc>
            </a:pPr>
            <a:r>
              <a:rPr lang="en-US" sz="1700" b="true">
                <a:solidFill>
                  <a:srgbClr val="E2E6E9"/>
                </a:solidFill>
                <a:latin typeface="Source Sans 3 Bold"/>
                <a:ea typeface="Source Sans 3 Bold"/>
                <a:cs typeface="Source Sans 3 Bold"/>
                <a:sym typeface="Source Sans 3 Bold"/>
              </a:rPr>
              <a:t>Dimension</a:t>
            </a:r>
          </a:p>
        </p:txBody>
      </p:sp>
      <p:sp>
        <p:nvSpPr>
          <p:cNvPr name="TextBox 11" id="11"/>
          <p:cNvSpPr txBox="true"/>
          <p:nvPr/>
        </p:nvSpPr>
        <p:spPr>
          <a:xfrm rot="0">
            <a:off x="4965802" y="2568473"/>
            <a:ext cx="3459956" cy="326679"/>
          </a:xfrm>
          <a:prstGeom prst="rect">
            <a:avLst/>
          </a:prstGeom>
        </p:spPr>
        <p:txBody>
          <a:bodyPr anchor="t" rtlCol="false" tIns="0" lIns="0" bIns="0" rIns="0">
            <a:spAutoFit/>
          </a:bodyPr>
          <a:lstStyle/>
          <a:p>
            <a:pPr algn="l">
              <a:lnSpc>
                <a:spcPts val="2305"/>
              </a:lnSpc>
            </a:pPr>
            <a:r>
              <a:rPr lang="en-US" sz="1700" b="true">
                <a:solidFill>
                  <a:srgbClr val="E2E6E9"/>
                </a:solidFill>
                <a:latin typeface="Source Sans 3 Bold"/>
                <a:ea typeface="Source Sans 3 Bold"/>
                <a:cs typeface="Source Sans 3 Bold"/>
                <a:sym typeface="Source Sans 3 Bold"/>
              </a:rPr>
              <a:t>Claude 4.8 Max</a:t>
            </a:r>
          </a:p>
        </p:txBody>
      </p:sp>
      <p:sp>
        <p:nvSpPr>
          <p:cNvPr name="TextBox 12" id="12"/>
          <p:cNvSpPr txBox="true"/>
          <p:nvPr/>
        </p:nvSpPr>
        <p:spPr>
          <a:xfrm rot="0">
            <a:off x="7949803" y="2568473"/>
            <a:ext cx="3459956" cy="326679"/>
          </a:xfrm>
          <a:prstGeom prst="rect">
            <a:avLst/>
          </a:prstGeom>
        </p:spPr>
        <p:txBody>
          <a:bodyPr anchor="t" rtlCol="false" tIns="0" lIns="0" bIns="0" rIns="0">
            <a:spAutoFit/>
          </a:bodyPr>
          <a:lstStyle/>
          <a:p>
            <a:pPr algn="l">
              <a:lnSpc>
                <a:spcPts val="2305"/>
              </a:lnSpc>
            </a:pPr>
            <a:r>
              <a:rPr lang="en-US" sz="1700" b="true">
                <a:solidFill>
                  <a:srgbClr val="E2E6E9"/>
                </a:solidFill>
                <a:latin typeface="Source Sans 3 Bold"/>
                <a:ea typeface="Source Sans 3 Bold"/>
                <a:cs typeface="Source Sans 3 Bold"/>
                <a:sym typeface="Source Sans 3 Bold"/>
              </a:rPr>
              <a:t>ChatGPT 5.5</a:t>
            </a:r>
          </a:p>
        </p:txBody>
      </p:sp>
      <p:sp>
        <p:nvSpPr>
          <p:cNvPr name="TextBox 13" id="13"/>
          <p:cNvSpPr txBox="true"/>
          <p:nvPr/>
        </p:nvSpPr>
        <p:spPr>
          <a:xfrm rot="0">
            <a:off x="10933805" y="2568473"/>
            <a:ext cx="3617119" cy="326679"/>
          </a:xfrm>
          <a:prstGeom prst="rect">
            <a:avLst/>
          </a:prstGeom>
        </p:spPr>
        <p:txBody>
          <a:bodyPr anchor="t" rtlCol="false" tIns="0" lIns="0" bIns="0" rIns="0">
            <a:spAutoFit/>
          </a:bodyPr>
          <a:lstStyle/>
          <a:p>
            <a:pPr algn="l">
              <a:lnSpc>
                <a:spcPts val="2305"/>
              </a:lnSpc>
            </a:pPr>
            <a:r>
              <a:rPr lang="en-US" sz="1700" b="true">
                <a:solidFill>
                  <a:srgbClr val="E2E6E9"/>
                </a:solidFill>
                <a:latin typeface="Source Sans 3 Bold"/>
                <a:ea typeface="Source Sans 3 Bold"/>
                <a:cs typeface="Source Sans 3 Bold"/>
                <a:sym typeface="Source Sans 3 Bold"/>
              </a:rPr>
              <a:t>Gemini 3.1 Pro</a:t>
            </a:r>
          </a:p>
        </p:txBody>
      </p:sp>
      <p:sp>
        <p:nvSpPr>
          <p:cNvPr name="TextBox 14" id="14"/>
          <p:cNvSpPr txBox="true"/>
          <p:nvPr/>
        </p:nvSpPr>
        <p:spPr>
          <a:xfrm rot="0">
            <a:off x="14074978" y="2568473"/>
            <a:ext cx="3617119" cy="326679"/>
          </a:xfrm>
          <a:prstGeom prst="rect">
            <a:avLst/>
          </a:prstGeom>
        </p:spPr>
        <p:txBody>
          <a:bodyPr anchor="t" rtlCol="false" tIns="0" lIns="0" bIns="0" rIns="0">
            <a:spAutoFit/>
          </a:bodyPr>
          <a:lstStyle/>
          <a:p>
            <a:pPr algn="l">
              <a:lnSpc>
                <a:spcPts val="2305"/>
              </a:lnSpc>
            </a:pPr>
            <a:r>
              <a:rPr lang="en-US" sz="1700" b="true">
                <a:solidFill>
                  <a:srgbClr val="E2E6E9"/>
                </a:solidFill>
                <a:latin typeface="Source Sans 3 Bold"/>
                <a:ea typeface="Source Sans 3 Bold"/>
                <a:cs typeface="Source Sans 3 Bold"/>
                <a:sym typeface="Source Sans 3 Bold"/>
              </a:rPr>
              <a:t>DeepSeek V4</a:t>
            </a:r>
          </a:p>
        </p:txBody>
      </p:sp>
      <p:sp>
        <p:nvSpPr>
          <p:cNvPr name="TextBox 15" id="15"/>
          <p:cNvSpPr txBox="true"/>
          <p:nvPr/>
        </p:nvSpPr>
        <p:spPr>
          <a:xfrm rot="0">
            <a:off x="1510608" y="3108874"/>
            <a:ext cx="3931148" cy="326679"/>
          </a:xfrm>
          <a:prstGeom prst="rect">
            <a:avLst/>
          </a:prstGeom>
        </p:spPr>
        <p:txBody>
          <a:bodyPr anchor="t" rtlCol="false" tIns="0" lIns="0" bIns="0" rIns="0">
            <a:spAutoFit/>
          </a:bodyPr>
          <a:lstStyle/>
          <a:p>
            <a:pPr algn="l">
              <a:lnSpc>
                <a:spcPts val="2305"/>
              </a:lnSpc>
            </a:pPr>
            <a:r>
              <a:rPr lang="en-US" sz="1700" b="true">
                <a:solidFill>
                  <a:srgbClr val="E2E6E9"/>
                </a:solidFill>
                <a:latin typeface="Source Sans 3 Bold"/>
                <a:ea typeface="Source Sans 3 Bold"/>
                <a:cs typeface="Source Sans 3 Bold"/>
                <a:sym typeface="Source Sans 3 Bold"/>
              </a:rPr>
              <a:t>REGIME</a:t>
            </a:r>
          </a:p>
        </p:txBody>
      </p:sp>
      <p:grpSp>
        <p:nvGrpSpPr>
          <p:cNvPr name="Group 16" id="16"/>
          <p:cNvGrpSpPr/>
          <p:nvPr/>
        </p:nvGrpSpPr>
        <p:grpSpPr>
          <a:xfrm rot="0">
            <a:off x="4965802" y="3137449"/>
            <a:ext cx="903837" cy="369989"/>
            <a:chOff x="0" y="0"/>
            <a:chExt cx="1205116" cy="493319"/>
          </a:xfrm>
        </p:grpSpPr>
        <p:sp>
          <p:nvSpPr>
            <p:cNvPr name="Freeform 17" id="17"/>
            <p:cNvSpPr/>
            <p:nvPr/>
          </p:nvSpPr>
          <p:spPr>
            <a:xfrm flipH="false" flipV="false" rot="0">
              <a:off x="0" y="0"/>
              <a:ext cx="1205103" cy="493268"/>
            </a:xfrm>
            <a:custGeom>
              <a:avLst/>
              <a:gdLst/>
              <a:ahLst/>
              <a:cxnLst/>
              <a:rect r="r" b="b" t="t" l="l"/>
              <a:pathLst>
                <a:path h="493268" w="1205103">
                  <a:moveTo>
                    <a:pt x="0" y="35052"/>
                  </a:moveTo>
                  <a:cubicBezTo>
                    <a:pt x="0" y="15748"/>
                    <a:pt x="15748" y="0"/>
                    <a:pt x="35052" y="0"/>
                  </a:cubicBezTo>
                  <a:lnTo>
                    <a:pt x="1170051" y="0"/>
                  </a:lnTo>
                  <a:cubicBezTo>
                    <a:pt x="1189482" y="0"/>
                    <a:pt x="1205103" y="15748"/>
                    <a:pt x="1205103" y="35052"/>
                  </a:cubicBezTo>
                  <a:lnTo>
                    <a:pt x="1205103" y="458216"/>
                  </a:lnTo>
                  <a:cubicBezTo>
                    <a:pt x="1205103" y="477647"/>
                    <a:pt x="1189355" y="493268"/>
                    <a:pt x="1170051" y="493268"/>
                  </a:cubicBezTo>
                  <a:lnTo>
                    <a:pt x="35052" y="493268"/>
                  </a:lnTo>
                  <a:cubicBezTo>
                    <a:pt x="15748" y="493268"/>
                    <a:pt x="0" y="477647"/>
                    <a:pt x="0" y="458216"/>
                  </a:cubicBezTo>
                  <a:close/>
                </a:path>
              </a:pathLst>
            </a:custGeom>
            <a:solidFill>
              <a:srgbClr val="5CC97B"/>
            </a:solidFill>
          </p:spPr>
        </p:sp>
      </p:grpSp>
      <p:sp>
        <p:nvSpPr>
          <p:cNvPr name="TextBox 18" id="18"/>
          <p:cNvSpPr txBox="true"/>
          <p:nvPr/>
        </p:nvSpPr>
        <p:spPr>
          <a:xfrm rot="0">
            <a:off x="5097361" y="3193704"/>
            <a:ext cx="1555109" cy="247945"/>
          </a:xfrm>
          <a:prstGeom prst="rect">
            <a:avLst/>
          </a:prstGeom>
        </p:spPr>
        <p:txBody>
          <a:bodyPr anchor="t" rtlCol="false" tIns="0" lIns="0" bIns="0" rIns="0">
            <a:spAutoFit/>
          </a:bodyPr>
          <a:lstStyle/>
          <a:p>
            <a:pPr algn="l">
              <a:lnSpc>
                <a:spcPts val="1762"/>
              </a:lnSpc>
            </a:pPr>
            <a:r>
              <a:rPr lang="en-US" sz="1300">
                <a:solidFill>
                  <a:srgbClr val="000000"/>
                </a:solidFill>
                <a:latin typeface="Source Sans 3"/>
                <a:ea typeface="Source Sans 3"/>
                <a:cs typeface="Source Sans 3"/>
                <a:sym typeface="Source Sans 3"/>
              </a:rPr>
              <a:t>BULLISH</a:t>
            </a:r>
          </a:p>
        </p:txBody>
      </p:sp>
      <p:grpSp>
        <p:nvGrpSpPr>
          <p:cNvPr name="Group 19" id="19"/>
          <p:cNvGrpSpPr/>
          <p:nvPr/>
        </p:nvGrpSpPr>
        <p:grpSpPr>
          <a:xfrm rot="0">
            <a:off x="7949803" y="3137449"/>
            <a:ext cx="903837" cy="369989"/>
            <a:chOff x="0" y="0"/>
            <a:chExt cx="1205116" cy="493319"/>
          </a:xfrm>
        </p:grpSpPr>
        <p:sp>
          <p:nvSpPr>
            <p:cNvPr name="Freeform 20" id="20"/>
            <p:cNvSpPr/>
            <p:nvPr/>
          </p:nvSpPr>
          <p:spPr>
            <a:xfrm flipH="false" flipV="false" rot="0">
              <a:off x="0" y="0"/>
              <a:ext cx="1205103" cy="493268"/>
            </a:xfrm>
            <a:custGeom>
              <a:avLst/>
              <a:gdLst/>
              <a:ahLst/>
              <a:cxnLst/>
              <a:rect r="r" b="b" t="t" l="l"/>
              <a:pathLst>
                <a:path h="493268" w="1205103">
                  <a:moveTo>
                    <a:pt x="0" y="35052"/>
                  </a:moveTo>
                  <a:cubicBezTo>
                    <a:pt x="0" y="15748"/>
                    <a:pt x="15748" y="0"/>
                    <a:pt x="35052" y="0"/>
                  </a:cubicBezTo>
                  <a:lnTo>
                    <a:pt x="1170051" y="0"/>
                  </a:lnTo>
                  <a:cubicBezTo>
                    <a:pt x="1189482" y="0"/>
                    <a:pt x="1205103" y="15748"/>
                    <a:pt x="1205103" y="35052"/>
                  </a:cubicBezTo>
                  <a:lnTo>
                    <a:pt x="1205103" y="458216"/>
                  </a:lnTo>
                  <a:cubicBezTo>
                    <a:pt x="1205103" y="477647"/>
                    <a:pt x="1189355" y="493268"/>
                    <a:pt x="1170051" y="493268"/>
                  </a:cubicBezTo>
                  <a:lnTo>
                    <a:pt x="35052" y="493268"/>
                  </a:lnTo>
                  <a:cubicBezTo>
                    <a:pt x="15748" y="493268"/>
                    <a:pt x="0" y="477647"/>
                    <a:pt x="0" y="458216"/>
                  </a:cubicBezTo>
                  <a:close/>
                </a:path>
              </a:pathLst>
            </a:custGeom>
            <a:solidFill>
              <a:srgbClr val="5CC97B"/>
            </a:solidFill>
          </p:spPr>
        </p:sp>
      </p:grpSp>
      <p:sp>
        <p:nvSpPr>
          <p:cNvPr name="TextBox 21" id="21"/>
          <p:cNvSpPr txBox="true"/>
          <p:nvPr/>
        </p:nvSpPr>
        <p:spPr>
          <a:xfrm rot="0">
            <a:off x="8081372" y="3193704"/>
            <a:ext cx="1555109" cy="247945"/>
          </a:xfrm>
          <a:prstGeom prst="rect">
            <a:avLst/>
          </a:prstGeom>
        </p:spPr>
        <p:txBody>
          <a:bodyPr anchor="t" rtlCol="false" tIns="0" lIns="0" bIns="0" rIns="0">
            <a:spAutoFit/>
          </a:bodyPr>
          <a:lstStyle/>
          <a:p>
            <a:pPr algn="l">
              <a:lnSpc>
                <a:spcPts val="1762"/>
              </a:lnSpc>
            </a:pPr>
            <a:r>
              <a:rPr lang="en-US" sz="1300">
                <a:solidFill>
                  <a:srgbClr val="000000"/>
                </a:solidFill>
                <a:latin typeface="Source Sans 3"/>
                <a:ea typeface="Source Sans 3"/>
                <a:cs typeface="Source Sans 3"/>
                <a:sym typeface="Source Sans 3"/>
              </a:rPr>
              <a:t>BULLISH</a:t>
            </a:r>
          </a:p>
        </p:txBody>
      </p:sp>
      <p:grpSp>
        <p:nvGrpSpPr>
          <p:cNvPr name="Group 22" id="22"/>
          <p:cNvGrpSpPr/>
          <p:nvPr/>
        </p:nvGrpSpPr>
        <p:grpSpPr>
          <a:xfrm rot="0">
            <a:off x="10933805" y="3137449"/>
            <a:ext cx="903837" cy="369989"/>
            <a:chOff x="0" y="0"/>
            <a:chExt cx="1205116" cy="493319"/>
          </a:xfrm>
        </p:grpSpPr>
        <p:sp>
          <p:nvSpPr>
            <p:cNvPr name="Freeform 23" id="23"/>
            <p:cNvSpPr/>
            <p:nvPr/>
          </p:nvSpPr>
          <p:spPr>
            <a:xfrm flipH="false" flipV="false" rot="0">
              <a:off x="0" y="0"/>
              <a:ext cx="1205103" cy="493268"/>
            </a:xfrm>
            <a:custGeom>
              <a:avLst/>
              <a:gdLst/>
              <a:ahLst/>
              <a:cxnLst/>
              <a:rect r="r" b="b" t="t" l="l"/>
              <a:pathLst>
                <a:path h="493268" w="1205103">
                  <a:moveTo>
                    <a:pt x="0" y="35052"/>
                  </a:moveTo>
                  <a:cubicBezTo>
                    <a:pt x="0" y="15748"/>
                    <a:pt x="15748" y="0"/>
                    <a:pt x="35052" y="0"/>
                  </a:cubicBezTo>
                  <a:lnTo>
                    <a:pt x="1170051" y="0"/>
                  </a:lnTo>
                  <a:cubicBezTo>
                    <a:pt x="1189482" y="0"/>
                    <a:pt x="1205103" y="15748"/>
                    <a:pt x="1205103" y="35052"/>
                  </a:cubicBezTo>
                  <a:lnTo>
                    <a:pt x="1205103" y="458216"/>
                  </a:lnTo>
                  <a:cubicBezTo>
                    <a:pt x="1205103" y="477647"/>
                    <a:pt x="1189355" y="493268"/>
                    <a:pt x="1170051" y="493268"/>
                  </a:cubicBezTo>
                  <a:lnTo>
                    <a:pt x="35052" y="493268"/>
                  </a:lnTo>
                  <a:cubicBezTo>
                    <a:pt x="15748" y="493268"/>
                    <a:pt x="0" y="477647"/>
                    <a:pt x="0" y="458216"/>
                  </a:cubicBezTo>
                  <a:close/>
                </a:path>
              </a:pathLst>
            </a:custGeom>
            <a:solidFill>
              <a:srgbClr val="5CC97B"/>
            </a:solidFill>
          </p:spPr>
        </p:sp>
      </p:grpSp>
      <p:sp>
        <p:nvSpPr>
          <p:cNvPr name="TextBox 24" id="24"/>
          <p:cNvSpPr txBox="true"/>
          <p:nvPr/>
        </p:nvSpPr>
        <p:spPr>
          <a:xfrm rot="0">
            <a:off x="11065373" y="3193704"/>
            <a:ext cx="1555109" cy="247945"/>
          </a:xfrm>
          <a:prstGeom prst="rect">
            <a:avLst/>
          </a:prstGeom>
        </p:spPr>
        <p:txBody>
          <a:bodyPr anchor="t" rtlCol="false" tIns="0" lIns="0" bIns="0" rIns="0">
            <a:spAutoFit/>
          </a:bodyPr>
          <a:lstStyle/>
          <a:p>
            <a:pPr algn="l">
              <a:lnSpc>
                <a:spcPts val="1762"/>
              </a:lnSpc>
            </a:pPr>
            <a:r>
              <a:rPr lang="en-US" sz="1300">
                <a:solidFill>
                  <a:srgbClr val="000000"/>
                </a:solidFill>
                <a:latin typeface="Source Sans 3"/>
                <a:ea typeface="Source Sans 3"/>
                <a:cs typeface="Source Sans 3"/>
                <a:sym typeface="Source Sans 3"/>
              </a:rPr>
              <a:t>BULLISH</a:t>
            </a:r>
          </a:p>
        </p:txBody>
      </p:sp>
      <p:grpSp>
        <p:nvGrpSpPr>
          <p:cNvPr name="Group 25" id="25"/>
          <p:cNvGrpSpPr/>
          <p:nvPr/>
        </p:nvGrpSpPr>
        <p:grpSpPr>
          <a:xfrm rot="0">
            <a:off x="14074978" y="3137449"/>
            <a:ext cx="903837" cy="369989"/>
            <a:chOff x="0" y="0"/>
            <a:chExt cx="1205116" cy="493319"/>
          </a:xfrm>
        </p:grpSpPr>
        <p:sp>
          <p:nvSpPr>
            <p:cNvPr name="Freeform 26" id="26"/>
            <p:cNvSpPr/>
            <p:nvPr/>
          </p:nvSpPr>
          <p:spPr>
            <a:xfrm flipH="false" flipV="false" rot="0">
              <a:off x="0" y="0"/>
              <a:ext cx="1205103" cy="493268"/>
            </a:xfrm>
            <a:custGeom>
              <a:avLst/>
              <a:gdLst/>
              <a:ahLst/>
              <a:cxnLst/>
              <a:rect r="r" b="b" t="t" l="l"/>
              <a:pathLst>
                <a:path h="493268" w="1205103">
                  <a:moveTo>
                    <a:pt x="0" y="35052"/>
                  </a:moveTo>
                  <a:cubicBezTo>
                    <a:pt x="0" y="15748"/>
                    <a:pt x="15748" y="0"/>
                    <a:pt x="35052" y="0"/>
                  </a:cubicBezTo>
                  <a:lnTo>
                    <a:pt x="1170051" y="0"/>
                  </a:lnTo>
                  <a:cubicBezTo>
                    <a:pt x="1189482" y="0"/>
                    <a:pt x="1205103" y="15748"/>
                    <a:pt x="1205103" y="35052"/>
                  </a:cubicBezTo>
                  <a:lnTo>
                    <a:pt x="1205103" y="458216"/>
                  </a:lnTo>
                  <a:cubicBezTo>
                    <a:pt x="1205103" y="477647"/>
                    <a:pt x="1189355" y="493268"/>
                    <a:pt x="1170051" y="493268"/>
                  </a:cubicBezTo>
                  <a:lnTo>
                    <a:pt x="35052" y="493268"/>
                  </a:lnTo>
                  <a:cubicBezTo>
                    <a:pt x="15748" y="493268"/>
                    <a:pt x="0" y="477647"/>
                    <a:pt x="0" y="458216"/>
                  </a:cubicBezTo>
                  <a:close/>
                </a:path>
              </a:pathLst>
            </a:custGeom>
            <a:solidFill>
              <a:srgbClr val="5CC97B"/>
            </a:solidFill>
          </p:spPr>
        </p:sp>
      </p:grpSp>
      <p:sp>
        <p:nvSpPr>
          <p:cNvPr name="TextBox 27" id="27"/>
          <p:cNvSpPr txBox="true"/>
          <p:nvPr/>
        </p:nvSpPr>
        <p:spPr>
          <a:xfrm rot="0">
            <a:off x="14206538" y="3193704"/>
            <a:ext cx="1555109" cy="247945"/>
          </a:xfrm>
          <a:prstGeom prst="rect">
            <a:avLst/>
          </a:prstGeom>
        </p:spPr>
        <p:txBody>
          <a:bodyPr anchor="t" rtlCol="false" tIns="0" lIns="0" bIns="0" rIns="0">
            <a:spAutoFit/>
          </a:bodyPr>
          <a:lstStyle/>
          <a:p>
            <a:pPr algn="l">
              <a:lnSpc>
                <a:spcPts val="1762"/>
              </a:lnSpc>
            </a:pPr>
            <a:r>
              <a:rPr lang="en-US" sz="1300">
                <a:solidFill>
                  <a:srgbClr val="000000"/>
                </a:solidFill>
                <a:latin typeface="Source Sans 3"/>
                <a:ea typeface="Source Sans 3"/>
                <a:cs typeface="Source Sans 3"/>
                <a:sym typeface="Source Sans 3"/>
              </a:rPr>
              <a:t>BULLISH</a:t>
            </a:r>
          </a:p>
        </p:txBody>
      </p:sp>
      <p:sp>
        <p:nvSpPr>
          <p:cNvPr name="TextBox 28" id="28"/>
          <p:cNvSpPr txBox="true"/>
          <p:nvPr/>
        </p:nvSpPr>
        <p:spPr>
          <a:xfrm rot="0">
            <a:off x="1510608" y="3721151"/>
            <a:ext cx="3931148" cy="326679"/>
          </a:xfrm>
          <a:prstGeom prst="rect">
            <a:avLst/>
          </a:prstGeom>
        </p:spPr>
        <p:txBody>
          <a:bodyPr anchor="t" rtlCol="false" tIns="0" lIns="0" bIns="0" rIns="0">
            <a:spAutoFit/>
          </a:bodyPr>
          <a:lstStyle/>
          <a:p>
            <a:pPr algn="l">
              <a:lnSpc>
                <a:spcPts val="2305"/>
              </a:lnSpc>
            </a:pPr>
            <a:r>
              <a:rPr lang="en-US" sz="1700" b="true">
                <a:solidFill>
                  <a:srgbClr val="E2E6E9"/>
                </a:solidFill>
                <a:latin typeface="Source Sans 3 Bold"/>
                <a:ea typeface="Source Sans 3 Bold"/>
                <a:cs typeface="Source Sans 3 Bold"/>
                <a:sym typeface="Source Sans 3 Bold"/>
              </a:rPr>
              <a:t>CONFIDENCE</a:t>
            </a:r>
          </a:p>
        </p:txBody>
      </p:sp>
      <p:sp>
        <p:nvSpPr>
          <p:cNvPr name="TextBox 29" id="29"/>
          <p:cNvSpPr txBox="true"/>
          <p:nvPr/>
        </p:nvSpPr>
        <p:spPr>
          <a:xfrm rot="0">
            <a:off x="4965802" y="3721151"/>
            <a:ext cx="3459956" cy="326679"/>
          </a:xfrm>
          <a:prstGeom prst="rect">
            <a:avLst/>
          </a:prstGeom>
        </p:spPr>
        <p:txBody>
          <a:bodyPr anchor="t" rtlCol="false" tIns="0" lIns="0" bIns="0" rIns="0">
            <a:spAutoFit/>
          </a:bodyPr>
          <a:lstStyle/>
          <a:p>
            <a:pPr algn="l">
              <a:lnSpc>
                <a:spcPts val="2305"/>
              </a:lnSpc>
            </a:pPr>
            <a:r>
              <a:rPr lang="en-US" sz="1700">
                <a:solidFill>
                  <a:srgbClr val="E2E6E9"/>
                </a:solidFill>
                <a:latin typeface="Source Sans 3"/>
                <a:ea typeface="Source Sans 3"/>
                <a:cs typeface="Source Sans 3"/>
                <a:sym typeface="Source Sans 3"/>
              </a:rPr>
              <a:t>Medium</a:t>
            </a:r>
          </a:p>
        </p:txBody>
      </p:sp>
      <p:sp>
        <p:nvSpPr>
          <p:cNvPr name="TextBox 30" id="30"/>
          <p:cNvSpPr txBox="true"/>
          <p:nvPr/>
        </p:nvSpPr>
        <p:spPr>
          <a:xfrm rot="0">
            <a:off x="7949803" y="3721151"/>
            <a:ext cx="3459956" cy="326679"/>
          </a:xfrm>
          <a:prstGeom prst="rect">
            <a:avLst/>
          </a:prstGeom>
        </p:spPr>
        <p:txBody>
          <a:bodyPr anchor="t" rtlCol="false" tIns="0" lIns="0" bIns="0" rIns="0">
            <a:spAutoFit/>
          </a:bodyPr>
          <a:lstStyle/>
          <a:p>
            <a:pPr algn="l">
              <a:lnSpc>
                <a:spcPts val="2305"/>
              </a:lnSpc>
            </a:pPr>
            <a:r>
              <a:rPr lang="en-US" sz="1700">
                <a:solidFill>
                  <a:srgbClr val="E2E6E9"/>
                </a:solidFill>
                <a:latin typeface="Source Sans 3"/>
                <a:ea typeface="Source Sans 3"/>
                <a:cs typeface="Source Sans 3"/>
                <a:sym typeface="Source Sans 3"/>
              </a:rPr>
              <a:t>Medium</a:t>
            </a:r>
          </a:p>
        </p:txBody>
      </p:sp>
      <p:sp>
        <p:nvSpPr>
          <p:cNvPr name="TextBox 31" id="31"/>
          <p:cNvSpPr txBox="true"/>
          <p:nvPr/>
        </p:nvSpPr>
        <p:spPr>
          <a:xfrm rot="0">
            <a:off x="10933805" y="3721151"/>
            <a:ext cx="3617119" cy="326679"/>
          </a:xfrm>
          <a:prstGeom prst="rect">
            <a:avLst/>
          </a:prstGeom>
        </p:spPr>
        <p:txBody>
          <a:bodyPr anchor="t" rtlCol="false" tIns="0" lIns="0" bIns="0" rIns="0">
            <a:spAutoFit/>
          </a:bodyPr>
          <a:lstStyle/>
          <a:p>
            <a:pPr algn="l">
              <a:lnSpc>
                <a:spcPts val="2305"/>
              </a:lnSpc>
            </a:pPr>
            <a:r>
              <a:rPr lang="en-US" sz="1700">
                <a:solidFill>
                  <a:srgbClr val="E2E6E9"/>
                </a:solidFill>
                <a:latin typeface="Source Sans 3"/>
                <a:ea typeface="Source Sans 3"/>
                <a:cs typeface="Source Sans 3"/>
                <a:sym typeface="Source Sans 3"/>
              </a:rPr>
              <a:t>Medium</a:t>
            </a:r>
          </a:p>
        </p:txBody>
      </p:sp>
      <p:sp>
        <p:nvSpPr>
          <p:cNvPr name="TextBox 32" id="32"/>
          <p:cNvSpPr txBox="true"/>
          <p:nvPr/>
        </p:nvSpPr>
        <p:spPr>
          <a:xfrm rot="0">
            <a:off x="14074978" y="3721151"/>
            <a:ext cx="3617119" cy="326679"/>
          </a:xfrm>
          <a:prstGeom prst="rect">
            <a:avLst/>
          </a:prstGeom>
        </p:spPr>
        <p:txBody>
          <a:bodyPr anchor="t" rtlCol="false" tIns="0" lIns="0" bIns="0" rIns="0">
            <a:spAutoFit/>
          </a:bodyPr>
          <a:lstStyle/>
          <a:p>
            <a:pPr algn="l">
              <a:lnSpc>
                <a:spcPts val="2305"/>
              </a:lnSpc>
            </a:pPr>
            <a:r>
              <a:rPr lang="en-US" sz="1700">
                <a:solidFill>
                  <a:srgbClr val="E2E6E9"/>
                </a:solidFill>
                <a:latin typeface="Source Sans 3"/>
                <a:ea typeface="Source Sans 3"/>
                <a:cs typeface="Source Sans 3"/>
                <a:sym typeface="Source Sans 3"/>
              </a:rPr>
              <a:t>Medium</a:t>
            </a:r>
          </a:p>
        </p:txBody>
      </p:sp>
      <p:sp>
        <p:nvSpPr>
          <p:cNvPr name="TextBox 33" id="33"/>
          <p:cNvSpPr txBox="true"/>
          <p:nvPr/>
        </p:nvSpPr>
        <p:spPr>
          <a:xfrm rot="0">
            <a:off x="1510608" y="4261542"/>
            <a:ext cx="3931148" cy="326679"/>
          </a:xfrm>
          <a:prstGeom prst="rect">
            <a:avLst/>
          </a:prstGeom>
        </p:spPr>
        <p:txBody>
          <a:bodyPr anchor="t" rtlCol="false" tIns="0" lIns="0" bIns="0" rIns="0">
            <a:spAutoFit/>
          </a:bodyPr>
          <a:lstStyle/>
          <a:p>
            <a:pPr algn="l">
              <a:lnSpc>
                <a:spcPts val="2305"/>
              </a:lnSpc>
            </a:pPr>
            <a:r>
              <a:rPr lang="en-US" sz="1700" b="true">
                <a:solidFill>
                  <a:srgbClr val="E2E6E9"/>
                </a:solidFill>
                <a:latin typeface="Source Sans 3 Bold"/>
                <a:ea typeface="Source Sans 3 Bold"/>
                <a:cs typeface="Source Sans 3 Bold"/>
                <a:sym typeface="Source Sans 3 Bold"/>
              </a:rPr>
              <a:t>SPX RANGE</a:t>
            </a:r>
          </a:p>
        </p:txBody>
      </p:sp>
      <p:sp>
        <p:nvSpPr>
          <p:cNvPr name="TextBox 34" id="34"/>
          <p:cNvSpPr txBox="true"/>
          <p:nvPr/>
        </p:nvSpPr>
        <p:spPr>
          <a:xfrm rot="0">
            <a:off x="4965802" y="4223442"/>
            <a:ext cx="3459956" cy="374304"/>
          </a:xfrm>
          <a:prstGeom prst="rect">
            <a:avLst/>
          </a:prstGeom>
        </p:spPr>
        <p:txBody>
          <a:bodyPr anchor="t" rtlCol="false" tIns="0" lIns="0" bIns="0" rIns="0">
            <a:spAutoFit/>
          </a:bodyPr>
          <a:lstStyle/>
          <a:p>
            <a:pPr algn="l">
              <a:lnSpc>
                <a:spcPts val="2305"/>
              </a:lnSpc>
            </a:pPr>
            <a:r>
              <a:rPr lang="en-US" sz="1700">
                <a:solidFill>
                  <a:srgbClr val="E2E6E9"/>
                </a:solidFill>
                <a:latin typeface="Consolas"/>
                <a:ea typeface="Consolas"/>
                <a:cs typeface="Consolas"/>
                <a:sym typeface="Consolas"/>
              </a:rPr>
              <a:t>+0.3% to +1.2%</a:t>
            </a:r>
          </a:p>
        </p:txBody>
      </p:sp>
      <p:sp>
        <p:nvSpPr>
          <p:cNvPr name="TextBox 35" id="35"/>
          <p:cNvSpPr txBox="true"/>
          <p:nvPr/>
        </p:nvSpPr>
        <p:spPr>
          <a:xfrm rot="0">
            <a:off x="7949803" y="4223442"/>
            <a:ext cx="3459956" cy="374304"/>
          </a:xfrm>
          <a:prstGeom prst="rect">
            <a:avLst/>
          </a:prstGeom>
        </p:spPr>
        <p:txBody>
          <a:bodyPr anchor="t" rtlCol="false" tIns="0" lIns="0" bIns="0" rIns="0">
            <a:spAutoFit/>
          </a:bodyPr>
          <a:lstStyle/>
          <a:p>
            <a:pPr algn="l">
              <a:lnSpc>
                <a:spcPts val="2305"/>
              </a:lnSpc>
            </a:pPr>
            <a:r>
              <a:rPr lang="en-US" sz="1700">
                <a:solidFill>
                  <a:srgbClr val="E2E6E9"/>
                </a:solidFill>
                <a:latin typeface="Consolas"/>
                <a:ea typeface="Consolas"/>
                <a:cs typeface="Consolas"/>
                <a:sym typeface="Consolas"/>
              </a:rPr>
              <a:t>+0.3% to +1.5%</a:t>
            </a:r>
          </a:p>
        </p:txBody>
      </p:sp>
      <p:sp>
        <p:nvSpPr>
          <p:cNvPr name="TextBox 36" id="36"/>
          <p:cNvSpPr txBox="true"/>
          <p:nvPr/>
        </p:nvSpPr>
        <p:spPr>
          <a:xfrm rot="0">
            <a:off x="10933805" y="4223442"/>
            <a:ext cx="3617119" cy="374304"/>
          </a:xfrm>
          <a:prstGeom prst="rect">
            <a:avLst/>
          </a:prstGeom>
        </p:spPr>
        <p:txBody>
          <a:bodyPr anchor="t" rtlCol="false" tIns="0" lIns="0" bIns="0" rIns="0">
            <a:spAutoFit/>
          </a:bodyPr>
          <a:lstStyle/>
          <a:p>
            <a:pPr algn="l">
              <a:lnSpc>
                <a:spcPts val="2305"/>
              </a:lnSpc>
            </a:pPr>
            <a:r>
              <a:rPr lang="en-US" sz="1700">
                <a:solidFill>
                  <a:srgbClr val="E2E6E9"/>
                </a:solidFill>
                <a:latin typeface="Consolas"/>
                <a:ea typeface="Consolas"/>
                <a:cs typeface="Consolas"/>
                <a:sym typeface="Consolas"/>
              </a:rPr>
              <a:t>+0.5% to +1.2%</a:t>
            </a:r>
          </a:p>
        </p:txBody>
      </p:sp>
      <p:sp>
        <p:nvSpPr>
          <p:cNvPr name="TextBox 37" id="37"/>
          <p:cNvSpPr txBox="true"/>
          <p:nvPr/>
        </p:nvSpPr>
        <p:spPr>
          <a:xfrm rot="0">
            <a:off x="14074978" y="4223442"/>
            <a:ext cx="3617119" cy="374304"/>
          </a:xfrm>
          <a:prstGeom prst="rect">
            <a:avLst/>
          </a:prstGeom>
        </p:spPr>
        <p:txBody>
          <a:bodyPr anchor="t" rtlCol="false" tIns="0" lIns="0" bIns="0" rIns="0">
            <a:spAutoFit/>
          </a:bodyPr>
          <a:lstStyle/>
          <a:p>
            <a:pPr algn="l">
              <a:lnSpc>
                <a:spcPts val="2305"/>
              </a:lnSpc>
            </a:pPr>
            <a:r>
              <a:rPr lang="en-US" sz="1700">
                <a:solidFill>
                  <a:srgbClr val="E2E6E9"/>
                </a:solidFill>
                <a:latin typeface="Consolas"/>
                <a:ea typeface="Consolas"/>
                <a:cs typeface="Consolas"/>
                <a:sym typeface="Consolas"/>
              </a:rPr>
              <a:t>+0.5% to +1.5%</a:t>
            </a:r>
          </a:p>
        </p:txBody>
      </p:sp>
      <p:sp>
        <p:nvSpPr>
          <p:cNvPr name="TextBox 38" id="38"/>
          <p:cNvSpPr txBox="true"/>
          <p:nvPr/>
        </p:nvSpPr>
        <p:spPr>
          <a:xfrm rot="0">
            <a:off x="1510608" y="4811468"/>
            <a:ext cx="3931148" cy="326679"/>
          </a:xfrm>
          <a:prstGeom prst="rect">
            <a:avLst/>
          </a:prstGeom>
        </p:spPr>
        <p:txBody>
          <a:bodyPr anchor="t" rtlCol="false" tIns="0" lIns="0" bIns="0" rIns="0">
            <a:spAutoFit/>
          </a:bodyPr>
          <a:lstStyle/>
          <a:p>
            <a:pPr algn="l">
              <a:lnSpc>
                <a:spcPts val="2305"/>
              </a:lnSpc>
            </a:pPr>
            <a:r>
              <a:rPr lang="en-US" sz="1700" b="true">
                <a:solidFill>
                  <a:srgbClr val="E2E6E9"/>
                </a:solidFill>
                <a:latin typeface="Source Sans 3 Bold"/>
                <a:ea typeface="Source Sans 3 Bold"/>
                <a:cs typeface="Source Sans 3 Bold"/>
                <a:sym typeface="Source Sans 3 Bold"/>
              </a:rPr>
              <a:t>NDX RANGE</a:t>
            </a:r>
          </a:p>
        </p:txBody>
      </p:sp>
      <p:sp>
        <p:nvSpPr>
          <p:cNvPr name="TextBox 39" id="39"/>
          <p:cNvSpPr txBox="true"/>
          <p:nvPr/>
        </p:nvSpPr>
        <p:spPr>
          <a:xfrm rot="0">
            <a:off x="4965802" y="4773368"/>
            <a:ext cx="3459956" cy="374304"/>
          </a:xfrm>
          <a:prstGeom prst="rect">
            <a:avLst/>
          </a:prstGeom>
        </p:spPr>
        <p:txBody>
          <a:bodyPr anchor="t" rtlCol="false" tIns="0" lIns="0" bIns="0" rIns="0">
            <a:spAutoFit/>
          </a:bodyPr>
          <a:lstStyle/>
          <a:p>
            <a:pPr algn="l">
              <a:lnSpc>
                <a:spcPts val="2305"/>
              </a:lnSpc>
            </a:pPr>
            <a:r>
              <a:rPr lang="en-US" sz="1700">
                <a:solidFill>
                  <a:srgbClr val="E2E6E9"/>
                </a:solidFill>
                <a:latin typeface="Consolas"/>
                <a:ea typeface="Consolas"/>
                <a:cs typeface="Consolas"/>
                <a:sym typeface="Consolas"/>
              </a:rPr>
              <a:t>+0.5% to +1.8%</a:t>
            </a:r>
          </a:p>
        </p:txBody>
      </p:sp>
      <p:sp>
        <p:nvSpPr>
          <p:cNvPr name="TextBox 40" id="40"/>
          <p:cNvSpPr txBox="true"/>
          <p:nvPr/>
        </p:nvSpPr>
        <p:spPr>
          <a:xfrm rot="0">
            <a:off x="7949803" y="4773368"/>
            <a:ext cx="3459956" cy="374304"/>
          </a:xfrm>
          <a:prstGeom prst="rect">
            <a:avLst/>
          </a:prstGeom>
        </p:spPr>
        <p:txBody>
          <a:bodyPr anchor="t" rtlCol="false" tIns="0" lIns="0" bIns="0" rIns="0">
            <a:spAutoFit/>
          </a:bodyPr>
          <a:lstStyle/>
          <a:p>
            <a:pPr algn="l">
              <a:lnSpc>
                <a:spcPts val="2305"/>
              </a:lnSpc>
            </a:pPr>
            <a:r>
              <a:rPr lang="en-US" sz="1700">
                <a:solidFill>
                  <a:srgbClr val="E2E6E9"/>
                </a:solidFill>
                <a:latin typeface="Consolas"/>
                <a:ea typeface="Consolas"/>
                <a:cs typeface="Consolas"/>
                <a:sym typeface="Consolas"/>
              </a:rPr>
              <a:t>+0.5% to +2.0%</a:t>
            </a:r>
          </a:p>
        </p:txBody>
      </p:sp>
      <p:sp>
        <p:nvSpPr>
          <p:cNvPr name="TextBox 41" id="41"/>
          <p:cNvSpPr txBox="true"/>
          <p:nvPr/>
        </p:nvSpPr>
        <p:spPr>
          <a:xfrm rot="0">
            <a:off x="10933805" y="4773368"/>
            <a:ext cx="3617119" cy="374304"/>
          </a:xfrm>
          <a:prstGeom prst="rect">
            <a:avLst/>
          </a:prstGeom>
        </p:spPr>
        <p:txBody>
          <a:bodyPr anchor="t" rtlCol="false" tIns="0" lIns="0" bIns="0" rIns="0">
            <a:spAutoFit/>
          </a:bodyPr>
          <a:lstStyle/>
          <a:p>
            <a:pPr algn="l">
              <a:lnSpc>
                <a:spcPts val="2305"/>
              </a:lnSpc>
            </a:pPr>
            <a:r>
              <a:rPr lang="en-US" sz="1700">
                <a:solidFill>
                  <a:srgbClr val="E2E6E9"/>
                </a:solidFill>
                <a:latin typeface="Consolas"/>
                <a:ea typeface="Consolas"/>
                <a:cs typeface="Consolas"/>
                <a:sym typeface="Consolas"/>
              </a:rPr>
              <a:t>+0.8% to +2.0%</a:t>
            </a:r>
          </a:p>
        </p:txBody>
      </p:sp>
      <p:sp>
        <p:nvSpPr>
          <p:cNvPr name="TextBox 42" id="42"/>
          <p:cNvSpPr txBox="true"/>
          <p:nvPr/>
        </p:nvSpPr>
        <p:spPr>
          <a:xfrm rot="0">
            <a:off x="14074978" y="4773368"/>
            <a:ext cx="3617119" cy="374304"/>
          </a:xfrm>
          <a:prstGeom prst="rect">
            <a:avLst/>
          </a:prstGeom>
        </p:spPr>
        <p:txBody>
          <a:bodyPr anchor="t" rtlCol="false" tIns="0" lIns="0" bIns="0" rIns="0">
            <a:spAutoFit/>
          </a:bodyPr>
          <a:lstStyle/>
          <a:p>
            <a:pPr algn="l">
              <a:lnSpc>
                <a:spcPts val="2305"/>
              </a:lnSpc>
            </a:pPr>
            <a:r>
              <a:rPr lang="en-US" sz="1700">
                <a:solidFill>
                  <a:srgbClr val="E2E6E9"/>
                </a:solidFill>
                <a:latin typeface="Consolas"/>
                <a:ea typeface="Consolas"/>
                <a:cs typeface="Consolas"/>
                <a:sym typeface="Consolas"/>
              </a:rPr>
              <a:t>+0.8% to +2.0%</a:t>
            </a:r>
          </a:p>
        </p:txBody>
      </p:sp>
      <p:sp>
        <p:nvSpPr>
          <p:cNvPr name="TextBox 43" id="43"/>
          <p:cNvSpPr txBox="true"/>
          <p:nvPr/>
        </p:nvSpPr>
        <p:spPr>
          <a:xfrm rot="0">
            <a:off x="1510608" y="5361384"/>
            <a:ext cx="3931148" cy="326679"/>
          </a:xfrm>
          <a:prstGeom prst="rect">
            <a:avLst/>
          </a:prstGeom>
        </p:spPr>
        <p:txBody>
          <a:bodyPr anchor="t" rtlCol="false" tIns="0" lIns="0" bIns="0" rIns="0">
            <a:spAutoFit/>
          </a:bodyPr>
          <a:lstStyle/>
          <a:p>
            <a:pPr algn="l">
              <a:lnSpc>
                <a:spcPts val="2305"/>
              </a:lnSpc>
            </a:pPr>
            <a:r>
              <a:rPr lang="en-US" sz="1700" b="true">
                <a:solidFill>
                  <a:srgbClr val="E2E6E9"/>
                </a:solidFill>
                <a:latin typeface="Source Sans 3 Bold"/>
                <a:ea typeface="Source Sans 3 Bold"/>
                <a:cs typeface="Source Sans 3 Bold"/>
                <a:sym typeface="Source Sans 3 Bold"/>
              </a:rPr>
              <a:t>IWM RANGE</a:t>
            </a:r>
          </a:p>
        </p:txBody>
      </p:sp>
      <p:sp>
        <p:nvSpPr>
          <p:cNvPr name="TextBox 44" id="44"/>
          <p:cNvSpPr txBox="true"/>
          <p:nvPr/>
        </p:nvSpPr>
        <p:spPr>
          <a:xfrm rot="0">
            <a:off x="4965802" y="5323284"/>
            <a:ext cx="3459956" cy="374304"/>
          </a:xfrm>
          <a:prstGeom prst="rect">
            <a:avLst/>
          </a:prstGeom>
        </p:spPr>
        <p:txBody>
          <a:bodyPr anchor="t" rtlCol="false" tIns="0" lIns="0" bIns="0" rIns="0">
            <a:spAutoFit/>
          </a:bodyPr>
          <a:lstStyle/>
          <a:p>
            <a:pPr algn="l">
              <a:lnSpc>
                <a:spcPts val="2305"/>
              </a:lnSpc>
            </a:pPr>
            <a:r>
              <a:rPr lang="en-US" sz="1700">
                <a:solidFill>
                  <a:srgbClr val="E2E6E9"/>
                </a:solidFill>
                <a:latin typeface="Consolas"/>
                <a:ea typeface="Consolas"/>
                <a:cs typeface="Consolas"/>
                <a:sym typeface="Consolas"/>
              </a:rPr>
              <a:t>+0.2% to +1.6%</a:t>
            </a:r>
          </a:p>
        </p:txBody>
      </p:sp>
      <p:sp>
        <p:nvSpPr>
          <p:cNvPr name="TextBox 45" id="45"/>
          <p:cNvSpPr txBox="true"/>
          <p:nvPr/>
        </p:nvSpPr>
        <p:spPr>
          <a:xfrm rot="0">
            <a:off x="7949803" y="5323284"/>
            <a:ext cx="3459956" cy="374304"/>
          </a:xfrm>
          <a:prstGeom prst="rect">
            <a:avLst/>
          </a:prstGeom>
        </p:spPr>
        <p:txBody>
          <a:bodyPr anchor="t" rtlCol="false" tIns="0" lIns="0" bIns="0" rIns="0">
            <a:spAutoFit/>
          </a:bodyPr>
          <a:lstStyle/>
          <a:p>
            <a:pPr algn="l">
              <a:lnSpc>
                <a:spcPts val="2305"/>
              </a:lnSpc>
            </a:pPr>
            <a:r>
              <a:rPr lang="en-US" sz="1700">
                <a:solidFill>
                  <a:srgbClr val="E2E6E9"/>
                </a:solidFill>
                <a:latin typeface="Consolas"/>
                <a:ea typeface="Consolas"/>
                <a:cs typeface="Consolas"/>
                <a:sym typeface="Consolas"/>
              </a:rPr>
              <a:t>0.0% to +1.5%</a:t>
            </a:r>
          </a:p>
        </p:txBody>
      </p:sp>
      <p:sp>
        <p:nvSpPr>
          <p:cNvPr name="TextBox 46" id="46"/>
          <p:cNvSpPr txBox="true"/>
          <p:nvPr/>
        </p:nvSpPr>
        <p:spPr>
          <a:xfrm rot="0">
            <a:off x="10933805" y="5323284"/>
            <a:ext cx="3617119" cy="374304"/>
          </a:xfrm>
          <a:prstGeom prst="rect">
            <a:avLst/>
          </a:prstGeom>
        </p:spPr>
        <p:txBody>
          <a:bodyPr anchor="t" rtlCol="false" tIns="0" lIns="0" bIns="0" rIns="0">
            <a:spAutoFit/>
          </a:bodyPr>
          <a:lstStyle/>
          <a:p>
            <a:pPr algn="l">
              <a:lnSpc>
                <a:spcPts val="2305"/>
              </a:lnSpc>
            </a:pPr>
            <a:r>
              <a:rPr lang="en-US" sz="1700">
                <a:solidFill>
                  <a:srgbClr val="E2E6E9"/>
                </a:solidFill>
                <a:latin typeface="Consolas"/>
                <a:ea typeface="Consolas"/>
                <a:cs typeface="Consolas"/>
                <a:sym typeface="Consolas"/>
              </a:rPr>
              <a:t>+1.0% to +2.5%</a:t>
            </a:r>
          </a:p>
        </p:txBody>
      </p:sp>
      <p:sp>
        <p:nvSpPr>
          <p:cNvPr name="TextBox 47" id="47"/>
          <p:cNvSpPr txBox="true"/>
          <p:nvPr/>
        </p:nvSpPr>
        <p:spPr>
          <a:xfrm rot="0">
            <a:off x="14074978" y="5323284"/>
            <a:ext cx="3617119" cy="374304"/>
          </a:xfrm>
          <a:prstGeom prst="rect">
            <a:avLst/>
          </a:prstGeom>
        </p:spPr>
        <p:txBody>
          <a:bodyPr anchor="t" rtlCol="false" tIns="0" lIns="0" bIns="0" rIns="0">
            <a:spAutoFit/>
          </a:bodyPr>
          <a:lstStyle/>
          <a:p>
            <a:pPr algn="l">
              <a:lnSpc>
                <a:spcPts val="2305"/>
              </a:lnSpc>
            </a:pPr>
            <a:r>
              <a:rPr lang="en-US" sz="1700">
                <a:solidFill>
                  <a:srgbClr val="E2E6E9"/>
                </a:solidFill>
                <a:latin typeface="Consolas"/>
                <a:ea typeface="Consolas"/>
                <a:cs typeface="Consolas"/>
                <a:sym typeface="Consolas"/>
              </a:rPr>
              <a:t>+0.5% to +1.5%</a:t>
            </a:r>
          </a:p>
        </p:txBody>
      </p:sp>
      <p:sp>
        <p:nvSpPr>
          <p:cNvPr name="TextBox 48" id="48"/>
          <p:cNvSpPr txBox="true"/>
          <p:nvPr/>
        </p:nvSpPr>
        <p:spPr>
          <a:xfrm rot="0">
            <a:off x="1510608" y="5911301"/>
            <a:ext cx="3931148" cy="326679"/>
          </a:xfrm>
          <a:prstGeom prst="rect">
            <a:avLst/>
          </a:prstGeom>
        </p:spPr>
        <p:txBody>
          <a:bodyPr anchor="t" rtlCol="false" tIns="0" lIns="0" bIns="0" rIns="0">
            <a:spAutoFit/>
          </a:bodyPr>
          <a:lstStyle/>
          <a:p>
            <a:pPr algn="l">
              <a:lnSpc>
                <a:spcPts val="2305"/>
              </a:lnSpc>
            </a:pPr>
            <a:r>
              <a:rPr lang="en-US" sz="1700" b="true">
                <a:solidFill>
                  <a:srgbClr val="E2E6E9"/>
                </a:solidFill>
                <a:latin typeface="Source Sans 3 Bold"/>
                <a:ea typeface="Source Sans 3 Bold"/>
                <a:cs typeface="Source Sans 3 Bold"/>
                <a:sym typeface="Source Sans 3 Bold"/>
              </a:rPr>
              <a:t>TOP DRIVER</a:t>
            </a:r>
          </a:p>
        </p:txBody>
      </p:sp>
      <p:sp>
        <p:nvSpPr>
          <p:cNvPr name="TextBox 49" id="49"/>
          <p:cNvSpPr txBox="true"/>
          <p:nvPr/>
        </p:nvSpPr>
        <p:spPr>
          <a:xfrm rot="0">
            <a:off x="4965802" y="5911301"/>
            <a:ext cx="3459956" cy="326679"/>
          </a:xfrm>
          <a:prstGeom prst="rect">
            <a:avLst/>
          </a:prstGeom>
        </p:spPr>
        <p:txBody>
          <a:bodyPr anchor="t" rtlCol="false" tIns="0" lIns="0" bIns="0" rIns="0">
            <a:spAutoFit/>
          </a:bodyPr>
          <a:lstStyle/>
          <a:p>
            <a:pPr algn="l">
              <a:lnSpc>
                <a:spcPts val="2305"/>
              </a:lnSpc>
            </a:pPr>
            <a:r>
              <a:rPr lang="en-US" sz="1700">
                <a:solidFill>
                  <a:srgbClr val="E2E6E9"/>
                </a:solidFill>
                <a:latin typeface="Source Sans 3"/>
                <a:ea typeface="Source Sans 3"/>
                <a:cs typeface="Source Sans 3"/>
                <a:sym typeface="Source Sans 3"/>
              </a:rPr>
              <a:t>Tech + Easing Yields</a:t>
            </a:r>
          </a:p>
        </p:txBody>
      </p:sp>
      <p:sp>
        <p:nvSpPr>
          <p:cNvPr name="TextBox 50" id="50"/>
          <p:cNvSpPr txBox="true"/>
          <p:nvPr/>
        </p:nvSpPr>
        <p:spPr>
          <a:xfrm rot="0">
            <a:off x="7949803" y="5911301"/>
            <a:ext cx="3459956" cy="326679"/>
          </a:xfrm>
          <a:prstGeom prst="rect">
            <a:avLst/>
          </a:prstGeom>
        </p:spPr>
        <p:txBody>
          <a:bodyPr anchor="t" rtlCol="false" tIns="0" lIns="0" bIns="0" rIns="0">
            <a:spAutoFit/>
          </a:bodyPr>
          <a:lstStyle/>
          <a:p>
            <a:pPr algn="l">
              <a:lnSpc>
                <a:spcPts val="2305"/>
              </a:lnSpc>
            </a:pPr>
            <a:r>
              <a:rPr lang="en-US" sz="1700">
                <a:solidFill>
                  <a:srgbClr val="E2E6E9"/>
                </a:solidFill>
                <a:latin typeface="Source Sans 3"/>
                <a:ea typeface="Source Sans 3"/>
                <a:cs typeface="Source Sans 3"/>
                <a:sym typeface="Source Sans 3"/>
              </a:rPr>
              <a:t>Tech + Macro Tailwinds</a:t>
            </a:r>
          </a:p>
        </p:txBody>
      </p:sp>
      <p:sp>
        <p:nvSpPr>
          <p:cNvPr name="TextBox 51" id="51"/>
          <p:cNvSpPr txBox="true"/>
          <p:nvPr/>
        </p:nvSpPr>
        <p:spPr>
          <a:xfrm rot="0">
            <a:off x="10933805" y="5911301"/>
            <a:ext cx="3617119" cy="326679"/>
          </a:xfrm>
          <a:prstGeom prst="rect">
            <a:avLst/>
          </a:prstGeom>
        </p:spPr>
        <p:txBody>
          <a:bodyPr anchor="t" rtlCol="false" tIns="0" lIns="0" bIns="0" rIns="0">
            <a:spAutoFit/>
          </a:bodyPr>
          <a:lstStyle/>
          <a:p>
            <a:pPr algn="l">
              <a:lnSpc>
                <a:spcPts val="2305"/>
              </a:lnSpc>
            </a:pPr>
            <a:r>
              <a:rPr lang="en-US" sz="1700">
                <a:solidFill>
                  <a:srgbClr val="E2E6E9"/>
                </a:solidFill>
                <a:latin typeface="Source Sans 3"/>
                <a:ea typeface="Source Sans 3"/>
                <a:cs typeface="Source Sans 3"/>
                <a:sym typeface="Source Sans 3"/>
              </a:rPr>
              <a:t>Tech Momentum</a:t>
            </a:r>
          </a:p>
        </p:txBody>
      </p:sp>
      <p:sp>
        <p:nvSpPr>
          <p:cNvPr name="TextBox 52" id="52"/>
          <p:cNvSpPr txBox="true"/>
          <p:nvPr/>
        </p:nvSpPr>
        <p:spPr>
          <a:xfrm rot="0">
            <a:off x="14074978" y="5911301"/>
            <a:ext cx="3617119" cy="326679"/>
          </a:xfrm>
          <a:prstGeom prst="rect">
            <a:avLst/>
          </a:prstGeom>
        </p:spPr>
        <p:txBody>
          <a:bodyPr anchor="t" rtlCol="false" tIns="0" lIns="0" bIns="0" rIns="0">
            <a:spAutoFit/>
          </a:bodyPr>
          <a:lstStyle/>
          <a:p>
            <a:pPr algn="l">
              <a:lnSpc>
                <a:spcPts val="2305"/>
              </a:lnSpc>
            </a:pPr>
            <a:r>
              <a:rPr lang="en-US" sz="1700">
                <a:solidFill>
                  <a:srgbClr val="E2E6E9"/>
                </a:solidFill>
                <a:latin typeface="Source Sans 3"/>
                <a:ea typeface="Source Sans 3"/>
                <a:cs typeface="Source Sans 3"/>
                <a:sym typeface="Source Sans 3"/>
              </a:rPr>
              <a:t>Zone 1 + Macro</a:t>
            </a:r>
          </a:p>
        </p:txBody>
      </p:sp>
      <p:sp>
        <p:nvSpPr>
          <p:cNvPr name="TextBox 53" id="53"/>
          <p:cNvSpPr txBox="true"/>
          <p:nvPr/>
        </p:nvSpPr>
        <p:spPr>
          <a:xfrm rot="0">
            <a:off x="1510608" y="6451702"/>
            <a:ext cx="3931148" cy="326679"/>
          </a:xfrm>
          <a:prstGeom prst="rect">
            <a:avLst/>
          </a:prstGeom>
        </p:spPr>
        <p:txBody>
          <a:bodyPr anchor="t" rtlCol="false" tIns="0" lIns="0" bIns="0" rIns="0">
            <a:spAutoFit/>
          </a:bodyPr>
          <a:lstStyle/>
          <a:p>
            <a:pPr algn="l">
              <a:lnSpc>
                <a:spcPts val="2305"/>
              </a:lnSpc>
            </a:pPr>
            <a:r>
              <a:rPr lang="en-US" sz="1700" b="true">
                <a:solidFill>
                  <a:srgbClr val="E2E6E9"/>
                </a:solidFill>
                <a:latin typeface="Source Sans 3 Bold"/>
                <a:ea typeface="Source Sans 3 Bold"/>
                <a:cs typeface="Source Sans 3 Bold"/>
                <a:sym typeface="Source Sans 3 Bold"/>
              </a:rPr>
              <a:t>CORE RISK</a:t>
            </a:r>
          </a:p>
        </p:txBody>
      </p:sp>
      <p:sp>
        <p:nvSpPr>
          <p:cNvPr name="TextBox 54" id="54"/>
          <p:cNvSpPr txBox="true"/>
          <p:nvPr/>
        </p:nvSpPr>
        <p:spPr>
          <a:xfrm rot="0">
            <a:off x="4965802" y="6451702"/>
            <a:ext cx="3459956" cy="326679"/>
          </a:xfrm>
          <a:prstGeom prst="rect">
            <a:avLst/>
          </a:prstGeom>
        </p:spPr>
        <p:txBody>
          <a:bodyPr anchor="t" rtlCol="false" tIns="0" lIns="0" bIns="0" rIns="0">
            <a:spAutoFit/>
          </a:bodyPr>
          <a:lstStyle/>
          <a:p>
            <a:pPr algn="l">
              <a:lnSpc>
                <a:spcPts val="2305"/>
              </a:lnSpc>
            </a:pPr>
            <a:r>
              <a:rPr lang="en-US" sz="1700">
                <a:solidFill>
                  <a:srgbClr val="E2E6E9"/>
                </a:solidFill>
                <a:latin typeface="Source Sans 3"/>
                <a:ea typeface="Source Sans 3"/>
                <a:cs typeface="Source Sans 3"/>
                <a:sym typeface="Source Sans 3"/>
              </a:rPr>
              <a:t>Seasonality + NFP</a:t>
            </a:r>
          </a:p>
        </p:txBody>
      </p:sp>
      <p:sp>
        <p:nvSpPr>
          <p:cNvPr name="TextBox 55" id="55"/>
          <p:cNvSpPr txBox="true"/>
          <p:nvPr/>
        </p:nvSpPr>
        <p:spPr>
          <a:xfrm rot="0">
            <a:off x="7949803" y="6451702"/>
            <a:ext cx="3459956" cy="326679"/>
          </a:xfrm>
          <a:prstGeom prst="rect">
            <a:avLst/>
          </a:prstGeom>
        </p:spPr>
        <p:txBody>
          <a:bodyPr anchor="t" rtlCol="false" tIns="0" lIns="0" bIns="0" rIns="0">
            <a:spAutoFit/>
          </a:bodyPr>
          <a:lstStyle/>
          <a:p>
            <a:pPr algn="l">
              <a:lnSpc>
                <a:spcPts val="2305"/>
              </a:lnSpc>
            </a:pPr>
            <a:r>
              <a:rPr lang="en-US" sz="1700">
                <a:solidFill>
                  <a:srgbClr val="E2E6E9"/>
                </a:solidFill>
                <a:latin typeface="Source Sans 3"/>
                <a:ea typeface="Source Sans 3"/>
                <a:cs typeface="Source Sans 3"/>
                <a:sym typeface="Source Sans 3"/>
              </a:rPr>
              <a:t>Weak Spot + NFP</a:t>
            </a:r>
          </a:p>
        </p:txBody>
      </p:sp>
      <p:sp>
        <p:nvSpPr>
          <p:cNvPr name="TextBox 56" id="56"/>
          <p:cNvSpPr txBox="true"/>
          <p:nvPr/>
        </p:nvSpPr>
        <p:spPr>
          <a:xfrm rot="0">
            <a:off x="10933805" y="6451702"/>
            <a:ext cx="3617119" cy="326679"/>
          </a:xfrm>
          <a:prstGeom prst="rect">
            <a:avLst/>
          </a:prstGeom>
        </p:spPr>
        <p:txBody>
          <a:bodyPr anchor="t" rtlCol="false" tIns="0" lIns="0" bIns="0" rIns="0">
            <a:spAutoFit/>
          </a:bodyPr>
          <a:lstStyle/>
          <a:p>
            <a:pPr algn="l">
              <a:lnSpc>
                <a:spcPts val="2305"/>
              </a:lnSpc>
            </a:pPr>
            <a:r>
              <a:rPr lang="en-US" sz="1700">
                <a:solidFill>
                  <a:srgbClr val="E2E6E9"/>
                </a:solidFill>
                <a:latin typeface="Source Sans 3"/>
                <a:ea typeface="Source Sans 3"/>
                <a:cs typeface="Source Sans 3"/>
                <a:sym typeface="Source Sans 3"/>
              </a:rPr>
              <a:t>May Avg + NFP</a:t>
            </a:r>
          </a:p>
        </p:txBody>
      </p:sp>
      <p:sp>
        <p:nvSpPr>
          <p:cNvPr name="TextBox 57" id="57"/>
          <p:cNvSpPr txBox="true"/>
          <p:nvPr/>
        </p:nvSpPr>
        <p:spPr>
          <a:xfrm rot="0">
            <a:off x="14074978" y="6451702"/>
            <a:ext cx="3617119" cy="326679"/>
          </a:xfrm>
          <a:prstGeom prst="rect">
            <a:avLst/>
          </a:prstGeom>
        </p:spPr>
        <p:txBody>
          <a:bodyPr anchor="t" rtlCol="false" tIns="0" lIns="0" bIns="0" rIns="0">
            <a:spAutoFit/>
          </a:bodyPr>
          <a:lstStyle/>
          <a:p>
            <a:pPr algn="l">
              <a:lnSpc>
                <a:spcPts val="2305"/>
              </a:lnSpc>
            </a:pPr>
            <a:r>
              <a:rPr lang="en-US" sz="1700">
                <a:solidFill>
                  <a:srgbClr val="E2E6E9"/>
                </a:solidFill>
                <a:latin typeface="Source Sans 3"/>
                <a:ea typeface="Source Sans 3"/>
                <a:cs typeface="Source Sans 3"/>
                <a:sym typeface="Source Sans 3"/>
              </a:rPr>
              <a:t>Bearish Pattern + NFP</a:t>
            </a:r>
          </a:p>
        </p:txBody>
      </p:sp>
      <p:sp>
        <p:nvSpPr>
          <p:cNvPr name="TextBox 58" id="58"/>
          <p:cNvSpPr txBox="true"/>
          <p:nvPr/>
        </p:nvSpPr>
        <p:spPr>
          <a:xfrm rot="0">
            <a:off x="1510608" y="6992093"/>
            <a:ext cx="3931148" cy="326679"/>
          </a:xfrm>
          <a:prstGeom prst="rect">
            <a:avLst/>
          </a:prstGeom>
        </p:spPr>
        <p:txBody>
          <a:bodyPr anchor="t" rtlCol="false" tIns="0" lIns="0" bIns="0" rIns="0">
            <a:spAutoFit/>
          </a:bodyPr>
          <a:lstStyle/>
          <a:p>
            <a:pPr algn="l">
              <a:lnSpc>
                <a:spcPts val="2305"/>
              </a:lnSpc>
            </a:pPr>
            <a:r>
              <a:rPr lang="en-US" sz="1700" b="true">
                <a:solidFill>
                  <a:srgbClr val="E2E6E9"/>
                </a:solidFill>
                <a:latin typeface="Source Sans 3 Bold"/>
                <a:ea typeface="Source Sans 3 Bold"/>
                <a:cs typeface="Source Sans 3 Bold"/>
                <a:sym typeface="Source Sans 3 Bold"/>
              </a:rPr>
              <a:t>INVALIDATION</a:t>
            </a:r>
          </a:p>
        </p:txBody>
      </p:sp>
      <p:sp>
        <p:nvSpPr>
          <p:cNvPr name="TextBox 59" id="59"/>
          <p:cNvSpPr txBox="true"/>
          <p:nvPr/>
        </p:nvSpPr>
        <p:spPr>
          <a:xfrm rot="0">
            <a:off x="4965802" y="6953993"/>
            <a:ext cx="3459956" cy="374304"/>
          </a:xfrm>
          <a:prstGeom prst="rect">
            <a:avLst/>
          </a:prstGeom>
        </p:spPr>
        <p:txBody>
          <a:bodyPr anchor="t" rtlCol="false" tIns="0" lIns="0" bIns="0" rIns="0">
            <a:spAutoFit/>
          </a:bodyPr>
          <a:lstStyle/>
          <a:p>
            <a:pPr algn="l">
              <a:lnSpc>
                <a:spcPts val="2305"/>
              </a:lnSpc>
            </a:pPr>
            <a:r>
              <a:rPr lang="en-US" sz="1700">
                <a:solidFill>
                  <a:srgbClr val="E2E6E9"/>
                </a:solidFill>
                <a:latin typeface="Consolas"/>
                <a:ea typeface="Consolas"/>
                <a:cs typeface="Consolas"/>
                <a:sym typeface="Consolas"/>
              </a:rPr>
              <a:t>SPX&lt;7500 / NFP / Iran</a:t>
            </a:r>
          </a:p>
        </p:txBody>
      </p:sp>
      <p:sp>
        <p:nvSpPr>
          <p:cNvPr name="TextBox 60" id="60"/>
          <p:cNvSpPr txBox="true"/>
          <p:nvPr/>
        </p:nvSpPr>
        <p:spPr>
          <a:xfrm rot="0">
            <a:off x="7949803" y="6953993"/>
            <a:ext cx="3459956" cy="374304"/>
          </a:xfrm>
          <a:prstGeom prst="rect">
            <a:avLst/>
          </a:prstGeom>
        </p:spPr>
        <p:txBody>
          <a:bodyPr anchor="t" rtlCol="false" tIns="0" lIns="0" bIns="0" rIns="0">
            <a:spAutoFit/>
          </a:bodyPr>
          <a:lstStyle/>
          <a:p>
            <a:pPr algn="l">
              <a:lnSpc>
                <a:spcPts val="2305"/>
              </a:lnSpc>
            </a:pPr>
            <a:r>
              <a:rPr lang="en-US" sz="1700">
                <a:solidFill>
                  <a:srgbClr val="E2E6E9"/>
                </a:solidFill>
                <a:latin typeface="Consolas"/>
                <a:ea typeface="Consolas"/>
                <a:cs typeface="Consolas"/>
                <a:sym typeface="Consolas"/>
              </a:rPr>
              <a:t>SPX&lt;7500 + High Yields</a:t>
            </a:r>
          </a:p>
        </p:txBody>
      </p:sp>
      <p:sp>
        <p:nvSpPr>
          <p:cNvPr name="TextBox 61" id="61"/>
          <p:cNvSpPr txBox="true"/>
          <p:nvPr/>
        </p:nvSpPr>
        <p:spPr>
          <a:xfrm rot="0">
            <a:off x="10933805" y="6953993"/>
            <a:ext cx="3617119" cy="374304"/>
          </a:xfrm>
          <a:prstGeom prst="rect">
            <a:avLst/>
          </a:prstGeom>
        </p:spPr>
        <p:txBody>
          <a:bodyPr anchor="t" rtlCol="false" tIns="0" lIns="0" bIns="0" rIns="0">
            <a:spAutoFit/>
          </a:bodyPr>
          <a:lstStyle/>
          <a:p>
            <a:pPr algn="l">
              <a:lnSpc>
                <a:spcPts val="2305"/>
              </a:lnSpc>
            </a:pPr>
            <a:r>
              <a:rPr lang="en-US" sz="1700">
                <a:solidFill>
                  <a:srgbClr val="E2E6E9"/>
                </a:solidFill>
                <a:latin typeface="Consolas"/>
                <a:ea typeface="Consolas"/>
                <a:cs typeface="Consolas"/>
                <a:sym typeface="Consolas"/>
              </a:rPr>
              <a:t>SPX&lt;7500 / NDX&lt;29600</a:t>
            </a:r>
          </a:p>
        </p:txBody>
      </p:sp>
      <p:sp>
        <p:nvSpPr>
          <p:cNvPr name="TextBox 62" id="62"/>
          <p:cNvSpPr txBox="true"/>
          <p:nvPr/>
        </p:nvSpPr>
        <p:spPr>
          <a:xfrm rot="0">
            <a:off x="14074978" y="6953993"/>
            <a:ext cx="3617119" cy="374304"/>
          </a:xfrm>
          <a:prstGeom prst="rect">
            <a:avLst/>
          </a:prstGeom>
        </p:spPr>
        <p:txBody>
          <a:bodyPr anchor="t" rtlCol="false" tIns="0" lIns="0" bIns="0" rIns="0">
            <a:spAutoFit/>
          </a:bodyPr>
          <a:lstStyle/>
          <a:p>
            <a:pPr algn="l">
              <a:lnSpc>
                <a:spcPts val="2305"/>
              </a:lnSpc>
            </a:pPr>
            <a:r>
              <a:rPr lang="en-US" sz="1700">
                <a:solidFill>
                  <a:srgbClr val="E2E6E9"/>
                </a:solidFill>
                <a:latin typeface="Consolas"/>
                <a:ea typeface="Consolas"/>
                <a:cs typeface="Consolas"/>
                <a:sym typeface="Consolas"/>
              </a:rPr>
              <a:t>SPX&lt;7500 + 10Y Spike</a:t>
            </a:r>
          </a:p>
        </p:txBody>
      </p:sp>
      <p:sp>
        <p:nvSpPr>
          <p:cNvPr name="TextBox 63" id="63"/>
          <p:cNvSpPr txBox="true"/>
          <p:nvPr/>
        </p:nvSpPr>
        <p:spPr>
          <a:xfrm rot="0">
            <a:off x="1510608" y="7542019"/>
            <a:ext cx="3931148" cy="326679"/>
          </a:xfrm>
          <a:prstGeom prst="rect">
            <a:avLst/>
          </a:prstGeom>
        </p:spPr>
        <p:txBody>
          <a:bodyPr anchor="t" rtlCol="false" tIns="0" lIns="0" bIns="0" rIns="0">
            <a:spAutoFit/>
          </a:bodyPr>
          <a:lstStyle/>
          <a:p>
            <a:pPr algn="l">
              <a:lnSpc>
                <a:spcPts val="2305"/>
              </a:lnSpc>
            </a:pPr>
            <a:r>
              <a:rPr lang="en-US" sz="1700" b="true">
                <a:solidFill>
                  <a:srgbClr val="E2E6E9"/>
                </a:solidFill>
                <a:latin typeface="Source Sans 3 Bold"/>
                <a:ea typeface="Source Sans 3 Bold"/>
                <a:cs typeface="Source Sans 3 Bold"/>
                <a:sym typeface="Source Sans 3 Bold"/>
              </a:rPr>
              <a:t>AI TONE</a:t>
            </a:r>
          </a:p>
        </p:txBody>
      </p:sp>
      <p:sp>
        <p:nvSpPr>
          <p:cNvPr name="TextBox 64" id="64"/>
          <p:cNvSpPr txBox="true"/>
          <p:nvPr/>
        </p:nvSpPr>
        <p:spPr>
          <a:xfrm rot="0">
            <a:off x="4965802" y="7542019"/>
            <a:ext cx="3459956" cy="326679"/>
          </a:xfrm>
          <a:prstGeom prst="rect">
            <a:avLst/>
          </a:prstGeom>
        </p:spPr>
        <p:txBody>
          <a:bodyPr anchor="t" rtlCol="false" tIns="0" lIns="0" bIns="0" rIns="0">
            <a:spAutoFit/>
          </a:bodyPr>
          <a:lstStyle/>
          <a:p>
            <a:pPr algn="l">
              <a:lnSpc>
                <a:spcPts val="2305"/>
              </a:lnSpc>
            </a:pPr>
            <a:r>
              <a:rPr lang="en-US" sz="1700">
                <a:solidFill>
                  <a:srgbClr val="E2E6E9"/>
                </a:solidFill>
                <a:latin typeface="Source Sans 3"/>
                <a:ea typeface="Source Sans 3"/>
                <a:cs typeface="Source Sans 3"/>
                <a:sym typeface="Source Sans 3"/>
              </a:rPr>
              <a:t>Defensive Bullish</a:t>
            </a:r>
          </a:p>
        </p:txBody>
      </p:sp>
      <p:sp>
        <p:nvSpPr>
          <p:cNvPr name="TextBox 65" id="65"/>
          <p:cNvSpPr txBox="true"/>
          <p:nvPr/>
        </p:nvSpPr>
        <p:spPr>
          <a:xfrm rot="0">
            <a:off x="7949803" y="7542019"/>
            <a:ext cx="3459956" cy="326679"/>
          </a:xfrm>
          <a:prstGeom prst="rect">
            <a:avLst/>
          </a:prstGeom>
        </p:spPr>
        <p:txBody>
          <a:bodyPr anchor="t" rtlCol="false" tIns="0" lIns="0" bIns="0" rIns="0">
            <a:spAutoFit/>
          </a:bodyPr>
          <a:lstStyle/>
          <a:p>
            <a:pPr algn="l">
              <a:lnSpc>
                <a:spcPts val="2305"/>
              </a:lnSpc>
            </a:pPr>
            <a:r>
              <a:rPr lang="en-US" sz="1700">
                <a:solidFill>
                  <a:srgbClr val="E2E6E9"/>
                </a:solidFill>
                <a:latin typeface="Source Sans 3"/>
                <a:ea typeface="Source Sans 3"/>
                <a:cs typeface="Source Sans 3"/>
                <a:sym typeface="Source Sans 3"/>
              </a:rPr>
              <a:t>Balanced</a:t>
            </a:r>
          </a:p>
        </p:txBody>
      </p:sp>
      <p:sp>
        <p:nvSpPr>
          <p:cNvPr name="TextBox 66" id="66"/>
          <p:cNvSpPr txBox="true"/>
          <p:nvPr/>
        </p:nvSpPr>
        <p:spPr>
          <a:xfrm rot="0">
            <a:off x="10933805" y="7542019"/>
            <a:ext cx="3617119" cy="326679"/>
          </a:xfrm>
          <a:prstGeom prst="rect">
            <a:avLst/>
          </a:prstGeom>
        </p:spPr>
        <p:txBody>
          <a:bodyPr anchor="t" rtlCol="false" tIns="0" lIns="0" bIns="0" rIns="0">
            <a:spAutoFit/>
          </a:bodyPr>
          <a:lstStyle/>
          <a:p>
            <a:pPr algn="l">
              <a:lnSpc>
                <a:spcPts val="2305"/>
              </a:lnSpc>
            </a:pPr>
            <a:r>
              <a:rPr lang="en-US" sz="1700">
                <a:solidFill>
                  <a:srgbClr val="E2E6E9"/>
                </a:solidFill>
                <a:latin typeface="Source Sans 3"/>
                <a:ea typeface="Source Sans 3"/>
                <a:cs typeface="Source Sans 3"/>
                <a:sym typeface="Source Sans 3"/>
              </a:rPr>
              <a:t>Highly Optimistic</a:t>
            </a:r>
          </a:p>
        </p:txBody>
      </p:sp>
      <p:sp>
        <p:nvSpPr>
          <p:cNvPr name="TextBox 67" id="67"/>
          <p:cNvSpPr txBox="true"/>
          <p:nvPr/>
        </p:nvSpPr>
        <p:spPr>
          <a:xfrm rot="0">
            <a:off x="14074978" y="7542019"/>
            <a:ext cx="3617119" cy="326679"/>
          </a:xfrm>
          <a:prstGeom prst="rect">
            <a:avLst/>
          </a:prstGeom>
        </p:spPr>
        <p:txBody>
          <a:bodyPr anchor="t" rtlCol="false" tIns="0" lIns="0" bIns="0" rIns="0">
            <a:spAutoFit/>
          </a:bodyPr>
          <a:lstStyle/>
          <a:p>
            <a:pPr algn="l">
              <a:lnSpc>
                <a:spcPts val="2305"/>
              </a:lnSpc>
            </a:pPr>
            <a:r>
              <a:rPr lang="en-US" sz="1700">
                <a:solidFill>
                  <a:srgbClr val="E2E6E9"/>
                </a:solidFill>
                <a:latin typeface="Source Sans 3"/>
                <a:ea typeface="Source Sans 3"/>
                <a:cs typeface="Source Sans 3"/>
                <a:sym typeface="Source Sans 3"/>
              </a:rPr>
              <a:t>Structured &amp; Objective</a:t>
            </a:r>
          </a:p>
        </p:txBody>
      </p:sp>
      <p:grpSp>
        <p:nvGrpSpPr>
          <p:cNvPr name="Group 68" id="68"/>
          <p:cNvGrpSpPr/>
          <p:nvPr/>
        </p:nvGrpSpPr>
        <p:grpSpPr>
          <a:xfrm rot="0">
            <a:off x="1281560" y="8195072"/>
            <a:ext cx="15724880" cy="1127227"/>
            <a:chOff x="0" y="0"/>
            <a:chExt cx="20966506" cy="1502969"/>
          </a:xfrm>
        </p:grpSpPr>
        <p:sp>
          <p:nvSpPr>
            <p:cNvPr name="Freeform 69" id="69"/>
            <p:cNvSpPr/>
            <p:nvPr/>
          </p:nvSpPr>
          <p:spPr>
            <a:xfrm flipH="false" flipV="false" rot="0">
              <a:off x="0" y="0"/>
              <a:ext cx="20966430" cy="1502948"/>
            </a:xfrm>
            <a:custGeom>
              <a:avLst/>
              <a:gdLst/>
              <a:ahLst/>
              <a:cxnLst/>
              <a:rect r="r" b="b" t="t" l="l"/>
              <a:pathLst>
                <a:path h="1502948" w="20966430">
                  <a:moveTo>
                    <a:pt x="0" y="35353"/>
                  </a:moveTo>
                  <a:cubicBezTo>
                    <a:pt x="0" y="15883"/>
                    <a:pt x="19685" y="0"/>
                    <a:pt x="43815" y="0"/>
                  </a:cubicBezTo>
                  <a:lnTo>
                    <a:pt x="20922614" y="0"/>
                  </a:lnTo>
                  <a:cubicBezTo>
                    <a:pt x="20946872" y="0"/>
                    <a:pt x="20966430" y="15883"/>
                    <a:pt x="20966430" y="35353"/>
                  </a:cubicBezTo>
                  <a:lnTo>
                    <a:pt x="20966430" y="1467596"/>
                  </a:lnTo>
                  <a:cubicBezTo>
                    <a:pt x="20966430" y="1487168"/>
                    <a:pt x="20946745" y="1502948"/>
                    <a:pt x="20922614" y="1502948"/>
                  </a:cubicBezTo>
                  <a:lnTo>
                    <a:pt x="43815" y="1502948"/>
                  </a:lnTo>
                  <a:cubicBezTo>
                    <a:pt x="19558" y="1502948"/>
                    <a:pt x="0" y="1487065"/>
                    <a:pt x="0" y="1467596"/>
                  </a:cubicBezTo>
                  <a:close/>
                </a:path>
              </a:pathLst>
            </a:custGeom>
            <a:solidFill>
              <a:srgbClr val="4B3F02"/>
            </a:solidFill>
          </p:spPr>
        </p:sp>
      </p:grpSp>
      <p:grpSp>
        <p:nvGrpSpPr>
          <p:cNvPr name="Group 70" id="70"/>
          <p:cNvGrpSpPr/>
          <p:nvPr/>
        </p:nvGrpSpPr>
        <p:grpSpPr>
          <a:xfrm rot="0">
            <a:off x="1500778" y="8496300"/>
            <a:ext cx="274139" cy="219227"/>
            <a:chOff x="0" y="0"/>
            <a:chExt cx="365519" cy="292303"/>
          </a:xfrm>
        </p:grpSpPr>
        <p:sp>
          <p:nvSpPr>
            <p:cNvPr name="Freeform 71" id="71" descr="preencoded.png"/>
            <p:cNvSpPr/>
            <p:nvPr/>
          </p:nvSpPr>
          <p:spPr>
            <a:xfrm flipH="false" flipV="false" rot="0">
              <a:off x="0" y="0"/>
              <a:ext cx="365506" cy="292354"/>
            </a:xfrm>
            <a:custGeom>
              <a:avLst/>
              <a:gdLst/>
              <a:ahLst/>
              <a:cxnLst/>
              <a:rect r="r" b="b" t="t" l="l"/>
              <a:pathLst>
                <a:path h="292354" w="365506">
                  <a:moveTo>
                    <a:pt x="0" y="0"/>
                  </a:moveTo>
                  <a:lnTo>
                    <a:pt x="365506" y="0"/>
                  </a:lnTo>
                  <a:lnTo>
                    <a:pt x="365506" y="292354"/>
                  </a:lnTo>
                  <a:lnTo>
                    <a:pt x="0" y="292354"/>
                  </a:lnTo>
                  <a:lnTo>
                    <a:pt x="0" y="0"/>
                  </a:lnTo>
                  <a:close/>
                </a:path>
              </a:pathLst>
            </a:custGeom>
            <a:blipFill>
              <a:blip r:embed="rId3"/>
              <a:stretch>
                <a:fillRect l="-413" t="0" r="-420" b="17"/>
              </a:stretch>
            </a:blipFill>
          </p:spPr>
        </p:sp>
      </p:grpSp>
      <p:sp>
        <p:nvSpPr>
          <p:cNvPr name="TextBox 72" id="72"/>
          <p:cNvSpPr txBox="true"/>
          <p:nvPr/>
        </p:nvSpPr>
        <p:spPr>
          <a:xfrm rot="0">
            <a:off x="1994144" y="8355435"/>
            <a:ext cx="14793068" cy="787451"/>
          </a:xfrm>
          <a:prstGeom prst="rect">
            <a:avLst/>
          </a:prstGeom>
        </p:spPr>
        <p:txBody>
          <a:bodyPr anchor="t" rtlCol="false" tIns="0" lIns="0" bIns="0" rIns="0">
            <a:spAutoFit/>
          </a:bodyPr>
          <a:lstStyle/>
          <a:p>
            <a:pPr algn="l">
              <a:lnSpc>
                <a:spcPts val="2169"/>
              </a:lnSpc>
            </a:pPr>
            <a:r>
              <a:rPr lang="en-US" sz="1599" b="true">
                <a:solidFill>
                  <a:srgbClr val="FFFFFF"/>
                </a:solidFill>
                <a:latin typeface="Source Sans 3 Bold"/>
                <a:ea typeface="Source Sans 3 Bold"/>
                <a:cs typeface="Source Sans 3 Bold"/>
                <a:sym typeface="Source Sans 3 Bold"/>
              </a:rPr>
              <a:t>Identified Cognitive Blind Spot — All Models:</a:t>
            </a:r>
            <a:r>
              <a:rPr lang="en-US" sz="1599">
                <a:solidFill>
                  <a:srgbClr val="FFFFFF"/>
                </a:solidFill>
                <a:latin typeface="Source Sans 3"/>
                <a:ea typeface="Source Sans 3"/>
                <a:cs typeface="Source Sans 3"/>
                <a:sym typeface="Source Sans 3"/>
              </a:rPr>
              <a:t> A systematic failure to account for the </a:t>
            </a:r>
            <a:r>
              <a:rPr lang="en-US" sz="1599" b="true">
                <a:solidFill>
                  <a:srgbClr val="FFFFFF"/>
                </a:solidFill>
                <a:latin typeface="Source Sans 3 Bold"/>
                <a:ea typeface="Source Sans 3 Bold"/>
                <a:cs typeface="Source Sans 3 Bold"/>
                <a:sym typeface="Source Sans 3 Bold"/>
              </a:rPr>
              <a:t>Volume Amplification Effect</a:t>
            </a:r>
            <a:r>
              <a:rPr lang="en-US" sz="1599">
                <a:solidFill>
                  <a:srgbClr val="FFFFFF"/>
                </a:solidFill>
                <a:latin typeface="Source Sans 3"/>
                <a:ea typeface="Source Sans 3"/>
                <a:cs typeface="Source Sans 3"/>
                <a:sym typeface="Source Sans 3"/>
              </a:rPr>
              <a:t> inherent in a post-holiday, low-liquidity week immediately preceding the high-stakes Nonfarm Payrolls report. All four frontier models linearize growth trajectories and underweight non-linear volatility risk under thin market conditions. Divergence insights have been escalated to R7 for human override formulation.</a:t>
            </a:r>
          </a:p>
        </p:txBody>
      </p:sp>
      <p:sp>
        <p:nvSpPr>
          <p:cNvPr name="TextBox 73" id="73"/>
          <p:cNvSpPr txBox="true"/>
          <p:nvPr/>
        </p:nvSpPr>
        <p:spPr>
          <a:xfrm rot="0">
            <a:off x="328353" y="198611"/>
            <a:ext cx="348655" cy="353060"/>
          </a:xfrm>
          <a:prstGeom prst="rect">
            <a:avLst/>
          </a:prstGeom>
        </p:spPr>
        <p:txBody>
          <a:bodyPr anchor="t" rtlCol="false" tIns="0" lIns="0" bIns="0" rIns="0">
            <a:spAutoFit/>
          </a:bodyPr>
          <a:lstStyle/>
          <a:p>
            <a:pPr algn="ctr">
              <a:lnSpc>
                <a:spcPts val="2859"/>
              </a:lnSpc>
              <a:spcBef>
                <a:spcPct val="0"/>
              </a:spcBef>
            </a:pPr>
            <a:r>
              <a:rPr lang="en-US" b="true" sz="2199" spc="-65">
                <a:solidFill>
                  <a:srgbClr val="FFFFFF"/>
                </a:solidFill>
                <a:latin typeface="Muli Ultra-Bold"/>
                <a:ea typeface="Muli Ultra-Bold"/>
                <a:cs typeface="Muli Ultra-Bold"/>
                <a:sym typeface="Muli Ultra-Bold"/>
              </a:rPr>
              <a:t>R6</a:t>
            </a:r>
          </a:p>
        </p:txBody>
      </p:sp>
      <p:sp>
        <p:nvSpPr>
          <p:cNvPr name="TextBox 74" id="74"/>
          <p:cNvSpPr txBox="true"/>
          <p:nvPr/>
        </p:nvSpPr>
        <p:spPr>
          <a:xfrm rot="0">
            <a:off x="0" y="9512798"/>
            <a:ext cx="18288000" cy="677545"/>
          </a:xfrm>
          <a:prstGeom prst="rect">
            <a:avLst/>
          </a:prstGeom>
        </p:spPr>
        <p:txBody>
          <a:bodyPr anchor="t" rtlCol="false" tIns="0" lIns="0" bIns="0" rIns="0">
            <a:spAutoFit/>
          </a:bodyPr>
          <a:lstStyle/>
          <a:p>
            <a:pPr algn="ctr">
              <a:lnSpc>
                <a:spcPts val="1820"/>
              </a:lnSpc>
              <a:spcBef>
                <a:spcPct val="0"/>
              </a:spcBef>
            </a:pPr>
            <a:r>
              <a:rPr lang="en-US" sz="1400" spc="-42">
                <a:solidFill>
                  <a:srgbClr val="FFFFFF"/>
                </a:solidFill>
                <a:latin typeface="Muli"/>
                <a:ea typeface="Muli"/>
                <a:cs typeface="Muli"/>
                <a:sym typeface="Muli"/>
              </a:rPr>
              <a:t>This matrix outlines the synthesis of our multi-LLM stress test. While all four frontier models reached a consensus of a 'Bullish' regime with 'Medium' confidence based on the dominant Zone 1 technical breakout, they diverged significantly on magnitude—especially regarding small-cap rotation via IWM. Crucially, our team identified a severe cognitive blind spot across all AIs: they linearize growth and fail to account for the 'Volume Amplification Effect' inherent in a post-holiday, low-liquidity week preceding the high-stakes Nonfarm Payrolls report. We have handed these divergence insights over to </a:t>
            </a:r>
            <a:r>
              <a:rPr lang="en-US" sz="1400" spc="-42">
                <a:solidFill>
                  <a:srgbClr val="FFFFFF"/>
                </a:solidFill>
                <a:latin typeface="Muli"/>
                <a:ea typeface="Muli"/>
                <a:cs typeface="Muli"/>
                <a:sym typeface="Muli"/>
              </a:rPr>
              <a:t>R7 to formulate our human override.</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81A1B"/>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11213"/>
            </a:solidFill>
          </p:spPr>
        </p:sp>
      </p:grpSp>
      <p:sp>
        <p:nvSpPr>
          <p:cNvPr name="TextBox 6" id="6"/>
          <p:cNvSpPr txBox="true"/>
          <p:nvPr/>
        </p:nvSpPr>
        <p:spPr>
          <a:xfrm rot="0">
            <a:off x="3247130" y="606028"/>
            <a:ext cx="9775927" cy="476841"/>
          </a:xfrm>
          <a:prstGeom prst="rect">
            <a:avLst/>
          </a:prstGeom>
        </p:spPr>
        <p:txBody>
          <a:bodyPr anchor="t" rtlCol="false" tIns="0" lIns="0" bIns="0" rIns="0">
            <a:spAutoFit/>
          </a:bodyPr>
          <a:lstStyle/>
          <a:p>
            <a:pPr algn="l">
              <a:lnSpc>
                <a:spcPts val="3619"/>
              </a:lnSpc>
            </a:pPr>
            <a:r>
              <a:rPr lang="en-US" sz="2900" b="true">
                <a:solidFill>
                  <a:srgbClr val="FFFFFF"/>
                </a:solidFill>
                <a:latin typeface="Montserrat Bold"/>
                <a:ea typeface="Montserrat Bold"/>
                <a:cs typeface="Montserrat Bold"/>
                <a:sym typeface="Montserrat Bold"/>
              </a:rPr>
              <a:t>The Human Score: Recalibrating AI Optimism</a:t>
            </a:r>
          </a:p>
        </p:txBody>
      </p:sp>
      <p:sp>
        <p:nvSpPr>
          <p:cNvPr name="TextBox 7" id="7"/>
          <p:cNvSpPr txBox="true"/>
          <p:nvPr/>
        </p:nvSpPr>
        <p:spPr>
          <a:xfrm rot="0">
            <a:off x="3247130" y="1283341"/>
            <a:ext cx="11793741" cy="595160"/>
          </a:xfrm>
          <a:prstGeom prst="rect">
            <a:avLst/>
          </a:prstGeom>
        </p:spPr>
        <p:txBody>
          <a:bodyPr anchor="t" rtlCol="false" tIns="0" lIns="0" bIns="0" rIns="0">
            <a:spAutoFit/>
          </a:bodyPr>
          <a:lstStyle/>
          <a:p>
            <a:pPr algn="l">
              <a:lnSpc>
                <a:spcPts val="1454"/>
              </a:lnSpc>
            </a:pPr>
            <a:r>
              <a:rPr lang="en-US" sz="1200">
                <a:solidFill>
                  <a:srgbClr val="E2E6E9"/>
                </a:solidFill>
                <a:latin typeface="Source Sans 3"/>
                <a:ea typeface="Source Sans 3"/>
                <a:cs typeface="Source Sans 3"/>
                <a:sym typeface="Source Sans 3"/>
              </a:rPr>
              <a:t>Our proprietary Human Override process applies five structured judgment factors to stress-test the raw AI consensus — surfacing risks that pattern-recognition models consistently miss. This week, the AI models returned a </a:t>
            </a:r>
            <a:r>
              <a:rPr lang="en-US" sz="1200" b="true">
                <a:solidFill>
                  <a:srgbClr val="E2E6E9"/>
                </a:solidFill>
                <a:latin typeface="Source Sans 3 Bold"/>
                <a:ea typeface="Source Sans 3 Bold"/>
                <a:cs typeface="Source Sans 3 Bold"/>
                <a:sym typeface="Source Sans 3 Bold"/>
              </a:rPr>
              <a:t>pure Bullish consensus</a:t>
            </a:r>
            <a:r>
              <a:rPr lang="en-US" sz="1200">
                <a:solidFill>
                  <a:srgbClr val="E2E6E9"/>
                </a:solidFill>
                <a:latin typeface="Source Sans 3"/>
                <a:ea typeface="Source Sans 3"/>
                <a:cs typeface="Source Sans 3"/>
                <a:sym typeface="Source Sans 3"/>
              </a:rPr>
              <a:t>. Our team downgraded that signal to </a:t>
            </a:r>
            <a:r>
              <a:rPr lang="en-US" sz="1200" b="true">
                <a:solidFill>
                  <a:srgbClr val="E2E6E9"/>
                </a:solidFill>
                <a:latin typeface="Source Sans 3 Bold"/>
                <a:ea typeface="Source Sans 3 Bold"/>
                <a:cs typeface="Source Sans 3 Bold"/>
                <a:sym typeface="Source Sans 3 Bold"/>
              </a:rPr>
              <a:t>Neutral-Bullish</a:t>
            </a:r>
            <a:r>
              <a:rPr lang="en-US" sz="1200">
                <a:solidFill>
                  <a:srgbClr val="E2E6E9"/>
                </a:solidFill>
                <a:latin typeface="Source Sans 3"/>
                <a:ea typeface="Source Sans 3"/>
                <a:cs typeface="Source Sans 3"/>
                <a:sym typeface="Source Sans 3"/>
              </a:rPr>
              <a:t>, driven by deteriorating market breadth and imminent macro event risk that no model flagged independently.</a:t>
            </a:r>
          </a:p>
        </p:txBody>
      </p:sp>
      <p:grpSp>
        <p:nvGrpSpPr>
          <p:cNvPr name="Group 8" id="8"/>
          <p:cNvGrpSpPr/>
          <p:nvPr/>
        </p:nvGrpSpPr>
        <p:grpSpPr>
          <a:xfrm rot="0">
            <a:off x="3242367" y="1986410"/>
            <a:ext cx="11803266" cy="3302203"/>
            <a:chOff x="0" y="0"/>
            <a:chExt cx="15737688" cy="4402938"/>
          </a:xfrm>
        </p:grpSpPr>
        <p:sp>
          <p:nvSpPr>
            <p:cNvPr name="Freeform 9" id="9"/>
            <p:cNvSpPr/>
            <p:nvPr/>
          </p:nvSpPr>
          <p:spPr>
            <a:xfrm flipH="false" flipV="false" rot="0">
              <a:off x="0" y="0"/>
              <a:ext cx="15737712" cy="4402963"/>
            </a:xfrm>
            <a:custGeom>
              <a:avLst/>
              <a:gdLst/>
              <a:ahLst/>
              <a:cxnLst/>
              <a:rect r="r" b="b" t="t" l="l"/>
              <a:pathLst>
                <a:path h="4402963" w="15737712">
                  <a:moveTo>
                    <a:pt x="0" y="33020"/>
                  </a:moveTo>
                  <a:cubicBezTo>
                    <a:pt x="0" y="14732"/>
                    <a:pt x="14732" y="0"/>
                    <a:pt x="33020" y="0"/>
                  </a:cubicBezTo>
                  <a:lnTo>
                    <a:pt x="15704693" y="0"/>
                  </a:lnTo>
                  <a:cubicBezTo>
                    <a:pt x="15722854" y="0"/>
                    <a:pt x="15737712" y="14732"/>
                    <a:pt x="15737712" y="33020"/>
                  </a:cubicBezTo>
                  <a:lnTo>
                    <a:pt x="15737712" y="4369943"/>
                  </a:lnTo>
                  <a:cubicBezTo>
                    <a:pt x="15737712" y="4388104"/>
                    <a:pt x="15722981" y="4402963"/>
                    <a:pt x="15704693" y="4402963"/>
                  </a:cubicBezTo>
                  <a:lnTo>
                    <a:pt x="33020" y="4402963"/>
                  </a:lnTo>
                  <a:cubicBezTo>
                    <a:pt x="14859" y="4402963"/>
                    <a:pt x="0" y="4388231"/>
                    <a:pt x="0" y="4369943"/>
                  </a:cubicBezTo>
                  <a:close/>
                </a:path>
              </a:pathLst>
            </a:custGeom>
            <a:blipFill>
              <a:blip r:embed="rId2">
                <a:alphaModFix amt="0"/>
              </a:blip>
              <a:stretch>
                <a:fillRect l="0" t="-19646" r="0" b="-19645"/>
              </a:stretch>
            </a:blipFill>
            <a:ln w="9526" cap="sq">
              <a:solidFill>
                <a:srgbClr val="FFFFFF"/>
              </a:solidFill>
              <a:prstDash val="solid"/>
              <a:miter/>
            </a:ln>
          </p:spPr>
        </p:sp>
      </p:grpSp>
      <p:sp>
        <p:nvSpPr>
          <p:cNvPr name="TextBox 10" id="10"/>
          <p:cNvSpPr txBox="true"/>
          <p:nvPr/>
        </p:nvSpPr>
        <p:spPr>
          <a:xfrm rot="0">
            <a:off x="3421409" y="2070344"/>
            <a:ext cx="3171082" cy="198387"/>
          </a:xfrm>
          <a:prstGeom prst="rect">
            <a:avLst/>
          </a:prstGeom>
        </p:spPr>
        <p:txBody>
          <a:bodyPr anchor="t" rtlCol="false" tIns="0" lIns="0" bIns="0" rIns="0">
            <a:spAutoFit/>
          </a:bodyPr>
          <a:lstStyle/>
          <a:p>
            <a:pPr algn="l">
              <a:lnSpc>
                <a:spcPts val="1454"/>
              </a:lnSpc>
            </a:pPr>
            <a:r>
              <a:rPr lang="en-US" sz="1200" b="true">
                <a:solidFill>
                  <a:srgbClr val="E2E6E9"/>
                </a:solidFill>
                <a:latin typeface="Source Sans 3 Bold"/>
                <a:ea typeface="Source Sans 3 Bold"/>
                <a:cs typeface="Source Sans 3 Bold"/>
                <a:sym typeface="Source Sans 3 Bold"/>
              </a:rPr>
              <a:t>Dimension</a:t>
            </a:r>
          </a:p>
        </p:txBody>
      </p:sp>
      <p:sp>
        <p:nvSpPr>
          <p:cNvPr name="TextBox 11" id="11"/>
          <p:cNvSpPr txBox="true"/>
          <p:nvPr/>
        </p:nvSpPr>
        <p:spPr>
          <a:xfrm rot="0">
            <a:off x="6016523" y="2070344"/>
            <a:ext cx="1988791" cy="198387"/>
          </a:xfrm>
          <a:prstGeom prst="rect">
            <a:avLst/>
          </a:prstGeom>
        </p:spPr>
        <p:txBody>
          <a:bodyPr anchor="t" rtlCol="false" tIns="0" lIns="0" bIns="0" rIns="0">
            <a:spAutoFit/>
          </a:bodyPr>
          <a:lstStyle/>
          <a:p>
            <a:pPr algn="l">
              <a:lnSpc>
                <a:spcPts val="1454"/>
              </a:lnSpc>
            </a:pPr>
            <a:r>
              <a:rPr lang="en-US" sz="1200" b="true">
                <a:solidFill>
                  <a:srgbClr val="E2E6E9"/>
                </a:solidFill>
                <a:latin typeface="Source Sans 3 Bold"/>
                <a:ea typeface="Source Sans 3 Bold"/>
                <a:cs typeface="Source Sans 3 Bold"/>
                <a:sym typeface="Source Sans 3 Bold"/>
              </a:rPr>
              <a:t>Score</a:t>
            </a:r>
          </a:p>
        </p:txBody>
      </p:sp>
      <p:sp>
        <p:nvSpPr>
          <p:cNvPr name="TextBox 12" id="12"/>
          <p:cNvSpPr txBox="true"/>
          <p:nvPr/>
        </p:nvSpPr>
        <p:spPr>
          <a:xfrm rot="0">
            <a:off x="7429348" y="2070344"/>
            <a:ext cx="8351939" cy="198387"/>
          </a:xfrm>
          <a:prstGeom prst="rect">
            <a:avLst/>
          </a:prstGeom>
        </p:spPr>
        <p:txBody>
          <a:bodyPr anchor="t" rtlCol="false" tIns="0" lIns="0" bIns="0" rIns="0">
            <a:spAutoFit/>
          </a:bodyPr>
          <a:lstStyle/>
          <a:p>
            <a:pPr algn="l">
              <a:lnSpc>
                <a:spcPts val="1454"/>
              </a:lnSpc>
            </a:pPr>
            <a:r>
              <a:rPr lang="en-US" sz="1200" b="true">
                <a:solidFill>
                  <a:srgbClr val="E2E6E9"/>
                </a:solidFill>
                <a:latin typeface="Source Sans 3 Bold"/>
                <a:ea typeface="Source Sans 3 Bold"/>
                <a:cs typeface="Source Sans 3 Bold"/>
                <a:sym typeface="Source Sans 3 Bold"/>
              </a:rPr>
              <a:t>Team Reasoning</a:t>
            </a:r>
          </a:p>
        </p:txBody>
      </p:sp>
      <p:sp>
        <p:nvSpPr>
          <p:cNvPr name="TextBox 13" id="13"/>
          <p:cNvSpPr txBox="true"/>
          <p:nvPr/>
        </p:nvSpPr>
        <p:spPr>
          <a:xfrm rot="0">
            <a:off x="3421409" y="2417559"/>
            <a:ext cx="3171082" cy="198387"/>
          </a:xfrm>
          <a:prstGeom prst="rect">
            <a:avLst/>
          </a:prstGeom>
        </p:spPr>
        <p:txBody>
          <a:bodyPr anchor="t" rtlCol="false" tIns="0" lIns="0" bIns="0" rIns="0">
            <a:spAutoFit/>
          </a:bodyPr>
          <a:lstStyle/>
          <a:p>
            <a:pPr algn="l">
              <a:lnSpc>
                <a:spcPts val="1454"/>
              </a:lnSpc>
            </a:pPr>
            <a:r>
              <a:rPr lang="en-US" sz="1200">
                <a:solidFill>
                  <a:srgbClr val="E2E6E9"/>
                </a:solidFill>
                <a:latin typeface="Source Sans 3"/>
                <a:ea typeface="Source Sans 3"/>
                <a:cs typeface="Source Sans 3"/>
                <a:sym typeface="Source Sans 3"/>
              </a:rPr>
              <a:t>Macro / News</a:t>
            </a:r>
          </a:p>
        </p:txBody>
      </p:sp>
      <p:sp>
        <p:nvSpPr>
          <p:cNvPr name="TextBox 14" id="14"/>
          <p:cNvSpPr txBox="true"/>
          <p:nvPr/>
        </p:nvSpPr>
        <p:spPr>
          <a:xfrm rot="0">
            <a:off x="6016523" y="2388984"/>
            <a:ext cx="1988791" cy="236487"/>
          </a:xfrm>
          <a:prstGeom prst="rect">
            <a:avLst/>
          </a:prstGeom>
        </p:spPr>
        <p:txBody>
          <a:bodyPr anchor="t" rtlCol="false" tIns="0" lIns="0" bIns="0" rIns="0">
            <a:spAutoFit/>
          </a:bodyPr>
          <a:lstStyle/>
          <a:p>
            <a:pPr algn="l">
              <a:lnSpc>
                <a:spcPts val="1454"/>
              </a:lnSpc>
            </a:pPr>
            <a:r>
              <a:rPr lang="en-US" sz="1200">
                <a:solidFill>
                  <a:srgbClr val="E2E6E9"/>
                </a:solidFill>
                <a:latin typeface="Consolas"/>
                <a:ea typeface="Consolas"/>
                <a:cs typeface="Consolas"/>
                <a:sym typeface="Consolas"/>
              </a:rPr>
              <a:t>0</a:t>
            </a:r>
          </a:p>
        </p:txBody>
      </p:sp>
      <p:sp>
        <p:nvSpPr>
          <p:cNvPr name="TextBox 15" id="15"/>
          <p:cNvSpPr txBox="true"/>
          <p:nvPr/>
        </p:nvSpPr>
        <p:spPr>
          <a:xfrm rot="0">
            <a:off x="7429348" y="2417559"/>
            <a:ext cx="7437539" cy="396773"/>
          </a:xfrm>
          <a:prstGeom prst="rect">
            <a:avLst/>
          </a:prstGeom>
        </p:spPr>
        <p:txBody>
          <a:bodyPr anchor="t" rtlCol="false" tIns="0" lIns="0" bIns="0" rIns="0">
            <a:spAutoFit/>
          </a:bodyPr>
          <a:lstStyle/>
          <a:p>
            <a:pPr algn="l">
              <a:lnSpc>
                <a:spcPts val="1454"/>
              </a:lnSpc>
            </a:pPr>
            <a:r>
              <a:rPr lang="en-US" sz="1200">
                <a:solidFill>
                  <a:srgbClr val="E2E6E9"/>
                </a:solidFill>
                <a:latin typeface="Source Sans 3"/>
                <a:ea typeface="Source Sans 3"/>
                <a:cs typeface="Source Sans 3"/>
                <a:sym typeface="Source Sans 3"/>
              </a:rPr>
              <a:t>Supportive macro environment (falling yields) is fully neutralized by Friday's high-impact NFP event risk. Net effect: zero directional edge.</a:t>
            </a:r>
          </a:p>
        </p:txBody>
      </p:sp>
      <p:sp>
        <p:nvSpPr>
          <p:cNvPr name="TextBox 16" id="16"/>
          <p:cNvSpPr txBox="true"/>
          <p:nvPr/>
        </p:nvSpPr>
        <p:spPr>
          <a:xfrm rot="0">
            <a:off x="3421409" y="2963170"/>
            <a:ext cx="3171082" cy="198387"/>
          </a:xfrm>
          <a:prstGeom prst="rect">
            <a:avLst/>
          </a:prstGeom>
        </p:spPr>
        <p:txBody>
          <a:bodyPr anchor="t" rtlCol="false" tIns="0" lIns="0" bIns="0" rIns="0">
            <a:spAutoFit/>
          </a:bodyPr>
          <a:lstStyle/>
          <a:p>
            <a:pPr algn="l">
              <a:lnSpc>
                <a:spcPts val="1454"/>
              </a:lnSpc>
            </a:pPr>
            <a:r>
              <a:rPr lang="en-US" sz="1200">
                <a:solidFill>
                  <a:srgbClr val="E2E6E9"/>
                </a:solidFill>
                <a:latin typeface="Source Sans 3"/>
                <a:ea typeface="Source Sans 3"/>
                <a:cs typeface="Source Sans 3"/>
                <a:sym typeface="Source Sans 3"/>
              </a:rPr>
              <a:t>Technicals</a:t>
            </a:r>
          </a:p>
        </p:txBody>
      </p:sp>
      <p:sp>
        <p:nvSpPr>
          <p:cNvPr name="TextBox 17" id="17"/>
          <p:cNvSpPr txBox="true"/>
          <p:nvPr/>
        </p:nvSpPr>
        <p:spPr>
          <a:xfrm rot="0">
            <a:off x="6016523" y="2934595"/>
            <a:ext cx="1988791" cy="236487"/>
          </a:xfrm>
          <a:prstGeom prst="rect">
            <a:avLst/>
          </a:prstGeom>
        </p:spPr>
        <p:txBody>
          <a:bodyPr anchor="t" rtlCol="false" tIns="0" lIns="0" bIns="0" rIns="0">
            <a:spAutoFit/>
          </a:bodyPr>
          <a:lstStyle/>
          <a:p>
            <a:pPr algn="l">
              <a:lnSpc>
                <a:spcPts val="1454"/>
              </a:lnSpc>
            </a:pPr>
            <a:r>
              <a:rPr lang="en-US" sz="1200">
                <a:solidFill>
                  <a:srgbClr val="E2E6E9"/>
                </a:solidFill>
                <a:latin typeface="Consolas"/>
                <a:ea typeface="Consolas"/>
                <a:cs typeface="Consolas"/>
                <a:sym typeface="Consolas"/>
              </a:rPr>
              <a:t>+1</a:t>
            </a:r>
          </a:p>
        </p:txBody>
      </p:sp>
      <p:sp>
        <p:nvSpPr>
          <p:cNvPr name="TextBox 18" id="18"/>
          <p:cNvSpPr txBox="true"/>
          <p:nvPr/>
        </p:nvSpPr>
        <p:spPr>
          <a:xfrm rot="0">
            <a:off x="7429348" y="2963170"/>
            <a:ext cx="7437539" cy="396773"/>
          </a:xfrm>
          <a:prstGeom prst="rect">
            <a:avLst/>
          </a:prstGeom>
        </p:spPr>
        <p:txBody>
          <a:bodyPr anchor="t" rtlCol="false" tIns="0" lIns="0" bIns="0" rIns="0">
            <a:spAutoFit/>
          </a:bodyPr>
          <a:lstStyle/>
          <a:p>
            <a:pPr algn="l">
              <a:lnSpc>
                <a:spcPts val="1454"/>
              </a:lnSpc>
            </a:pPr>
            <a:r>
              <a:rPr lang="en-US" sz="1200">
                <a:solidFill>
                  <a:srgbClr val="E2E6E9"/>
                </a:solidFill>
                <a:latin typeface="Source Sans 3"/>
                <a:ea typeface="Source Sans 3"/>
                <a:cs typeface="Source Sans 3"/>
                <a:sym typeface="Source Sans 3"/>
              </a:rPr>
              <a:t>SPX remains constructively positioned above both the 8-day and 21-day EMAs. Conviction is tempered by narrow market participation — index strength is not broad-based.</a:t>
            </a:r>
          </a:p>
        </p:txBody>
      </p:sp>
      <p:sp>
        <p:nvSpPr>
          <p:cNvPr name="TextBox 19" id="19"/>
          <p:cNvSpPr txBox="true"/>
          <p:nvPr/>
        </p:nvSpPr>
        <p:spPr>
          <a:xfrm rot="0">
            <a:off x="3421409" y="3508772"/>
            <a:ext cx="3171082" cy="198387"/>
          </a:xfrm>
          <a:prstGeom prst="rect">
            <a:avLst/>
          </a:prstGeom>
        </p:spPr>
        <p:txBody>
          <a:bodyPr anchor="t" rtlCol="false" tIns="0" lIns="0" bIns="0" rIns="0">
            <a:spAutoFit/>
          </a:bodyPr>
          <a:lstStyle/>
          <a:p>
            <a:pPr algn="l">
              <a:lnSpc>
                <a:spcPts val="1454"/>
              </a:lnSpc>
            </a:pPr>
            <a:r>
              <a:rPr lang="en-US" sz="1200">
                <a:solidFill>
                  <a:srgbClr val="E2E6E9"/>
                </a:solidFill>
                <a:latin typeface="Source Sans 3"/>
                <a:ea typeface="Source Sans 3"/>
                <a:cs typeface="Source Sans 3"/>
                <a:sym typeface="Source Sans 3"/>
              </a:rPr>
              <a:t>Seasonality</a:t>
            </a:r>
          </a:p>
        </p:txBody>
      </p:sp>
      <p:sp>
        <p:nvSpPr>
          <p:cNvPr name="TextBox 20" id="20"/>
          <p:cNvSpPr txBox="true"/>
          <p:nvPr/>
        </p:nvSpPr>
        <p:spPr>
          <a:xfrm rot="0">
            <a:off x="6016523" y="3480197"/>
            <a:ext cx="1988791" cy="236487"/>
          </a:xfrm>
          <a:prstGeom prst="rect">
            <a:avLst/>
          </a:prstGeom>
        </p:spPr>
        <p:txBody>
          <a:bodyPr anchor="t" rtlCol="false" tIns="0" lIns="0" bIns="0" rIns="0">
            <a:spAutoFit/>
          </a:bodyPr>
          <a:lstStyle/>
          <a:p>
            <a:pPr algn="l">
              <a:lnSpc>
                <a:spcPts val="1454"/>
              </a:lnSpc>
            </a:pPr>
            <a:r>
              <a:rPr lang="en-US" sz="1200">
                <a:solidFill>
                  <a:srgbClr val="E2E6E9"/>
                </a:solidFill>
                <a:latin typeface="Consolas"/>
                <a:ea typeface="Consolas"/>
                <a:cs typeface="Consolas"/>
                <a:sym typeface="Consolas"/>
              </a:rPr>
              <a:t>-1</a:t>
            </a:r>
          </a:p>
        </p:txBody>
      </p:sp>
      <p:sp>
        <p:nvSpPr>
          <p:cNvPr name="TextBox 21" id="21"/>
          <p:cNvSpPr txBox="true"/>
          <p:nvPr/>
        </p:nvSpPr>
        <p:spPr>
          <a:xfrm rot="0">
            <a:off x="7429348" y="3508772"/>
            <a:ext cx="7437539" cy="396773"/>
          </a:xfrm>
          <a:prstGeom prst="rect">
            <a:avLst/>
          </a:prstGeom>
        </p:spPr>
        <p:txBody>
          <a:bodyPr anchor="t" rtlCol="false" tIns="0" lIns="0" bIns="0" rIns="0">
            <a:spAutoFit/>
          </a:bodyPr>
          <a:lstStyle/>
          <a:p>
            <a:pPr algn="l">
              <a:lnSpc>
                <a:spcPts val="1454"/>
              </a:lnSpc>
            </a:pPr>
            <a:r>
              <a:rPr lang="en-US" sz="1200">
                <a:solidFill>
                  <a:srgbClr val="E2E6E9"/>
                </a:solidFill>
                <a:latin typeface="Source Sans 3"/>
                <a:ea typeface="Source Sans 3"/>
                <a:cs typeface="Source Sans 3"/>
                <a:sym typeface="Source Sans 3"/>
              </a:rPr>
              <a:t>Active headwinds persist: Midterm-year May averages and Memorial Day week both carry a statistically bearish lean in historical backtests.</a:t>
            </a:r>
          </a:p>
        </p:txBody>
      </p:sp>
      <p:sp>
        <p:nvSpPr>
          <p:cNvPr name="TextBox 22" id="22"/>
          <p:cNvSpPr txBox="true"/>
          <p:nvPr/>
        </p:nvSpPr>
        <p:spPr>
          <a:xfrm rot="0">
            <a:off x="3421409" y="4054373"/>
            <a:ext cx="3171082" cy="198387"/>
          </a:xfrm>
          <a:prstGeom prst="rect">
            <a:avLst/>
          </a:prstGeom>
        </p:spPr>
        <p:txBody>
          <a:bodyPr anchor="t" rtlCol="false" tIns="0" lIns="0" bIns="0" rIns="0">
            <a:spAutoFit/>
          </a:bodyPr>
          <a:lstStyle/>
          <a:p>
            <a:pPr algn="l">
              <a:lnSpc>
                <a:spcPts val="1454"/>
              </a:lnSpc>
            </a:pPr>
            <a:r>
              <a:rPr lang="en-US" sz="1200">
                <a:solidFill>
                  <a:srgbClr val="E2E6E9"/>
                </a:solidFill>
                <a:latin typeface="Source Sans 3"/>
                <a:ea typeface="Source Sans 3"/>
                <a:cs typeface="Source Sans 3"/>
                <a:sym typeface="Source Sans 3"/>
              </a:rPr>
              <a:t>AI Agreement</a:t>
            </a:r>
          </a:p>
        </p:txBody>
      </p:sp>
      <p:sp>
        <p:nvSpPr>
          <p:cNvPr name="TextBox 23" id="23"/>
          <p:cNvSpPr txBox="true"/>
          <p:nvPr/>
        </p:nvSpPr>
        <p:spPr>
          <a:xfrm rot="0">
            <a:off x="6016523" y="4025798"/>
            <a:ext cx="1988791" cy="236487"/>
          </a:xfrm>
          <a:prstGeom prst="rect">
            <a:avLst/>
          </a:prstGeom>
        </p:spPr>
        <p:txBody>
          <a:bodyPr anchor="t" rtlCol="false" tIns="0" lIns="0" bIns="0" rIns="0">
            <a:spAutoFit/>
          </a:bodyPr>
          <a:lstStyle/>
          <a:p>
            <a:pPr algn="l">
              <a:lnSpc>
                <a:spcPts val="1454"/>
              </a:lnSpc>
            </a:pPr>
            <a:r>
              <a:rPr lang="en-US" sz="1200">
                <a:solidFill>
                  <a:srgbClr val="E2E6E9"/>
                </a:solidFill>
                <a:latin typeface="Consolas"/>
                <a:ea typeface="Consolas"/>
                <a:cs typeface="Consolas"/>
                <a:sym typeface="Consolas"/>
              </a:rPr>
              <a:t>+1</a:t>
            </a:r>
          </a:p>
        </p:txBody>
      </p:sp>
      <p:sp>
        <p:nvSpPr>
          <p:cNvPr name="TextBox 24" id="24"/>
          <p:cNvSpPr txBox="true"/>
          <p:nvPr/>
        </p:nvSpPr>
        <p:spPr>
          <a:xfrm rot="0">
            <a:off x="7429348" y="4054373"/>
            <a:ext cx="7437539" cy="360121"/>
          </a:xfrm>
          <a:prstGeom prst="rect">
            <a:avLst/>
          </a:prstGeom>
        </p:spPr>
        <p:txBody>
          <a:bodyPr anchor="t" rtlCol="false" tIns="0" lIns="0" bIns="0" rIns="0">
            <a:spAutoFit/>
          </a:bodyPr>
          <a:lstStyle/>
          <a:p>
            <a:pPr algn="l">
              <a:lnSpc>
                <a:spcPts val="1454"/>
              </a:lnSpc>
            </a:pPr>
            <a:r>
              <a:rPr lang="en-US" sz="1200">
                <a:solidFill>
                  <a:srgbClr val="E2E6E9"/>
                </a:solidFill>
                <a:latin typeface="Source Sans 3"/>
                <a:ea typeface="Source Sans 3"/>
                <a:cs typeface="Source Sans 3"/>
                <a:sym typeface="Source Sans 3"/>
              </a:rPr>
              <a:t>4 of 4 models independently converge on the same directional call, elevating baseline confidence in the consensus signal.</a:t>
            </a:r>
          </a:p>
        </p:txBody>
      </p:sp>
      <p:sp>
        <p:nvSpPr>
          <p:cNvPr name="TextBox 25" id="25"/>
          <p:cNvSpPr txBox="true"/>
          <p:nvPr/>
        </p:nvSpPr>
        <p:spPr>
          <a:xfrm rot="0">
            <a:off x="3421409" y="4599984"/>
            <a:ext cx="3171082" cy="198387"/>
          </a:xfrm>
          <a:prstGeom prst="rect">
            <a:avLst/>
          </a:prstGeom>
        </p:spPr>
        <p:txBody>
          <a:bodyPr anchor="t" rtlCol="false" tIns="0" lIns="0" bIns="0" rIns="0">
            <a:spAutoFit/>
          </a:bodyPr>
          <a:lstStyle/>
          <a:p>
            <a:pPr algn="l">
              <a:lnSpc>
                <a:spcPts val="1454"/>
              </a:lnSpc>
            </a:pPr>
            <a:r>
              <a:rPr lang="en-US" sz="1200">
                <a:solidFill>
                  <a:srgbClr val="E2E6E9"/>
                </a:solidFill>
                <a:latin typeface="Source Sans 3"/>
                <a:ea typeface="Source Sans 3"/>
                <a:cs typeface="Source Sans 3"/>
                <a:sym typeface="Source Sans 3"/>
              </a:rPr>
              <a:t>WILD CARD</a:t>
            </a:r>
          </a:p>
        </p:txBody>
      </p:sp>
      <p:sp>
        <p:nvSpPr>
          <p:cNvPr name="TextBox 26" id="26"/>
          <p:cNvSpPr txBox="true"/>
          <p:nvPr/>
        </p:nvSpPr>
        <p:spPr>
          <a:xfrm rot="0">
            <a:off x="6016523" y="4571409"/>
            <a:ext cx="1988791" cy="236487"/>
          </a:xfrm>
          <a:prstGeom prst="rect">
            <a:avLst/>
          </a:prstGeom>
        </p:spPr>
        <p:txBody>
          <a:bodyPr anchor="t" rtlCol="false" tIns="0" lIns="0" bIns="0" rIns="0">
            <a:spAutoFit/>
          </a:bodyPr>
          <a:lstStyle/>
          <a:p>
            <a:pPr algn="l">
              <a:lnSpc>
                <a:spcPts val="1454"/>
              </a:lnSpc>
            </a:pPr>
            <a:r>
              <a:rPr lang="en-US" sz="1200">
                <a:solidFill>
                  <a:srgbClr val="E2E6E9"/>
                </a:solidFill>
                <a:latin typeface="Consolas"/>
                <a:ea typeface="Consolas"/>
                <a:cs typeface="Consolas"/>
                <a:sym typeface="Consolas"/>
              </a:rPr>
              <a:t>-1</a:t>
            </a:r>
          </a:p>
        </p:txBody>
      </p:sp>
      <p:sp>
        <p:nvSpPr>
          <p:cNvPr name="TextBox 27" id="27"/>
          <p:cNvSpPr txBox="true"/>
          <p:nvPr/>
        </p:nvSpPr>
        <p:spPr>
          <a:xfrm rot="0">
            <a:off x="7429348" y="4599984"/>
            <a:ext cx="7437539" cy="604685"/>
          </a:xfrm>
          <a:prstGeom prst="rect">
            <a:avLst/>
          </a:prstGeom>
        </p:spPr>
        <p:txBody>
          <a:bodyPr anchor="t" rtlCol="false" tIns="0" lIns="0" bIns="0" rIns="0">
            <a:spAutoFit/>
          </a:bodyPr>
          <a:lstStyle/>
          <a:p>
            <a:pPr algn="l">
              <a:lnSpc>
                <a:spcPts val="1454"/>
              </a:lnSpc>
            </a:pPr>
            <a:r>
              <a:rPr lang="en-US" sz="1200" b="true">
                <a:solidFill>
                  <a:srgbClr val="E2E6E9"/>
                </a:solidFill>
                <a:latin typeface="Source Sans 3 Bold"/>
                <a:ea typeface="Source Sans 3 Bold"/>
                <a:cs typeface="Source Sans 3 Bold"/>
                <a:sym typeface="Source Sans 3 Bold"/>
              </a:rPr>
              <a:t>Breadth fragility — human-only insight.</a:t>
            </a:r>
            <a:r>
              <a:rPr lang="en-US" sz="1200">
                <a:solidFill>
                  <a:srgbClr val="E2E6E9"/>
                </a:solidFill>
                <a:latin typeface="Source Sans 3"/>
                <a:ea typeface="Source Sans 3"/>
                <a:cs typeface="Source Sans 3"/>
                <a:sym typeface="Source Sans 3"/>
              </a:rPr>
              <a:t> Only 57% of SPX constituents trade above their 200-day moving average. AI models treated index-level strength as broad participation; our team identified this as a structural warning no model surfaced.</a:t>
            </a:r>
          </a:p>
        </p:txBody>
      </p:sp>
      <p:grpSp>
        <p:nvGrpSpPr>
          <p:cNvPr name="Group 28" id="28"/>
          <p:cNvGrpSpPr/>
          <p:nvPr/>
        </p:nvGrpSpPr>
        <p:grpSpPr>
          <a:xfrm rot="0">
            <a:off x="3128667" y="5396513"/>
            <a:ext cx="7152684" cy="3342751"/>
            <a:chOff x="0" y="0"/>
            <a:chExt cx="9536913" cy="4457002"/>
          </a:xfrm>
        </p:grpSpPr>
        <p:sp>
          <p:nvSpPr>
            <p:cNvPr name="Freeform 29" id="29"/>
            <p:cNvSpPr/>
            <p:nvPr/>
          </p:nvSpPr>
          <p:spPr>
            <a:xfrm flipH="false" flipV="false" rot="0">
              <a:off x="0" y="0"/>
              <a:ext cx="9536938" cy="4457040"/>
            </a:xfrm>
            <a:custGeom>
              <a:avLst/>
              <a:gdLst/>
              <a:ahLst/>
              <a:cxnLst/>
              <a:rect r="r" b="b" t="t" l="l"/>
              <a:pathLst>
                <a:path h="4457040" w="9536938">
                  <a:moveTo>
                    <a:pt x="0" y="25721"/>
                  </a:moveTo>
                  <a:cubicBezTo>
                    <a:pt x="0" y="11520"/>
                    <a:pt x="14732" y="0"/>
                    <a:pt x="32893" y="0"/>
                  </a:cubicBezTo>
                  <a:lnTo>
                    <a:pt x="9504045" y="0"/>
                  </a:lnTo>
                  <a:cubicBezTo>
                    <a:pt x="9522206" y="0"/>
                    <a:pt x="9536938" y="11520"/>
                    <a:pt x="9536938" y="25721"/>
                  </a:cubicBezTo>
                  <a:lnTo>
                    <a:pt x="9536938" y="4431310"/>
                  </a:lnTo>
                  <a:cubicBezTo>
                    <a:pt x="9536938" y="4445511"/>
                    <a:pt x="9522206" y="4457040"/>
                    <a:pt x="9504045" y="4457040"/>
                  </a:cubicBezTo>
                  <a:lnTo>
                    <a:pt x="32893" y="4457040"/>
                  </a:lnTo>
                  <a:cubicBezTo>
                    <a:pt x="14732" y="4457040"/>
                    <a:pt x="0" y="4445511"/>
                    <a:pt x="0" y="4431310"/>
                  </a:cubicBezTo>
                  <a:close/>
                </a:path>
              </a:pathLst>
            </a:custGeom>
            <a:solidFill>
              <a:srgbClr val="1D1F22"/>
            </a:solidFill>
          </p:spPr>
        </p:sp>
      </p:grpSp>
      <p:sp>
        <p:nvSpPr>
          <p:cNvPr name="TextBox 30" id="30"/>
          <p:cNvSpPr txBox="true"/>
          <p:nvPr/>
        </p:nvSpPr>
        <p:spPr>
          <a:xfrm rot="0">
            <a:off x="3293116" y="5487143"/>
            <a:ext cx="2783834" cy="243183"/>
          </a:xfrm>
          <a:prstGeom prst="rect">
            <a:avLst/>
          </a:prstGeom>
        </p:spPr>
        <p:txBody>
          <a:bodyPr anchor="t" rtlCol="false" tIns="0" lIns="0" bIns="0" rIns="0">
            <a:spAutoFit/>
          </a:bodyPr>
          <a:lstStyle/>
          <a:p>
            <a:pPr algn="l">
              <a:lnSpc>
                <a:spcPts val="1747"/>
              </a:lnSpc>
            </a:pPr>
            <a:r>
              <a:rPr lang="en-US" sz="1399" b="true">
                <a:solidFill>
                  <a:srgbClr val="FFFFFF"/>
                </a:solidFill>
                <a:latin typeface="Montserrat Bold"/>
                <a:ea typeface="Montserrat Bold"/>
                <a:cs typeface="Montserrat Bold"/>
                <a:sym typeface="Montserrat Bold"/>
              </a:rPr>
              <a:t>Analyst Synthesis</a:t>
            </a:r>
          </a:p>
        </p:txBody>
      </p:sp>
      <p:sp>
        <p:nvSpPr>
          <p:cNvPr name="TextBox 31" id="31"/>
          <p:cNvSpPr txBox="true"/>
          <p:nvPr/>
        </p:nvSpPr>
        <p:spPr>
          <a:xfrm rot="0">
            <a:off x="3293116" y="5830491"/>
            <a:ext cx="6823767" cy="991943"/>
          </a:xfrm>
          <a:prstGeom prst="rect">
            <a:avLst/>
          </a:prstGeom>
        </p:spPr>
        <p:txBody>
          <a:bodyPr anchor="t" rtlCol="false" tIns="0" lIns="0" bIns="0" rIns="0">
            <a:spAutoFit/>
          </a:bodyPr>
          <a:lstStyle/>
          <a:p>
            <a:pPr algn="l">
              <a:lnSpc>
                <a:spcPts val="1454"/>
              </a:lnSpc>
            </a:pPr>
            <a:r>
              <a:rPr lang="en-US" sz="1200">
                <a:solidFill>
                  <a:srgbClr val="E2E6E9"/>
                </a:solidFill>
                <a:latin typeface="Source Sans 3"/>
                <a:ea typeface="Source Sans 3"/>
                <a:cs typeface="Source Sans 3"/>
                <a:sym typeface="Source Sans 3"/>
              </a:rPr>
              <a:t>The wild card score reflects a critical distinction between </a:t>
            </a:r>
            <a:r>
              <a:rPr lang="en-US" sz="1200" b="true">
                <a:solidFill>
                  <a:srgbClr val="E2E6E9"/>
                </a:solidFill>
                <a:latin typeface="Source Sans 3 Bold"/>
                <a:ea typeface="Source Sans 3 Bold"/>
                <a:cs typeface="Source Sans 3 Bold"/>
                <a:sym typeface="Source Sans 3 Bold"/>
              </a:rPr>
              <a:t>index-level performance</a:t>
            </a:r>
            <a:r>
              <a:rPr lang="en-US" sz="1200">
                <a:solidFill>
                  <a:srgbClr val="E2E6E9"/>
                </a:solidFill>
                <a:latin typeface="Source Sans 3"/>
                <a:ea typeface="Source Sans 3"/>
                <a:cs typeface="Source Sans 3"/>
                <a:sym typeface="Source Sans 3"/>
              </a:rPr>
              <a:t> and </a:t>
            </a:r>
            <a:r>
              <a:rPr lang="en-US" sz="1200" b="true">
                <a:solidFill>
                  <a:srgbClr val="E2E6E9"/>
                </a:solidFill>
                <a:latin typeface="Source Sans 3 Bold"/>
                <a:ea typeface="Source Sans 3 Bold"/>
                <a:cs typeface="Source Sans 3 Bold"/>
                <a:sym typeface="Source Sans 3 Bold"/>
              </a:rPr>
              <a:t>underlying market health</a:t>
            </a:r>
            <a:r>
              <a:rPr lang="en-US" sz="1200">
                <a:solidFill>
                  <a:srgbClr val="E2E6E9"/>
                </a:solidFill>
                <a:latin typeface="Source Sans 3"/>
                <a:ea typeface="Source Sans 3"/>
                <a:cs typeface="Source Sans 3"/>
                <a:sym typeface="Source Sans 3"/>
              </a:rPr>
              <a:t>. When fewer than 60% of index constituents trade above their long-term moving average, rallies become increasingly vulnerable to rapid reversals — particularly around binary macro events like NFP. This fragility was invisible to all four AI models, underscoring the irreplaceable role of human judgment in the override layer.</a:t>
            </a:r>
          </a:p>
        </p:txBody>
      </p:sp>
      <p:sp>
        <p:nvSpPr>
          <p:cNvPr name="TextBox 32" id="32"/>
          <p:cNvSpPr txBox="true"/>
          <p:nvPr/>
        </p:nvSpPr>
        <p:spPr>
          <a:xfrm rot="0">
            <a:off x="10573645" y="5677052"/>
            <a:ext cx="4476750" cy="457200"/>
          </a:xfrm>
          <a:prstGeom prst="rect">
            <a:avLst/>
          </a:prstGeom>
        </p:spPr>
        <p:txBody>
          <a:bodyPr anchor="t" rtlCol="false" tIns="0" lIns="0" bIns="0" rIns="0">
            <a:spAutoFit/>
          </a:bodyPr>
          <a:lstStyle/>
          <a:p>
            <a:pPr algn="ctr">
              <a:lnSpc>
                <a:spcPts val="4183"/>
              </a:lnSpc>
            </a:pPr>
            <a:r>
              <a:rPr lang="en-US" sz="4200" b="true">
                <a:solidFill>
                  <a:srgbClr val="E2E6E9"/>
                </a:solidFill>
                <a:latin typeface="Montserrat Bold"/>
                <a:ea typeface="Montserrat Bold"/>
                <a:cs typeface="Montserrat Bold"/>
                <a:sym typeface="Montserrat Bold"/>
              </a:rPr>
              <a:t>0</a:t>
            </a:r>
          </a:p>
        </p:txBody>
      </p:sp>
      <p:sp>
        <p:nvSpPr>
          <p:cNvPr name="TextBox 33" id="33"/>
          <p:cNvSpPr txBox="true"/>
          <p:nvPr/>
        </p:nvSpPr>
        <p:spPr>
          <a:xfrm rot="0">
            <a:off x="11877227" y="6282033"/>
            <a:ext cx="1869434" cy="243183"/>
          </a:xfrm>
          <a:prstGeom prst="rect">
            <a:avLst/>
          </a:prstGeom>
        </p:spPr>
        <p:txBody>
          <a:bodyPr anchor="t" rtlCol="false" tIns="0" lIns="0" bIns="0" rIns="0">
            <a:spAutoFit/>
          </a:bodyPr>
          <a:lstStyle/>
          <a:p>
            <a:pPr algn="ctr">
              <a:lnSpc>
                <a:spcPts val="1747"/>
              </a:lnSpc>
            </a:pPr>
            <a:r>
              <a:rPr lang="en-US" sz="1399" b="true">
                <a:solidFill>
                  <a:srgbClr val="E2E6E9"/>
                </a:solidFill>
                <a:latin typeface="Montserrat Bold"/>
                <a:ea typeface="Montserrat Bold"/>
                <a:cs typeface="Montserrat Bold"/>
                <a:sym typeface="Montserrat Bold"/>
              </a:rPr>
              <a:t>Total Human Score</a:t>
            </a:r>
          </a:p>
        </p:txBody>
      </p:sp>
      <p:sp>
        <p:nvSpPr>
          <p:cNvPr name="TextBox 34" id="34"/>
          <p:cNvSpPr txBox="true"/>
          <p:nvPr/>
        </p:nvSpPr>
        <p:spPr>
          <a:xfrm rot="0">
            <a:off x="10573645" y="6625380"/>
            <a:ext cx="4476750" cy="198387"/>
          </a:xfrm>
          <a:prstGeom prst="rect">
            <a:avLst/>
          </a:prstGeom>
        </p:spPr>
        <p:txBody>
          <a:bodyPr anchor="t" rtlCol="false" tIns="0" lIns="0" bIns="0" rIns="0">
            <a:spAutoFit/>
          </a:bodyPr>
          <a:lstStyle/>
          <a:p>
            <a:pPr algn="ctr">
              <a:lnSpc>
                <a:spcPts val="1454"/>
              </a:lnSpc>
            </a:pPr>
            <a:r>
              <a:rPr lang="en-US" sz="1200">
                <a:solidFill>
                  <a:srgbClr val="E2E6E9"/>
                </a:solidFill>
                <a:latin typeface="Source Sans 3"/>
                <a:ea typeface="Source Sans 3"/>
                <a:cs typeface="Source Sans 3"/>
                <a:sym typeface="Source Sans 3"/>
              </a:rPr>
              <a:t>Net of all five judgment dimensions</a:t>
            </a:r>
          </a:p>
        </p:txBody>
      </p:sp>
      <p:sp>
        <p:nvSpPr>
          <p:cNvPr name="TextBox 35" id="35"/>
          <p:cNvSpPr txBox="true"/>
          <p:nvPr/>
        </p:nvSpPr>
        <p:spPr>
          <a:xfrm rot="0">
            <a:off x="10573645" y="7192118"/>
            <a:ext cx="4476750" cy="457200"/>
          </a:xfrm>
          <a:prstGeom prst="rect">
            <a:avLst/>
          </a:prstGeom>
        </p:spPr>
        <p:txBody>
          <a:bodyPr anchor="t" rtlCol="false" tIns="0" lIns="0" bIns="0" rIns="0">
            <a:spAutoFit/>
          </a:bodyPr>
          <a:lstStyle/>
          <a:p>
            <a:pPr algn="ctr">
              <a:lnSpc>
                <a:spcPts val="4183"/>
              </a:lnSpc>
            </a:pPr>
            <a:r>
              <a:rPr lang="en-US" sz="4200" b="true">
                <a:solidFill>
                  <a:srgbClr val="E2E6E9"/>
                </a:solidFill>
                <a:latin typeface="Montserrat Bold"/>
                <a:ea typeface="Montserrat Bold"/>
                <a:cs typeface="Montserrat Bold"/>
                <a:sym typeface="Montserrat Bold"/>
              </a:rPr>
              <a:t>57%</a:t>
            </a:r>
          </a:p>
        </p:txBody>
      </p:sp>
      <p:sp>
        <p:nvSpPr>
          <p:cNvPr name="TextBox 36" id="36"/>
          <p:cNvSpPr txBox="true"/>
          <p:nvPr/>
        </p:nvSpPr>
        <p:spPr>
          <a:xfrm rot="0">
            <a:off x="11812038" y="7797108"/>
            <a:ext cx="1999955" cy="243183"/>
          </a:xfrm>
          <a:prstGeom prst="rect">
            <a:avLst/>
          </a:prstGeom>
        </p:spPr>
        <p:txBody>
          <a:bodyPr anchor="t" rtlCol="false" tIns="0" lIns="0" bIns="0" rIns="0">
            <a:spAutoFit/>
          </a:bodyPr>
          <a:lstStyle/>
          <a:p>
            <a:pPr algn="ctr">
              <a:lnSpc>
                <a:spcPts val="1747"/>
              </a:lnSpc>
            </a:pPr>
            <a:r>
              <a:rPr lang="en-US" sz="1399" b="true">
                <a:solidFill>
                  <a:srgbClr val="E2E6E9"/>
                </a:solidFill>
                <a:latin typeface="Montserrat Bold"/>
                <a:ea typeface="Montserrat Bold"/>
                <a:cs typeface="Montserrat Bold"/>
                <a:sym typeface="Montserrat Bold"/>
              </a:rPr>
              <a:t>SPX Above 200D MA</a:t>
            </a:r>
          </a:p>
        </p:txBody>
      </p:sp>
      <p:sp>
        <p:nvSpPr>
          <p:cNvPr name="TextBox 37" id="37"/>
          <p:cNvSpPr txBox="true"/>
          <p:nvPr/>
        </p:nvSpPr>
        <p:spPr>
          <a:xfrm rot="0">
            <a:off x="10573645" y="8140456"/>
            <a:ext cx="4476750" cy="198387"/>
          </a:xfrm>
          <a:prstGeom prst="rect">
            <a:avLst/>
          </a:prstGeom>
        </p:spPr>
        <p:txBody>
          <a:bodyPr anchor="t" rtlCol="false" tIns="0" lIns="0" bIns="0" rIns="0">
            <a:spAutoFit/>
          </a:bodyPr>
          <a:lstStyle/>
          <a:p>
            <a:pPr algn="ctr">
              <a:lnSpc>
                <a:spcPts val="1454"/>
              </a:lnSpc>
            </a:pPr>
            <a:r>
              <a:rPr lang="en-US" sz="1200">
                <a:solidFill>
                  <a:srgbClr val="E2E6E9"/>
                </a:solidFill>
                <a:latin typeface="Source Sans 3"/>
                <a:ea typeface="Source Sans 3"/>
                <a:cs typeface="Source Sans 3"/>
                <a:sym typeface="Source Sans 3"/>
              </a:rPr>
              <a:t>Breadth fragility — the AI blind spot</a:t>
            </a:r>
          </a:p>
        </p:txBody>
      </p:sp>
      <p:grpSp>
        <p:nvGrpSpPr>
          <p:cNvPr name="Group 38" id="38"/>
          <p:cNvGrpSpPr/>
          <p:nvPr/>
        </p:nvGrpSpPr>
        <p:grpSpPr>
          <a:xfrm rot="0">
            <a:off x="10573645" y="8451504"/>
            <a:ext cx="4476750" cy="934793"/>
            <a:chOff x="0" y="0"/>
            <a:chExt cx="5969000" cy="1246391"/>
          </a:xfrm>
        </p:grpSpPr>
        <p:sp>
          <p:nvSpPr>
            <p:cNvPr name="Freeform 39" id="39"/>
            <p:cNvSpPr/>
            <p:nvPr/>
          </p:nvSpPr>
          <p:spPr>
            <a:xfrm flipH="false" flipV="false" rot="0">
              <a:off x="0" y="0"/>
              <a:ext cx="5969000" cy="1246348"/>
            </a:xfrm>
            <a:custGeom>
              <a:avLst/>
              <a:gdLst/>
              <a:ahLst/>
              <a:cxnLst/>
              <a:rect r="r" b="b" t="t" l="l"/>
              <a:pathLst>
                <a:path h="1246348" w="5969000">
                  <a:moveTo>
                    <a:pt x="0" y="27773"/>
                  </a:moveTo>
                  <a:cubicBezTo>
                    <a:pt x="0" y="12439"/>
                    <a:pt x="14732" y="0"/>
                    <a:pt x="32893" y="0"/>
                  </a:cubicBezTo>
                  <a:lnTo>
                    <a:pt x="5936107" y="0"/>
                  </a:lnTo>
                  <a:cubicBezTo>
                    <a:pt x="5954268" y="0"/>
                    <a:pt x="5969000" y="12439"/>
                    <a:pt x="5969000" y="27773"/>
                  </a:cubicBezTo>
                  <a:lnTo>
                    <a:pt x="5969000" y="1218575"/>
                  </a:lnTo>
                  <a:cubicBezTo>
                    <a:pt x="5969000" y="1233909"/>
                    <a:pt x="5954268" y="1246348"/>
                    <a:pt x="5936107" y="1246348"/>
                  </a:cubicBezTo>
                  <a:lnTo>
                    <a:pt x="32893" y="1246348"/>
                  </a:lnTo>
                  <a:cubicBezTo>
                    <a:pt x="14732" y="1246348"/>
                    <a:pt x="0" y="1233909"/>
                    <a:pt x="0" y="1218575"/>
                  </a:cubicBezTo>
                  <a:close/>
                </a:path>
              </a:pathLst>
            </a:custGeom>
            <a:solidFill>
              <a:srgbClr val="262626"/>
            </a:solidFill>
          </p:spPr>
        </p:sp>
      </p:grpSp>
      <p:grpSp>
        <p:nvGrpSpPr>
          <p:cNvPr name="Group 40" id="40"/>
          <p:cNvGrpSpPr/>
          <p:nvPr/>
        </p:nvGrpSpPr>
        <p:grpSpPr>
          <a:xfrm rot="0">
            <a:off x="10738094" y="8657034"/>
            <a:ext cx="205530" cy="164459"/>
            <a:chOff x="0" y="0"/>
            <a:chExt cx="274041" cy="219278"/>
          </a:xfrm>
        </p:grpSpPr>
        <p:sp>
          <p:nvSpPr>
            <p:cNvPr name="Freeform 41" id="41" descr="preencoded.png"/>
            <p:cNvSpPr/>
            <p:nvPr/>
          </p:nvSpPr>
          <p:spPr>
            <a:xfrm flipH="false" flipV="false" rot="0">
              <a:off x="0" y="0"/>
              <a:ext cx="274066" cy="219329"/>
            </a:xfrm>
            <a:custGeom>
              <a:avLst/>
              <a:gdLst/>
              <a:ahLst/>
              <a:cxnLst/>
              <a:rect r="r" b="b" t="t" l="l"/>
              <a:pathLst>
                <a:path h="219329" w="274066">
                  <a:moveTo>
                    <a:pt x="0" y="0"/>
                  </a:moveTo>
                  <a:lnTo>
                    <a:pt x="274066" y="0"/>
                  </a:lnTo>
                  <a:lnTo>
                    <a:pt x="274066" y="219329"/>
                  </a:lnTo>
                  <a:lnTo>
                    <a:pt x="0" y="219329"/>
                  </a:lnTo>
                  <a:lnTo>
                    <a:pt x="0" y="0"/>
                  </a:lnTo>
                  <a:close/>
                </a:path>
              </a:pathLst>
            </a:custGeom>
            <a:blipFill>
              <a:blip r:embed="rId3"/>
              <a:stretch>
                <a:fillRect l="-1774" t="0" r="-1765" b="23"/>
              </a:stretch>
            </a:blipFill>
          </p:spPr>
        </p:sp>
      </p:grpSp>
      <p:sp>
        <p:nvSpPr>
          <p:cNvPr name="TextBox 42" id="42"/>
          <p:cNvSpPr txBox="true"/>
          <p:nvPr/>
        </p:nvSpPr>
        <p:spPr>
          <a:xfrm rot="0">
            <a:off x="11108084" y="8592741"/>
            <a:ext cx="3777853" cy="793556"/>
          </a:xfrm>
          <a:prstGeom prst="rect">
            <a:avLst/>
          </a:prstGeom>
        </p:spPr>
        <p:txBody>
          <a:bodyPr anchor="t" rtlCol="false" tIns="0" lIns="0" bIns="0" rIns="0">
            <a:spAutoFit/>
          </a:bodyPr>
          <a:lstStyle/>
          <a:p>
            <a:pPr algn="l">
              <a:lnSpc>
                <a:spcPts val="1454"/>
              </a:lnSpc>
            </a:pPr>
            <a:r>
              <a:rPr lang="en-US" sz="1200" b="true">
                <a:solidFill>
                  <a:srgbClr val="FFFFFF"/>
                </a:solidFill>
                <a:latin typeface="Source Sans 3 Bold"/>
                <a:ea typeface="Source Sans 3 Bold"/>
                <a:cs typeface="Source Sans 3 Bold"/>
                <a:sym typeface="Source Sans 3 Bold"/>
              </a:rPr>
              <a:t>Human Call: Neutral-Bullish</a:t>
            </a:r>
            <a:r>
              <a:rPr lang="en-US" sz="1200">
                <a:solidFill>
                  <a:srgbClr val="FFFFFF"/>
                </a:solidFill>
                <a:latin typeface="Source Sans 3"/>
                <a:ea typeface="Source Sans 3"/>
                <a:cs typeface="Source Sans 3"/>
                <a:sym typeface="Source Sans 3"/>
              </a:rPr>
              <a:t> — Downgraded from AI's pure Bullish consensus. Score of zero signals constrained upside with elevated tail risk entering the week.</a:t>
            </a:r>
          </a:p>
        </p:txBody>
      </p:sp>
      <p:sp>
        <p:nvSpPr>
          <p:cNvPr name="TextBox 43" id="43"/>
          <p:cNvSpPr txBox="true"/>
          <p:nvPr/>
        </p:nvSpPr>
        <p:spPr>
          <a:xfrm rot="0">
            <a:off x="328353" y="198611"/>
            <a:ext cx="348655" cy="353060"/>
          </a:xfrm>
          <a:prstGeom prst="rect">
            <a:avLst/>
          </a:prstGeom>
        </p:spPr>
        <p:txBody>
          <a:bodyPr anchor="t" rtlCol="false" tIns="0" lIns="0" bIns="0" rIns="0">
            <a:spAutoFit/>
          </a:bodyPr>
          <a:lstStyle/>
          <a:p>
            <a:pPr algn="ctr">
              <a:lnSpc>
                <a:spcPts val="2859"/>
              </a:lnSpc>
              <a:spcBef>
                <a:spcPct val="0"/>
              </a:spcBef>
            </a:pPr>
            <a:r>
              <a:rPr lang="en-US" b="true" sz="2199" spc="-65">
                <a:solidFill>
                  <a:srgbClr val="FFFFFF"/>
                </a:solidFill>
                <a:latin typeface="Muli Ultra-Bold"/>
                <a:ea typeface="Muli Ultra-Bold"/>
                <a:cs typeface="Muli Ultra-Bold"/>
                <a:sym typeface="Muli Ultra-Bold"/>
              </a:rPr>
              <a:t>R7</a:t>
            </a:r>
          </a:p>
        </p:txBody>
      </p:sp>
      <p:sp>
        <p:nvSpPr>
          <p:cNvPr name="TextBox 44" id="44"/>
          <p:cNvSpPr txBox="true"/>
          <p:nvPr/>
        </p:nvSpPr>
        <p:spPr>
          <a:xfrm rot="0">
            <a:off x="677008" y="9538697"/>
            <a:ext cx="17315655" cy="640994"/>
          </a:xfrm>
          <a:prstGeom prst="rect">
            <a:avLst/>
          </a:prstGeom>
        </p:spPr>
        <p:txBody>
          <a:bodyPr anchor="t" rtlCol="false" tIns="0" lIns="0" bIns="0" rIns="0">
            <a:spAutoFit/>
          </a:bodyPr>
          <a:lstStyle/>
          <a:p>
            <a:pPr algn="ctr">
              <a:lnSpc>
                <a:spcPts val="1762"/>
              </a:lnSpc>
              <a:spcBef>
                <a:spcPct val="0"/>
              </a:spcBef>
            </a:pPr>
            <a:r>
              <a:rPr lang="en-US" b="true" sz="1300">
                <a:solidFill>
                  <a:srgbClr val="FFFFFF"/>
                </a:solidFill>
                <a:latin typeface="Source Sans 3 Bold"/>
                <a:ea typeface="Source Sans 3 Bold"/>
                <a:cs typeface="Source Sans 3 Bold"/>
                <a:sym typeface="Source Sans 3 Bold"/>
              </a:rPr>
              <a:t>On</a:t>
            </a:r>
            <a:r>
              <a:rPr lang="en-US" b="true" sz="1300">
                <a:solidFill>
                  <a:srgbClr val="FFFFFF"/>
                </a:solidFill>
                <a:latin typeface="Source Sans 3 Bold"/>
                <a:ea typeface="Source Sans 3 Bold"/>
                <a:cs typeface="Source Sans 3 Bold"/>
                <a:sym typeface="Source Sans 3 Bold"/>
              </a:rPr>
              <a:t> this slide, we present the Human Score, which recalculates the AI's pure bullish consensus. While we agree with the technical and macro tailwinds, we downgraded the score to zero, resulting in a Neutral-Bullish call. Crucially, the wild card that our team saw that no AI raised is the deteriorating market breadth. Specifically, only 57 percent of S&amp;P 500 stocks remain above their 200-day moving average. The AI models completely missed this fragility beneath the surface, treating index-level technicals as broad strength. This narrow participation, combined with the looming NFP event risk, forms the basis of our human override.</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81A1B"/>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11213"/>
            </a:solidFill>
          </p:spPr>
        </p:sp>
      </p:grpSp>
      <p:sp>
        <p:nvSpPr>
          <p:cNvPr name="TextBox 6" id="6"/>
          <p:cNvSpPr txBox="true"/>
          <p:nvPr/>
        </p:nvSpPr>
        <p:spPr>
          <a:xfrm rot="0">
            <a:off x="2339873" y="612277"/>
            <a:ext cx="9651359" cy="558251"/>
          </a:xfrm>
          <a:prstGeom prst="rect">
            <a:avLst/>
          </a:prstGeom>
        </p:spPr>
        <p:txBody>
          <a:bodyPr anchor="t" rtlCol="false" tIns="0" lIns="0" bIns="0" rIns="0">
            <a:spAutoFit/>
          </a:bodyPr>
          <a:lstStyle/>
          <a:p>
            <a:pPr algn="l">
              <a:lnSpc>
                <a:spcPts val="4118"/>
              </a:lnSpc>
            </a:pPr>
            <a:r>
              <a:rPr lang="en-US" sz="3300" b="true">
                <a:solidFill>
                  <a:srgbClr val="FFFFFF"/>
                </a:solidFill>
                <a:latin typeface="Montserrat Bold"/>
                <a:ea typeface="Montserrat Bold"/>
                <a:cs typeface="Montserrat Bold"/>
                <a:sym typeface="Montserrat Bold"/>
              </a:rPr>
              <a:t>Official Week 23 Prediction Dashboard</a:t>
            </a:r>
          </a:p>
        </p:txBody>
      </p:sp>
      <p:grpSp>
        <p:nvGrpSpPr>
          <p:cNvPr name="Group 7" id="7"/>
          <p:cNvGrpSpPr/>
          <p:nvPr/>
        </p:nvGrpSpPr>
        <p:grpSpPr>
          <a:xfrm rot="0">
            <a:off x="2339873" y="1446905"/>
            <a:ext cx="1979409" cy="307477"/>
            <a:chOff x="0" y="0"/>
            <a:chExt cx="2639212" cy="409969"/>
          </a:xfrm>
        </p:grpSpPr>
        <p:sp>
          <p:nvSpPr>
            <p:cNvPr name="Freeform 8" id="8"/>
            <p:cNvSpPr/>
            <p:nvPr/>
          </p:nvSpPr>
          <p:spPr>
            <a:xfrm flipH="false" flipV="false" rot="0">
              <a:off x="0" y="0"/>
              <a:ext cx="2639187" cy="409956"/>
            </a:xfrm>
            <a:custGeom>
              <a:avLst/>
              <a:gdLst/>
              <a:ahLst/>
              <a:cxnLst/>
              <a:rect r="r" b="b" t="t" l="l"/>
              <a:pathLst>
                <a:path h="409956" w="2639187">
                  <a:moveTo>
                    <a:pt x="0" y="30353"/>
                  </a:moveTo>
                  <a:cubicBezTo>
                    <a:pt x="0" y="13589"/>
                    <a:pt x="13589" y="0"/>
                    <a:pt x="30353" y="0"/>
                  </a:cubicBezTo>
                  <a:lnTo>
                    <a:pt x="2608834" y="0"/>
                  </a:lnTo>
                  <a:cubicBezTo>
                    <a:pt x="2625598" y="0"/>
                    <a:pt x="2639187" y="13589"/>
                    <a:pt x="2639187" y="30353"/>
                  </a:cubicBezTo>
                  <a:lnTo>
                    <a:pt x="2639187" y="379603"/>
                  </a:lnTo>
                  <a:cubicBezTo>
                    <a:pt x="2639187" y="396367"/>
                    <a:pt x="2625598" y="409956"/>
                    <a:pt x="2608834" y="409956"/>
                  </a:cubicBezTo>
                  <a:lnTo>
                    <a:pt x="30353" y="409956"/>
                  </a:lnTo>
                  <a:cubicBezTo>
                    <a:pt x="13589" y="409956"/>
                    <a:pt x="0" y="396367"/>
                    <a:pt x="0" y="379603"/>
                  </a:cubicBezTo>
                  <a:close/>
                </a:path>
              </a:pathLst>
            </a:custGeom>
            <a:solidFill>
              <a:srgbClr val="262626"/>
            </a:solidFill>
          </p:spPr>
        </p:sp>
      </p:grpSp>
      <p:sp>
        <p:nvSpPr>
          <p:cNvPr name="TextBox 9" id="9"/>
          <p:cNvSpPr txBox="true"/>
          <p:nvPr/>
        </p:nvSpPr>
        <p:spPr>
          <a:xfrm rot="0">
            <a:off x="2453726" y="1503759"/>
            <a:ext cx="2666105" cy="193777"/>
          </a:xfrm>
          <a:prstGeom prst="rect">
            <a:avLst/>
          </a:prstGeom>
        </p:spPr>
        <p:txBody>
          <a:bodyPr anchor="t" rtlCol="false" tIns="0" lIns="0" bIns="0" rIns="0">
            <a:spAutoFit/>
          </a:bodyPr>
          <a:lstStyle/>
          <a:p>
            <a:pPr algn="l">
              <a:lnSpc>
                <a:spcPts val="1399"/>
              </a:lnSpc>
            </a:pPr>
            <a:r>
              <a:rPr lang="en-US" sz="1100">
                <a:solidFill>
                  <a:srgbClr val="E2E6E9"/>
                </a:solidFill>
                <a:latin typeface="Source Sans 3"/>
                <a:ea typeface="Source Sans 3"/>
                <a:cs typeface="Source Sans 3"/>
                <a:sym typeface="Source Sans 3"/>
              </a:rPr>
              <a:t>REGIME: NEUTRAL-BULLISH</a:t>
            </a:r>
          </a:p>
        </p:txBody>
      </p:sp>
      <p:grpSp>
        <p:nvGrpSpPr>
          <p:cNvPr name="Group 10" id="10"/>
          <p:cNvGrpSpPr/>
          <p:nvPr/>
        </p:nvGrpSpPr>
        <p:grpSpPr>
          <a:xfrm rot="0">
            <a:off x="4409332" y="1432617"/>
            <a:ext cx="1690983" cy="336052"/>
            <a:chOff x="0" y="0"/>
            <a:chExt cx="2254644" cy="448069"/>
          </a:xfrm>
        </p:grpSpPr>
        <p:sp>
          <p:nvSpPr>
            <p:cNvPr name="Freeform 11" id="11"/>
            <p:cNvSpPr/>
            <p:nvPr/>
          </p:nvSpPr>
          <p:spPr>
            <a:xfrm flipH="false" flipV="false" rot="0">
              <a:off x="0" y="0"/>
              <a:ext cx="2254631" cy="448056"/>
            </a:xfrm>
            <a:custGeom>
              <a:avLst/>
              <a:gdLst/>
              <a:ahLst/>
              <a:cxnLst/>
              <a:rect r="r" b="b" t="t" l="l"/>
              <a:pathLst>
                <a:path h="448056" w="2254631">
                  <a:moveTo>
                    <a:pt x="0" y="31242"/>
                  </a:moveTo>
                  <a:cubicBezTo>
                    <a:pt x="0" y="13970"/>
                    <a:pt x="13970" y="0"/>
                    <a:pt x="31242" y="0"/>
                  </a:cubicBezTo>
                  <a:lnTo>
                    <a:pt x="2223389" y="0"/>
                  </a:lnTo>
                  <a:cubicBezTo>
                    <a:pt x="2240661" y="0"/>
                    <a:pt x="2254631" y="13970"/>
                    <a:pt x="2254631" y="31242"/>
                  </a:cubicBezTo>
                  <a:lnTo>
                    <a:pt x="2254631" y="416814"/>
                  </a:lnTo>
                  <a:cubicBezTo>
                    <a:pt x="2254631" y="434086"/>
                    <a:pt x="2240661" y="448056"/>
                    <a:pt x="2223389" y="448056"/>
                  </a:cubicBezTo>
                  <a:lnTo>
                    <a:pt x="31242" y="448056"/>
                  </a:lnTo>
                  <a:cubicBezTo>
                    <a:pt x="13970" y="448056"/>
                    <a:pt x="0" y="434086"/>
                    <a:pt x="0" y="416814"/>
                  </a:cubicBezTo>
                  <a:close/>
                </a:path>
              </a:pathLst>
            </a:custGeom>
            <a:blipFill>
              <a:blip r:embed="rId2">
                <a:alphaModFix amt="0"/>
              </a:blip>
              <a:stretch>
                <a:fillRect l="0" t="-48048" r="0" b="-48051"/>
              </a:stretch>
            </a:blipFill>
            <a:ln w="9526" cap="sq">
              <a:solidFill>
                <a:srgbClr val="FFFFFF"/>
              </a:solidFill>
              <a:prstDash val="solid"/>
              <a:miter/>
            </a:ln>
          </p:spPr>
        </p:sp>
      </p:grpSp>
      <p:sp>
        <p:nvSpPr>
          <p:cNvPr name="TextBox 12" id="12"/>
          <p:cNvSpPr txBox="true"/>
          <p:nvPr/>
        </p:nvSpPr>
        <p:spPr>
          <a:xfrm rot="0">
            <a:off x="4537472" y="1503759"/>
            <a:ext cx="2349103" cy="193777"/>
          </a:xfrm>
          <a:prstGeom prst="rect">
            <a:avLst/>
          </a:prstGeom>
        </p:spPr>
        <p:txBody>
          <a:bodyPr anchor="t" rtlCol="false" tIns="0" lIns="0" bIns="0" rIns="0">
            <a:spAutoFit/>
          </a:bodyPr>
          <a:lstStyle/>
          <a:p>
            <a:pPr algn="l">
              <a:lnSpc>
                <a:spcPts val="1399"/>
              </a:lnSpc>
            </a:pPr>
            <a:r>
              <a:rPr lang="en-US" sz="1100">
                <a:solidFill>
                  <a:srgbClr val="FFFFFF"/>
                </a:solidFill>
                <a:latin typeface="Source Sans 3"/>
                <a:ea typeface="Source Sans 3"/>
                <a:cs typeface="Source Sans 3"/>
                <a:sym typeface="Source Sans 3"/>
              </a:rPr>
              <a:t>CONFIDENCE: MEDIUM</a:t>
            </a:r>
          </a:p>
        </p:txBody>
      </p:sp>
      <p:sp>
        <p:nvSpPr>
          <p:cNvPr name="TextBox 13" id="13"/>
          <p:cNvSpPr txBox="true"/>
          <p:nvPr/>
        </p:nvSpPr>
        <p:spPr>
          <a:xfrm rot="0">
            <a:off x="2339873" y="1904409"/>
            <a:ext cx="13608101" cy="494109"/>
          </a:xfrm>
          <a:prstGeom prst="rect">
            <a:avLst/>
          </a:prstGeom>
        </p:spPr>
        <p:txBody>
          <a:bodyPr anchor="t" rtlCol="false" tIns="0" lIns="0" bIns="0" rIns="0">
            <a:spAutoFit/>
          </a:bodyPr>
          <a:lstStyle/>
          <a:p>
            <a:pPr algn="l">
              <a:lnSpc>
                <a:spcPts val="1780"/>
              </a:lnSpc>
            </a:pPr>
            <a:r>
              <a:rPr lang="en-US" sz="1399">
                <a:solidFill>
                  <a:srgbClr val="E2E6E9"/>
                </a:solidFill>
                <a:latin typeface="Source Sans 3"/>
                <a:ea typeface="Source Sans 3"/>
                <a:cs typeface="Source Sans 3"/>
                <a:sym typeface="Source Sans 3"/>
              </a:rPr>
              <a:t>This dashboard represents the team's </a:t>
            </a:r>
            <a:r>
              <a:rPr lang="en-US" sz="1399" b="true">
                <a:solidFill>
                  <a:srgbClr val="E2E6E9"/>
                </a:solidFill>
                <a:latin typeface="Source Sans 3 Bold"/>
                <a:ea typeface="Source Sans 3 Bold"/>
                <a:cs typeface="Source Sans 3 Bold"/>
                <a:sym typeface="Source Sans 3 Bold"/>
              </a:rPr>
              <a:t>final locked prediction</a:t>
            </a:r>
            <a:r>
              <a:rPr lang="en-US" sz="1399">
                <a:solidFill>
                  <a:srgbClr val="E2E6E9"/>
                </a:solidFill>
                <a:latin typeface="Source Sans 3"/>
                <a:ea typeface="Source Sans 3"/>
                <a:cs typeface="Source Sans 3"/>
                <a:sym typeface="Source Sans 3"/>
              </a:rPr>
              <a:t> for the upcoming week — a synthesis of AI signals, human override scoring, sector rotation intelligence, and clearly defined invalidation thresholds. Targets are deliberately conservative, reflecting the constrained risk/reward environment identified by our Human Score process.</a:t>
            </a:r>
          </a:p>
        </p:txBody>
      </p:sp>
      <p:sp>
        <p:nvSpPr>
          <p:cNvPr name="TextBox 14" id="14"/>
          <p:cNvSpPr txBox="true"/>
          <p:nvPr/>
        </p:nvSpPr>
        <p:spPr>
          <a:xfrm rot="0">
            <a:off x="2339873" y="2681878"/>
            <a:ext cx="3071365" cy="269529"/>
          </a:xfrm>
          <a:prstGeom prst="rect">
            <a:avLst/>
          </a:prstGeom>
        </p:spPr>
        <p:txBody>
          <a:bodyPr anchor="t" rtlCol="false" tIns="0" lIns="0" bIns="0" rIns="0">
            <a:spAutoFit/>
          </a:bodyPr>
          <a:lstStyle/>
          <a:p>
            <a:pPr algn="l">
              <a:lnSpc>
                <a:spcPts val="1996"/>
              </a:lnSpc>
            </a:pPr>
            <a:r>
              <a:rPr lang="en-US" sz="1600" b="true">
                <a:solidFill>
                  <a:srgbClr val="FFFFFF"/>
                </a:solidFill>
                <a:latin typeface="Montserrat Bold"/>
                <a:ea typeface="Montserrat Bold"/>
                <a:cs typeface="Montserrat Bold"/>
                <a:sym typeface="Montserrat Bold"/>
              </a:rPr>
              <a:t>Index Targets</a:t>
            </a:r>
          </a:p>
        </p:txBody>
      </p:sp>
      <p:grpSp>
        <p:nvGrpSpPr>
          <p:cNvPr name="Group 15" id="15"/>
          <p:cNvGrpSpPr/>
          <p:nvPr/>
        </p:nvGrpSpPr>
        <p:grpSpPr>
          <a:xfrm rot="0">
            <a:off x="2335111" y="3096663"/>
            <a:ext cx="7285434" cy="2700338"/>
            <a:chOff x="0" y="0"/>
            <a:chExt cx="9713912" cy="3600450"/>
          </a:xfrm>
        </p:grpSpPr>
        <p:sp>
          <p:nvSpPr>
            <p:cNvPr name="Freeform 16" id="16"/>
            <p:cNvSpPr/>
            <p:nvPr/>
          </p:nvSpPr>
          <p:spPr>
            <a:xfrm flipH="false" flipV="false" rot="0">
              <a:off x="0" y="0"/>
              <a:ext cx="9713976" cy="3600450"/>
            </a:xfrm>
            <a:custGeom>
              <a:avLst/>
              <a:gdLst/>
              <a:ahLst/>
              <a:cxnLst/>
              <a:rect r="r" b="b" t="t" l="l"/>
              <a:pathLst>
                <a:path h="3600450" w="9713976">
                  <a:moveTo>
                    <a:pt x="0" y="38100"/>
                  </a:moveTo>
                  <a:cubicBezTo>
                    <a:pt x="0" y="17018"/>
                    <a:pt x="17018" y="0"/>
                    <a:pt x="38100" y="0"/>
                  </a:cubicBezTo>
                  <a:lnTo>
                    <a:pt x="9675876" y="0"/>
                  </a:lnTo>
                  <a:cubicBezTo>
                    <a:pt x="9696958" y="0"/>
                    <a:pt x="9713976" y="17018"/>
                    <a:pt x="9713976" y="38100"/>
                  </a:cubicBezTo>
                  <a:lnTo>
                    <a:pt x="9713976" y="3562350"/>
                  </a:lnTo>
                  <a:cubicBezTo>
                    <a:pt x="9713976" y="3583432"/>
                    <a:pt x="9696958" y="3600450"/>
                    <a:pt x="9675876" y="3600450"/>
                  </a:cubicBezTo>
                  <a:lnTo>
                    <a:pt x="38100" y="3600450"/>
                  </a:lnTo>
                  <a:cubicBezTo>
                    <a:pt x="17018" y="3600450"/>
                    <a:pt x="0" y="3583432"/>
                    <a:pt x="0" y="3562350"/>
                  </a:cubicBezTo>
                  <a:close/>
                </a:path>
              </a:pathLst>
            </a:custGeom>
            <a:blipFill>
              <a:blip r:embed="rId2">
                <a:alphaModFix amt="0"/>
              </a:blip>
              <a:stretch>
                <a:fillRect l="0" t="-2570" r="0" b="-2570"/>
              </a:stretch>
            </a:blipFill>
            <a:ln w="9526" cap="sq">
              <a:solidFill>
                <a:srgbClr val="FFFFFF"/>
              </a:solidFill>
              <a:prstDash val="solid"/>
              <a:miter/>
            </a:ln>
          </p:spPr>
        </p:sp>
      </p:grpSp>
      <p:sp>
        <p:nvSpPr>
          <p:cNvPr name="TextBox 17" id="17"/>
          <p:cNvSpPr txBox="true"/>
          <p:nvPr/>
        </p:nvSpPr>
        <p:spPr>
          <a:xfrm rot="0">
            <a:off x="2539308" y="3191027"/>
            <a:ext cx="2852290" cy="251812"/>
          </a:xfrm>
          <a:prstGeom prst="rect">
            <a:avLst/>
          </a:prstGeom>
        </p:spPr>
        <p:txBody>
          <a:bodyPr anchor="t" rtlCol="false" tIns="0" lIns="0" bIns="0" rIns="0">
            <a:spAutoFit/>
          </a:bodyPr>
          <a:lstStyle/>
          <a:p>
            <a:pPr algn="l">
              <a:lnSpc>
                <a:spcPts val="1780"/>
              </a:lnSpc>
            </a:pPr>
            <a:r>
              <a:rPr lang="en-US" sz="1399" b="true">
                <a:solidFill>
                  <a:srgbClr val="E2E6E9"/>
                </a:solidFill>
                <a:latin typeface="Source Sans 3 Bold"/>
                <a:ea typeface="Source Sans 3 Bold"/>
                <a:cs typeface="Source Sans 3 Bold"/>
                <a:sym typeface="Source Sans 3 Bold"/>
              </a:rPr>
              <a:t>Instrument</a:t>
            </a:r>
          </a:p>
        </p:txBody>
      </p:sp>
      <p:sp>
        <p:nvSpPr>
          <p:cNvPr name="TextBox 18" id="18"/>
          <p:cNvSpPr txBox="true"/>
          <p:nvPr/>
        </p:nvSpPr>
        <p:spPr>
          <a:xfrm rot="0">
            <a:off x="4866237" y="3191027"/>
            <a:ext cx="1541259" cy="251812"/>
          </a:xfrm>
          <a:prstGeom prst="rect">
            <a:avLst/>
          </a:prstGeom>
        </p:spPr>
        <p:txBody>
          <a:bodyPr anchor="t" rtlCol="false" tIns="0" lIns="0" bIns="0" rIns="0">
            <a:spAutoFit/>
          </a:bodyPr>
          <a:lstStyle/>
          <a:p>
            <a:pPr algn="l">
              <a:lnSpc>
                <a:spcPts val="1780"/>
              </a:lnSpc>
            </a:pPr>
            <a:r>
              <a:rPr lang="en-US" sz="1399" b="true">
                <a:solidFill>
                  <a:srgbClr val="E2E6E9"/>
                </a:solidFill>
                <a:latin typeface="Source Sans 3 Bold"/>
                <a:ea typeface="Source Sans 3 Bold"/>
                <a:cs typeface="Source Sans 3 Bold"/>
                <a:sym typeface="Source Sans 3 Bold"/>
              </a:rPr>
              <a:t>Signal</a:t>
            </a:r>
          </a:p>
        </p:txBody>
      </p:sp>
      <p:sp>
        <p:nvSpPr>
          <p:cNvPr name="TextBox 19" id="19"/>
          <p:cNvSpPr txBox="true"/>
          <p:nvPr/>
        </p:nvSpPr>
        <p:spPr>
          <a:xfrm rot="0">
            <a:off x="5882135" y="3191027"/>
            <a:ext cx="4448766" cy="251812"/>
          </a:xfrm>
          <a:prstGeom prst="rect">
            <a:avLst/>
          </a:prstGeom>
        </p:spPr>
        <p:txBody>
          <a:bodyPr anchor="t" rtlCol="false" tIns="0" lIns="0" bIns="0" rIns="0">
            <a:spAutoFit/>
          </a:bodyPr>
          <a:lstStyle/>
          <a:p>
            <a:pPr algn="l">
              <a:lnSpc>
                <a:spcPts val="1780"/>
              </a:lnSpc>
            </a:pPr>
            <a:r>
              <a:rPr lang="en-US" sz="1399" b="true">
                <a:solidFill>
                  <a:srgbClr val="E2E6E9"/>
                </a:solidFill>
                <a:latin typeface="Source Sans 3 Bold"/>
                <a:ea typeface="Source Sans 3 Bold"/>
                <a:cs typeface="Source Sans 3 Bold"/>
                <a:sym typeface="Source Sans 3 Bold"/>
              </a:rPr>
              <a:t>Target Range</a:t>
            </a:r>
          </a:p>
        </p:txBody>
      </p:sp>
      <p:sp>
        <p:nvSpPr>
          <p:cNvPr name="TextBox 20" id="20"/>
          <p:cNvSpPr txBox="true"/>
          <p:nvPr/>
        </p:nvSpPr>
        <p:spPr>
          <a:xfrm rot="0">
            <a:off x="2539308" y="3622034"/>
            <a:ext cx="2852290" cy="251812"/>
          </a:xfrm>
          <a:prstGeom prst="rect">
            <a:avLst/>
          </a:prstGeom>
        </p:spPr>
        <p:txBody>
          <a:bodyPr anchor="t" rtlCol="false" tIns="0" lIns="0" bIns="0" rIns="0">
            <a:spAutoFit/>
          </a:bodyPr>
          <a:lstStyle/>
          <a:p>
            <a:pPr algn="l">
              <a:lnSpc>
                <a:spcPts val="1780"/>
              </a:lnSpc>
            </a:pPr>
            <a:r>
              <a:rPr lang="en-US" sz="1399">
                <a:solidFill>
                  <a:srgbClr val="E2E6E9"/>
                </a:solidFill>
                <a:latin typeface="Source Sans 3"/>
                <a:ea typeface="Source Sans 3"/>
                <a:cs typeface="Source Sans 3"/>
                <a:sym typeface="Source Sans 3"/>
              </a:rPr>
              <a:t>S&amp;P 500 (SPX)</a:t>
            </a:r>
          </a:p>
        </p:txBody>
      </p:sp>
      <p:sp>
        <p:nvSpPr>
          <p:cNvPr name="TextBox 21" id="21"/>
          <p:cNvSpPr txBox="true"/>
          <p:nvPr/>
        </p:nvSpPr>
        <p:spPr>
          <a:xfrm rot="0">
            <a:off x="4866237" y="3622034"/>
            <a:ext cx="1541259" cy="251812"/>
          </a:xfrm>
          <a:prstGeom prst="rect">
            <a:avLst/>
          </a:prstGeom>
        </p:spPr>
        <p:txBody>
          <a:bodyPr anchor="t" rtlCol="false" tIns="0" lIns="0" bIns="0" rIns="0">
            <a:spAutoFit/>
          </a:bodyPr>
          <a:lstStyle/>
          <a:p>
            <a:pPr algn="l">
              <a:lnSpc>
                <a:spcPts val="1780"/>
              </a:lnSpc>
            </a:pPr>
            <a:r>
              <a:rPr lang="en-US" sz="1399" b="true">
                <a:solidFill>
                  <a:srgbClr val="22C55E"/>
                </a:solidFill>
                <a:latin typeface="Source Sans 3 Bold"/>
                <a:ea typeface="Source Sans 3 Bold"/>
                <a:cs typeface="Source Sans 3 Bold"/>
                <a:sym typeface="Source Sans 3 Bold"/>
              </a:rPr>
              <a:t>UP</a:t>
            </a:r>
          </a:p>
        </p:txBody>
      </p:sp>
      <p:sp>
        <p:nvSpPr>
          <p:cNvPr name="TextBox 22" id="22"/>
          <p:cNvSpPr txBox="true"/>
          <p:nvPr/>
        </p:nvSpPr>
        <p:spPr>
          <a:xfrm rot="0">
            <a:off x="5882135" y="3593459"/>
            <a:ext cx="4448766" cy="299437"/>
          </a:xfrm>
          <a:prstGeom prst="rect">
            <a:avLst/>
          </a:prstGeom>
        </p:spPr>
        <p:txBody>
          <a:bodyPr anchor="t" rtlCol="false" tIns="0" lIns="0" bIns="0" rIns="0">
            <a:spAutoFit/>
          </a:bodyPr>
          <a:lstStyle/>
          <a:p>
            <a:pPr algn="l">
              <a:lnSpc>
                <a:spcPts val="1780"/>
              </a:lnSpc>
            </a:pPr>
            <a:r>
              <a:rPr lang="en-US" sz="1399">
                <a:solidFill>
                  <a:srgbClr val="E2E6E9"/>
                </a:solidFill>
                <a:latin typeface="Consolas"/>
                <a:ea typeface="Consolas"/>
                <a:cs typeface="Consolas"/>
                <a:sym typeface="Consolas"/>
              </a:rPr>
              <a:t>+0.2% to +1.0%</a:t>
            </a:r>
          </a:p>
        </p:txBody>
      </p:sp>
      <p:sp>
        <p:nvSpPr>
          <p:cNvPr name="TextBox 23" id="23"/>
          <p:cNvSpPr txBox="true"/>
          <p:nvPr/>
        </p:nvSpPr>
        <p:spPr>
          <a:xfrm rot="0">
            <a:off x="2539308" y="4072090"/>
            <a:ext cx="2852290" cy="251812"/>
          </a:xfrm>
          <a:prstGeom prst="rect">
            <a:avLst/>
          </a:prstGeom>
        </p:spPr>
        <p:txBody>
          <a:bodyPr anchor="t" rtlCol="false" tIns="0" lIns="0" bIns="0" rIns="0">
            <a:spAutoFit/>
          </a:bodyPr>
          <a:lstStyle/>
          <a:p>
            <a:pPr algn="l">
              <a:lnSpc>
                <a:spcPts val="1780"/>
              </a:lnSpc>
            </a:pPr>
            <a:r>
              <a:rPr lang="en-US" sz="1399">
                <a:solidFill>
                  <a:srgbClr val="E2E6E9"/>
                </a:solidFill>
                <a:latin typeface="Source Sans 3"/>
                <a:ea typeface="Source Sans 3"/>
                <a:cs typeface="Source Sans 3"/>
                <a:sym typeface="Source Sans 3"/>
              </a:rPr>
              <a:t>Nasdaq 100 (NDX)</a:t>
            </a:r>
          </a:p>
        </p:txBody>
      </p:sp>
      <p:sp>
        <p:nvSpPr>
          <p:cNvPr name="TextBox 24" id="24"/>
          <p:cNvSpPr txBox="true"/>
          <p:nvPr/>
        </p:nvSpPr>
        <p:spPr>
          <a:xfrm rot="0">
            <a:off x="4866237" y="4072090"/>
            <a:ext cx="1541259" cy="251812"/>
          </a:xfrm>
          <a:prstGeom prst="rect">
            <a:avLst/>
          </a:prstGeom>
        </p:spPr>
        <p:txBody>
          <a:bodyPr anchor="t" rtlCol="false" tIns="0" lIns="0" bIns="0" rIns="0">
            <a:spAutoFit/>
          </a:bodyPr>
          <a:lstStyle/>
          <a:p>
            <a:pPr algn="l">
              <a:lnSpc>
                <a:spcPts val="1780"/>
              </a:lnSpc>
            </a:pPr>
            <a:r>
              <a:rPr lang="en-US" sz="1399" b="true">
                <a:solidFill>
                  <a:srgbClr val="22C55E"/>
                </a:solidFill>
                <a:latin typeface="Source Sans 3 Bold"/>
                <a:ea typeface="Source Sans 3 Bold"/>
                <a:cs typeface="Source Sans 3 Bold"/>
                <a:sym typeface="Source Sans 3 Bold"/>
              </a:rPr>
              <a:t>UP</a:t>
            </a:r>
          </a:p>
        </p:txBody>
      </p:sp>
      <p:sp>
        <p:nvSpPr>
          <p:cNvPr name="TextBox 25" id="25"/>
          <p:cNvSpPr txBox="true"/>
          <p:nvPr/>
        </p:nvSpPr>
        <p:spPr>
          <a:xfrm rot="0">
            <a:off x="5882135" y="4043515"/>
            <a:ext cx="4448766" cy="299437"/>
          </a:xfrm>
          <a:prstGeom prst="rect">
            <a:avLst/>
          </a:prstGeom>
        </p:spPr>
        <p:txBody>
          <a:bodyPr anchor="t" rtlCol="false" tIns="0" lIns="0" bIns="0" rIns="0">
            <a:spAutoFit/>
          </a:bodyPr>
          <a:lstStyle/>
          <a:p>
            <a:pPr algn="l">
              <a:lnSpc>
                <a:spcPts val="1780"/>
              </a:lnSpc>
            </a:pPr>
            <a:r>
              <a:rPr lang="en-US" sz="1399">
                <a:solidFill>
                  <a:srgbClr val="E2E6E9"/>
                </a:solidFill>
                <a:latin typeface="Consolas"/>
                <a:ea typeface="Consolas"/>
                <a:cs typeface="Consolas"/>
                <a:sym typeface="Consolas"/>
              </a:rPr>
              <a:t>+0.5% to +1.5%</a:t>
            </a:r>
          </a:p>
        </p:txBody>
      </p:sp>
      <p:sp>
        <p:nvSpPr>
          <p:cNvPr name="TextBox 26" id="26"/>
          <p:cNvSpPr txBox="true"/>
          <p:nvPr/>
        </p:nvSpPr>
        <p:spPr>
          <a:xfrm rot="0">
            <a:off x="2539308" y="4522146"/>
            <a:ext cx="2852290" cy="251812"/>
          </a:xfrm>
          <a:prstGeom prst="rect">
            <a:avLst/>
          </a:prstGeom>
        </p:spPr>
        <p:txBody>
          <a:bodyPr anchor="t" rtlCol="false" tIns="0" lIns="0" bIns="0" rIns="0">
            <a:spAutoFit/>
          </a:bodyPr>
          <a:lstStyle/>
          <a:p>
            <a:pPr algn="l">
              <a:lnSpc>
                <a:spcPts val="1780"/>
              </a:lnSpc>
            </a:pPr>
            <a:r>
              <a:rPr lang="en-US" sz="1399">
                <a:solidFill>
                  <a:srgbClr val="E2E6E9"/>
                </a:solidFill>
                <a:latin typeface="Source Sans 3"/>
                <a:ea typeface="Source Sans 3"/>
                <a:cs typeface="Source Sans 3"/>
                <a:sym typeface="Source Sans 3"/>
              </a:rPr>
              <a:t>Russell 2000 (IWM)</a:t>
            </a:r>
          </a:p>
        </p:txBody>
      </p:sp>
      <p:sp>
        <p:nvSpPr>
          <p:cNvPr name="TextBox 27" id="27"/>
          <p:cNvSpPr txBox="true"/>
          <p:nvPr/>
        </p:nvSpPr>
        <p:spPr>
          <a:xfrm rot="0">
            <a:off x="4866237" y="4522146"/>
            <a:ext cx="1541259" cy="251812"/>
          </a:xfrm>
          <a:prstGeom prst="rect">
            <a:avLst/>
          </a:prstGeom>
        </p:spPr>
        <p:txBody>
          <a:bodyPr anchor="t" rtlCol="false" tIns="0" lIns="0" bIns="0" rIns="0">
            <a:spAutoFit/>
          </a:bodyPr>
          <a:lstStyle/>
          <a:p>
            <a:pPr algn="l">
              <a:lnSpc>
                <a:spcPts val="1780"/>
              </a:lnSpc>
            </a:pPr>
            <a:r>
              <a:rPr lang="en-US" sz="1399" b="true">
                <a:solidFill>
                  <a:srgbClr val="22C55E"/>
                </a:solidFill>
                <a:latin typeface="Source Sans 3 Bold"/>
                <a:ea typeface="Source Sans 3 Bold"/>
                <a:cs typeface="Source Sans 3 Bold"/>
                <a:sym typeface="Source Sans 3 Bold"/>
              </a:rPr>
              <a:t>UP</a:t>
            </a:r>
          </a:p>
        </p:txBody>
      </p:sp>
      <p:sp>
        <p:nvSpPr>
          <p:cNvPr name="TextBox 28" id="28"/>
          <p:cNvSpPr txBox="true"/>
          <p:nvPr/>
        </p:nvSpPr>
        <p:spPr>
          <a:xfrm rot="0">
            <a:off x="5882135" y="4493571"/>
            <a:ext cx="4448766" cy="299437"/>
          </a:xfrm>
          <a:prstGeom prst="rect">
            <a:avLst/>
          </a:prstGeom>
        </p:spPr>
        <p:txBody>
          <a:bodyPr anchor="t" rtlCol="false" tIns="0" lIns="0" bIns="0" rIns="0">
            <a:spAutoFit/>
          </a:bodyPr>
          <a:lstStyle/>
          <a:p>
            <a:pPr algn="l">
              <a:lnSpc>
                <a:spcPts val="1780"/>
              </a:lnSpc>
            </a:pPr>
            <a:r>
              <a:rPr lang="en-US" sz="1399">
                <a:solidFill>
                  <a:srgbClr val="E2E6E9"/>
                </a:solidFill>
                <a:latin typeface="Consolas"/>
                <a:ea typeface="Consolas"/>
                <a:cs typeface="Consolas"/>
                <a:sym typeface="Consolas"/>
              </a:rPr>
              <a:t>0.0% to +1.2%</a:t>
            </a:r>
          </a:p>
        </p:txBody>
      </p:sp>
      <p:sp>
        <p:nvSpPr>
          <p:cNvPr name="TextBox 29" id="29"/>
          <p:cNvSpPr txBox="true"/>
          <p:nvPr/>
        </p:nvSpPr>
        <p:spPr>
          <a:xfrm rot="0">
            <a:off x="2539308" y="4972202"/>
            <a:ext cx="2852290" cy="251812"/>
          </a:xfrm>
          <a:prstGeom prst="rect">
            <a:avLst/>
          </a:prstGeom>
        </p:spPr>
        <p:txBody>
          <a:bodyPr anchor="t" rtlCol="false" tIns="0" lIns="0" bIns="0" rIns="0">
            <a:spAutoFit/>
          </a:bodyPr>
          <a:lstStyle/>
          <a:p>
            <a:pPr algn="l">
              <a:lnSpc>
                <a:spcPts val="1780"/>
              </a:lnSpc>
            </a:pPr>
            <a:r>
              <a:rPr lang="en-US" sz="1399">
                <a:solidFill>
                  <a:srgbClr val="E2E6E9"/>
                </a:solidFill>
                <a:latin typeface="Source Sans 3"/>
                <a:ea typeface="Source Sans 3"/>
                <a:cs typeface="Source Sans 3"/>
                <a:sym typeface="Source Sans 3"/>
              </a:rPr>
              <a:t>10-Year Yield</a:t>
            </a:r>
          </a:p>
        </p:txBody>
      </p:sp>
      <p:sp>
        <p:nvSpPr>
          <p:cNvPr name="TextBox 30" id="30"/>
          <p:cNvSpPr txBox="true"/>
          <p:nvPr/>
        </p:nvSpPr>
        <p:spPr>
          <a:xfrm rot="0">
            <a:off x="4866237" y="4972202"/>
            <a:ext cx="1541259" cy="251812"/>
          </a:xfrm>
          <a:prstGeom prst="rect">
            <a:avLst/>
          </a:prstGeom>
        </p:spPr>
        <p:txBody>
          <a:bodyPr anchor="t" rtlCol="false" tIns="0" lIns="0" bIns="0" rIns="0">
            <a:spAutoFit/>
          </a:bodyPr>
          <a:lstStyle/>
          <a:p>
            <a:pPr algn="l">
              <a:lnSpc>
                <a:spcPts val="1780"/>
              </a:lnSpc>
            </a:pPr>
            <a:r>
              <a:rPr lang="en-US" sz="1399" b="true">
                <a:solidFill>
                  <a:srgbClr val="E2E6E9"/>
                </a:solidFill>
                <a:latin typeface="Source Sans 3 Bold"/>
                <a:ea typeface="Source Sans 3 Bold"/>
                <a:cs typeface="Source Sans 3 Bold"/>
                <a:sym typeface="Source Sans 3 Bold"/>
              </a:rPr>
              <a:t>FLAT</a:t>
            </a:r>
          </a:p>
        </p:txBody>
      </p:sp>
      <p:sp>
        <p:nvSpPr>
          <p:cNvPr name="TextBox 31" id="31"/>
          <p:cNvSpPr txBox="true"/>
          <p:nvPr/>
        </p:nvSpPr>
        <p:spPr>
          <a:xfrm rot="0">
            <a:off x="5882135" y="4943627"/>
            <a:ext cx="4448766" cy="299437"/>
          </a:xfrm>
          <a:prstGeom prst="rect">
            <a:avLst/>
          </a:prstGeom>
        </p:spPr>
        <p:txBody>
          <a:bodyPr anchor="t" rtlCol="false" tIns="0" lIns="0" bIns="0" rIns="0">
            <a:spAutoFit/>
          </a:bodyPr>
          <a:lstStyle/>
          <a:p>
            <a:pPr algn="l">
              <a:lnSpc>
                <a:spcPts val="1780"/>
              </a:lnSpc>
            </a:pPr>
            <a:r>
              <a:rPr lang="en-US" sz="1399">
                <a:solidFill>
                  <a:srgbClr val="E2E6E9"/>
                </a:solidFill>
                <a:latin typeface="Consolas"/>
                <a:ea typeface="Consolas"/>
                <a:cs typeface="Consolas"/>
                <a:sym typeface="Consolas"/>
              </a:rPr>
              <a:t>4.35% to 4.55%</a:t>
            </a:r>
          </a:p>
        </p:txBody>
      </p:sp>
      <p:sp>
        <p:nvSpPr>
          <p:cNvPr name="TextBox 32" id="32"/>
          <p:cNvSpPr txBox="true"/>
          <p:nvPr/>
        </p:nvSpPr>
        <p:spPr>
          <a:xfrm rot="0">
            <a:off x="2539308" y="5422259"/>
            <a:ext cx="2852290" cy="251812"/>
          </a:xfrm>
          <a:prstGeom prst="rect">
            <a:avLst/>
          </a:prstGeom>
        </p:spPr>
        <p:txBody>
          <a:bodyPr anchor="t" rtlCol="false" tIns="0" lIns="0" bIns="0" rIns="0">
            <a:spAutoFit/>
          </a:bodyPr>
          <a:lstStyle/>
          <a:p>
            <a:pPr algn="l">
              <a:lnSpc>
                <a:spcPts val="1780"/>
              </a:lnSpc>
            </a:pPr>
            <a:r>
              <a:rPr lang="en-US" sz="1399">
                <a:solidFill>
                  <a:srgbClr val="E2E6E9"/>
                </a:solidFill>
                <a:latin typeface="Source Sans 3"/>
                <a:ea typeface="Source Sans 3"/>
                <a:cs typeface="Source Sans 3"/>
                <a:sym typeface="Source Sans 3"/>
              </a:rPr>
              <a:t>WTI Crude Oil</a:t>
            </a:r>
          </a:p>
        </p:txBody>
      </p:sp>
      <p:sp>
        <p:nvSpPr>
          <p:cNvPr name="TextBox 33" id="33"/>
          <p:cNvSpPr txBox="true"/>
          <p:nvPr/>
        </p:nvSpPr>
        <p:spPr>
          <a:xfrm rot="0">
            <a:off x="4866237" y="5422259"/>
            <a:ext cx="1541259" cy="251812"/>
          </a:xfrm>
          <a:prstGeom prst="rect">
            <a:avLst/>
          </a:prstGeom>
        </p:spPr>
        <p:txBody>
          <a:bodyPr anchor="t" rtlCol="false" tIns="0" lIns="0" bIns="0" rIns="0">
            <a:spAutoFit/>
          </a:bodyPr>
          <a:lstStyle/>
          <a:p>
            <a:pPr algn="l">
              <a:lnSpc>
                <a:spcPts val="1780"/>
              </a:lnSpc>
            </a:pPr>
            <a:r>
              <a:rPr lang="en-US" sz="1399" b="true">
                <a:solidFill>
                  <a:srgbClr val="E2E6E9"/>
                </a:solidFill>
                <a:latin typeface="Source Sans 3 Bold"/>
                <a:ea typeface="Source Sans 3 Bold"/>
                <a:cs typeface="Source Sans 3 Bold"/>
                <a:sym typeface="Source Sans 3 Bold"/>
              </a:rPr>
              <a:t>FLAT</a:t>
            </a:r>
          </a:p>
        </p:txBody>
      </p:sp>
      <p:sp>
        <p:nvSpPr>
          <p:cNvPr name="TextBox 34" id="34"/>
          <p:cNvSpPr txBox="true"/>
          <p:nvPr/>
        </p:nvSpPr>
        <p:spPr>
          <a:xfrm rot="0">
            <a:off x="5882135" y="5393684"/>
            <a:ext cx="4448766" cy="299437"/>
          </a:xfrm>
          <a:prstGeom prst="rect">
            <a:avLst/>
          </a:prstGeom>
        </p:spPr>
        <p:txBody>
          <a:bodyPr anchor="t" rtlCol="false" tIns="0" lIns="0" bIns="0" rIns="0">
            <a:spAutoFit/>
          </a:bodyPr>
          <a:lstStyle/>
          <a:p>
            <a:pPr algn="l">
              <a:lnSpc>
                <a:spcPts val="1780"/>
              </a:lnSpc>
            </a:pPr>
            <a:r>
              <a:rPr lang="en-US" sz="1399">
                <a:solidFill>
                  <a:srgbClr val="E2E6E9"/>
                </a:solidFill>
                <a:latin typeface="Consolas"/>
                <a:ea typeface="Consolas"/>
                <a:cs typeface="Consolas"/>
                <a:sym typeface="Consolas"/>
              </a:rPr>
              <a:t>-3% to +3% (Iran Risk)</a:t>
            </a:r>
          </a:p>
        </p:txBody>
      </p:sp>
      <p:sp>
        <p:nvSpPr>
          <p:cNvPr name="TextBox 35" id="35"/>
          <p:cNvSpPr txBox="true"/>
          <p:nvPr/>
        </p:nvSpPr>
        <p:spPr>
          <a:xfrm rot="0">
            <a:off x="2339873" y="5932732"/>
            <a:ext cx="7275909" cy="978694"/>
          </a:xfrm>
          <a:prstGeom prst="rect">
            <a:avLst/>
          </a:prstGeom>
        </p:spPr>
        <p:txBody>
          <a:bodyPr anchor="t" rtlCol="false" tIns="0" lIns="0" bIns="0" rIns="0">
            <a:spAutoFit/>
          </a:bodyPr>
          <a:lstStyle/>
          <a:p>
            <a:pPr algn="l">
              <a:lnSpc>
                <a:spcPts val="1780"/>
              </a:lnSpc>
            </a:pPr>
            <a:r>
              <a:rPr lang="en-US" sz="1399">
                <a:solidFill>
                  <a:srgbClr val="E2E6E9"/>
                </a:solidFill>
                <a:latin typeface="Source Sans 3"/>
                <a:ea typeface="Source Sans 3"/>
                <a:cs typeface="Source Sans 3"/>
                <a:sym typeface="Source Sans 3"/>
              </a:rPr>
              <a:t>Equity index targets reflect a </a:t>
            </a:r>
            <a:r>
              <a:rPr lang="en-US" sz="1399" b="true">
                <a:solidFill>
                  <a:srgbClr val="E2E6E9"/>
                </a:solidFill>
                <a:latin typeface="Source Sans 3 Bold"/>
                <a:ea typeface="Source Sans 3 Bold"/>
                <a:cs typeface="Source Sans 3 Bold"/>
                <a:sym typeface="Source Sans 3 Bold"/>
              </a:rPr>
              <a:t>constrained but positive</a:t>
            </a:r>
            <a:r>
              <a:rPr lang="en-US" sz="1399">
                <a:solidFill>
                  <a:srgbClr val="E2E6E9"/>
                </a:solidFill>
                <a:latin typeface="Source Sans 3"/>
                <a:ea typeface="Source Sans 3"/>
                <a:cs typeface="Source Sans 3"/>
                <a:sym typeface="Source Sans 3"/>
              </a:rPr>
              <a:t> directional bias. The Nasdaq leads on structural AI earnings momentum; Russell upside is capped by yield sensitivity and small-cap breadth weakness. Crude oil carries elevated geopolitical optionality — the Iran risk premium makes a directional call unreliable.</a:t>
            </a:r>
          </a:p>
        </p:txBody>
      </p:sp>
      <p:grpSp>
        <p:nvGrpSpPr>
          <p:cNvPr name="Group 36" id="36"/>
          <p:cNvGrpSpPr/>
          <p:nvPr/>
        </p:nvGrpSpPr>
        <p:grpSpPr>
          <a:xfrm rot="0">
            <a:off x="9951691" y="2548528"/>
            <a:ext cx="6142434" cy="6472533"/>
            <a:chOff x="0" y="0"/>
            <a:chExt cx="8189912" cy="8630044"/>
          </a:xfrm>
        </p:grpSpPr>
        <p:sp>
          <p:nvSpPr>
            <p:cNvPr name="Freeform 37" id="37"/>
            <p:cNvSpPr/>
            <p:nvPr/>
          </p:nvSpPr>
          <p:spPr>
            <a:xfrm flipH="false" flipV="false" rot="0">
              <a:off x="0" y="0"/>
              <a:ext cx="8189849" cy="8630031"/>
            </a:xfrm>
            <a:custGeom>
              <a:avLst/>
              <a:gdLst/>
              <a:ahLst/>
              <a:cxnLst/>
              <a:rect r="r" b="b" t="t" l="l"/>
              <a:pathLst>
                <a:path h="8630031" w="8189849">
                  <a:moveTo>
                    <a:pt x="0" y="37973"/>
                  </a:moveTo>
                  <a:cubicBezTo>
                    <a:pt x="0" y="17018"/>
                    <a:pt x="17018" y="0"/>
                    <a:pt x="37973" y="0"/>
                  </a:cubicBezTo>
                  <a:lnTo>
                    <a:pt x="8151876" y="0"/>
                  </a:lnTo>
                  <a:cubicBezTo>
                    <a:pt x="8172831" y="0"/>
                    <a:pt x="8189849" y="17018"/>
                    <a:pt x="8189849" y="37973"/>
                  </a:cubicBezTo>
                  <a:lnTo>
                    <a:pt x="8189849" y="8592058"/>
                  </a:lnTo>
                  <a:cubicBezTo>
                    <a:pt x="8189849" y="8613013"/>
                    <a:pt x="8172831" y="8630031"/>
                    <a:pt x="8151876" y="8630031"/>
                  </a:cubicBezTo>
                  <a:lnTo>
                    <a:pt x="37973" y="8630031"/>
                  </a:lnTo>
                  <a:cubicBezTo>
                    <a:pt x="17018" y="8630031"/>
                    <a:pt x="0" y="8613013"/>
                    <a:pt x="0" y="8592058"/>
                  </a:cubicBezTo>
                  <a:close/>
                </a:path>
              </a:pathLst>
            </a:custGeom>
            <a:solidFill>
              <a:srgbClr val="1D1F22"/>
            </a:solidFill>
          </p:spPr>
        </p:sp>
      </p:grpSp>
      <p:sp>
        <p:nvSpPr>
          <p:cNvPr name="TextBox 38" id="38"/>
          <p:cNvSpPr txBox="true"/>
          <p:nvPr/>
        </p:nvSpPr>
        <p:spPr>
          <a:xfrm rot="0">
            <a:off x="10141448" y="2681878"/>
            <a:ext cx="3071365" cy="269529"/>
          </a:xfrm>
          <a:prstGeom prst="rect">
            <a:avLst/>
          </a:prstGeom>
        </p:spPr>
        <p:txBody>
          <a:bodyPr anchor="t" rtlCol="false" tIns="0" lIns="0" bIns="0" rIns="0">
            <a:spAutoFit/>
          </a:bodyPr>
          <a:lstStyle/>
          <a:p>
            <a:pPr algn="l">
              <a:lnSpc>
                <a:spcPts val="1996"/>
              </a:lnSpc>
            </a:pPr>
            <a:r>
              <a:rPr lang="en-US" sz="1600" b="true">
                <a:solidFill>
                  <a:srgbClr val="FFFFFF"/>
                </a:solidFill>
                <a:latin typeface="Montserrat Bold"/>
                <a:ea typeface="Montserrat Bold"/>
                <a:cs typeface="Montserrat Bold"/>
                <a:sym typeface="Montserrat Bold"/>
              </a:rPr>
              <a:t>Sector Watch</a:t>
            </a:r>
          </a:p>
        </p:txBody>
      </p:sp>
      <p:sp>
        <p:nvSpPr>
          <p:cNvPr name="Freeform 39" id="39" descr="preencoded.png"/>
          <p:cNvSpPr/>
          <p:nvPr/>
        </p:nvSpPr>
        <p:spPr>
          <a:xfrm flipH="false" flipV="false" rot="0">
            <a:off x="10122398" y="3101426"/>
            <a:ext cx="2833840" cy="3028350"/>
          </a:xfrm>
          <a:custGeom>
            <a:avLst/>
            <a:gdLst/>
            <a:ahLst/>
            <a:cxnLst/>
            <a:rect r="r" b="b" t="t" l="l"/>
            <a:pathLst>
              <a:path h="3028350" w="2833840">
                <a:moveTo>
                  <a:pt x="0" y="0"/>
                </a:moveTo>
                <a:lnTo>
                  <a:pt x="2833840" y="0"/>
                </a:lnTo>
                <a:lnTo>
                  <a:pt x="2833840" y="3028350"/>
                </a:lnTo>
                <a:lnTo>
                  <a:pt x="0" y="3028350"/>
                </a:lnTo>
                <a:lnTo>
                  <a:pt x="0" y="0"/>
                </a:lnTo>
                <a:close/>
              </a:path>
            </a:pathLst>
          </a:custGeom>
          <a:blipFill>
            <a:blip r:embed="rId3">
              <a:extLst>
                <a:ext uri="{96DAC541-7B7A-43D3-8B79-37D633B846F1}">
                  <asvg:svgBlip xmlns:asvg="http://schemas.microsoft.com/office/drawing/2016/SVG/main" r:embed="rId4"/>
                </a:ext>
              </a:extLst>
            </a:blip>
            <a:stretch>
              <a:fillRect l="-71" t="0" r="-71" b="0"/>
            </a:stretch>
          </a:blipFill>
        </p:spPr>
      </p:sp>
      <p:sp>
        <p:nvSpPr>
          <p:cNvPr name="TextBox 40" id="40"/>
          <p:cNvSpPr txBox="true"/>
          <p:nvPr/>
        </p:nvSpPr>
        <p:spPr>
          <a:xfrm rot="0">
            <a:off x="10407406" y="3310233"/>
            <a:ext cx="2340026" cy="539058"/>
          </a:xfrm>
          <a:prstGeom prst="rect">
            <a:avLst/>
          </a:prstGeom>
        </p:spPr>
        <p:txBody>
          <a:bodyPr anchor="t" rtlCol="false" tIns="0" lIns="0" bIns="0" rIns="0">
            <a:spAutoFit/>
          </a:bodyPr>
          <a:lstStyle/>
          <a:p>
            <a:pPr algn="l">
              <a:lnSpc>
                <a:spcPts val="1996"/>
              </a:lnSpc>
            </a:pPr>
            <a:r>
              <a:rPr lang="en-US" sz="1600" b="true">
                <a:solidFill>
                  <a:srgbClr val="22C55E"/>
                </a:solidFill>
                <a:latin typeface="Montserrat Bold"/>
                <a:ea typeface="Montserrat Bold"/>
                <a:cs typeface="Montserrat Bold"/>
                <a:sym typeface="Montserrat Bold"/>
              </a:rPr>
              <a:t>▲ LEADING: Technology (XLK)</a:t>
            </a:r>
          </a:p>
        </p:txBody>
      </p:sp>
      <p:sp>
        <p:nvSpPr>
          <p:cNvPr name="TextBox 41" id="41"/>
          <p:cNvSpPr txBox="true"/>
          <p:nvPr/>
        </p:nvSpPr>
        <p:spPr>
          <a:xfrm rot="0">
            <a:off x="10407406" y="3973116"/>
            <a:ext cx="2340026" cy="1947863"/>
          </a:xfrm>
          <a:prstGeom prst="rect">
            <a:avLst/>
          </a:prstGeom>
        </p:spPr>
        <p:txBody>
          <a:bodyPr anchor="t" rtlCol="false" tIns="0" lIns="0" bIns="0" rIns="0">
            <a:spAutoFit/>
          </a:bodyPr>
          <a:lstStyle/>
          <a:p>
            <a:pPr algn="l">
              <a:lnSpc>
                <a:spcPts val="1780"/>
              </a:lnSpc>
            </a:pPr>
            <a:r>
              <a:rPr lang="en-US" sz="1399">
                <a:solidFill>
                  <a:srgbClr val="E2E6E9"/>
                </a:solidFill>
                <a:latin typeface="Source Sans 3"/>
                <a:ea typeface="Source Sans 3"/>
                <a:cs typeface="Source Sans 3"/>
                <a:sym typeface="Source Sans 3"/>
              </a:rPr>
              <a:t>Seasonal strength aligns with AI earnings momentum. Structural bid from large-cap tech continues to dominate index-level performance and provides the primary upside driver for SPX and NDX targets this week.</a:t>
            </a:r>
          </a:p>
        </p:txBody>
      </p:sp>
      <p:sp>
        <p:nvSpPr>
          <p:cNvPr name="Freeform 42" id="42" descr="preencoded.png"/>
          <p:cNvSpPr/>
          <p:nvPr/>
        </p:nvSpPr>
        <p:spPr>
          <a:xfrm flipH="false" flipV="false" rot="0">
            <a:off x="13070529" y="3101426"/>
            <a:ext cx="2833840" cy="3028350"/>
          </a:xfrm>
          <a:custGeom>
            <a:avLst/>
            <a:gdLst/>
            <a:ahLst/>
            <a:cxnLst/>
            <a:rect r="r" b="b" t="t" l="l"/>
            <a:pathLst>
              <a:path h="3028350" w="2833840">
                <a:moveTo>
                  <a:pt x="0" y="0"/>
                </a:moveTo>
                <a:lnTo>
                  <a:pt x="2833840" y="0"/>
                </a:lnTo>
                <a:lnTo>
                  <a:pt x="2833840" y="3028350"/>
                </a:lnTo>
                <a:lnTo>
                  <a:pt x="0" y="3028350"/>
                </a:lnTo>
                <a:lnTo>
                  <a:pt x="0" y="0"/>
                </a:lnTo>
                <a:close/>
              </a:path>
            </a:pathLst>
          </a:custGeom>
          <a:blipFill>
            <a:blip r:embed="rId3">
              <a:extLst>
                <a:ext uri="{96DAC541-7B7A-43D3-8B79-37D633B846F1}">
                  <asvg:svgBlip xmlns:asvg="http://schemas.microsoft.com/office/drawing/2016/SVG/main" r:embed="rId4"/>
                </a:ext>
              </a:extLst>
            </a:blip>
            <a:stretch>
              <a:fillRect l="-71" t="0" r="-71" b="0"/>
            </a:stretch>
          </a:blipFill>
        </p:spPr>
      </p:sp>
      <p:sp>
        <p:nvSpPr>
          <p:cNvPr name="TextBox 43" id="43"/>
          <p:cNvSpPr txBox="true"/>
          <p:nvPr/>
        </p:nvSpPr>
        <p:spPr>
          <a:xfrm rot="0">
            <a:off x="13355536" y="3310233"/>
            <a:ext cx="2340026" cy="539058"/>
          </a:xfrm>
          <a:prstGeom prst="rect">
            <a:avLst/>
          </a:prstGeom>
        </p:spPr>
        <p:txBody>
          <a:bodyPr anchor="t" rtlCol="false" tIns="0" lIns="0" bIns="0" rIns="0">
            <a:spAutoFit/>
          </a:bodyPr>
          <a:lstStyle/>
          <a:p>
            <a:pPr algn="l">
              <a:lnSpc>
                <a:spcPts val="1996"/>
              </a:lnSpc>
            </a:pPr>
            <a:r>
              <a:rPr lang="en-US" sz="1600" b="true">
                <a:solidFill>
                  <a:srgbClr val="E2E6E9"/>
                </a:solidFill>
                <a:latin typeface="Montserrat Bold"/>
                <a:ea typeface="Montserrat Bold"/>
                <a:cs typeface="Montserrat Bold"/>
                <a:sym typeface="Montserrat Bold"/>
              </a:rPr>
              <a:t>▼ LAGGING: Financials (XLF)</a:t>
            </a:r>
          </a:p>
        </p:txBody>
      </p:sp>
      <p:sp>
        <p:nvSpPr>
          <p:cNvPr name="TextBox 44" id="44"/>
          <p:cNvSpPr txBox="true"/>
          <p:nvPr/>
        </p:nvSpPr>
        <p:spPr>
          <a:xfrm rot="0">
            <a:off x="13355536" y="3973116"/>
            <a:ext cx="2340026" cy="1947863"/>
          </a:xfrm>
          <a:prstGeom prst="rect">
            <a:avLst/>
          </a:prstGeom>
        </p:spPr>
        <p:txBody>
          <a:bodyPr anchor="t" rtlCol="false" tIns="0" lIns="0" bIns="0" rIns="0">
            <a:spAutoFit/>
          </a:bodyPr>
          <a:lstStyle/>
          <a:p>
            <a:pPr algn="l">
              <a:lnSpc>
                <a:spcPts val="1780"/>
              </a:lnSpc>
            </a:pPr>
            <a:r>
              <a:rPr lang="en-US" sz="1399">
                <a:solidFill>
                  <a:srgbClr val="E2E6E9"/>
                </a:solidFill>
                <a:latin typeface="Source Sans 3"/>
                <a:ea typeface="Source Sans 3"/>
                <a:cs typeface="Source Sans 3"/>
                <a:sym typeface="Source Sans 3"/>
              </a:rPr>
              <a:t>Yield pressure compresses net interest margin expectations. May–July seasonal weakness adds a systematic headwind. Avoid overweighting until yield curve dynamics improve materially.</a:t>
            </a:r>
          </a:p>
        </p:txBody>
      </p:sp>
      <p:sp>
        <p:nvSpPr>
          <p:cNvPr name="TextBox 45" id="45"/>
          <p:cNvSpPr txBox="true"/>
          <p:nvPr/>
        </p:nvSpPr>
        <p:spPr>
          <a:xfrm rot="0">
            <a:off x="10141448" y="6279804"/>
            <a:ext cx="3410245" cy="269529"/>
          </a:xfrm>
          <a:prstGeom prst="rect">
            <a:avLst/>
          </a:prstGeom>
        </p:spPr>
        <p:txBody>
          <a:bodyPr anchor="t" rtlCol="false" tIns="0" lIns="0" bIns="0" rIns="0">
            <a:spAutoFit/>
          </a:bodyPr>
          <a:lstStyle/>
          <a:p>
            <a:pPr algn="l">
              <a:lnSpc>
                <a:spcPts val="1996"/>
              </a:lnSpc>
            </a:pPr>
            <a:r>
              <a:rPr lang="en-US" sz="1600" b="true">
                <a:solidFill>
                  <a:srgbClr val="FFFFFF"/>
                </a:solidFill>
                <a:latin typeface="Montserrat Bold"/>
                <a:ea typeface="Montserrat Bold"/>
                <a:cs typeface="Montserrat Bold"/>
                <a:sym typeface="Montserrat Bold"/>
              </a:rPr>
              <a:t>Invalidation Red Lines</a:t>
            </a:r>
          </a:p>
        </p:txBody>
      </p:sp>
      <p:grpSp>
        <p:nvGrpSpPr>
          <p:cNvPr name="Group 46" id="46"/>
          <p:cNvGrpSpPr/>
          <p:nvPr/>
        </p:nvGrpSpPr>
        <p:grpSpPr>
          <a:xfrm rot="0">
            <a:off x="10141448" y="6699352"/>
            <a:ext cx="5762920" cy="899217"/>
            <a:chOff x="0" y="0"/>
            <a:chExt cx="7683894" cy="1198956"/>
          </a:xfrm>
        </p:grpSpPr>
        <p:sp>
          <p:nvSpPr>
            <p:cNvPr name="Freeform 47" id="47"/>
            <p:cNvSpPr/>
            <p:nvPr/>
          </p:nvSpPr>
          <p:spPr>
            <a:xfrm flipH="false" flipV="false" rot="0">
              <a:off x="0" y="0"/>
              <a:ext cx="7683881" cy="1199007"/>
            </a:xfrm>
            <a:custGeom>
              <a:avLst/>
              <a:gdLst/>
              <a:ahLst/>
              <a:cxnLst/>
              <a:rect r="r" b="b" t="t" l="l"/>
              <a:pathLst>
                <a:path h="1199007" w="7683881">
                  <a:moveTo>
                    <a:pt x="0" y="37973"/>
                  </a:moveTo>
                  <a:cubicBezTo>
                    <a:pt x="0" y="17018"/>
                    <a:pt x="17018" y="0"/>
                    <a:pt x="37973" y="0"/>
                  </a:cubicBezTo>
                  <a:lnTo>
                    <a:pt x="7645908" y="0"/>
                  </a:lnTo>
                  <a:cubicBezTo>
                    <a:pt x="7666863" y="0"/>
                    <a:pt x="7683881" y="17018"/>
                    <a:pt x="7683881" y="37973"/>
                  </a:cubicBezTo>
                  <a:lnTo>
                    <a:pt x="7683881" y="1161034"/>
                  </a:lnTo>
                  <a:cubicBezTo>
                    <a:pt x="7683881" y="1181989"/>
                    <a:pt x="7666863" y="1199007"/>
                    <a:pt x="7645908" y="1199007"/>
                  </a:cubicBezTo>
                  <a:lnTo>
                    <a:pt x="37973" y="1199007"/>
                  </a:lnTo>
                  <a:cubicBezTo>
                    <a:pt x="17018" y="1199007"/>
                    <a:pt x="0" y="1181989"/>
                    <a:pt x="0" y="1161034"/>
                  </a:cubicBezTo>
                  <a:close/>
                </a:path>
              </a:pathLst>
            </a:custGeom>
            <a:solidFill>
              <a:srgbClr val="450707"/>
            </a:solidFill>
          </p:spPr>
        </p:sp>
      </p:grpSp>
      <p:grpSp>
        <p:nvGrpSpPr>
          <p:cNvPr name="Group 48" id="48"/>
          <p:cNvGrpSpPr/>
          <p:nvPr/>
        </p:nvGrpSpPr>
        <p:grpSpPr>
          <a:xfrm rot="0">
            <a:off x="10331206" y="6941791"/>
            <a:ext cx="237230" cy="189757"/>
            <a:chOff x="0" y="0"/>
            <a:chExt cx="316306" cy="253009"/>
          </a:xfrm>
        </p:grpSpPr>
        <p:sp>
          <p:nvSpPr>
            <p:cNvPr name="Freeform 49" id="49" descr="preencoded.png"/>
            <p:cNvSpPr/>
            <p:nvPr/>
          </p:nvSpPr>
          <p:spPr>
            <a:xfrm flipH="false" flipV="false" rot="0">
              <a:off x="0" y="0"/>
              <a:ext cx="316357" cy="252984"/>
            </a:xfrm>
            <a:custGeom>
              <a:avLst/>
              <a:gdLst/>
              <a:ahLst/>
              <a:cxnLst/>
              <a:rect r="r" b="b" t="t" l="l"/>
              <a:pathLst>
                <a:path h="252984" w="316357">
                  <a:moveTo>
                    <a:pt x="0" y="0"/>
                  </a:moveTo>
                  <a:lnTo>
                    <a:pt x="316357" y="0"/>
                  </a:lnTo>
                  <a:lnTo>
                    <a:pt x="316357" y="252984"/>
                  </a:lnTo>
                  <a:lnTo>
                    <a:pt x="0" y="252984"/>
                  </a:lnTo>
                  <a:lnTo>
                    <a:pt x="0" y="0"/>
                  </a:lnTo>
                  <a:close/>
                </a:path>
              </a:pathLst>
            </a:custGeom>
            <a:blipFill>
              <a:blip r:embed="rId5"/>
              <a:stretch>
                <a:fillRect l="0" t="-10" r="16" b="-15"/>
              </a:stretch>
            </a:blipFill>
          </p:spPr>
        </p:sp>
      </p:grpSp>
      <p:sp>
        <p:nvSpPr>
          <p:cNvPr name="TextBox 50" id="50"/>
          <p:cNvSpPr txBox="true"/>
          <p:nvPr/>
        </p:nvSpPr>
        <p:spPr>
          <a:xfrm rot="0">
            <a:off x="10758192" y="6870497"/>
            <a:ext cx="4956419" cy="513159"/>
          </a:xfrm>
          <a:prstGeom prst="rect">
            <a:avLst/>
          </a:prstGeom>
        </p:spPr>
        <p:txBody>
          <a:bodyPr anchor="t" rtlCol="false" tIns="0" lIns="0" bIns="0" rIns="0">
            <a:spAutoFit/>
          </a:bodyPr>
          <a:lstStyle/>
          <a:p>
            <a:pPr algn="l">
              <a:lnSpc>
                <a:spcPts val="1780"/>
              </a:lnSpc>
            </a:pPr>
            <a:r>
              <a:rPr lang="en-US" sz="1399" b="true">
                <a:solidFill>
                  <a:srgbClr val="FFFFFF"/>
                </a:solidFill>
                <a:latin typeface="Source Sans 3 Bold"/>
                <a:ea typeface="Source Sans 3 Bold"/>
                <a:cs typeface="Source Sans 3 Bold"/>
                <a:sym typeface="Source Sans 3 Bold"/>
              </a:rPr>
              <a:t>Red Line 1:</a:t>
            </a:r>
            <a:r>
              <a:rPr lang="en-US" sz="1399">
                <a:solidFill>
                  <a:srgbClr val="FFFFFF"/>
                </a:solidFill>
                <a:latin typeface="Source Sans 3"/>
                <a:ea typeface="Source Sans 3"/>
                <a:cs typeface="Source Sans 3"/>
                <a:sym typeface="Source Sans 3"/>
              </a:rPr>
              <a:t> SPX closes below 7,350 — triggers 21 EMA and primary trendline failure. Full thesis invalidation.</a:t>
            </a:r>
          </a:p>
        </p:txBody>
      </p:sp>
      <p:grpSp>
        <p:nvGrpSpPr>
          <p:cNvPr name="Group 51" id="51"/>
          <p:cNvGrpSpPr/>
          <p:nvPr/>
        </p:nvGrpSpPr>
        <p:grpSpPr>
          <a:xfrm rot="0">
            <a:off x="10141448" y="7748588"/>
            <a:ext cx="5762920" cy="1122464"/>
            <a:chOff x="0" y="0"/>
            <a:chExt cx="7683894" cy="1496619"/>
          </a:xfrm>
        </p:grpSpPr>
        <p:sp>
          <p:nvSpPr>
            <p:cNvPr name="Freeform 52" id="52"/>
            <p:cNvSpPr/>
            <p:nvPr/>
          </p:nvSpPr>
          <p:spPr>
            <a:xfrm flipH="false" flipV="false" rot="0">
              <a:off x="0" y="0"/>
              <a:ext cx="7683881" cy="1496568"/>
            </a:xfrm>
            <a:custGeom>
              <a:avLst/>
              <a:gdLst/>
              <a:ahLst/>
              <a:cxnLst/>
              <a:rect r="r" b="b" t="t" l="l"/>
              <a:pathLst>
                <a:path h="1496568" w="7683881">
                  <a:moveTo>
                    <a:pt x="0" y="37973"/>
                  </a:moveTo>
                  <a:cubicBezTo>
                    <a:pt x="0" y="17018"/>
                    <a:pt x="17018" y="0"/>
                    <a:pt x="37973" y="0"/>
                  </a:cubicBezTo>
                  <a:lnTo>
                    <a:pt x="7645908" y="0"/>
                  </a:lnTo>
                  <a:cubicBezTo>
                    <a:pt x="7666863" y="0"/>
                    <a:pt x="7683881" y="17018"/>
                    <a:pt x="7683881" y="37973"/>
                  </a:cubicBezTo>
                  <a:lnTo>
                    <a:pt x="7683881" y="1458595"/>
                  </a:lnTo>
                  <a:cubicBezTo>
                    <a:pt x="7683881" y="1479550"/>
                    <a:pt x="7666863" y="1496568"/>
                    <a:pt x="7645908" y="1496568"/>
                  </a:cubicBezTo>
                  <a:lnTo>
                    <a:pt x="37973" y="1496568"/>
                  </a:lnTo>
                  <a:cubicBezTo>
                    <a:pt x="17018" y="1496568"/>
                    <a:pt x="0" y="1479550"/>
                    <a:pt x="0" y="1458595"/>
                  </a:cubicBezTo>
                  <a:close/>
                </a:path>
              </a:pathLst>
            </a:custGeom>
            <a:solidFill>
              <a:srgbClr val="450707"/>
            </a:solidFill>
          </p:spPr>
        </p:sp>
      </p:grpSp>
      <p:grpSp>
        <p:nvGrpSpPr>
          <p:cNvPr name="Group 53" id="53"/>
          <p:cNvGrpSpPr/>
          <p:nvPr/>
        </p:nvGrpSpPr>
        <p:grpSpPr>
          <a:xfrm rot="0">
            <a:off x="10331206" y="7991027"/>
            <a:ext cx="237230" cy="189757"/>
            <a:chOff x="0" y="0"/>
            <a:chExt cx="316306" cy="253009"/>
          </a:xfrm>
        </p:grpSpPr>
        <p:sp>
          <p:nvSpPr>
            <p:cNvPr name="Freeform 54" id="54" descr="preencoded.png"/>
            <p:cNvSpPr/>
            <p:nvPr/>
          </p:nvSpPr>
          <p:spPr>
            <a:xfrm flipH="false" flipV="false" rot="0">
              <a:off x="0" y="0"/>
              <a:ext cx="316357" cy="252984"/>
            </a:xfrm>
            <a:custGeom>
              <a:avLst/>
              <a:gdLst/>
              <a:ahLst/>
              <a:cxnLst/>
              <a:rect r="r" b="b" t="t" l="l"/>
              <a:pathLst>
                <a:path h="252984" w="316357">
                  <a:moveTo>
                    <a:pt x="0" y="0"/>
                  </a:moveTo>
                  <a:lnTo>
                    <a:pt x="316357" y="0"/>
                  </a:lnTo>
                  <a:lnTo>
                    <a:pt x="316357" y="252984"/>
                  </a:lnTo>
                  <a:lnTo>
                    <a:pt x="0" y="252984"/>
                  </a:lnTo>
                  <a:lnTo>
                    <a:pt x="0" y="0"/>
                  </a:lnTo>
                  <a:close/>
                </a:path>
              </a:pathLst>
            </a:custGeom>
            <a:blipFill>
              <a:blip r:embed="rId5"/>
              <a:stretch>
                <a:fillRect l="0" t="-10" r="16" b="-15"/>
              </a:stretch>
            </a:blipFill>
          </p:spPr>
        </p:sp>
      </p:grpSp>
      <p:sp>
        <p:nvSpPr>
          <p:cNvPr name="TextBox 55" id="55"/>
          <p:cNvSpPr txBox="true"/>
          <p:nvPr/>
        </p:nvSpPr>
        <p:spPr>
          <a:xfrm rot="0">
            <a:off x="10758192" y="7919742"/>
            <a:ext cx="4956419" cy="736397"/>
          </a:xfrm>
          <a:prstGeom prst="rect">
            <a:avLst/>
          </a:prstGeom>
        </p:spPr>
        <p:txBody>
          <a:bodyPr anchor="t" rtlCol="false" tIns="0" lIns="0" bIns="0" rIns="0">
            <a:spAutoFit/>
          </a:bodyPr>
          <a:lstStyle/>
          <a:p>
            <a:pPr algn="l">
              <a:lnSpc>
                <a:spcPts val="1780"/>
              </a:lnSpc>
            </a:pPr>
            <a:r>
              <a:rPr lang="en-US" sz="1399" b="true">
                <a:solidFill>
                  <a:srgbClr val="FFFFFF"/>
                </a:solidFill>
                <a:latin typeface="Source Sans 3 Bold"/>
                <a:ea typeface="Source Sans 3 Bold"/>
                <a:cs typeface="Source Sans 3 Bold"/>
                <a:sym typeface="Source Sans 3 Bold"/>
              </a:rPr>
              <a:t>Red Line 2:</a:t>
            </a:r>
            <a:r>
              <a:rPr lang="en-US" sz="1399">
                <a:solidFill>
                  <a:srgbClr val="FFFFFF"/>
                </a:solidFill>
                <a:latin typeface="Source Sans 3"/>
                <a:ea typeface="Source Sans 3"/>
                <a:cs typeface="Source Sans 3"/>
                <a:sym typeface="Source Sans 3"/>
              </a:rPr>
              <a:t> NFP significantly beats consensus — violent Treasury yield spike reshapes Fed rate expectations, collapsing the macro tailwind underpinning all index targets.</a:t>
            </a:r>
          </a:p>
        </p:txBody>
      </p:sp>
      <p:sp>
        <p:nvSpPr>
          <p:cNvPr name="TextBox 56" id="56"/>
          <p:cNvSpPr txBox="true"/>
          <p:nvPr/>
        </p:nvSpPr>
        <p:spPr>
          <a:xfrm rot="0">
            <a:off x="2339873" y="9161564"/>
            <a:ext cx="13608101" cy="494109"/>
          </a:xfrm>
          <a:prstGeom prst="rect">
            <a:avLst/>
          </a:prstGeom>
        </p:spPr>
        <p:txBody>
          <a:bodyPr anchor="t" rtlCol="false" tIns="0" lIns="0" bIns="0" rIns="0">
            <a:spAutoFit/>
          </a:bodyPr>
          <a:lstStyle/>
          <a:p>
            <a:pPr algn="l">
              <a:lnSpc>
                <a:spcPts val="1780"/>
              </a:lnSpc>
            </a:pPr>
            <a:r>
              <a:rPr lang="en-US" sz="1399">
                <a:solidFill>
                  <a:srgbClr val="E2E6E9"/>
                </a:solidFill>
                <a:latin typeface="Source Sans 3"/>
                <a:ea typeface="Source Sans 3"/>
                <a:cs typeface="Source Sans 3"/>
                <a:sym typeface="Source Sans 3"/>
              </a:rPr>
              <a:t>The Neutral-Bullish thesis is </a:t>
            </a:r>
            <a:r>
              <a:rPr lang="en-US" sz="1399" b="true">
                <a:solidFill>
                  <a:srgbClr val="E2E6E9"/>
                </a:solidFill>
                <a:latin typeface="Source Sans 3 Bold"/>
                <a:ea typeface="Source Sans 3 Bold"/>
                <a:cs typeface="Source Sans 3 Bold"/>
                <a:sym typeface="Source Sans 3 Bold"/>
              </a:rPr>
              <a:t>strictly conditional</a:t>
            </a:r>
            <a:r>
              <a:rPr lang="en-US" sz="1399">
                <a:solidFill>
                  <a:srgbClr val="E2E6E9"/>
                </a:solidFill>
                <a:latin typeface="Source Sans 3"/>
                <a:ea typeface="Source Sans 3"/>
                <a:cs typeface="Source Sans 3"/>
                <a:sym typeface="Source Sans 3"/>
              </a:rPr>
              <a:t> on the two red lines holding. A breach of either threshold — particularly a hot NFP print on Friday — would invalidate the week's directional call entirely and signal an immediate reassessment of positioning across all listed instruments.</a:t>
            </a:r>
          </a:p>
        </p:txBody>
      </p:sp>
      <p:sp>
        <p:nvSpPr>
          <p:cNvPr name="TextBox 57" id="57"/>
          <p:cNvSpPr txBox="true"/>
          <p:nvPr/>
        </p:nvSpPr>
        <p:spPr>
          <a:xfrm rot="0">
            <a:off x="328353" y="198611"/>
            <a:ext cx="348655" cy="353060"/>
          </a:xfrm>
          <a:prstGeom prst="rect">
            <a:avLst/>
          </a:prstGeom>
        </p:spPr>
        <p:txBody>
          <a:bodyPr anchor="t" rtlCol="false" tIns="0" lIns="0" bIns="0" rIns="0">
            <a:spAutoFit/>
          </a:bodyPr>
          <a:lstStyle/>
          <a:p>
            <a:pPr algn="ctr">
              <a:lnSpc>
                <a:spcPts val="2859"/>
              </a:lnSpc>
              <a:spcBef>
                <a:spcPct val="0"/>
              </a:spcBef>
            </a:pPr>
            <a:r>
              <a:rPr lang="en-US" b="true" sz="2199" spc="-65">
                <a:solidFill>
                  <a:srgbClr val="FFFFFF"/>
                </a:solidFill>
                <a:latin typeface="Muli Ultra-Bold"/>
                <a:ea typeface="Muli Ultra-Bold"/>
                <a:cs typeface="Muli Ultra-Bold"/>
                <a:sym typeface="Muli Ultra-Bold"/>
              </a:rPr>
              <a:t>R7</a:t>
            </a:r>
          </a:p>
        </p:txBody>
      </p:sp>
      <p:sp>
        <p:nvSpPr>
          <p:cNvPr name="TextBox 58" id="58"/>
          <p:cNvSpPr txBox="true"/>
          <p:nvPr/>
        </p:nvSpPr>
        <p:spPr>
          <a:xfrm rot="0">
            <a:off x="120935" y="9865223"/>
            <a:ext cx="18046131" cy="332842"/>
          </a:xfrm>
          <a:prstGeom prst="rect">
            <a:avLst/>
          </a:prstGeom>
        </p:spPr>
        <p:txBody>
          <a:bodyPr anchor="t" rtlCol="false" tIns="0" lIns="0" bIns="0" rIns="0">
            <a:spAutoFit/>
          </a:bodyPr>
          <a:lstStyle/>
          <a:p>
            <a:pPr algn="l">
              <a:lnSpc>
                <a:spcPts val="1399"/>
              </a:lnSpc>
            </a:pPr>
            <a:r>
              <a:rPr lang="en-US" sz="1100">
                <a:solidFill>
                  <a:srgbClr val="E2E6E9"/>
                </a:solidFill>
                <a:latin typeface="Source Sans 3"/>
                <a:ea typeface="Source Sans 3"/>
                <a:cs typeface="Source Sans 3"/>
                <a:sym typeface="Source Sans 3"/>
              </a:rPr>
              <a:t>To conclude our Sprint, this dashboard repre</a:t>
            </a:r>
            <a:r>
              <a:rPr lang="en-US" sz="1100">
                <a:solidFill>
                  <a:srgbClr val="E2E6E9"/>
                </a:solidFill>
                <a:latin typeface="Source Sans 3"/>
                <a:ea typeface="Source Sans 3"/>
                <a:cs typeface="Source Sans 3"/>
                <a:sym typeface="Source Sans 3"/>
              </a:rPr>
              <a:t>s</a:t>
            </a:r>
            <a:r>
              <a:rPr lang="en-US" sz="1100">
                <a:solidFill>
                  <a:srgbClr val="E2E6E9"/>
                </a:solidFill>
                <a:latin typeface="Source Sans 3"/>
                <a:ea typeface="Source Sans 3"/>
                <a:cs typeface="Source Sans 3"/>
                <a:sym typeface="Source Sans 3"/>
              </a:rPr>
              <a:t>en</a:t>
            </a:r>
            <a:r>
              <a:rPr lang="en-US" sz="1100">
                <a:solidFill>
                  <a:srgbClr val="E2E6E9"/>
                </a:solidFill>
                <a:latin typeface="Source Sans 3"/>
                <a:ea typeface="Source Sans 3"/>
                <a:cs typeface="Source Sans 3"/>
                <a:sym typeface="Source Sans 3"/>
              </a:rPr>
              <a:t>t</a:t>
            </a:r>
            <a:r>
              <a:rPr lang="en-US" sz="1100">
                <a:solidFill>
                  <a:srgbClr val="E2E6E9"/>
                </a:solidFill>
                <a:latin typeface="Source Sans 3"/>
                <a:ea typeface="Source Sans 3"/>
                <a:cs typeface="Source Sans 3"/>
                <a:sym typeface="Source Sans 3"/>
              </a:rPr>
              <a:t>s ou</a:t>
            </a:r>
            <a:r>
              <a:rPr lang="en-US" sz="1100">
                <a:solidFill>
                  <a:srgbClr val="E2E6E9"/>
                </a:solidFill>
                <a:latin typeface="Source Sans 3"/>
                <a:ea typeface="Source Sans 3"/>
                <a:cs typeface="Source Sans 3"/>
                <a:sym typeface="Source Sans 3"/>
              </a:rPr>
              <a:t>r</a:t>
            </a:r>
            <a:r>
              <a:rPr lang="en-US" sz="1100">
                <a:solidFill>
                  <a:srgbClr val="E2E6E9"/>
                </a:solidFill>
                <a:latin typeface="Source Sans 3"/>
                <a:ea typeface="Source Sans 3"/>
                <a:cs typeface="Source Sans 3"/>
                <a:sym typeface="Source Sans 3"/>
              </a:rPr>
              <a:t> f</a:t>
            </a:r>
            <a:r>
              <a:rPr lang="en-US" sz="1100">
                <a:solidFill>
                  <a:srgbClr val="E2E6E9"/>
                </a:solidFill>
                <a:latin typeface="Source Sans 3"/>
                <a:ea typeface="Source Sans 3"/>
                <a:cs typeface="Source Sans 3"/>
                <a:sym typeface="Source Sans 3"/>
              </a:rPr>
              <a:t>i</a:t>
            </a:r>
            <a:r>
              <a:rPr lang="en-US" sz="1100">
                <a:solidFill>
                  <a:srgbClr val="E2E6E9"/>
                </a:solidFill>
                <a:latin typeface="Source Sans 3"/>
                <a:ea typeface="Source Sans 3"/>
                <a:cs typeface="Source Sans 3"/>
                <a:sym typeface="Source Sans 3"/>
              </a:rPr>
              <a:t>na</a:t>
            </a:r>
            <a:r>
              <a:rPr lang="en-US" sz="1100">
                <a:solidFill>
                  <a:srgbClr val="E2E6E9"/>
                </a:solidFill>
                <a:latin typeface="Source Sans 3"/>
                <a:ea typeface="Source Sans 3"/>
                <a:cs typeface="Source Sans 3"/>
                <a:sym typeface="Source Sans 3"/>
              </a:rPr>
              <a:t>l </a:t>
            </a:r>
            <a:r>
              <a:rPr lang="en-US" sz="1100">
                <a:solidFill>
                  <a:srgbClr val="E2E6E9"/>
                </a:solidFill>
                <a:latin typeface="Source Sans 3"/>
                <a:ea typeface="Source Sans 3"/>
                <a:cs typeface="Source Sans 3"/>
                <a:sym typeface="Source Sans 3"/>
              </a:rPr>
              <a:t>lo</a:t>
            </a:r>
            <a:r>
              <a:rPr lang="en-US" sz="1100">
                <a:solidFill>
                  <a:srgbClr val="E2E6E9"/>
                </a:solidFill>
                <a:latin typeface="Source Sans 3"/>
                <a:ea typeface="Source Sans 3"/>
                <a:cs typeface="Source Sans 3"/>
                <a:sym typeface="Source Sans 3"/>
              </a:rPr>
              <a:t>c</a:t>
            </a:r>
            <a:r>
              <a:rPr lang="en-US" sz="1100">
                <a:solidFill>
                  <a:srgbClr val="E2E6E9"/>
                </a:solidFill>
                <a:latin typeface="Source Sans 3"/>
                <a:ea typeface="Source Sans 3"/>
                <a:cs typeface="Source Sans 3"/>
                <a:sym typeface="Source Sans 3"/>
              </a:rPr>
              <a:t>ked pre</a:t>
            </a:r>
            <a:r>
              <a:rPr lang="en-US" sz="1100">
                <a:solidFill>
                  <a:srgbClr val="E2E6E9"/>
                </a:solidFill>
                <a:latin typeface="Source Sans 3"/>
                <a:ea typeface="Source Sans 3"/>
                <a:cs typeface="Source Sans 3"/>
                <a:sym typeface="Source Sans 3"/>
              </a:rPr>
              <a:t>di</a:t>
            </a:r>
            <a:r>
              <a:rPr lang="en-US" sz="1100">
                <a:solidFill>
                  <a:srgbClr val="E2E6E9"/>
                </a:solidFill>
                <a:latin typeface="Source Sans 3"/>
                <a:ea typeface="Source Sans 3"/>
                <a:cs typeface="Source Sans 3"/>
                <a:sym typeface="Source Sans 3"/>
              </a:rPr>
              <a:t>c</a:t>
            </a:r>
            <a:r>
              <a:rPr lang="en-US" sz="1100">
                <a:solidFill>
                  <a:srgbClr val="E2E6E9"/>
                </a:solidFill>
                <a:latin typeface="Source Sans 3"/>
                <a:ea typeface="Source Sans 3"/>
                <a:cs typeface="Source Sans 3"/>
                <a:sym typeface="Source Sans 3"/>
              </a:rPr>
              <a:t>tion</a:t>
            </a:r>
            <a:r>
              <a:rPr lang="en-US" sz="1100">
                <a:solidFill>
                  <a:srgbClr val="E2E6E9"/>
                </a:solidFill>
                <a:latin typeface="Source Sans 3"/>
                <a:ea typeface="Source Sans 3"/>
                <a:cs typeface="Source Sans 3"/>
                <a:sym typeface="Source Sans 3"/>
              </a:rPr>
              <a:t> for the upcoming week. We are scaling back the AI's optimism, targeting a highly constrained gain of plus 0.2 to 1.0 percent for the S&amp;P 500. We anticipate Technology to continue leading due to structural momentum, while Financials lag under yield pressures. Finally, our entire Neutral-Bullish thesis is strictly invalidated if the S&amp;P closes below our 7,350 support confluence, or if a hot Nonfarm Payrolls print violently reshapes Fed expectations on Friday. This concludes our team's synthesis.</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6E7DE"/>
        </a:solidFill>
      </p:bgPr>
    </p:bg>
    <p:spTree>
      <p:nvGrpSpPr>
        <p:cNvPr id="1" name=""/>
        <p:cNvGrpSpPr/>
        <p:nvPr/>
      </p:nvGrpSpPr>
      <p:grpSpPr>
        <a:xfrm>
          <a:off x="0" y="0"/>
          <a:ext cx="0" cy="0"/>
          <a:chOff x="0" y="0"/>
          <a:chExt cx="0" cy="0"/>
        </a:xfrm>
      </p:grpSpPr>
      <p:grpSp>
        <p:nvGrpSpPr>
          <p:cNvPr name="Group 2" id="2"/>
          <p:cNvGrpSpPr/>
          <p:nvPr/>
        </p:nvGrpSpPr>
        <p:grpSpPr>
          <a:xfrm rot="0">
            <a:off x="1172523" y="4316265"/>
            <a:ext cx="5162513" cy="4878904"/>
            <a:chOff x="0" y="0"/>
            <a:chExt cx="1746332" cy="1650395"/>
          </a:xfrm>
        </p:grpSpPr>
        <p:sp>
          <p:nvSpPr>
            <p:cNvPr name="Freeform 3" id="3"/>
            <p:cNvSpPr/>
            <p:nvPr/>
          </p:nvSpPr>
          <p:spPr>
            <a:xfrm flipH="false" flipV="false" rot="0">
              <a:off x="0" y="0"/>
              <a:ext cx="1746332" cy="1650395"/>
            </a:xfrm>
            <a:custGeom>
              <a:avLst/>
              <a:gdLst/>
              <a:ahLst/>
              <a:cxnLst/>
              <a:rect r="r" b="b" t="t" l="l"/>
              <a:pathLst>
                <a:path h="1650395" w="1746332">
                  <a:moveTo>
                    <a:pt x="1621872" y="1650395"/>
                  </a:moveTo>
                  <a:lnTo>
                    <a:pt x="124460" y="1650395"/>
                  </a:lnTo>
                  <a:cubicBezTo>
                    <a:pt x="55880" y="1650395"/>
                    <a:pt x="0" y="1594515"/>
                    <a:pt x="0" y="1525935"/>
                  </a:cubicBezTo>
                  <a:lnTo>
                    <a:pt x="0" y="124460"/>
                  </a:lnTo>
                  <a:cubicBezTo>
                    <a:pt x="0" y="55880"/>
                    <a:pt x="55880" y="0"/>
                    <a:pt x="124460" y="0"/>
                  </a:cubicBezTo>
                  <a:lnTo>
                    <a:pt x="1621872" y="0"/>
                  </a:lnTo>
                  <a:cubicBezTo>
                    <a:pt x="1690452" y="0"/>
                    <a:pt x="1746332" y="55880"/>
                    <a:pt x="1746332" y="124460"/>
                  </a:cubicBezTo>
                  <a:lnTo>
                    <a:pt x="1746332" y="1525935"/>
                  </a:lnTo>
                  <a:cubicBezTo>
                    <a:pt x="1746332" y="1594515"/>
                    <a:pt x="1690452" y="1650395"/>
                    <a:pt x="1621872" y="1650395"/>
                  </a:cubicBezTo>
                  <a:close/>
                </a:path>
              </a:pathLst>
            </a:custGeom>
            <a:solidFill>
              <a:srgbClr val="FFFFFF"/>
            </a:solidFill>
          </p:spPr>
        </p:sp>
      </p:grpSp>
      <p:grpSp>
        <p:nvGrpSpPr>
          <p:cNvPr name="Group 4" id="4"/>
          <p:cNvGrpSpPr/>
          <p:nvPr/>
        </p:nvGrpSpPr>
        <p:grpSpPr>
          <a:xfrm rot="0">
            <a:off x="6743191" y="4379396"/>
            <a:ext cx="5162513" cy="4878904"/>
            <a:chOff x="0" y="0"/>
            <a:chExt cx="1746332" cy="1650395"/>
          </a:xfrm>
        </p:grpSpPr>
        <p:sp>
          <p:nvSpPr>
            <p:cNvPr name="Freeform 5" id="5"/>
            <p:cNvSpPr/>
            <p:nvPr/>
          </p:nvSpPr>
          <p:spPr>
            <a:xfrm flipH="false" flipV="false" rot="0">
              <a:off x="0" y="0"/>
              <a:ext cx="1746332" cy="1650395"/>
            </a:xfrm>
            <a:custGeom>
              <a:avLst/>
              <a:gdLst/>
              <a:ahLst/>
              <a:cxnLst/>
              <a:rect r="r" b="b" t="t" l="l"/>
              <a:pathLst>
                <a:path h="1650395" w="1746332">
                  <a:moveTo>
                    <a:pt x="1621872" y="1650395"/>
                  </a:moveTo>
                  <a:lnTo>
                    <a:pt x="124460" y="1650395"/>
                  </a:lnTo>
                  <a:cubicBezTo>
                    <a:pt x="55880" y="1650395"/>
                    <a:pt x="0" y="1594515"/>
                    <a:pt x="0" y="1525935"/>
                  </a:cubicBezTo>
                  <a:lnTo>
                    <a:pt x="0" y="124460"/>
                  </a:lnTo>
                  <a:cubicBezTo>
                    <a:pt x="0" y="55880"/>
                    <a:pt x="55880" y="0"/>
                    <a:pt x="124460" y="0"/>
                  </a:cubicBezTo>
                  <a:lnTo>
                    <a:pt x="1621872" y="0"/>
                  </a:lnTo>
                  <a:cubicBezTo>
                    <a:pt x="1690452" y="0"/>
                    <a:pt x="1746332" y="55880"/>
                    <a:pt x="1746332" y="124460"/>
                  </a:cubicBezTo>
                  <a:lnTo>
                    <a:pt x="1746332" y="1525935"/>
                  </a:lnTo>
                  <a:cubicBezTo>
                    <a:pt x="1746332" y="1594515"/>
                    <a:pt x="1690452" y="1650395"/>
                    <a:pt x="1621872" y="1650395"/>
                  </a:cubicBezTo>
                  <a:close/>
                </a:path>
              </a:pathLst>
            </a:custGeom>
            <a:solidFill>
              <a:srgbClr val="FFFFFF"/>
            </a:solidFill>
          </p:spPr>
        </p:sp>
      </p:grpSp>
      <p:grpSp>
        <p:nvGrpSpPr>
          <p:cNvPr name="Group 6" id="6"/>
          <p:cNvGrpSpPr/>
          <p:nvPr/>
        </p:nvGrpSpPr>
        <p:grpSpPr>
          <a:xfrm rot="0">
            <a:off x="12183243" y="4316265"/>
            <a:ext cx="5162513" cy="4878904"/>
            <a:chOff x="0" y="0"/>
            <a:chExt cx="1746332" cy="1650395"/>
          </a:xfrm>
        </p:grpSpPr>
        <p:sp>
          <p:nvSpPr>
            <p:cNvPr name="Freeform 7" id="7"/>
            <p:cNvSpPr/>
            <p:nvPr/>
          </p:nvSpPr>
          <p:spPr>
            <a:xfrm flipH="false" flipV="false" rot="0">
              <a:off x="0" y="0"/>
              <a:ext cx="1746332" cy="1650395"/>
            </a:xfrm>
            <a:custGeom>
              <a:avLst/>
              <a:gdLst/>
              <a:ahLst/>
              <a:cxnLst/>
              <a:rect r="r" b="b" t="t" l="l"/>
              <a:pathLst>
                <a:path h="1650395" w="1746332">
                  <a:moveTo>
                    <a:pt x="1621872" y="1650395"/>
                  </a:moveTo>
                  <a:lnTo>
                    <a:pt x="124460" y="1650395"/>
                  </a:lnTo>
                  <a:cubicBezTo>
                    <a:pt x="55880" y="1650395"/>
                    <a:pt x="0" y="1594515"/>
                    <a:pt x="0" y="1525935"/>
                  </a:cubicBezTo>
                  <a:lnTo>
                    <a:pt x="0" y="124460"/>
                  </a:lnTo>
                  <a:cubicBezTo>
                    <a:pt x="0" y="55880"/>
                    <a:pt x="55880" y="0"/>
                    <a:pt x="124460" y="0"/>
                  </a:cubicBezTo>
                  <a:lnTo>
                    <a:pt x="1621872" y="0"/>
                  </a:lnTo>
                  <a:cubicBezTo>
                    <a:pt x="1690452" y="0"/>
                    <a:pt x="1746332" y="55880"/>
                    <a:pt x="1746332" y="124460"/>
                  </a:cubicBezTo>
                  <a:lnTo>
                    <a:pt x="1746332" y="1525935"/>
                  </a:lnTo>
                  <a:cubicBezTo>
                    <a:pt x="1746332" y="1594515"/>
                    <a:pt x="1690452" y="1650395"/>
                    <a:pt x="1621872" y="1650395"/>
                  </a:cubicBezTo>
                  <a:close/>
                </a:path>
              </a:pathLst>
            </a:custGeom>
            <a:solidFill>
              <a:srgbClr val="FFFFFF"/>
            </a:solidFill>
          </p:spPr>
        </p:sp>
      </p:grpSp>
      <p:grpSp>
        <p:nvGrpSpPr>
          <p:cNvPr name="Group 8" id="8"/>
          <p:cNvGrpSpPr/>
          <p:nvPr/>
        </p:nvGrpSpPr>
        <p:grpSpPr>
          <a:xfrm rot="0">
            <a:off x="1169616" y="2635473"/>
            <a:ext cx="16176140" cy="1293219"/>
            <a:chOff x="0" y="0"/>
            <a:chExt cx="21568187" cy="1724292"/>
          </a:xfrm>
        </p:grpSpPr>
        <p:sp>
          <p:nvSpPr>
            <p:cNvPr name="Freeform 9" id="9"/>
            <p:cNvSpPr/>
            <p:nvPr/>
          </p:nvSpPr>
          <p:spPr>
            <a:xfrm flipH="false" flipV="false" rot="-5400000">
              <a:off x="15275199" y="-4568695"/>
              <a:ext cx="1724292" cy="10861683"/>
            </a:xfrm>
            <a:custGeom>
              <a:avLst/>
              <a:gdLst/>
              <a:ahLst/>
              <a:cxnLst/>
              <a:rect r="r" b="b" t="t" l="l"/>
              <a:pathLst>
                <a:path h="10861683" w="1724292">
                  <a:moveTo>
                    <a:pt x="0" y="0"/>
                  </a:moveTo>
                  <a:lnTo>
                    <a:pt x="1724292" y="0"/>
                  </a:lnTo>
                  <a:lnTo>
                    <a:pt x="1724292" y="10861683"/>
                  </a:lnTo>
                  <a:lnTo>
                    <a:pt x="0" y="10861683"/>
                  </a:lnTo>
                  <a:lnTo>
                    <a:pt x="0" y="0"/>
                  </a:lnTo>
                  <a:close/>
                </a:path>
              </a:pathLst>
            </a:custGeom>
            <a:blipFill>
              <a:blip r:embed="rId2"/>
              <a:stretch>
                <a:fillRect l="0" t="0" r="-31496" b="0"/>
              </a:stretch>
            </a:blipFill>
          </p:spPr>
        </p:sp>
        <p:sp>
          <p:nvSpPr>
            <p:cNvPr name="Freeform 10" id="10"/>
            <p:cNvSpPr/>
            <p:nvPr/>
          </p:nvSpPr>
          <p:spPr>
            <a:xfrm flipH="false" flipV="false" rot="-5400000">
              <a:off x="4568695" y="-4568695"/>
              <a:ext cx="1724292" cy="10861683"/>
            </a:xfrm>
            <a:custGeom>
              <a:avLst/>
              <a:gdLst/>
              <a:ahLst/>
              <a:cxnLst/>
              <a:rect r="r" b="b" t="t" l="l"/>
              <a:pathLst>
                <a:path h="10861683" w="1724292">
                  <a:moveTo>
                    <a:pt x="0" y="0"/>
                  </a:moveTo>
                  <a:lnTo>
                    <a:pt x="1724293" y="0"/>
                  </a:lnTo>
                  <a:lnTo>
                    <a:pt x="1724293" y="10861683"/>
                  </a:lnTo>
                  <a:lnTo>
                    <a:pt x="0" y="10861683"/>
                  </a:lnTo>
                  <a:lnTo>
                    <a:pt x="0" y="0"/>
                  </a:lnTo>
                  <a:close/>
                </a:path>
              </a:pathLst>
            </a:custGeom>
            <a:blipFill>
              <a:blip r:embed="rId3"/>
              <a:stretch>
                <a:fillRect l="0" t="0" r="0" b="0"/>
              </a:stretch>
            </a:blipFill>
          </p:spPr>
        </p:sp>
      </p:grpSp>
      <p:grpSp>
        <p:nvGrpSpPr>
          <p:cNvPr name="Group 11" id="11"/>
          <p:cNvGrpSpPr/>
          <p:nvPr/>
        </p:nvGrpSpPr>
        <p:grpSpPr>
          <a:xfrm rot="0">
            <a:off x="7494231" y="5701905"/>
            <a:ext cx="3526910" cy="712581"/>
            <a:chOff x="0" y="0"/>
            <a:chExt cx="4702547" cy="950108"/>
          </a:xfrm>
        </p:grpSpPr>
        <p:grpSp>
          <p:nvGrpSpPr>
            <p:cNvPr name="Group 12" id="12"/>
            <p:cNvGrpSpPr/>
            <p:nvPr/>
          </p:nvGrpSpPr>
          <p:grpSpPr>
            <a:xfrm rot="0">
              <a:off x="2025196" y="0"/>
              <a:ext cx="581901" cy="581901"/>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222222"/>
              </a:solidFill>
            </p:spPr>
          </p:sp>
          <p:sp>
            <p:nvSpPr>
              <p:cNvPr name="TextBox 14" id="14"/>
              <p:cNvSpPr txBox="true"/>
              <p:nvPr/>
            </p:nvSpPr>
            <p:spPr>
              <a:xfrm>
                <a:off x="203200" y="-28575"/>
                <a:ext cx="406400" cy="739775"/>
              </a:xfrm>
              <a:prstGeom prst="rect">
                <a:avLst/>
              </a:prstGeom>
            </p:spPr>
            <p:txBody>
              <a:bodyPr anchor="ctr" rtlCol="false" tIns="50800" lIns="50800" bIns="50800" rIns="50800"/>
              <a:lstStyle/>
              <a:p>
                <a:pPr algn="ctr">
                  <a:lnSpc>
                    <a:spcPts val="2600"/>
                  </a:lnSpc>
                </a:pPr>
              </a:p>
            </p:txBody>
          </p:sp>
        </p:grpSp>
        <p:sp>
          <p:nvSpPr>
            <p:cNvPr name="TextBox 15" id="15"/>
            <p:cNvSpPr txBox="true"/>
            <p:nvPr/>
          </p:nvSpPr>
          <p:spPr>
            <a:xfrm rot="0">
              <a:off x="0" y="632063"/>
              <a:ext cx="4702547" cy="318046"/>
            </a:xfrm>
            <a:prstGeom prst="rect">
              <a:avLst/>
            </a:prstGeom>
          </p:spPr>
          <p:txBody>
            <a:bodyPr anchor="t" rtlCol="false" tIns="0" lIns="0" bIns="0" rIns="0">
              <a:spAutoFit/>
            </a:bodyPr>
            <a:lstStyle/>
            <a:p>
              <a:pPr algn="ctr">
                <a:lnSpc>
                  <a:spcPts val="2049"/>
                </a:lnSpc>
                <a:spcBef>
                  <a:spcPct val="0"/>
                </a:spcBef>
              </a:pPr>
              <a:r>
                <a:rPr lang="en-US" sz="1464">
                  <a:solidFill>
                    <a:srgbClr val="191919"/>
                  </a:solidFill>
                  <a:latin typeface="Muli"/>
                  <a:ea typeface="Muli"/>
                  <a:cs typeface="Muli"/>
                  <a:sym typeface="Muli"/>
                </a:rPr>
                <a:t>Create new branch with changes</a:t>
              </a:r>
            </a:p>
          </p:txBody>
        </p:sp>
      </p:grpSp>
      <p:grpSp>
        <p:nvGrpSpPr>
          <p:cNvPr name="Group 16" id="16"/>
          <p:cNvGrpSpPr/>
          <p:nvPr/>
        </p:nvGrpSpPr>
        <p:grpSpPr>
          <a:xfrm rot="0">
            <a:off x="7467001" y="6538311"/>
            <a:ext cx="3526910" cy="712581"/>
            <a:chOff x="0" y="0"/>
            <a:chExt cx="4702547" cy="950108"/>
          </a:xfrm>
        </p:grpSpPr>
        <p:grpSp>
          <p:nvGrpSpPr>
            <p:cNvPr name="Group 17" id="17"/>
            <p:cNvGrpSpPr/>
            <p:nvPr/>
          </p:nvGrpSpPr>
          <p:grpSpPr>
            <a:xfrm rot="0">
              <a:off x="2025196" y="0"/>
              <a:ext cx="581901" cy="581901"/>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222222"/>
              </a:solidFill>
            </p:spPr>
          </p:sp>
          <p:sp>
            <p:nvSpPr>
              <p:cNvPr name="TextBox 19" id="19"/>
              <p:cNvSpPr txBox="true"/>
              <p:nvPr/>
            </p:nvSpPr>
            <p:spPr>
              <a:xfrm>
                <a:off x="203200" y="-28575"/>
                <a:ext cx="406400" cy="739775"/>
              </a:xfrm>
              <a:prstGeom prst="rect">
                <a:avLst/>
              </a:prstGeom>
            </p:spPr>
            <p:txBody>
              <a:bodyPr anchor="ctr" rtlCol="false" tIns="50800" lIns="50800" bIns="50800" rIns="50800"/>
              <a:lstStyle/>
              <a:p>
                <a:pPr algn="ctr">
                  <a:lnSpc>
                    <a:spcPts val="2600"/>
                  </a:lnSpc>
                </a:pPr>
              </a:p>
            </p:txBody>
          </p:sp>
        </p:grpSp>
        <p:sp>
          <p:nvSpPr>
            <p:cNvPr name="TextBox 20" id="20"/>
            <p:cNvSpPr txBox="true"/>
            <p:nvPr/>
          </p:nvSpPr>
          <p:spPr>
            <a:xfrm rot="0">
              <a:off x="0" y="632063"/>
              <a:ext cx="4702547" cy="318046"/>
            </a:xfrm>
            <a:prstGeom prst="rect">
              <a:avLst/>
            </a:prstGeom>
          </p:spPr>
          <p:txBody>
            <a:bodyPr anchor="t" rtlCol="false" tIns="0" lIns="0" bIns="0" rIns="0">
              <a:spAutoFit/>
            </a:bodyPr>
            <a:lstStyle/>
            <a:p>
              <a:pPr algn="ctr">
                <a:lnSpc>
                  <a:spcPts val="2049"/>
                </a:lnSpc>
                <a:spcBef>
                  <a:spcPct val="0"/>
                </a:spcBef>
              </a:pPr>
              <a:r>
                <a:rPr lang="en-US" sz="1464">
                  <a:solidFill>
                    <a:srgbClr val="191919"/>
                  </a:solidFill>
                  <a:latin typeface="Muli"/>
                  <a:ea typeface="Muli"/>
                  <a:cs typeface="Muli"/>
                  <a:sym typeface="Muli"/>
                </a:rPr>
                <a:t>Push PR and request review</a:t>
              </a:r>
            </a:p>
          </p:txBody>
        </p:sp>
      </p:grpSp>
      <p:grpSp>
        <p:nvGrpSpPr>
          <p:cNvPr name="Group 21" id="21"/>
          <p:cNvGrpSpPr/>
          <p:nvPr/>
        </p:nvGrpSpPr>
        <p:grpSpPr>
          <a:xfrm rot="0">
            <a:off x="7467001" y="7374717"/>
            <a:ext cx="3526910" cy="712581"/>
            <a:chOff x="0" y="0"/>
            <a:chExt cx="4702547" cy="950108"/>
          </a:xfrm>
        </p:grpSpPr>
        <p:grpSp>
          <p:nvGrpSpPr>
            <p:cNvPr name="Group 22" id="22"/>
            <p:cNvGrpSpPr/>
            <p:nvPr/>
          </p:nvGrpSpPr>
          <p:grpSpPr>
            <a:xfrm rot="0">
              <a:off x="2025196" y="0"/>
              <a:ext cx="581901" cy="581901"/>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222222"/>
              </a:solidFill>
            </p:spPr>
          </p:sp>
          <p:sp>
            <p:nvSpPr>
              <p:cNvPr name="TextBox 24" id="24"/>
              <p:cNvSpPr txBox="true"/>
              <p:nvPr/>
            </p:nvSpPr>
            <p:spPr>
              <a:xfrm>
                <a:off x="203200" y="-28575"/>
                <a:ext cx="406400" cy="739775"/>
              </a:xfrm>
              <a:prstGeom prst="rect">
                <a:avLst/>
              </a:prstGeom>
            </p:spPr>
            <p:txBody>
              <a:bodyPr anchor="ctr" rtlCol="false" tIns="50800" lIns="50800" bIns="50800" rIns="50800"/>
              <a:lstStyle/>
              <a:p>
                <a:pPr algn="ctr">
                  <a:lnSpc>
                    <a:spcPts val="2600"/>
                  </a:lnSpc>
                </a:pPr>
              </a:p>
            </p:txBody>
          </p:sp>
        </p:grpSp>
        <p:sp>
          <p:nvSpPr>
            <p:cNvPr name="TextBox 25" id="25"/>
            <p:cNvSpPr txBox="true"/>
            <p:nvPr/>
          </p:nvSpPr>
          <p:spPr>
            <a:xfrm rot="0">
              <a:off x="0" y="632063"/>
              <a:ext cx="4702547" cy="318046"/>
            </a:xfrm>
            <a:prstGeom prst="rect">
              <a:avLst/>
            </a:prstGeom>
          </p:spPr>
          <p:txBody>
            <a:bodyPr anchor="t" rtlCol="false" tIns="0" lIns="0" bIns="0" rIns="0">
              <a:spAutoFit/>
            </a:bodyPr>
            <a:lstStyle/>
            <a:p>
              <a:pPr algn="ctr">
                <a:lnSpc>
                  <a:spcPts val="2049"/>
                </a:lnSpc>
                <a:spcBef>
                  <a:spcPct val="0"/>
                </a:spcBef>
              </a:pPr>
              <a:r>
                <a:rPr lang="en-US" sz="1464">
                  <a:solidFill>
                    <a:srgbClr val="191919"/>
                  </a:solidFill>
                  <a:latin typeface="Muli"/>
                  <a:ea typeface="Muli"/>
                  <a:cs typeface="Muli"/>
                  <a:sym typeface="Muli"/>
                </a:rPr>
                <a:t>Iteratete and improve</a:t>
              </a:r>
            </a:p>
          </p:txBody>
        </p:sp>
      </p:grpSp>
      <p:grpSp>
        <p:nvGrpSpPr>
          <p:cNvPr name="Group 26" id="26"/>
          <p:cNvGrpSpPr/>
          <p:nvPr/>
        </p:nvGrpSpPr>
        <p:grpSpPr>
          <a:xfrm rot="0">
            <a:off x="7495685" y="8211123"/>
            <a:ext cx="3526910" cy="712581"/>
            <a:chOff x="0" y="0"/>
            <a:chExt cx="4702547" cy="950108"/>
          </a:xfrm>
        </p:grpSpPr>
        <p:grpSp>
          <p:nvGrpSpPr>
            <p:cNvPr name="Group 27" id="27"/>
            <p:cNvGrpSpPr/>
            <p:nvPr/>
          </p:nvGrpSpPr>
          <p:grpSpPr>
            <a:xfrm rot="0">
              <a:off x="2025196" y="0"/>
              <a:ext cx="581901" cy="581901"/>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222222"/>
              </a:solidFill>
            </p:spPr>
          </p:sp>
          <p:sp>
            <p:nvSpPr>
              <p:cNvPr name="TextBox 29" id="29"/>
              <p:cNvSpPr txBox="true"/>
              <p:nvPr/>
            </p:nvSpPr>
            <p:spPr>
              <a:xfrm>
                <a:off x="203200" y="-28575"/>
                <a:ext cx="406400" cy="739775"/>
              </a:xfrm>
              <a:prstGeom prst="rect">
                <a:avLst/>
              </a:prstGeom>
            </p:spPr>
            <p:txBody>
              <a:bodyPr anchor="ctr" rtlCol="false" tIns="50800" lIns="50800" bIns="50800" rIns="50800"/>
              <a:lstStyle/>
              <a:p>
                <a:pPr algn="ctr">
                  <a:lnSpc>
                    <a:spcPts val="2600"/>
                  </a:lnSpc>
                </a:pPr>
              </a:p>
            </p:txBody>
          </p:sp>
        </p:grpSp>
        <p:sp>
          <p:nvSpPr>
            <p:cNvPr name="TextBox 30" id="30"/>
            <p:cNvSpPr txBox="true"/>
            <p:nvPr/>
          </p:nvSpPr>
          <p:spPr>
            <a:xfrm rot="0">
              <a:off x="0" y="632063"/>
              <a:ext cx="4702547" cy="318046"/>
            </a:xfrm>
            <a:prstGeom prst="rect">
              <a:avLst/>
            </a:prstGeom>
          </p:spPr>
          <p:txBody>
            <a:bodyPr anchor="t" rtlCol="false" tIns="0" lIns="0" bIns="0" rIns="0">
              <a:spAutoFit/>
            </a:bodyPr>
            <a:lstStyle/>
            <a:p>
              <a:pPr algn="ctr">
                <a:lnSpc>
                  <a:spcPts val="2049"/>
                </a:lnSpc>
                <a:spcBef>
                  <a:spcPct val="0"/>
                </a:spcBef>
              </a:pPr>
              <a:r>
                <a:rPr lang="en-US" sz="1464">
                  <a:solidFill>
                    <a:srgbClr val="191919"/>
                  </a:solidFill>
                  <a:latin typeface="Muli"/>
                  <a:ea typeface="Muli"/>
                  <a:cs typeface="Muli"/>
                  <a:sym typeface="Muli"/>
                </a:rPr>
                <a:t>Merge backinto main</a:t>
              </a:r>
            </a:p>
          </p:txBody>
        </p:sp>
      </p:grpSp>
      <p:sp>
        <p:nvSpPr>
          <p:cNvPr name="Freeform 31" id="31"/>
          <p:cNvSpPr/>
          <p:nvPr/>
        </p:nvSpPr>
        <p:spPr>
          <a:xfrm flipH="false" flipV="false" rot="0">
            <a:off x="13067754" y="5131799"/>
            <a:ext cx="3671370" cy="3994839"/>
          </a:xfrm>
          <a:custGeom>
            <a:avLst/>
            <a:gdLst/>
            <a:ahLst/>
            <a:cxnLst/>
            <a:rect r="r" b="b" t="t" l="l"/>
            <a:pathLst>
              <a:path h="3994839" w="3671370">
                <a:moveTo>
                  <a:pt x="0" y="0"/>
                </a:moveTo>
                <a:lnTo>
                  <a:pt x="3671370" y="0"/>
                </a:lnTo>
                <a:lnTo>
                  <a:pt x="3671370" y="3994838"/>
                </a:lnTo>
                <a:lnTo>
                  <a:pt x="0" y="3994838"/>
                </a:lnTo>
                <a:lnTo>
                  <a:pt x="0" y="0"/>
                </a:lnTo>
                <a:close/>
              </a:path>
            </a:pathLst>
          </a:custGeom>
          <a:blipFill>
            <a:blip r:embed="rId4"/>
            <a:stretch>
              <a:fillRect l="0" t="0" r="0" b="0"/>
            </a:stretch>
          </a:blipFill>
        </p:spPr>
      </p:sp>
      <p:sp>
        <p:nvSpPr>
          <p:cNvPr name="TextBox 32" id="32"/>
          <p:cNvSpPr txBox="true"/>
          <p:nvPr/>
        </p:nvSpPr>
        <p:spPr>
          <a:xfrm rot="0">
            <a:off x="1028700" y="1019175"/>
            <a:ext cx="10696557" cy="1228725"/>
          </a:xfrm>
          <a:prstGeom prst="rect">
            <a:avLst/>
          </a:prstGeom>
        </p:spPr>
        <p:txBody>
          <a:bodyPr anchor="t" rtlCol="false" tIns="0" lIns="0" bIns="0" rIns="0">
            <a:spAutoFit/>
          </a:bodyPr>
          <a:lstStyle/>
          <a:p>
            <a:pPr algn="l" marL="0" indent="0" lvl="0">
              <a:lnSpc>
                <a:spcPts val="9600"/>
              </a:lnSpc>
            </a:pPr>
            <a:r>
              <a:rPr lang="en-US" b="true" sz="8000" spc="-160">
                <a:solidFill>
                  <a:srgbClr val="191919"/>
                </a:solidFill>
                <a:latin typeface="Muli Ultra-Bold"/>
                <a:ea typeface="Muli Ultra-Bold"/>
                <a:cs typeface="Muli Ultra-Bold"/>
                <a:sym typeface="Muli Ultra-Bold"/>
              </a:rPr>
              <a:t>GitHub Overview</a:t>
            </a:r>
          </a:p>
        </p:txBody>
      </p:sp>
      <p:grpSp>
        <p:nvGrpSpPr>
          <p:cNvPr name="Group 33" id="33"/>
          <p:cNvGrpSpPr/>
          <p:nvPr/>
        </p:nvGrpSpPr>
        <p:grpSpPr>
          <a:xfrm rot="0">
            <a:off x="7182772" y="4710144"/>
            <a:ext cx="4095368" cy="866713"/>
            <a:chOff x="0" y="0"/>
            <a:chExt cx="5460491" cy="1155617"/>
          </a:xfrm>
        </p:grpSpPr>
        <p:sp>
          <p:nvSpPr>
            <p:cNvPr name="TextBox 34" id="34"/>
            <p:cNvSpPr txBox="true"/>
            <p:nvPr/>
          </p:nvSpPr>
          <p:spPr>
            <a:xfrm rot="0">
              <a:off x="0" y="-28575"/>
              <a:ext cx="5460491" cy="426508"/>
            </a:xfrm>
            <a:prstGeom prst="rect">
              <a:avLst/>
            </a:prstGeom>
          </p:spPr>
          <p:txBody>
            <a:bodyPr anchor="t" rtlCol="false" tIns="0" lIns="0" bIns="0" rIns="0">
              <a:spAutoFit/>
            </a:bodyPr>
            <a:lstStyle/>
            <a:p>
              <a:pPr algn="ctr" marL="0" indent="0" lvl="0">
                <a:lnSpc>
                  <a:spcPts val="2600"/>
                </a:lnSpc>
              </a:pPr>
              <a:r>
                <a:rPr lang="en-US" b="true" sz="2000" spc="20">
                  <a:solidFill>
                    <a:srgbClr val="191919"/>
                  </a:solidFill>
                  <a:latin typeface="Muli Bold"/>
                  <a:ea typeface="Muli Bold"/>
                  <a:cs typeface="Muli Bold"/>
                  <a:sym typeface="Muli Bold"/>
                </a:rPr>
                <a:t>WORKFLOW</a:t>
              </a:r>
            </a:p>
          </p:txBody>
        </p:sp>
        <p:sp>
          <p:nvSpPr>
            <p:cNvPr name="TextBox 35" id="35"/>
            <p:cNvSpPr txBox="true"/>
            <p:nvPr/>
          </p:nvSpPr>
          <p:spPr>
            <a:xfrm rot="0">
              <a:off x="0" y="800440"/>
              <a:ext cx="5460491" cy="355177"/>
            </a:xfrm>
            <a:prstGeom prst="rect">
              <a:avLst/>
            </a:prstGeom>
          </p:spPr>
          <p:txBody>
            <a:bodyPr anchor="t" rtlCol="false" tIns="0" lIns="0" bIns="0" rIns="0">
              <a:spAutoFit/>
            </a:bodyPr>
            <a:lstStyle/>
            <a:p>
              <a:pPr algn="ctr">
                <a:lnSpc>
                  <a:spcPts val="2379"/>
                </a:lnSpc>
                <a:spcBef>
                  <a:spcPct val="0"/>
                </a:spcBef>
              </a:pPr>
              <a:r>
                <a:rPr lang="en-US" sz="1700">
                  <a:solidFill>
                    <a:srgbClr val="191919"/>
                  </a:solidFill>
                  <a:latin typeface="Muli"/>
                  <a:ea typeface="Muli"/>
                  <a:cs typeface="Muli"/>
                  <a:sym typeface="Muli"/>
                </a:rPr>
                <a:t>Pull most recent main</a:t>
              </a:r>
            </a:p>
          </p:txBody>
        </p:sp>
      </p:grpSp>
      <p:grpSp>
        <p:nvGrpSpPr>
          <p:cNvPr name="Group 36" id="36"/>
          <p:cNvGrpSpPr/>
          <p:nvPr/>
        </p:nvGrpSpPr>
        <p:grpSpPr>
          <a:xfrm rot="0">
            <a:off x="12716815" y="4698442"/>
            <a:ext cx="4095368" cy="866713"/>
            <a:chOff x="0" y="0"/>
            <a:chExt cx="5460491" cy="1155617"/>
          </a:xfrm>
        </p:grpSpPr>
        <p:sp>
          <p:nvSpPr>
            <p:cNvPr name="TextBox 37" id="37"/>
            <p:cNvSpPr txBox="true"/>
            <p:nvPr/>
          </p:nvSpPr>
          <p:spPr>
            <a:xfrm rot="0">
              <a:off x="0" y="-28575"/>
              <a:ext cx="5460491" cy="426508"/>
            </a:xfrm>
            <a:prstGeom prst="rect">
              <a:avLst/>
            </a:prstGeom>
          </p:spPr>
          <p:txBody>
            <a:bodyPr anchor="t" rtlCol="false" tIns="0" lIns="0" bIns="0" rIns="0">
              <a:spAutoFit/>
            </a:bodyPr>
            <a:lstStyle/>
            <a:p>
              <a:pPr algn="ctr" marL="0" indent="0" lvl="0">
                <a:lnSpc>
                  <a:spcPts val="2600"/>
                </a:lnSpc>
              </a:pPr>
              <a:r>
                <a:rPr lang="en-US" b="true" sz="2000" spc="20">
                  <a:solidFill>
                    <a:srgbClr val="191919"/>
                  </a:solidFill>
                  <a:latin typeface="Muli Bold"/>
                  <a:ea typeface="Muli Bold"/>
                  <a:cs typeface="Muli Bold"/>
                  <a:sym typeface="Muli Bold"/>
                </a:rPr>
                <a:t>CLEAR STRUCTURE</a:t>
              </a:r>
            </a:p>
          </p:txBody>
        </p:sp>
        <p:sp>
          <p:nvSpPr>
            <p:cNvPr name="TextBox 38" id="38"/>
            <p:cNvSpPr txBox="true"/>
            <p:nvPr/>
          </p:nvSpPr>
          <p:spPr>
            <a:xfrm rot="0">
              <a:off x="0" y="800440"/>
              <a:ext cx="5460491" cy="355177"/>
            </a:xfrm>
            <a:prstGeom prst="rect">
              <a:avLst/>
            </a:prstGeom>
          </p:spPr>
          <p:txBody>
            <a:bodyPr anchor="t" rtlCol="false" tIns="0" lIns="0" bIns="0" rIns="0">
              <a:spAutoFit/>
            </a:bodyPr>
            <a:lstStyle/>
            <a:p>
              <a:pPr algn="ctr">
                <a:lnSpc>
                  <a:spcPts val="2379"/>
                </a:lnSpc>
                <a:spcBef>
                  <a:spcPct val="0"/>
                </a:spcBef>
              </a:pPr>
            </a:p>
          </p:txBody>
        </p:sp>
      </p:grpSp>
      <p:grpSp>
        <p:nvGrpSpPr>
          <p:cNvPr name="Group 39" id="39"/>
          <p:cNvGrpSpPr/>
          <p:nvPr/>
        </p:nvGrpSpPr>
        <p:grpSpPr>
          <a:xfrm rot="0">
            <a:off x="1706096" y="4698442"/>
            <a:ext cx="4095368" cy="3156522"/>
            <a:chOff x="0" y="0"/>
            <a:chExt cx="5460491" cy="4208697"/>
          </a:xfrm>
        </p:grpSpPr>
        <p:sp>
          <p:nvSpPr>
            <p:cNvPr name="TextBox 40" id="40"/>
            <p:cNvSpPr txBox="true"/>
            <p:nvPr/>
          </p:nvSpPr>
          <p:spPr>
            <a:xfrm rot="0">
              <a:off x="0" y="-28575"/>
              <a:ext cx="5460491" cy="426508"/>
            </a:xfrm>
            <a:prstGeom prst="rect">
              <a:avLst/>
            </a:prstGeom>
          </p:spPr>
          <p:txBody>
            <a:bodyPr anchor="t" rtlCol="false" tIns="0" lIns="0" bIns="0" rIns="0">
              <a:spAutoFit/>
            </a:bodyPr>
            <a:lstStyle/>
            <a:p>
              <a:pPr algn="ctr" marL="0" indent="0" lvl="0">
                <a:lnSpc>
                  <a:spcPts val="2600"/>
                </a:lnSpc>
              </a:pPr>
              <a:r>
                <a:rPr lang="en-US" b="true" sz="2000" spc="20">
                  <a:solidFill>
                    <a:srgbClr val="191919"/>
                  </a:solidFill>
                  <a:latin typeface="Muli Bold"/>
                  <a:ea typeface="Muli Bold"/>
                  <a:cs typeface="Muli Bold"/>
                  <a:sym typeface="Muli Bold"/>
                </a:rPr>
                <a:t>BRANCH RULES</a:t>
              </a:r>
            </a:p>
          </p:txBody>
        </p:sp>
        <p:sp>
          <p:nvSpPr>
            <p:cNvPr name="TextBox 41" id="41"/>
            <p:cNvSpPr txBox="true"/>
            <p:nvPr/>
          </p:nvSpPr>
          <p:spPr>
            <a:xfrm rot="0">
              <a:off x="0" y="800440"/>
              <a:ext cx="5460491" cy="355177"/>
            </a:xfrm>
            <a:prstGeom prst="rect">
              <a:avLst/>
            </a:prstGeom>
          </p:spPr>
          <p:txBody>
            <a:bodyPr anchor="t" rtlCol="false" tIns="0" lIns="0" bIns="0" rIns="0">
              <a:spAutoFit/>
            </a:bodyPr>
            <a:lstStyle/>
            <a:p>
              <a:pPr algn="ctr">
                <a:lnSpc>
                  <a:spcPts val="2379"/>
                </a:lnSpc>
                <a:spcBef>
                  <a:spcPct val="0"/>
                </a:spcBef>
              </a:pPr>
              <a:r>
                <a:rPr lang="en-US" sz="1700">
                  <a:solidFill>
                    <a:srgbClr val="191919"/>
                  </a:solidFill>
                  <a:latin typeface="Muli"/>
                  <a:ea typeface="Muli"/>
                  <a:cs typeface="Muli"/>
                  <a:sym typeface="Muli"/>
                </a:rPr>
                <a:t>Main branch is protected</a:t>
              </a:r>
            </a:p>
          </p:txBody>
        </p:sp>
        <p:sp>
          <p:nvSpPr>
            <p:cNvPr name="TextBox 42" id="42"/>
            <p:cNvSpPr txBox="true"/>
            <p:nvPr/>
          </p:nvSpPr>
          <p:spPr>
            <a:xfrm rot="0">
              <a:off x="0" y="1555667"/>
              <a:ext cx="5460491" cy="748877"/>
            </a:xfrm>
            <a:prstGeom prst="rect">
              <a:avLst/>
            </a:prstGeom>
          </p:spPr>
          <p:txBody>
            <a:bodyPr anchor="t" rtlCol="false" tIns="0" lIns="0" bIns="0" rIns="0">
              <a:spAutoFit/>
            </a:bodyPr>
            <a:lstStyle/>
            <a:p>
              <a:pPr algn="ctr">
                <a:lnSpc>
                  <a:spcPts val="2380"/>
                </a:lnSpc>
              </a:pPr>
              <a:r>
                <a:rPr lang="en-US" sz="1700">
                  <a:solidFill>
                    <a:srgbClr val="191919"/>
                  </a:solidFill>
                  <a:latin typeface="Muli"/>
                  <a:ea typeface="Muli"/>
                  <a:cs typeface="Muli"/>
                  <a:sym typeface="Muli"/>
                </a:rPr>
                <a:t>Collaborators can create </a:t>
              </a:r>
            </a:p>
            <a:p>
              <a:pPr algn="ctr">
                <a:lnSpc>
                  <a:spcPts val="2379"/>
                </a:lnSpc>
                <a:spcBef>
                  <a:spcPct val="0"/>
                </a:spcBef>
              </a:pPr>
              <a:r>
                <a:rPr lang="en-US" sz="1700">
                  <a:solidFill>
                    <a:srgbClr val="191919"/>
                  </a:solidFill>
                  <a:latin typeface="Muli"/>
                  <a:ea typeface="Muli"/>
                  <a:cs typeface="Muli"/>
                  <a:sym typeface="Muli"/>
                </a:rPr>
                <a:t>their own branches and PRs</a:t>
              </a:r>
            </a:p>
          </p:txBody>
        </p:sp>
        <p:sp>
          <p:nvSpPr>
            <p:cNvPr name="TextBox 43" id="43"/>
            <p:cNvSpPr txBox="true"/>
            <p:nvPr/>
          </p:nvSpPr>
          <p:spPr>
            <a:xfrm rot="0">
              <a:off x="0" y="2704593"/>
              <a:ext cx="5460491" cy="355177"/>
            </a:xfrm>
            <a:prstGeom prst="rect">
              <a:avLst/>
            </a:prstGeom>
          </p:spPr>
          <p:txBody>
            <a:bodyPr anchor="t" rtlCol="false" tIns="0" lIns="0" bIns="0" rIns="0">
              <a:spAutoFit/>
            </a:bodyPr>
            <a:lstStyle/>
            <a:p>
              <a:pPr algn="ctr">
                <a:lnSpc>
                  <a:spcPts val="2380"/>
                </a:lnSpc>
                <a:spcBef>
                  <a:spcPct val="0"/>
                </a:spcBef>
              </a:pPr>
              <a:r>
                <a:rPr lang="en-US" sz="1700">
                  <a:solidFill>
                    <a:srgbClr val="191919"/>
                  </a:solidFill>
                  <a:latin typeface="Muli"/>
                  <a:ea typeface="Muli"/>
                  <a:cs typeface="Muli"/>
                  <a:sym typeface="Muli"/>
                </a:rPr>
                <a:t>Tags can be created only by the owner</a:t>
              </a:r>
            </a:p>
          </p:txBody>
        </p:sp>
        <p:sp>
          <p:nvSpPr>
            <p:cNvPr name="TextBox 44" id="44"/>
            <p:cNvSpPr txBox="true"/>
            <p:nvPr/>
          </p:nvSpPr>
          <p:spPr>
            <a:xfrm rot="0">
              <a:off x="0" y="3459820"/>
              <a:ext cx="5460491" cy="748877"/>
            </a:xfrm>
            <a:prstGeom prst="rect">
              <a:avLst/>
            </a:prstGeom>
          </p:spPr>
          <p:txBody>
            <a:bodyPr anchor="t" rtlCol="false" tIns="0" lIns="0" bIns="0" rIns="0">
              <a:spAutoFit/>
            </a:bodyPr>
            <a:lstStyle/>
            <a:p>
              <a:pPr algn="ctr">
                <a:lnSpc>
                  <a:spcPts val="2380"/>
                </a:lnSpc>
                <a:spcBef>
                  <a:spcPct val="0"/>
                </a:spcBef>
              </a:pPr>
              <a:r>
                <a:rPr lang="en-US" sz="1700">
                  <a:solidFill>
                    <a:srgbClr val="191919"/>
                  </a:solidFill>
                  <a:latin typeface="Muli"/>
                  <a:ea typeface="Muli"/>
                  <a:cs typeface="Muli"/>
                  <a:sym typeface="Muli"/>
                </a:rPr>
                <a:t>GitHub actions provide automatic rule enforcement</a:t>
              </a:r>
            </a:p>
          </p:txBody>
        </p:sp>
      </p:grpSp>
      <p:sp>
        <p:nvSpPr>
          <p:cNvPr name="TextBox 45" id="45"/>
          <p:cNvSpPr txBox="true"/>
          <p:nvPr/>
        </p:nvSpPr>
        <p:spPr>
          <a:xfrm rot="0">
            <a:off x="328353" y="198611"/>
            <a:ext cx="348655" cy="353060"/>
          </a:xfrm>
          <a:prstGeom prst="rect">
            <a:avLst/>
          </a:prstGeom>
        </p:spPr>
        <p:txBody>
          <a:bodyPr anchor="t" rtlCol="false" tIns="0" lIns="0" bIns="0" rIns="0">
            <a:spAutoFit/>
          </a:bodyPr>
          <a:lstStyle/>
          <a:p>
            <a:pPr algn="ctr">
              <a:lnSpc>
                <a:spcPts val="2859"/>
              </a:lnSpc>
              <a:spcBef>
                <a:spcPct val="0"/>
              </a:spcBef>
            </a:pPr>
            <a:r>
              <a:rPr lang="en-US" b="true" sz="2199" spc="-65">
                <a:solidFill>
                  <a:srgbClr val="222222"/>
                </a:solidFill>
                <a:latin typeface="Muli Ultra-Bold"/>
                <a:ea typeface="Muli Ultra-Bold"/>
                <a:cs typeface="Muli Ultra-Bold"/>
                <a:sym typeface="Muli Ultra-Bold"/>
              </a:rPr>
              <a:t>R9</a:t>
            </a:r>
          </a:p>
        </p:txBody>
      </p:sp>
      <p:sp>
        <p:nvSpPr>
          <p:cNvPr name="TextBox 46" id="46"/>
          <p:cNvSpPr txBox="true"/>
          <p:nvPr/>
        </p:nvSpPr>
        <p:spPr>
          <a:xfrm rot="0">
            <a:off x="231600" y="9648825"/>
            <a:ext cx="17824800" cy="500696"/>
          </a:xfrm>
          <a:prstGeom prst="rect">
            <a:avLst/>
          </a:prstGeom>
        </p:spPr>
        <p:txBody>
          <a:bodyPr anchor="t" rtlCol="false" tIns="0" lIns="0" bIns="0" rIns="0">
            <a:spAutoFit/>
          </a:bodyPr>
          <a:lstStyle/>
          <a:p>
            <a:pPr algn="ctr">
              <a:lnSpc>
                <a:spcPts val="1017"/>
              </a:lnSpc>
              <a:spcBef>
                <a:spcPct val="0"/>
              </a:spcBef>
            </a:pPr>
            <a:r>
              <a:rPr lang="en-US" sz="800">
                <a:solidFill>
                  <a:srgbClr val="000000"/>
                </a:solidFill>
                <a:latin typeface="Source Sans 3"/>
                <a:ea typeface="Source Sans 3"/>
                <a:cs typeface="Source Sans 3"/>
                <a:sym typeface="Source Sans 3"/>
              </a:rPr>
              <a:t>I will address our core definition of done: I can officially confirm that the release tag vW23 has been successfully created, and our repository's README has been fully updated with this week's locked prediction. To maintain absolute data integrity across our multi-agent workflow, we have enforced strict branch rules. As shown on the left, our 'main' branch is heavily protected. GitHub Actions are configured to provide automatic rule enforcement, ensuring no single member can overwrite our consensus data. Our required workflow dictates that every team member—whether uploading macro screenshots or LLM JSON outputs—must pull the most recent main, create their own specific branch, and push a Pull Request (PR) for peer review. Only after we iterate and approve the changes are they merged back into the main branch, as visualized in the commit graph above. This rigorous CI/CD pipeline guarantees a perfectly clear directory structure. As you can see on the right, all raw AI responses, market screenshots, and our final Human Score are safely siloed into their respective 'evidence' and 'data' folders. This provides a transparent, immutable audit trail for grading. I will now hand the presentation over to our QA Lead for the final sprint calibration and retrospective.</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F6E7DE"/>
        </a:solidFill>
      </p:bgPr>
    </p:bg>
    <p:spTree>
      <p:nvGrpSpPr>
        <p:cNvPr id="1" name=""/>
        <p:cNvGrpSpPr/>
        <p:nvPr/>
      </p:nvGrpSpPr>
      <p:grpSpPr>
        <a:xfrm>
          <a:off x="0" y="0"/>
          <a:ext cx="0" cy="0"/>
          <a:chOff x="0" y="0"/>
          <a:chExt cx="0" cy="0"/>
        </a:xfrm>
      </p:grpSpPr>
      <p:grpSp>
        <p:nvGrpSpPr>
          <p:cNvPr name="Group 2" id="2"/>
          <p:cNvGrpSpPr/>
          <p:nvPr/>
        </p:nvGrpSpPr>
        <p:grpSpPr>
          <a:xfrm rot="0">
            <a:off x="944709" y="2364783"/>
            <a:ext cx="5452391" cy="5707967"/>
            <a:chOff x="0" y="0"/>
            <a:chExt cx="7093419" cy="7425916"/>
          </a:xfrm>
        </p:grpSpPr>
        <p:sp>
          <p:nvSpPr>
            <p:cNvPr name="Freeform 3" id="3"/>
            <p:cNvSpPr/>
            <p:nvPr/>
          </p:nvSpPr>
          <p:spPr>
            <a:xfrm flipH="false" flipV="false" rot="0">
              <a:off x="0" y="0"/>
              <a:ext cx="7093419" cy="7324316"/>
            </a:xfrm>
            <a:custGeom>
              <a:avLst/>
              <a:gdLst/>
              <a:ahLst/>
              <a:cxnLst/>
              <a:rect r="r" b="b" t="t" l="l"/>
              <a:pathLst>
                <a:path h="7324316" w="7093419">
                  <a:moveTo>
                    <a:pt x="0" y="0"/>
                  </a:moveTo>
                  <a:lnTo>
                    <a:pt x="7093419" y="0"/>
                  </a:lnTo>
                  <a:lnTo>
                    <a:pt x="7093419" y="7324316"/>
                  </a:lnTo>
                  <a:lnTo>
                    <a:pt x="0" y="7324316"/>
                  </a:lnTo>
                  <a:close/>
                </a:path>
              </a:pathLst>
            </a:custGeom>
            <a:solidFill>
              <a:srgbClr val="FDF9B4"/>
            </a:solidFill>
          </p:spPr>
        </p:sp>
        <p:sp>
          <p:nvSpPr>
            <p:cNvPr name="Freeform 4" id="4"/>
            <p:cNvSpPr/>
            <p:nvPr/>
          </p:nvSpPr>
          <p:spPr>
            <a:xfrm flipH="false" flipV="false" rot="0">
              <a:off x="0" y="0"/>
              <a:ext cx="7093419" cy="7425916"/>
            </a:xfrm>
            <a:custGeom>
              <a:avLst/>
              <a:gdLst/>
              <a:ahLst/>
              <a:cxnLst/>
              <a:rect r="r" b="b" t="t" l="l"/>
              <a:pathLst>
                <a:path h="7425916" w="7093419">
                  <a:moveTo>
                    <a:pt x="0" y="7324316"/>
                  </a:moveTo>
                  <a:lnTo>
                    <a:pt x="7093419" y="7324316"/>
                  </a:lnTo>
                  <a:lnTo>
                    <a:pt x="6966419" y="7425916"/>
                  </a:lnTo>
                  <a:cubicBezTo>
                    <a:pt x="6966419" y="7425916"/>
                    <a:pt x="5975819" y="7349716"/>
                    <a:pt x="5874219" y="7349716"/>
                  </a:cubicBezTo>
                  <a:lnTo>
                    <a:pt x="1219200" y="7349716"/>
                  </a:lnTo>
                  <a:cubicBezTo>
                    <a:pt x="1117600" y="7349716"/>
                    <a:pt x="127000" y="7425916"/>
                    <a:pt x="127000" y="7425916"/>
                  </a:cubicBezTo>
                  <a:lnTo>
                    <a:pt x="0" y="7324316"/>
                  </a:lnTo>
                  <a:lnTo>
                    <a:pt x="0" y="0"/>
                  </a:lnTo>
                  <a:lnTo>
                    <a:pt x="7093419" y="0"/>
                  </a:lnTo>
                  <a:lnTo>
                    <a:pt x="7093419" y="7324316"/>
                  </a:lnTo>
                  <a:lnTo>
                    <a:pt x="12700" y="7324316"/>
                  </a:lnTo>
                  <a:lnTo>
                    <a:pt x="12700" y="7311616"/>
                  </a:lnTo>
                  <a:lnTo>
                    <a:pt x="7080719" y="7311616"/>
                  </a:lnTo>
                  <a:lnTo>
                    <a:pt x="7080719" y="12700"/>
                  </a:lnTo>
                  <a:lnTo>
                    <a:pt x="12700" y="12700"/>
                  </a:lnTo>
                  <a:lnTo>
                    <a:pt x="12700" y="7324316"/>
                  </a:lnTo>
                </a:path>
              </a:pathLst>
            </a:custGeom>
            <a:solidFill>
              <a:srgbClr val="394C60">
                <a:alpha val="784"/>
              </a:srgbClr>
            </a:solidFill>
          </p:spPr>
        </p:sp>
        <p:sp>
          <p:nvSpPr>
            <p:cNvPr name="TextBox 5" id="5"/>
            <p:cNvSpPr txBox="true"/>
            <p:nvPr/>
          </p:nvSpPr>
          <p:spPr>
            <a:xfrm>
              <a:off x="0" y="-28575"/>
              <a:ext cx="7093419" cy="6895691"/>
            </a:xfrm>
            <a:prstGeom prst="rect">
              <a:avLst/>
            </a:prstGeom>
          </p:spPr>
          <p:txBody>
            <a:bodyPr anchor="t" rtlCol="false" tIns="208254" lIns="208254" bIns="208254" rIns="208254"/>
            <a:lstStyle/>
            <a:p>
              <a:pPr algn="l">
                <a:lnSpc>
                  <a:spcPts val="2087"/>
                </a:lnSpc>
              </a:pPr>
              <a:r>
                <a:rPr lang="en-US" sz="1490" spc="-44" b="true">
                  <a:solidFill>
                    <a:srgbClr val="000000"/>
                  </a:solidFill>
                  <a:latin typeface="Canva Sans Bold"/>
                  <a:ea typeface="Canva Sans Bold"/>
                  <a:cs typeface="Canva Sans Bold"/>
                  <a:sym typeface="Canva Sans Bold"/>
                </a:rPr>
                <a:t>For my R10 QA Lead role, I completed the calibration log, LLM horse race, and learning log.</a:t>
              </a:r>
            </a:p>
            <a:p>
              <a:pPr algn="l">
                <a:lnSpc>
                  <a:spcPts val="2087"/>
                </a:lnSpc>
              </a:pPr>
            </a:p>
            <a:p>
              <a:pPr algn="l">
                <a:lnSpc>
                  <a:spcPts val="2087"/>
                </a:lnSpc>
              </a:pPr>
              <a:r>
                <a:rPr lang="en-US" sz="1490" spc="-44" b="true">
                  <a:solidFill>
                    <a:srgbClr val="000000"/>
                  </a:solidFill>
                  <a:latin typeface="Canva Sans Bold"/>
                  <a:ea typeface="Canva Sans Bold"/>
                  <a:cs typeface="Canva Sans Bold"/>
                  <a:sym typeface="Canva Sans Bold"/>
                </a:rPr>
                <a:t>For calibration, I kept the score pending instead of forcing a number. The reason is that QA should only score when the prediction week and actuals week clearly match.</a:t>
              </a:r>
            </a:p>
            <a:p>
              <a:pPr algn="l">
                <a:lnSpc>
                  <a:spcPts val="2087"/>
                </a:lnSpc>
              </a:pPr>
            </a:p>
            <a:p>
              <a:pPr algn="l">
                <a:lnSpc>
                  <a:spcPts val="2087"/>
                </a:lnSpc>
              </a:pPr>
              <a:r>
                <a:rPr lang="en-US" sz="1490" b="true">
                  <a:solidFill>
                    <a:srgbClr val="000000"/>
                  </a:solidFill>
                  <a:latin typeface="Canva Sans Bold"/>
                  <a:ea typeface="Canva Sans Bold"/>
                  <a:cs typeface="Canva Sans Bold"/>
                  <a:sym typeface="Canva Sans Bold"/>
                </a:rPr>
                <a:t>For the LLM horse race, I used the merged R6 comparison table. The actual SPX result was +1.40%. DeepSeek was the closest model because its forecast range included the actual result and its midpoint was closest.</a:t>
              </a:r>
            </a:p>
          </p:txBody>
        </p:sp>
      </p:grpSp>
      <p:sp>
        <p:nvSpPr>
          <p:cNvPr name="Freeform 6" id="6"/>
          <p:cNvSpPr/>
          <p:nvPr/>
        </p:nvSpPr>
        <p:spPr>
          <a:xfrm flipH="false" flipV="false" rot="0">
            <a:off x="12226408" y="5143500"/>
            <a:ext cx="5830002" cy="1356045"/>
          </a:xfrm>
          <a:custGeom>
            <a:avLst/>
            <a:gdLst/>
            <a:ahLst/>
            <a:cxnLst/>
            <a:rect r="r" b="b" t="t" l="l"/>
            <a:pathLst>
              <a:path h="1356045" w="5830002">
                <a:moveTo>
                  <a:pt x="0" y="0"/>
                </a:moveTo>
                <a:lnTo>
                  <a:pt x="5830002" y="0"/>
                </a:lnTo>
                <a:lnTo>
                  <a:pt x="5830002" y="1356045"/>
                </a:lnTo>
                <a:lnTo>
                  <a:pt x="0" y="1356045"/>
                </a:lnTo>
                <a:lnTo>
                  <a:pt x="0" y="0"/>
                </a:lnTo>
                <a:close/>
              </a:path>
            </a:pathLst>
          </a:custGeom>
          <a:blipFill>
            <a:blip r:embed="rId2"/>
            <a:stretch>
              <a:fillRect l="0" t="0" r="0" b="0"/>
            </a:stretch>
          </a:blipFill>
        </p:spPr>
      </p:sp>
      <p:sp>
        <p:nvSpPr>
          <p:cNvPr name="Freeform 7" id="7"/>
          <p:cNvSpPr/>
          <p:nvPr/>
        </p:nvSpPr>
        <p:spPr>
          <a:xfrm flipH="false" flipV="false" rot="0">
            <a:off x="12226408" y="7602193"/>
            <a:ext cx="4624258" cy="2115352"/>
          </a:xfrm>
          <a:custGeom>
            <a:avLst/>
            <a:gdLst/>
            <a:ahLst/>
            <a:cxnLst/>
            <a:rect r="r" b="b" t="t" l="l"/>
            <a:pathLst>
              <a:path h="2115352" w="4624258">
                <a:moveTo>
                  <a:pt x="0" y="0"/>
                </a:moveTo>
                <a:lnTo>
                  <a:pt x="4624258" y="0"/>
                </a:lnTo>
                <a:lnTo>
                  <a:pt x="4624258" y="2115352"/>
                </a:lnTo>
                <a:lnTo>
                  <a:pt x="0" y="2115352"/>
                </a:lnTo>
                <a:lnTo>
                  <a:pt x="0" y="0"/>
                </a:lnTo>
                <a:close/>
              </a:path>
            </a:pathLst>
          </a:custGeom>
          <a:blipFill>
            <a:blip r:embed="rId3"/>
            <a:stretch>
              <a:fillRect l="0" t="0" r="0" b="0"/>
            </a:stretch>
          </a:blipFill>
        </p:spPr>
      </p:sp>
      <p:sp>
        <p:nvSpPr>
          <p:cNvPr name="Freeform 8" id="8"/>
          <p:cNvSpPr/>
          <p:nvPr/>
        </p:nvSpPr>
        <p:spPr>
          <a:xfrm flipH="false" flipV="false" rot="0">
            <a:off x="12226408" y="1841103"/>
            <a:ext cx="6049558" cy="1047361"/>
          </a:xfrm>
          <a:custGeom>
            <a:avLst/>
            <a:gdLst/>
            <a:ahLst/>
            <a:cxnLst/>
            <a:rect r="r" b="b" t="t" l="l"/>
            <a:pathLst>
              <a:path h="1047361" w="6049558">
                <a:moveTo>
                  <a:pt x="0" y="0"/>
                </a:moveTo>
                <a:lnTo>
                  <a:pt x="6049558" y="0"/>
                </a:lnTo>
                <a:lnTo>
                  <a:pt x="6049558" y="1047361"/>
                </a:lnTo>
                <a:lnTo>
                  <a:pt x="0" y="1047361"/>
                </a:lnTo>
                <a:lnTo>
                  <a:pt x="0" y="0"/>
                </a:lnTo>
                <a:close/>
              </a:path>
            </a:pathLst>
          </a:custGeom>
          <a:blipFill>
            <a:blip r:embed="rId4"/>
            <a:stretch>
              <a:fillRect l="0" t="0" r="0" b="0"/>
            </a:stretch>
          </a:blipFill>
        </p:spPr>
      </p:sp>
      <p:sp>
        <p:nvSpPr>
          <p:cNvPr name="TextBox 9" id="9"/>
          <p:cNvSpPr txBox="true"/>
          <p:nvPr/>
        </p:nvSpPr>
        <p:spPr>
          <a:xfrm rot="0">
            <a:off x="692818" y="675640"/>
            <a:ext cx="503783" cy="353060"/>
          </a:xfrm>
          <a:prstGeom prst="rect">
            <a:avLst/>
          </a:prstGeom>
        </p:spPr>
        <p:txBody>
          <a:bodyPr anchor="t" rtlCol="false" tIns="0" lIns="0" bIns="0" rIns="0">
            <a:spAutoFit/>
          </a:bodyPr>
          <a:lstStyle/>
          <a:p>
            <a:pPr algn="ctr">
              <a:lnSpc>
                <a:spcPts val="2859"/>
              </a:lnSpc>
              <a:spcBef>
                <a:spcPct val="0"/>
              </a:spcBef>
            </a:pPr>
            <a:r>
              <a:rPr lang="en-US" sz="2199" spc="-65">
                <a:solidFill>
                  <a:srgbClr val="000000"/>
                </a:solidFill>
                <a:latin typeface="Muli"/>
                <a:ea typeface="Muli"/>
                <a:cs typeface="Muli"/>
                <a:sym typeface="Muli"/>
              </a:rPr>
              <a:t>R10</a:t>
            </a:r>
          </a:p>
        </p:txBody>
      </p:sp>
      <p:sp>
        <p:nvSpPr>
          <p:cNvPr name="TextBox 10" id="10"/>
          <p:cNvSpPr txBox="true"/>
          <p:nvPr/>
        </p:nvSpPr>
        <p:spPr>
          <a:xfrm rot="0">
            <a:off x="6397101" y="1345846"/>
            <a:ext cx="5506789" cy="7892158"/>
          </a:xfrm>
          <a:prstGeom prst="rect">
            <a:avLst/>
          </a:prstGeom>
        </p:spPr>
        <p:txBody>
          <a:bodyPr anchor="t" rtlCol="false" tIns="0" lIns="0" bIns="0" rIns="0">
            <a:spAutoFit/>
          </a:bodyPr>
          <a:lstStyle/>
          <a:p>
            <a:pPr algn="ctr">
              <a:lnSpc>
                <a:spcPts val="2496"/>
              </a:lnSpc>
              <a:spcBef>
                <a:spcPct val="0"/>
              </a:spcBef>
            </a:pPr>
            <a:r>
              <a:rPr lang="en-US" sz="1920" spc="-57">
                <a:solidFill>
                  <a:srgbClr val="000000"/>
                </a:solidFill>
                <a:latin typeface="Muli"/>
                <a:ea typeface="Muli"/>
                <a:cs typeface="Muli"/>
                <a:sym typeface="Muli"/>
              </a:rPr>
              <a:t>Calibration Score</a:t>
            </a:r>
          </a:p>
          <a:p>
            <a:pPr algn="ctr">
              <a:lnSpc>
                <a:spcPts val="2496"/>
              </a:lnSpc>
              <a:spcBef>
                <a:spcPct val="0"/>
              </a:spcBef>
            </a:pPr>
            <a:r>
              <a:rPr lang="en-US" sz="1920" spc="-57">
                <a:solidFill>
                  <a:srgbClr val="000000"/>
                </a:solidFill>
                <a:latin typeface="Muli"/>
                <a:ea typeface="Muli"/>
                <a:cs typeface="Muli"/>
                <a:sym typeface="Muli"/>
              </a:rPr>
              <a:t>• Current status: Pending / not finalized</a:t>
            </a:r>
          </a:p>
          <a:p>
            <a:pPr algn="ctr">
              <a:lnSpc>
                <a:spcPts val="2496"/>
              </a:lnSpc>
              <a:spcBef>
                <a:spcPct val="0"/>
              </a:spcBef>
            </a:pPr>
            <a:r>
              <a:rPr lang="en-US" sz="1920" spc="-57">
                <a:solidFill>
                  <a:srgbClr val="000000"/>
                </a:solidFill>
                <a:latin typeface="Muli"/>
                <a:ea typeface="Muli"/>
                <a:cs typeface="Muli"/>
                <a:sym typeface="Muli"/>
              </a:rPr>
              <a:t>• Reason: prediction week and actuals week must clearly match before scoring</a:t>
            </a:r>
          </a:p>
          <a:p>
            <a:pPr algn="ctr">
              <a:lnSpc>
                <a:spcPts val="2496"/>
              </a:lnSpc>
              <a:spcBef>
                <a:spcPct val="0"/>
              </a:spcBef>
            </a:pPr>
            <a:r>
              <a:rPr lang="en-US" sz="1920" spc="-57">
                <a:solidFill>
                  <a:srgbClr val="000000"/>
                </a:solidFill>
                <a:latin typeface="Muli"/>
                <a:ea typeface="Muli"/>
                <a:cs typeface="Muli"/>
                <a:sym typeface="Muli"/>
              </a:rPr>
              <a:t>• QA decision: do not force a score from mismatched evidence</a:t>
            </a:r>
          </a:p>
          <a:p>
            <a:pPr algn="ctr">
              <a:lnSpc>
                <a:spcPts val="2496"/>
              </a:lnSpc>
              <a:spcBef>
                <a:spcPct val="0"/>
              </a:spcBef>
            </a:pPr>
          </a:p>
          <a:p>
            <a:pPr algn="ctr">
              <a:lnSpc>
                <a:spcPts val="2496"/>
              </a:lnSpc>
              <a:spcBef>
                <a:spcPct val="0"/>
              </a:spcBef>
            </a:pPr>
          </a:p>
          <a:p>
            <a:pPr algn="ctr">
              <a:lnSpc>
                <a:spcPts val="2496"/>
              </a:lnSpc>
              <a:spcBef>
                <a:spcPct val="0"/>
              </a:spcBef>
            </a:pPr>
          </a:p>
          <a:p>
            <a:pPr algn="ctr">
              <a:lnSpc>
                <a:spcPts val="2496"/>
              </a:lnSpc>
              <a:spcBef>
                <a:spcPct val="0"/>
              </a:spcBef>
            </a:pPr>
          </a:p>
          <a:p>
            <a:pPr algn="ctr">
              <a:lnSpc>
                <a:spcPts val="2496"/>
              </a:lnSpc>
              <a:spcBef>
                <a:spcPct val="0"/>
              </a:spcBef>
            </a:pPr>
          </a:p>
          <a:p>
            <a:pPr algn="ctr">
              <a:lnSpc>
                <a:spcPts val="2496"/>
              </a:lnSpc>
              <a:spcBef>
                <a:spcPct val="0"/>
              </a:spcBef>
            </a:pPr>
            <a:r>
              <a:rPr lang="en-US" sz="1920" spc="-57">
                <a:solidFill>
                  <a:srgbClr val="000000"/>
                </a:solidFill>
                <a:latin typeface="Muli"/>
                <a:ea typeface="Muli"/>
                <a:cs typeface="Muli"/>
                <a:sym typeface="Muli"/>
              </a:rPr>
              <a:t>LLM Horse Race</a:t>
            </a:r>
          </a:p>
          <a:p>
            <a:pPr algn="ctr">
              <a:lnSpc>
                <a:spcPts val="2496"/>
              </a:lnSpc>
              <a:spcBef>
                <a:spcPct val="0"/>
              </a:spcBef>
            </a:pPr>
            <a:r>
              <a:rPr lang="en-US" sz="1920" spc="-57">
                <a:solidFill>
                  <a:srgbClr val="000000"/>
                </a:solidFill>
                <a:latin typeface="Muli"/>
                <a:ea typeface="Muli"/>
                <a:cs typeface="Muli"/>
                <a:sym typeface="Muli"/>
              </a:rPr>
              <a:t>• Actual SPX result: +1.40%</a:t>
            </a:r>
          </a:p>
          <a:p>
            <a:pPr algn="ctr">
              <a:lnSpc>
                <a:spcPts val="2496"/>
              </a:lnSpc>
              <a:spcBef>
                <a:spcPct val="0"/>
              </a:spcBef>
            </a:pPr>
            <a:r>
              <a:rPr lang="en-US" sz="1920" spc="-57">
                <a:solidFill>
                  <a:srgbClr val="000000"/>
                </a:solidFill>
                <a:latin typeface="Muli"/>
                <a:ea typeface="Muli"/>
                <a:cs typeface="Muli"/>
                <a:sym typeface="Muli"/>
              </a:rPr>
              <a:t>• Closest model: DeepSeek</a:t>
            </a:r>
          </a:p>
          <a:p>
            <a:pPr algn="ctr">
              <a:lnSpc>
                <a:spcPts val="2496"/>
              </a:lnSpc>
              <a:spcBef>
                <a:spcPct val="0"/>
              </a:spcBef>
            </a:pPr>
            <a:r>
              <a:rPr lang="en-US" sz="1920" spc="-57">
                <a:solidFill>
                  <a:srgbClr val="000000"/>
                </a:solidFill>
                <a:latin typeface="Muli"/>
                <a:ea typeface="Muli"/>
                <a:cs typeface="Muli"/>
                <a:sym typeface="Muli"/>
              </a:rPr>
              <a:t>• Reason: DeepSeek included the actual SPX result in its range and had the closest midpoint</a:t>
            </a:r>
          </a:p>
          <a:p>
            <a:pPr algn="ctr">
              <a:lnSpc>
                <a:spcPts val="2496"/>
              </a:lnSpc>
              <a:spcBef>
                <a:spcPct val="0"/>
              </a:spcBef>
            </a:pPr>
          </a:p>
          <a:p>
            <a:pPr algn="ctr">
              <a:lnSpc>
                <a:spcPts val="2496"/>
              </a:lnSpc>
              <a:spcBef>
                <a:spcPct val="0"/>
              </a:spcBef>
            </a:pPr>
          </a:p>
          <a:p>
            <a:pPr algn="ctr">
              <a:lnSpc>
                <a:spcPts val="2496"/>
              </a:lnSpc>
              <a:spcBef>
                <a:spcPct val="0"/>
              </a:spcBef>
            </a:pPr>
          </a:p>
          <a:p>
            <a:pPr algn="ctr">
              <a:lnSpc>
                <a:spcPts val="2496"/>
              </a:lnSpc>
              <a:spcBef>
                <a:spcPct val="0"/>
              </a:spcBef>
            </a:pPr>
          </a:p>
          <a:p>
            <a:pPr algn="ctr">
              <a:lnSpc>
                <a:spcPts val="2496"/>
              </a:lnSpc>
              <a:spcBef>
                <a:spcPct val="0"/>
              </a:spcBef>
            </a:pPr>
          </a:p>
          <a:p>
            <a:pPr algn="ctr">
              <a:lnSpc>
                <a:spcPts val="2496"/>
              </a:lnSpc>
              <a:spcBef>
                <a:spcPct val="0"/>
              </a:spcBef>
            </a:pPr>
            <a:r>
              <a:rPr lang="en-US" sz="1920" spc="-57">
                <a:solidFill>
                  <a:srgbClr val="000000"/>
                </a:solidFill>
                <a:latin typeface="Muli"/>
                <a:ea typeface="Muli"/>
                <a:cs typeface="Muli"/>
                <a:sym typeface="Muli"/>
              </a:rPr>
              <a:t>Files Completed</a:t>
            </a:r>
          </a:p>
          <a:p>
            <a:pPr algn="ctr">
              <a:lnSpc>
                <a:spcPts val="2496"/>
              </a:lnSpc>
              <a:spcBef>
                <a:spcPct val="0"/>
              </a:spcBef>
            </a:pPr>
            <a:r>
              <a:rPr lang="en-US" sz="1920" spc="-57">
                <a:solidFill>
                  <a:srgbClr val="000000"/>
                </a:solidFill>
                <a:latin typeface="Muli"/>
                <a:ea typeface="Muli"/>
                <a:cs typeface="Muli"/>
                <a:sym typeface="Muli"/>
              </a:rPr>
              <a:t>• calibration_log.md</a:t>
            </a:r>
          </a:p>
          <a:p>
            <a:pPr algn="ctr">
              <a:lnSpc>
                <a:spcPts val="2496"/>
              </a:lnSpc>
              <a:spcBef>
                <a:spcPct val="0"/>
              </a:spcBef>
            </a:pPr>
            <a:r>
              <a:rPr lang="en-US" sz="1920" spc="-57">
                <a:solidFill>
                  <a:srgbClr val="000000"/>
                </a:solidFill>
                <a:latin typeface="Muli"/>
                <a:ea typeface="Muli"/>
                <a:cs typeface="Muli"/>
                <a:sym typeface="Muli"/>
              </a:rPr>
              <a:t>• llm_horserace.md</a:t>
            </a:r>
          </a:p>
          <a:p>
            <a:pPr algn="ctr">
              <a:lnSpc>
                <a:spcPts val="2496"/>
              </a:lnSpc>
              <a:spcBef>
                <a:spcPct val="0"/>
              </a:spcBef>
            </a:pPr>
            <a:r>
              <a:rPr lang="en-US" sz="1920" spc="-57">
                <a:solidFill>
                  <a:srgbClr val="000000"/>
                </a:solidFill>
                <a:latin typeface="Muli"/>
                <a:ea typeface="Muli"/>
                <a:cs typeface="Muli"/>
                <a:sym typeface="Muli"/>
              </a:rPr>
              <a:t>• learning_log_W02.md</a:t>
            </a:r>
          </a:p>
        </p:txBody>
      </p:sp>
      <p:sp>
        <p:nvSpPr>
          <p:cNvPr name="TextBox 11" id="11"/>
          <p:cNvSpPr txBox="true"/>
          <p:nvPr/>
        </p:nvSpPr>
        <p:spPr>
          <a:xfrm rot="0">
            <a:off x="1028700" y="8044175"/>
            <a:ext cx="4673433" cy="2199283"/>
          </a:xfrm>
          <a:prstGeom prst="rect">
            <a:avLst/>
          </a:prstGeom>
        </p:spPr>
        <p:txBody>
          <a:bodyPr anchor="t" rtlCol="false" tIns="0" lIns="0" bIns="0" rIns="0">
            <a:spAutoFit/>
          </a:bodyPr>
          <a:lstStyle/>
          <a:p>
            <a:pPr algn="ctr">
              <a:lnSpc>
                <a:spcPts val="1629"/>
              </a:lnSpc>
              <a:spcBef>
                <a:spcPct val="0"/>
              </a:spcBef>
            </a:pPr>
            <a:r>
              <a:rPr lang="en-US" sz="1164">
                <a:solidFill>
                  <a:srgbClr val="000000"/>
                </a:solidFill>
                <a:latin typeface="Muli"/>
                <a:ea typeface="Muli"/>
                <a:cs typeface="Muli"/>
                <a:sym typeface="Muli"/>
              </a:rPr>
              <a:t>My primary responsibility is to objectively audit our process and evaluate our AI models. First, regarding our calibration score, I have officially marked it as 'Pending'. As a strict QA rule, we do not force a score from mismatched evidence; the locked prediction week and the available actuals must clearly align before a valid score can be finalized. Next, for our LLM Horse Race, benchmarking against the actual SPX result of plus 1.40%, DeepSeek emerged as the definitive winner. It was the most accurate model because its precise forecast range successfully captured the actual result, and its midpoint was the closest. All supporting logs have been committed to the QA folder.</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F6E7DE"/>
        </a:solidFill>
      </p:bgPr>
    </p:bg>
    <p:spTree>
      <p:nvGrpSpPr>
        <p:cNvPr id="1" name=""/>
        <p:cNvGrpSpPr/>
        <p:nvPr/>
      </p:nvGrpSpPr>
      <p:grpSpPr>
        <a:xfrm>
          <a:off x="0" y="0"/>
          <a:ext cx="0" cy="0"/>
          <a:chOff x="0" y="0"/>
          <a:chExt cx="0" cy="0"/>
        </a:xfrm>
      </p:grpSpPr>
      <p:grpSp>
        <p:nvGrpSpPr>
          <p:cNvPr name="Group 2" id="2"/>
          <p:cNvGrpSpPr/>
          <p:nvPr/>
        </p:nvGrpSpPr>
        <p:grpSpPr>
          <a:xfrm rot="0">
            <a:off x="776808" y="2289517"/>
            <a:ext cx="5452391" cy="5707967"/>
            <a:chOff x="0" y="0"/>
            <a:chExt cx="7093419" cy="7425916"/>
          </a:xfrm>
        </p:grpSpPr>
        <p:sp>
          <p:nvSpPr>
            <p:cNvPr name="Freeform 3" id="3"/>
            <p:cNvSpPr/>
            <p:nvPr/>
          </p:nvSpPr>
          <p:spPr>
            <a:xfrm flipH="false" flipV="false" rot="0">
              <a:off x="0" y="0"/>
              <a:ext cx="7093419" cy="7324316"/>
            </a:xfrm>
            <a:custGeom>
              <a:avLst/>
              <a:gdLst/>
              <a:ahLst/>
              <a:cxnLst/>
              <a:rect r="r" b="b" t="t" l="l"/>
              <a:pathLst>
                <a:path h="7324316" w="7093419">
                  <a:moveTo>
                    <a:pt x="0" y="0"/>
                  </a:moveTo>
                  <a:lnTo>
                    <a:pt x="7093419" y="0"/>
                  </a:lnTo>
                  <a:lnTo>
                    <a:pt x="7093419" y="7324316"/>
                  </a:lnTo>
                  <a:lnTo>
                    <a:pt x="0" y="7324316"/>
                  </a:lnTo>
                  <a:close/>
                </a:path>
              </a:pathLst>
            </a:custGeom>
            <a:solidFill>
              <a:srgbClr val="FDF9B4"/>
            </a:solidFill>
          </p:spPr>
        </p:sp>
        <p:sp>
          <p:nvSpPr>
            <p:cNvPr name="Freeform 4" id="4"/>
            <p:cNvSpPr/>
            <p:nvPr/>
          </p:nvSpPr>
          <p:spPr>
            <a:xfrm flipH="false" flipV="false" rot="0">
              <a:off x="0" y="0"/>
              <a:ext cx="7093419" cy="7425916"/>
            </a:xfrm>
            <a:custGeom>
              <a:avLst/>
              <a:gdLst/>
              <a:ahLst/>
              <a:cxnLst/>
              <a:rect r="r" b="b" t="t" l="l"/>
              <a:pathLst>
                <a:path h="7425916" w="7093419">
                  <a:moveTo>
                    <a:pt x="0" y="7324316"/>
                  </a:moveTo>
                  <a:lnTo>
                    <a:pt x="7093419" y="7324316"/>
                  </a:lnTo>
                  <a:lnTo>
                    <a:pt x="6966419" y="7425916"/>
                  </a:lnTo>
                  <a:cubicBezTo>
                    <a:pt x="6966419" y="7425916"/>
                    <a:pt x="5975819" y="7349716"/>
                    <a:pt x="5874219" y="7349716"/>
                  </a:cubicBezTo>
                  <a:lnTo>
                    <a:pt x="1219200" y="7349716"/>
                  </a:lnTo>
                  <a:cubicBezTo>
                    <a:pt x="1117600" y="7349716"/>
                    <a:pt x="127000" y="7425916"/>
                    <a:pt x="127000" y="7425916"/>
                  </a:cubicBezTo>
                  <a:lnTo>
                    <a:pt x="0" y="7324316"/>
                  </a:lnTo>
                  <a:lnTo>
                    <a:pt x="0" y="0"/>
                  </a:lnTo>
                  <a:lnTo>
                    <a:pt x="7093419" y="0"/>
                  </a:lnTo>
                  <a:lnTo>
                    <a:pt x="7093419" y="7324316"/>
                  </a:lnTo>
                  <a:lnTo>
                    <a:pt x="12700" y="7324316"/>
                  </a:lnTo>
                  <a:lnTo>
                    <a:pt x="12700" y="7311616"/>
                  </a:lnTo>
                  <a:lnTo>
                    <a:pt x="7080719" y="7311616"/>
                  </a:lnTo>
                  <a:lnTo>
                    <a:pt x="7080719" y="12700"/>
                  </a:lnTo>
                  <a:lnTo>
                    <a:pt x="12700" y="12700"/>
                  </a:lnTo>
                  <a:lnTo>
                    <a:pt x="12700" y="7324316"/>
                  </a:lnTo>
                </a:path>
              </a:pathLst>
            </a:custGeom>
            <a:solidFill>
              <a:srgbClr val="394C60">
                <a:alpha val="784"/>
              </a:srgbClr>
            </a:solidFill>
          </p:spPr>
        </p:sp>
        <p:sp>
          <p:nvSpPr>
            <p:cNvPr name="TextBox 5" id="5"/>
            <p:cNvSpPr txBox="true"/>
            <p:nvPr/>
          </p:nvSpPr>
          <p:spPr>
            <a:xfrm>
              <a:off x="0" y="-28575"/>
              <a:ext cx="7093419" cy="6895691"/>
            </a:xfrm>
            <a:prstGeom prst="rect">
              <a:avLst/>
            </a:prstGeom>
          </p:spPr>
          <p:txBody>
            <a:bodyPr anchor="t" rtlCol="false" tIns="208254" lIns="208254" bIns="208254" rIns="208254"/>
            <a:lstStyle/>
            <a:p>
              <a:pPr algn="l">
                <a:lnSpc>
                  <a:spcPts val="2087"/>
                </a:lnSpc>
              </a:pPr>
              <a:r>
                <a:rPr lang="en-US" sz="1490" spc="-44" b="true">
                  <a:solidFill>
                    <a:srgbClr val="000000"/>
                  </a:solidFill>
                  <a:latin typeface="Canva Sans Bold"/>
                  <a:ea typeface="Canva Sans Bold"/>
                  <a:cs typeface="Canva Sans Bold"/>
                  <a:sym typeface="Canva Sans Bold"/>
                </a:rPr>
                <a:t>The main thing I learned is that being right on direction is not enough. For QA, we need clear evidence showing</a:t>
              </a:r>
              <a:r>
                <a:rPr lang="en-US" sz="1490" spc="-44" b="true">
                  <a:solidFill>
                    <a:srgbClr val="000000"/>
                  </a:solidFill>
                  <a:latin typeface="Canva Sans Bold"/>
                  <a:ea typeface="Canva Sans Bold"/>
                  <a:cs typeface="Canva Sans Bold"/>
                  <a:sym typeface="Canva Sans Bold"/>
                </a:rPr>
                <a:t> what the team predicted, when it was locked, and what confidence level was used.</a:t>
              </a:r>
            </a:p>
            <a:p>
              <a:pPr algn="l">
                <a:lnSpc>
                  <a:spcPts val="2087"/>
                </a:lnSpc>
              </a:pPr>
            </a:p>
            <a:p>
              <a:pPr algn="l">
                <a:lnSpc>
                  <a:spcPts val="2087"/>
                </a:lnSpc>
              </a:pPr>
              <a:r>
                <a:rPr lang="en-US" sz="1490" spc="-44" b="true">
                  <a:solidFill>
                    <a:srgbClr val="000000"/>
                  </a:solidFill>
                  <a:latin typeface="Canva Sans Bold"/>
                  <a:ea typeface="Canva Sans Bold"/>
                  <a:cs typeface="Canva Sans Bold"/>
                  <a:sym typeface="Canva Sans Bold"/>
                </a:rPr>
                <a:t>Next sprint, I will check the locked prediction file earlier. It should clearly show SPX, NDX, and IWM direction, percentage range, confidence level, and the prediction week.</a:t>
              </a:r>
            </a:p>
            <a:p>
              <a:pPr algn="l">
                <a:lnSpc>
                  <a:spcPts val="2087"/>
                </a:lnSpc>
              </a:pPr>
            </a:p>
            <a:p>
              <a:pPr algn="l">
                <a:lnSpc>
                  <a:spcPts val="2087"/>
                </a:lnSpc>
              </a:pPr>
              <a:r>
                <a:rPr lang="en-US" sz="1490" b="true">
                  <a:solidFill>
                    <a:srgbClr val="000000"/>
                  </a:solidFill>
                  <a:latin typeface="Canva Sans Bold"/>
                  <a:ea typeface="Canva Sans Bold"/>
                  <a:cs typeface="Canva Sans Bold"/>
                  <a:sym typeface="Canva Sans Bold"/>
                </a:rPr>
                <a:t>I will also check that the raw LLM outputs, Human Score, actuals, screenshots, calibration log, and learning log are all available before final submission.</a:t>
              </a:r>
            </a:p>
          </p:txBody>
        </p:sp>
      </p:grpSp>
      <p:sp>
        <p:nvSpPr>
          <p:cNvPr name="Freeform 6" id="6"/>
          <p:cNvSpPr/>
          <p:nvPr/>
        </p:nvSpPr>
        <p:spPr>
          <a:xfrm flipH="false" flipV="false" rot="0">
            <a:off x="8265796" y="3022034"/>
            <a:ext cx="8631586" cy="1488949"/>
          </a:xfrm>
          <a:custGeom>
            <a:avLst/>
            <a:gdLst/>
            <a:ahLst/>
            <a:cxnLst/>
            <a:rect r="r" b="b" t="t" l="l"/>
            <a:pathLst>
              <a:path h="1488949" w="8631586">
                <a:moveTo>
                  <a:pt x="0" y="0"/>
                </a:moveTo>
                <a:lnTo>
                  <a:pt x="8631586" y="0"/>
                </a:lnTo>
                <a:lnTo>
                  <a:pt x="8631586" y="1488948"/>
                </a:lnTo>
                <a:lnTo>
                  <a:pt x="0" y="1488948"/>
                </a:lnTo>
                <a:lnTo>
                  <a:pt x="0" y="0"/>
                </a:lnTo>
                <a:close/>
              </a:path>
            </a:pathLst>
          </a:custGeom>
          <a:blipFill>
            <a:blip r:embed="rId2"/>
            <a:stretch>
              <a:fillRect l="0" t="0" r="0" b="0"/>
            </a:stretch>
          </a:blipFill>
        </p:spPr>
      </p:sp>
      <p:sp>
        <p:nvSpPr>
          <p:cNvPr name="Freeform 7" id="7"/>
          <p:cNvSpPr/>
          <p:nvPr/>
        </p:nvSpPr>
        <p:spPr>
          <a:xfrm flipH="false" flipV="false" rot="0">
            <a:off x="10146432" y="6366527"/>
            <a:ext cx="4870313" cy="1939106"/>
          </a:xfrm>
          <a:custGeom>
            <a:avLst/>
            <a:gdLst/>
            <a:ahLst/>
            <a:cxnLst/>
            <a:rect r="r" b="b" t="t" l="l"/>
            <a:pathLst>
              <a:path h="1939106" w="4870313">
                <a:moveTo>
                  <a:pt x="0" y="0"/>
                </a:moveTo>
                <a:lnTo>
                  <a:pt x="4870313" y="0"/>
                </a:lnTo>
                <a:lnTo>
                  <a:pt x="4870313" y="1939106"/>
                </a:lnTo>
                <a:lnTo>
                  <a:pt x="0" y="1939106"/>
                </a:lnTo>
                <a:lnTo>
                  <a:pt x="0" y="0"/>
                </a:lnTo>
                <a:close/>
              </a:path>
            </a:pathLst>
          </a:custGeom>
          <a:blipFill>
            <a:blip r:embed="rId3"/>
            <a:stretch>
              <a:fillRect l="0" t="0" r="0" b="0"/>
            </a:stretch>
          </a:blipFill>
        </p:spPr>
      </p:sp>
      <p:sp>
        <p:nvSpPr>
          <p:cNvPr name="TextBox 8" id="8"/>
          <p:cNvSpPr txBox="true"/>
          <p:nvPr/>
        </p:nvSpPr>
        <p:spPr>
          <a:xfrm rot="0">
            <a:off x="776808" y="675640"/>
            <a:ext cx="503783" cy="353060"/>
          </a:xfrm>
          <a:prstGeom prst="rect">
            <a:avLst/>
          </a:prstGeom>
        </p:spPr>
        <p:txBody>
          <a:bodyPr anchor="t" rtlCol="false" tIns="0" lIns="0" bIns="0" rIns="0">
            <a:spAutoFit/>
          </a:bodyPr>
          <a:lstStyle/>
          <a:p>
            <a:pPr algn="ctr">
              <a:lnSpc>
                <a:spcPts val="2859"/>
              </a:lnSpc>
              <a:spcBef>
                <a:spcPct val="0"/>
              </a:spcBef>
            </a:pPr>
            <a:r>
              <a:rPr lang="en-US" sz="2199" spc="-65">
                <a:solidFill>
                  <a:srgbClr val="000000"/>
                </a:solidFill>
                <a:latin typeface="Muli"/>
                <a:ea typeface="Muli"/>
                <a:cs typeface="Muli"/>
                <a:sym typeface="Muli"/>
              </a:rPr>
              <a:t>R10</a:t>
            </a:r>
          </a:p>
        </p:txBody>
      </p:sp>
      <p:sp>
        <p:nvSpPr>
          <p:cNvPr name="TextBox 9" id="9"/>
          <p:cNvSpPr txBox="true"/>
          <p:nvPr/>
        </p:nvSpPr>
        <p:spPr>
          <a:xfrm rot="0">
            <a:off x="8923125" y="281548"/>
            <a:ext cx="7316928" cy="8024085"/>
          </a:xfrm>
          <a:prstGeom prst="rect">
            <a:avLst/>
          </a:prstGeom>
        </p:spPr>
        <p:txBody>
          <a:bodyPr anchor="t" rtlCol="false" tIns="0" lIns="0" bIns="0" rIns="0">
            <a:spAutoFit/>
          </a:bodyPr>
          <a:lstStyle/>
          <a:p>
            <a:pPr algn="ctr">
              <a:lnSpc>
                <a:spcPts val="2708"/>
              </a:lnSpc>
              <a:spcBef>
                <a:spcPct val="0"/>
              </a:spcBef>
            </a:pPr>
            <a:r>
              <a:rPr lang="en-US" sz="2083" spc="-62">
                <a:solidFill>
                  <a:srgbClr val="000000"/>
                </a:solidFill>
                <a:latin typeface="Muli"/>
                <a:ea typeface="Muli"/>
                <a:cs typeface="Muli"/>
                <a:sym typeface="Muli"/>
              </a:rPr>
              <a:t>R10 Learning - What We Improve Next Sprint</a:t>
            </a:r>
          </a:p>
          <a:p>
            <a:pPr algn="ctr">
              <a:lnSpc>
                <a:spcPts val="2708"/>
              </a:lnSpc>
              <a:spcBef>
                <a:spcPct val="0"/>
              </a:spcBef>
            </a:pPr>
          </a:p>
          <a:p>
            <a:pPr algn="ctr">
              <a:lnSpc>
                <a:spcPts val="2708"/>
              </a:lnSpc>
              <a:spcBef>
                <a:spcPct val="0"/>
              </a:spcBef>
            </a:pPr>
          </a:p>
          <a:p>
            <a:pPr algn="ctr">
              <a:lnSpc>
                <a:spcPts val="2708"/>
              </a:lnSpc>
              <a:spcBef>
                <a:spcPct val="0"/>
              </a:spcBef>
            </a:pPr>
            <a:r>
              <a:rPr lang="en-US" sz="2083" spc="-62">
                <a:solidFill>
                  <a:srgbClr val="000000"/>
                </a:solidFill>
                <a:latin typeface="Muli"/>
                <a:ea typeface="Muli"/>
                <a:cs typeface="Muli"/>
                <a:sym typeface="Muli"/>
              </a:rPr>
              <a:t>Main Learning</a:t>
            </a:r>
          </a:p>
          <a:p>
            <a:pPr algn="ctr">
              <a:lnSpc>
                <a:spcPts val="2708"/>
              </a:lnSpc>
              <a:spcBef>
                <a:spcPct val="0"/>
              </a:spcBef>
            </a:pPr>
            <a:r>
              <a:rPr lang="en-US" sz="2083" spc="-62">
                <a:solidFill>
                  <a:srgbClr val="000000"/>
                </a:solidFill>
                <a:latin typeface="Muli"/>
                <a:ea typeface="Muli"/>
                <a:cs typeface="Muli"/>
                <a:sym typeface="Muli"/>
              </a:rPr>
              <a:t>• Direction alone is not enough for QA scoring</a:t>
            </a:r>
          </a:p>
          <a:p>
            <a:pPr algn="ctr">
              <a:lnSpc>
                <a:spcPts val="2708"/>
              </a:lnSpc>
              <a:spcBef>
                <a:spcPct val="0"/>
              </a:spcBef>
            </a:pPr>
            <a:r>
              <a:rPr lang="en-US" sz="2083" spc="-62">
                <a:solidFill>
                  <a:srgbClr val="000000"/>
                </a:solidFill>
                <a:latin typeface="Muli"/>
                <a:ea typeface="Muli"/>
                <a:cs typeface="Muli"/>
                <a:sym typeface="Muli"/>
              </a:rPr>
              <a:t>• We also need the locked prediction file, confidence level, range, and correct week</a:t>
            </a:r>
          </a:p>
          <a:p>
            <a:pPr algn="ctr">
              <a:lnSpc>
                <a:spcPts val="2708"/>
              </a:lnSpc>
              <a:spcBef>
                <a:spcPct val="0"/>
              </a:spcBef>
            </a:pPr>
            <a:r>
              <a:rPr lang="en-US" sz="2083" spc="-62">
                <a:solidFill>
                  <a:srgbClr val="000000"/>
                </a:solidFill>
                <a:latin typeface="Muli"/>
                <a:ea typeface="Muli"/>
                <a:cs typeface="Muli"/>
                <a:sym typeface="Muli"/>
              </a:rPr>
              <a:t>• Clean evidence makes calibration easier and more honest</a:t>
            </a:r>
          </a:p>
          <a:p>
            <a:pPr algn="ctr">
              <a:lnSpc>
                <a:spcPts val="2708"/>
              </a:lnSpc>
              <a:spcBef>
                <a:spcPct val="0"/>
              </a:spcBef>
            </a:pPr>
          </a:p>
          <a:p>
            <a:pPr algn="ctr">
              <a:lnSpc>
                <a:spcPts val="2708"/>
              </a:lnSpc>
              <a:spcBef>
                <a:spcPct val="0"/>
              </a:spcBef>
            </a:pPr>
          </a:p>
          <a:p>
            <a:pPr algn="ctr">
              <a:lnSpc>
                <a:spcPts val="2708"/>
              </a:lnSpc>
              <a:spcBef>
                <a:spcPct val="0"/>
              </a:spcBef>
            </a:pPr>
          </a:p>
          <a:p>
            <a:pPr algn="ctr">
              <a:lnSpc>
                <a:spcPts val="2708"/>
              </a:lnSpc>
              <a:spcBef>
                <a:spcPct val="0"/>
              </a:spcBef>
            </a:pPr>
          </a:p>
          <a:p>
            <a:pPr algn="ctr">
              <a:lnSpc>
                <a:spcPts val="2708"/>
              </a:lnSpc>
              <a:spcBef>
                <a:spcPct val="0"/>
              </a:spcBef>
            </a:pPr>
          </a:p>
          <a:p>
            <a:pPr algn="ctr">
              <a:lnSpc>
                <a:spcPts val="2708"/>
              </a:lnSpc>
              <a:spcBef>
                <a:spcPct val="0"/>
              </a:spcBef>
            </a:pPr>
            <a:r>
              <a:rPr lang="en-US" sz="2083" spc="-62">
                <a:solidFill>
                  <a:srgbClr val="000000"/>
                </a:solidFill>
                <a:latin typeface="Muli"/>
                <a:ea typeface="Muli"/>
                <a:cs typeface="Muli"/>
                <a:sym typeface="Muli"/>
              </a:rPr>
              <a:t>One Change Next Sprint</a:t>
            </a:r>
          </a:p>
          <a:p>
            <a:pPr algn="ctr">
              <a:lnSpc>
                <a:spcPts val="2708"/>
              </a:lnSpc>
              <a:spcBef>
                <a:spcPct val="0"/>
              </a:spcBef>
            </a:pPr>
            <a:r>
              <a:rPr lang="en-US" sz="2083" spc="-62">
                <a:solidFill>
                  <a:srgbClr val="000000"/>
                </a:solidFill>
                <a:latin typeface="Muli"/>
                <a:ea typeface="Muli"/>
                <a:cs typeface="Muli"/>
                <a:sym typeface="Muli"/>
              </a:rPr>
              <a:t>• R10 will check the locked prediction file before final submission</a:t>
            </a:r>
          </a:p>
          <a:p>
            <a:pPr algn="ctr">
              <a:lnSpc>
                <a:spcPts val="2708"/>
              </a:lnSpc>
              <a:spcBef>
                <a:spcPct val="0"/>
              </a:spcBef>
            </a:pPr>
            <a:r>
              <a:rPr lang="en-US" sz="2083" spc="-62">
                <a:solidFill>
                  <a:srgbClr val="000000"/>
                </a:solidFill>
                <a:latin typeface="Muli"/>
                <a:ea typeface="Muli"/>
                <a:cs typeface="Muli"/>
                <a:sym typeface="Muli"/>
              </a:rPr>
              <a:t>• The file must show SPX / NDX / IWM direction, range, confidence, and prediction week</a:t>
            </a:r>
          </a:p>
          <a:p>
            <a:pPr algn="ctr">
              <a:lnSpc>
                <a:spcPts val="2708"/>
              </a:lnSpc>
              <a:spcBef>
                <a:spcPct val="0"/>
              </a:spcBef>
            </a:pPr>
          </a:p>
          <a:p>
            <a:pPr algn="ctr">
              <a:lnSpc>
                <a:spcPts val="2708"/>
              </a:lnSpc>
              <a:spcBef>
                <a:spcPct val="0"/>
              </a:spcBef>
            </a:pPr>
          </a:p>
          <a:p>
            <a:pPr algn="ctr">
              <a:lnSpc>
                <a:spcPts val="2708"/>
              </a:lnSpc>
              <a:spcBef>
                <a:spcPct val="0"/>
              </a:spcBef>
            </a:pPr>
          </a:p>
          <a:p>
            <a:pPr algn="ctr">
              <a:lnSpc>
                <a:spcPts val="2708"/>
              </a:lnSpc>
              <a:spcBef>
                <a:spcPct val="0"/>
              </a:spcBef>
            </a:pPr>
          </a:p>
          <a:p>
            <a:pPr algn="ctr">
              <a:lnSpc>
                <a:spcPts val="2708"/>
              </a:lnSpc>
              <a:spcBef>
                <a:spcPct val="0"/>
              </a:spcBef>
            </a:pPr>
          </a:p>
          <a:p>
            <a:pPr algn="ctr">
              <a:lnSpc>
                <a:spcPts val="2708"/>
              </a:lnSpc>
              <a:spcBef>
                <a:spcPct val="0"/>
              </a:spcBef>
            </a:pPr>
          </a:p>
        </p:txBody>
      </p:sp>
      <p:sp>
        <p:nvSpPr>
          <p:cNvPr name="TextBox 10" id="10"/>
          <p:cNvSpPr txBox="true"/>
          <p:nvPr/>
        </p:nvSpPr>
        <p:spPr>
          <a:xfrm rot="0">
            <a:off x="1280592" y="8977032"/>
            <a:ext cx="16230600" cy="1020089"/>
          </a:xfrm>
          <a:prstGeom prst="rect">
            <a:avLst/>
          </a:prstGeom>
        </p:spPr>
        <p:txBody>
          <a:bodyPr anchor="t" rtlCol="false" tIns="0" lIns="0" bIns="0" rIns="0">
            <a:spAutoFit/>
          </a:bodyPr>
          <a:lstStyle/>
          <a:p>
            <a:pPr algn="ctr">
              <a:lnSpc>
                <a:spcPts val="2049"/>
              </a:lnSpc>
              <a:spcBef>
                <a:spcPct val="0"/>
              </a:spcBef>
            </a:pPr>
            <a:r>
              <a:rPr lang="en-US" sz="1464">
                <a:solidFill>
                  <a:srgbClr val="000000"/>
                </a:solidFill>
                <a:latin typeface="Muli"/>
                <a:ea typeface="Muli"/>
                <a:cs typeface="Muli"/>
                <a:sym typeface="Muli"/>
              </a:rPr>
              <a:t>Moving to our retrospective, we recognized a critical gap in our evidentiary workflow. We realized that being right on market direction alone is simply not enough for rigorous QA scoring; we require clean, undeniable evidence to make calibration honest. Therefore, I must explicitly state our learning: what the team will do differently next sprint is implement a strict pre-submission QA gate. Specifically, I will audit the locked prediction file before any final submission is merged. I will verify that it explicitly dictates the SPX, NDX, and IWM directions, exact percentage ranges, confidence levels, and the precise prediction week. This operational change guarantees absolute transparency moving forward. Thank you, this concludes Team 1's sprint review.</a:t>
            </a:r>
          </a:p>
        </p:txBody>
      </p:sp>
    </p:spTree>
  </p:cSld>
  <p:clrMapOvr>
    <a:masterClrMapping/>
  </p:clrMapOvr>
</p:sld>
</file>

<file path=ppt/slides/slide29.xml><?xml version="1.0" encoding="utf-8"?>
<p:sld xmlns:p="http://schemas.openxmlformats.org/presentationml/2006/main" xmlns:a="http://schemas.openxmlformats.org/drawingml/2006/main">
  <p:cSld>
    <p:bg>
      <p:bgPr>
        <a:solidFill>
          <a:srgbClr val="F6E7DE"/>
        </a:solidFill>
      </p:bgPr>
    </p:bg>
    <p:spTree>
      <p:nvGrpSpPr>
        <p:cNvPr id="1" name=""/>
        <p:cNvGrpSpPr/>
        <p:nvPr/>
      </p:nvGrpSpPr>
      <p:grpSpPr>
        <a:xfrm>
          <a:off x="0" y="0"/>
          <a:ext cx="0" cy="0"/>
          <a:chOff x="0" y="0"/>
          <a:chExt cx="0" cy="0"/>
        </a:xfrm>
      </p:grpSpPr>
      <p:grpSp>
        <p:nvGrpSpPr>
          <p:cNvPr name="Group 2" id="2"/>
          <p:cNvGrpSpPr/>
          <p:nvPr/>
        </p:nvGrpSpPr>
        <p:grpSpPr>
          <a:xfrm rot="0">
            <a:off x="959039" y="7306023"/>
            <a:ext cx="16300261" cy="1952277"/>
            <a:chOff x="0" y="0"/>
            <a:chExt cx="5513915" cy="660400"/>
          </a:xfrm>
        </p:grpSpPr>
        <p:sp>
          <p:nvSpPr>
            <p:cNvPr name="Freeform 3" id="3"/>
            <p:cNvSpPr/>
            <p:nvPr/>
          </p:nvSpPr>
          <p:spPr>
            <a:xfrm flipH="false" flipV="false" rot="0">
              <a:off x="0" y="0"/>
              <a:ext cx="5513915" cy="660400"/>
            </a:xfrm>
            <a:custGeom>
              <a:avLst/>
              <a:gdLst/>
              <a:ahLst/>
              <a:cxnLst/>
              <a:rect r="r" b="b" t="t" l="l"/>
              <a:pathLst>
                <a:path h="660400" w="5513915">
                  <a:moveTo>
                    <a:pt x="5389455" y="660400"/>
                  </a:moveTo>
                  <a:lnTo>
                    <a:pt x="124460" y="660400"/>
                  </a:lnTo>
                  <a:cubicBezTo>
                    <a:pt x="55880" y="660400"/>
                    <a:pt x="0" y="604520"/>
                    <a:pt x="0" y="535940"/>
                  </a:cubicBezTo>
                  <a:lnTo>
                    <a:pt x="0" y="124460"/>
                  </a:lnTo>
                  <a:cubicBezTo>
                    <a:pt x="0" y="55880"/>
                    <a:pt x="55880" y="0"/>
                    <a:pt x="124460" y="0"/>
                  </a:cubicBezTo>
                  <a:lnTo>
                    <a:pt x="5389456" y="0"/>
                  </a:lnTo>
                  <a:cubicBezTo>
                    <a:pt x="5458035" y="0"/>
                    <a:pt x="5513915" y="55880"/>
                    <a:pt x="5513915" y="124460"/>
                  </a:cubicBezTo>
                  <a:lnTo>
                    <a:pt x="5513915" y="535940"/>
                  </a:lnTo>
                  <a:cubicBezTo>
                    <a:pt x="5513915" y="604520"/>
                    <a:pt x="5458035" y="660400"/>
                    <a:pt x="5389456" y="660400"/>
                  </a:cubicBezTo>
                  <a:close/>
                </a:path>
              </a:pathLst>
            </a:custGeom>
            <a:solidFill>
              <a:srgbClr val="FFFFFF"/>
            </a:solidFill>
          </p:spPr>
        </p:sp>
      </p:grpSp>
      <p:grpSp>
        <p:nvGrpSpPr>
          <p:cNvPr name="Group 4" id="4"/>
          <p:cNvGrpSpPr/>
          <p:nvPr/>
        </p:nvGrpSpPr>
        <p:grpSpPr>
          <a:xfrm rot="0">
            <a:off x="1028700" y="1028700"/>
            <a:ext cx="16300261" cy="5989525"/>
            <a:chOff x="0" y="0"/>
            <a:chExt cx="5513915" cy="2026086"/>
          </a:xfrm>
        </p:grpSpPr>
        <p:sp>
          <p:nvSpPr>
            <p:cNvPr name="Freeform 5" id="5"/>
            <p:cNvSpPr/>
            <p:nvPr/>
          </p:nvSpPr>
          <p:spPr>
            <a:xfrm flipH="false" flipV="false" rot="0">
              <a:off x="0" y="0"/>
              <a:ext cx="5513915" cy="2026086"/>
            </a:xfrm>
            <a:custGeom>
              <a:avLst/>
              <a:gdLst/>
              <a:ahLst/>
              <a:cxnLst/>
              <a:rect r="r" b="b" t="t" l="l"/>
              <a:pathLst>
                <a:path h="2026086" w="5513915">
                  <a:moveTo>
                    <a:pt x="5389455" y="2026086"/>
                  </a:moveTo>
                  <a:lnTo>
                    <a:pt x="124460" y="2026086"/>
                  </a:lnTo>
                  <a:cubicBezTo>
                    <a:pt x="55880" y="2026086"/>
                    <a:pt x="0" y="1970206"/>
                    <a:pt x="0" y="1901626"/>
                  </a:cubicBezTo>
                  <a:lnTo>
                    <a:pt x="0" y="124460"/>
                  </a:lnTo>
                  <a:cubicBezTo>
                    <a:pt x="0" y="55880"/>
                    <a:pt x="55880" y="0"/>
                    <a:pt x="124460" y="0"/>
                  </a:cubicBezTo>
                  <a:lnTo>
                    <a:pt x="5389456" y="0"/>
                  </a:lnTo>
                  <a:cubicBezTo>
                    <a:pt x="5458035" y="0"/>
                    <a:pt x="5513915" y="55880"/>
                    <a:pt x="5513915" y="124460"/>
                  </a:cubicBezTo>
                  <a:lnTo>
                    <a:pt x="5513915" y="1901626"/>
                  </a:lnTo>
                  <a:cubicBezTo>
                    <a:pt x="5513915" y="1970206"/>
                    <a:pt x="5458035" y="2026086"/>
                    <a:pt x="5389456" y="2026086"/>
                  </a:cubicBezTo>
                  <a:close/>
                </a:path>
              </a:pathLst>
            </a:custGeom>
            <a:solidFill>
              <a:srgbClr val="FF6F28"/>
            </a:solidFill>
          </p:spPr>
        </p:sp>
      </p:grpSp>
      <p:sp>
        <p:nvSpPr>
          <p:cNvPr name="TextBox 6" id="6"/>
          <p:cNvSpPr txBox="true"/>
          <p:nvPr/>
        </p:nvSpPr>
        <p:spPr>
          <a:xfrm rot="0">
            <a:off x="3194782" y="3404338"/>
            <a:ext cx="11898435" cy="1228725"/>
          </a:xfrm>
          <a:prstGeom prst="rect">
            <a:avLst/>
          </a:prstGeom>
        </p:spPr>
        <p:txBody>
          <a:bodyPr anchor="t" rtlCol="false" tIns="0" lIns="0" bIns="0" rIns="0">
            <a:spAutoFit/>
          </a:bodyPr>
          <a:lstStyle/>
          <a:p>
            <a:pPr algn="ctr" marL="0" indent="0" lvl="0">
              <a:lnSpc>
                <a:spcPts val="9600"/>
              </a:lnSpc>
            </a:pPr>
            <a:r>
              <a:rPr lang="en-US" b="true" sz="8000" spc="-160" u="none">
                <a:solidFill>
                  <a:srgbClr val="FFFFFF"/>
                </a:solidFill>
                <a:latin typeface="Muli Ultra-Bold"/>
                <a:ea typeface="Muli Ultra-Bold"/>
                <a:cs typeface="Muli Ultra-Bold"/>
                <a:sym typeface="Muli Ultra-Bold"/>
              </a:rPr>
              <a:t>Thank you!</a:t>
            </a:r>
          </a:p>
        </p:txBody>
      </p:sp>
      <p:sp>
        <p:nvSpPr>
          <p:cNvPr name="TextBox 7" id="7"/>
          <p:cNvSpPr txBox="true"/>
          <p:nvPr/>
        </p:nvSpPr>
        <p:spPr>
          <a:xfrm rot="0">
            <a:off x="4603385" y="8038956"/>
            <a:ext cx="9011570" cy="438785"/>
          </a:xfrm>
          <a:prstGeom prst="rect">
            <a:avLst/>
          </a:prstGeom>
        </p:spPr>
        <p:txBody>
          <a:bodyPr anchor="t" rtlCol="false" tIns="0" lIns="0" bIns="0" rIns="0">
            <a:spAutoFit/>
          </a:bodyPr>
          <a:lstStyle/>
          <a:p>
            <a:pPr algn="ctr">
              <a:lnSpc>
                <a:spcPts val="3640"/>
              </a:lnSpc>
            </a:pPr>
            <a:r>
              <a:rPr lang="en-US" sz="2600">
                <a:solidFill>
                  <a:srgbClr val="191919"/>
                </a:solidFill>
                <a:latin typeface="Muli"/>
                <a:ea typeface="Muli"/>
                <a:cs typeface="Muli"/>
                <a:sym typeface="Muli"/>
              </a:rPr>
              <a:t>Do you have any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DAHLNGtMOpI</dc:identifier>
  <dcterms:modified xsi:type="dcterms:W3CDTF">2011-08-01T06:04:30Z</dcterms:modified>
  <cp:revision>1</cp:revision>
  <dc:title>presentation_2026-W2_[Team 1-A]</dc:title>
</cp:coreProperties>
</file>