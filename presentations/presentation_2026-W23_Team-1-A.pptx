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7" r:id="rId5"/>
    <p:sldMasterId id="2147483668"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Lst>
  <p:sldSz cy="10287000" cx="18288000"/>
  <p:notesSz cx="6858000" cy="9144000"/>
  <p:embeddedFontLst>
    <p:embeddedFont>
      <p:font typeface="Playfair Display"/>
      <p:regular r:id="rId37"/>
      <p:bold r:id="rId38"/>
      <p:italic r:id="rId39"/>
      <p:boldItalic r:id="rId40"/>
    </p:embeddedFont>
    <p:embeddedFont>
      <p:font typeface="Public Sans"/>
      <p:regular r:id="rId41"/>
      <p:bold r:id="rId42"/>
      <p:italic r:id="rId43"/>
      <p:boldItalic r:id="rId44"/>
    </p:embeddedFont>
    <p:embeddedFont>
      <p:font typeface="Playfair Display SemiBold"/>
      <p:regular r:id="rId45"/>
      <p:bold r:id="rId46"/>
      <p:italic r:id="rId47"/>
      <p:boldItalic r:id="rId4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8D1B371-E452-4203-B19A-F9DB4F94D651}">
  <a:tblStyle styleId="{78D1B371-E452-4203-B19A-F9DB4F94D651}"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PlayfairDisplay-boldItalic.fntdata"/><Relationship Id="rId20" Type="http://schemas.openxmlformats.org/officeDocument/2006/relationships/slide" Target="slides/slide13.xml"/><Relationship Id="rId42" Type="http://schemas.openxmlformats.org/officeDocument/2006/relationships/font" Target="fonts/PublicSans-bold.fntdata"/><Relationship Id="rId41" Type="http://schemas.openxmlformats.org/officeDocument/2006/relationships/font" Target="fonts/PublicSans-regular.fntdata"/><Relationship Id="rId22" Type="http://schemas.openxmlformats.org/officeDocument/2006/relationships/slide" Target="slides/slide15.xml"/><Relationship Id="rId44" Type="http://schemas.openxmlformats.org/officeDocument/2006/relationships/font" Target="fonts/PublicSans-boldItalic.fntdata"/><Relationship Id="rId21" Type="http://schemas.openxmlformats.org/officeDocument/2006/relationships/slide" Target="slides/slide14.xml"/><Relationship Id="rId43" Type="http://schemas.openxmlformats.org/officeDocument/2006/relationships/font" Target="fonts/PublicSans-italic.fntdata"/><Relationship Id="rId24" Type="http://schemas.openxmlformats.org/officeDocument/2006/relationships/slide" Target="slides/slide17.xml"/><Relationship Id="rId46" Type="http://schemas.openxmlformats.org/officeDocument/2006/relationships/font" Target="fonts/PlayfairDisplaySemiBold-bold.fntdata"/><Relationship Id="rId23" Type="http://schemas.openxmlformats.org/officeDocument/2006/relationships/slide" Target="slides/slide16.xml"/><Relationship Id="rId45" Type="http://schemas.openxmlformats.org/officeDocument/2006/relationships/font" Target="fonts/PlayfairDisplaySemiBold-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48" Type="http://schemas.openxmlformats.org/officeDocument/2006/relationships/font" Target="fonts/PlayfairDisplaySemiBold-boldItalic.fntdata"/><Relationship Id="rId25" Type="http://schemas.openxmlformats.org/officeDocument/2006/relationships/slide" Target="slides/slide18.xml"/><Relationship Id="rId47" Type="http://schemas.openxmlformats.org/officeDocument/2006/relationships/font" Target="fonts/PlayfairDisplaySemiBold-italic.fntdata"/><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slide" Target="slides/slide26.xml"/><Relationship Id="rId10" Type="http://schemas.openxmlformats.org/officeDocument/2006/relationships/slide" Target="slides/slide3.xml"/><Relationship Id="rId32" Type="http://schemas.openxmlformats.org/officeDocument/2006/relationships/slide" Target="slides/slide25.xml"/><Relationship Id="rId13" Type="http://schemas.openxmlformats.org/officeDocument/2006/relationships/slide" Target="slides/slide6.xml"/><Relationship Id="rId35" Type="http://schemas.openxmlformats.org/officeDocument/2006/relationships/slide" Target="slides/slide28.xml"/><Relationship Id="rId12" Type="http://schemas.openxmlformats.org/officeDocument/2006/relationships/slide" Target="slides/slide5.xml"/><Relationship Id="rId34" Type="http://schemas.openxmlformats.org/officeDocument/2006/relationships/slide" Target="slides/slide27.xml"/><Relationship Id="rId15" Type="http://schemas.openxmlformats.org/officeDocument/2006/relationships/slide" Target="slides/slide8.xml"/><Relationship Id="rId37" Type="http://schemas.openxmlformats.org/officeDocument/2006/relationships/font" Target="fonts/PlayfairDisplay-regular.fntdata"/><Relationship Id="rId14" Type="http://schemas.openxmlformats.org/officeDocument/2006/relationships/slide" Target="slides/slide7.xml"/><Relationship Id="rId36" Type="http://schemas.openxmlformats.org/officeDocument/2006/relationships/slide" Target="slides/slide29.xml"/><Relationship Id="rId17" Type="http://schemas.openxmlformats.org/officeDocument/2006/relationships/slide" Target="slides/slide10.xml"/><Relationship Id="rId39" Type="http://schemas.openxmlformats.org/officeDocument/2006/relationships/font" Target="fonts/PlayfairDisplay-italic.fntdata"/><Relationship Id="rId16" Type="http://schemas.openxmlformats.org/officeDocument/2006/relationships/slide" Target="slides/slide9.xml"/><Relationship Id="rId38" Type="http://schemas.openxmlformats.org/officeDocument/2006/relationships/font" Target="fonts/PlayfairDisplay-bold.fntdata"/><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e903fcdfcd_16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g3e903fcdfcd_16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e903fcdfcd_16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g3e903fcdfcd_16_3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e903fcdfcd_1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e903fcdfcd_1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3e903fcdfcd_11_2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US"/>
              <a:t>The current Fed funds rate remains at 3.50% to 3.75%.</a:t>
            </a:r>
            <a:endParaRPr/>
          </a:p>
          <a:p>
            <a:pPr indent="0" lvl="0" marL="0" rtl="0" algn="l">
              <a:lnSpc>
                <a:spcPct val="115000"/>
              </a:lnSpc>
              <a:spcBef>
                <a:spcPts val="1200"/>
              </a:spcBef>
              <a:spcAft>
                <a:spcPts val="1200"/>
              </a:spcAft>
              <a:buNone/>
            </a:pPr>
            <a:r>
              <a:rPr lang="en-US"/>
              <a:t>For the June 17 FOMC meeting, markets assign a 96.2% probability of no change and a 3.8% probability of a rate cut. Compared to last week, expectations became slightly more dovish.</a:t>
            </a:r>
            <a:endParaRPr/>
          </a:p>
        </p:txBody>
      </p:sp>
      <p:sp>
        <p:nvSpPr>
          <p:cNvPr id="302" name="Google Shape;302;g3e903fcdfcd_11_23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3e903fcdfcd_11_2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US"/>
              <a:t>Treasury yields increased across the curve, with the 10-year yield rising to 4.534%. The yield curve remains normal, with longer-term yields higher than short-term yields.</a:t>
            </a:r>
            <a:endParaRPr/>
          </a:p>
          <a:p>
            <a:pPr indent="0" lvl="0" marL="0" rtl="0" algn="l">
              <a:lnSpc>
                <a:spcPct val="115000"/>
              </a:lnSpc>
              <a:spcBef>
                <a:spcPts val="1200"/>
              </a:spcBef>
              <a:spcAft>
                <a:spcPts val="0"/>
              </a:spcAft>
              <a:buNone/>
            </a:pPr>
            <a:r>
              <a:rPr lang="en-US"/>
              <a:t>Higher long-term yields can create headwinds for growth-oriented sectors such as technology and REITs because future cash flows are discounted at higher rates.</a:t>
            </a:r>
            <a:endParaRPr/>
          </a:p>
          <a:p>
            <a:pPr indent="0" lvl="0" marL="0" rtl="0" algn="l">
              <a:lnSpc>
                <a:spcPct val="115000"/>
              </a:lnSpc>
              <a:spcBef>
                <a:spcPts val="1200"/>
              </a:spcBef>
              <a:spcAft>
                <a:spcPts val="1200"/>
              </a:spcAft>
              <a:buNone/>
            </a:pPr>
            <a:r>
              <a:t/>
            </a:r>
            <a:endParaRPr/>
          </a:p>
        </p:txBody>
      </p:sp>
      <p:sp>
        <p:nvSpPr>
          <p:cNvPr id="315" name="Google Shape;315;g3e903fcdfcd_11_25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3e903fcdfcd_11_2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US"/>
              <a:t>WTI crude oil rose 3.64% during the week, while the U.S. dollar strengthened by 1.21%.</a:t>
            </a:r>
            <a:endParaRPr/>
          </a:p>
          <a:p>
            <a:pPr indent="0" lvl="0" marL="0" rtl="0" algn="l">
              <a:lnSpc>
                <a:spcPct val="115000"/>
              </a:lnSpc>
              <a:spcBef>
                <a:spcPts val="1200"/>
              </a:spcBef>
              <a:spcAft>
                <a:spcPts val="0"/>
              </a:spcAft>
              <a:buNone/>
            </a:pPr>
            <a:r>
              <a:rPr lang="en-US"/>
              <a:t>Gold declined by 4.96%, reflecting pressure from higher yields and a stronger dollar.</a:t>
            </a:r>
            <a:endParaRPr/>
          </a:p>
          <a:p>
            <a:pPr indent="0" lvl="0" marL="0" rtl="0" algn="l">
              <a:lnSpc>
                <a:spcPct val="115000"/>
              </a:lnSpc>
              <a:spcBef>
                <a:spcPts val="1200"/>
              </a:spcBef>
              <a:spcAft>
                <a:spcPts val="1200"/>
              </a:spcAft>
              <a:buNone/>
            </a:pPr>
            <a:r>
              <a:rPr lang="en-US"/>
              <a:t>The combination of rising oil prices, higher Treasury yields, and a stronger dollar suggests tighter financial conditions and increases concerns about inflation persistence. This creates a potential stagflation risk if economic growth slows while inflation remains elevated.</a:t>
            </a:r>
            <a:endParaRPr/>
          </a:p>
        </p:txBody>
      </p:sp>
      <p:sp>
        <p:nvSpPr>
          <p:cNvPr id="333" name="Google Shape;333;g3e903fcdfcd_11_26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3e903fcdfcd_11_2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US"/>
              <a:t>The most important event this week is the U.S. CPI inflation report on June 10.</a:t>
            </a:r>
            <a:endParaRPr/>
          </a:p>
          <a:p>
            <a:pPr indent="0" lvl="0" marL="0" rtl="0" algn="l">
              <a:lnSpc>
                <a:spcPct val="115000"/>
              </a:lnSpc>
              <a:spcBef>
                <a:spcPts val="1200"/>
              </a:spcBef>
              <a:spcAft>
                <a:spcPts val="0"/>
              </a:spcAft>
              <a:buNone/>
            </a:pPr>
            <a:r>
              <a:rPr lang="en-US"/>
              <a:t>Headline CPI is expected to rise from 3.8% to 3.9%, while Core CPI is expected to decline slightly from 2.9% to 2.8%.</a:t>
            </a:r>
            <a:endParaRPr/>
          </a:p>
          <a:p>
            <a:pPr indent="0" lvl="0" marL="0" rtl="0" algn="l">
              <a:lnSpc>
                <a:spcPct val="115000"/>
              </a:lnSpc>
              <a:spcBef>
                <a:spcPts val="1200"/>
              </a:spcBef>
              <a:spcAft>
                <a:spcPts val="0"/>
              </a:spcAft>
              <a:buNone/>
            </a:pPr>
            <a:r>
              <a:rPr lang="en-US"/>
              <a:t>Markets will closely monitor these figures because inflation data will directly influence Fed rate expectations, Treasury yields, and equity market sentiment.</a:t>
            </a:r>
            <a:endParaRPr/>
          </a:p>
          <a:p>
            <a:pPr indent="0" lvl="0" marL="0" rtl="0" algn="l">
              <a:lnSpc>
                <a:spcPct val="115000"/>
              </a:lnSpc>
              <a:spcBef>
                <a:spcPts val="1200"/>
              </a:spcBef>
              <a:spcAft>
                <a:spcPts val="0"/>
              </a:spcAft>
              <a:buNone/>
            </a:pPr>
            <a:r>
              <a:rPr lang="en-US"/>
              <a:t>Additional key events include the ECB interest rate decision and the U.S. Producer Price Index report, both of which may provide further insight into inflation and monetary policy trends.</a:t>
            </a:r>
            <a:endParaRPr/>
          </a:p>
          <a:p>
            <a:pPr indent="0" lvl="0" marL="0" rtl="0" algn="l">
              <a:lnSpc>
                <a:spcPct val="115000"/>
              </a:lnSpc>
              <a:spcBef>
                <a:spcPts val="1200"/>
              </a:spcBef>
              <a:spcAft>
                <a:spcPts val="1200"/>
              </a:spcAft>
              <a:buNone/>
            </a:pPr>
            <a:r>
              <a:t/>
            </a:r>
            <a:endParaRPr/>
          </a:p>
        </p:txBody>
      </p:sp>
      <p:sp>
        <p:nvSpPr>
          <p:cNvPr id="351" name="Google Shape;351;g3e903fcdfcd_11_28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3e903fcdfcd_11_2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US"/>
              <a:t>Oracle and Adobe are the most significant earnings releases for the technology sector.</a:t>
            </a:r>
            <a:endParaRPr/>
          </a:p>
          <a:p>
            <a:pPr indent="0" lvl="0" marL="0" rtl="0" algn="l">
              <a:lnSpc>
                <a:spcPct val="115000"/>
              </a:lnSpc>
              <a:spcBef>
                <a:spcPts val="1200"/>
              </a:spcBef>
              <a:spcAft>
                <a:spcPts val="0"/>
              </a:spcAft>
              <a:buNone/>
            </a:pPr>
            <a:r>
              <a:rPr lang="en-US"/>
              <a:t>For Oracle, investors will focus on cloud growth, AI demand, and enterprise spending trends.</a:t>
            </a:r>
            <a:endParaRPr/>
          </a:p>
          <a:p>
            <a:pPr indent="0" lvl="0" marL="0" rtl="0" algn="l">
              <a:lnSpc>
                <a:spcPct val="115000"/>
              </a:lnSpc>
              <a:spcBef>
                <a:spcPts val="1200"/>
              </a:spcBef>
              <a:spcAft>
                <a:spcPts val="0"/>
              </a:spcAft>
              <a:buNone/>
            </a:pPr>
            <a:r>
              <a:rPr lang="en-US"/>
              <a:t>For Adobe, the focus will be on AI monetization, subscription growth, and forward guidance.</a:t>
            </a:r>
            <a:endParaRPr/>
          </a:p>
          <a:p>
            <a:pPr indent="0" lvl="0" marL="0" rtl="0" algn="l">
              <a:lnSpc>
                <a:spcPct val="115000"/>
              </a:lnSpc>
              <a:spcBef>
                <a:spcPts val="1200"/>
              </a:spcBef>
              <a:spcAft>
                <a:spcPts val="1200"/>
              </a:spcAft>
              <a:buNone/>
            </a:pPr>
            <a:r>
              <a:rPr lang="en-US"/>
              <a:t>Lennar provides an important read-through on the U.S. housing market, particularly regarding home demand and the impact of mortgage rates.</a:t>
            </a:r>
            <a:endParaRPr/>
          </a:p>
        </p:txBody>
      </p:sp>
      <p:sp>
        <p:nvSpPr>
          <p:cNvPr id="367" name="Google Shape;367;g3e903fcdfcd_11_29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3e903fcdfcd_11_3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US">
                <a:solidFill>
                  <a:schemeClr val="dk1"/>
                </a:solidFill>
              </a:rPr>
              <a:t>Geopolitical tensions increased after U.S. forces struck Iranian radar sites following Iranian drone activity near key Gulf shipping routes.</a:t>
            </a:r>
            <a:endParaRPr>
              <a:solidFill>
                <a:schemeClr val="dk1"/>
              </a:solidFill>
            </a:endParaRPr>
          </a:p>
          <a:p>
            <a:pPr indent="0" lvl="0" marL="0" rtl="0" algn="l">
              <a:lnSpc>
                <a:spcPct val="115000"/>
              </a:lnSpc>
              <a:spcBef>
                <a:spcPts val="1200"/>
              </a:spcBef>
              <a:spcAft>
                <a:spcPts val="0"/>
              </a:spcAft>
              <a:buNone/>
            </a:pPr>
            <a:r>
              <a:rPr lang="en-US">
                <a:solidFill>
                  <a:schemeClr val="dk1"/>
                </a:solidFill>
              </a:rPr>
              <a:t>This development may support oil prices, defense stocks, and safe-haven assets while increasing overall market uncertainty.</a:t>
            </a:r>
            <a:endParaRPr>
              <a:solidFill>
                <a:schemeClr val="dk1"/>
              </a:solidFill>
            </a:endParaRPr>
          </a:p>
          <a:p>
            <a:pPr indent="0" lvl="0" marL="0" rtl="0" algn="l">
              <a:lnSpc>
                <a:spcPct val="115000"/>
              </a:lnSpc>
              <a:spcBef>
                <a:spcPts val="1200"/>
              </a:spcBef>
              <a:spcAft>
                <a:spcPts val="0"/>
              </a:spcAft>
              <a:buNone/>
            </a:pPr>
            <a:r>
              <a:rPr lang="en-US">
                <a:solidFill>
                  <a:schemeClr val="dk1"/>
                </a:solidFill>
              </a:rPr>
              <a:t>In addition, stronger-than-expected U.S. jobs data reduced expectations for future Fed rate cuts and contributed to higher Treasury yields and weakness in technology stocks.</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None/>
            </a:pPr>
            <a:r>
              <a:rPr lang="en-US">
                <a:solidFill>
                  <a:schemeClr val="dk1"/>
                </a:solidFill>
              </a:rPr>
              <a:t>Conclusion</a:t>
            </a:r>
            <a:endParaRPr>
              <a:solidFill>
                <a:schemeClr val="dk1"/>
              </a:solidFill>
            </a:endParaRPr>
          </a:p>
          <a:p>
            <a:pPr indent="0" lvl="0" marL="0" rtl="0" algn="l">
              <a:lnSpc>
                <a:spcPct val="115000"/>
              </a:lnSpc>
              <a:spcBef>
                <a:spcPts val="1200"/>
              </a:spcBef>
              <a:spcAft>
                <a:spcPts val="0"/>
              </a:spcAft>
              <a:buNone/>
            </a:pPr>
            <a:r>
              <a:rPr lang="en-US">
                <a:solidFill>
                  <a:schemeClr val="dk1"/>
                </a:solidFill>
              </a:rPr>
              <a:t>The overall macro bias is classified as Binary-risk.</a:t>
            </a:r>
            <a:endParaRPr>
              <a:solidFill>
                <a:schemeClr val="dk1"/>
              </a:solidFill>
            </a:endParaRPr>
          </a:p>
          <a:p>
            <a:pPr indent="0" lvl="0" marL="0" rtl="0" algn="l">
              <a:lnSpc>
                <a:spcPct val="115000"/>
              </a:lnSpc>
              <a:spcBef>
                <a:spcPts val="1200"/>
              </a:spcBef>
              <a:spcAft>
                <a:spcPts val="0"/>
              </a:spcAft>
              <a:buNone/>
            </a:pPr>
            <a:r>
              <a:rPr lang="en-US">
                <a:solidFill>
                  <a:schemeClr val="dk1"/>
                </a:solidFill>
              </a:rPr>
              <a:t>The primary market driver this week is the U.S. CPI report. A higher-than-expected inflation reading would likely push yields and the dollar higher while pressuring equities. Conversely, a softer inflation reading could increase expectations for future Fed cuts and support risk assets.</a:t>
            </a:r>
            <a:endParaRPr>
              <a:solidFill>
                <a:schemeClr val="dk1"/>
              </a:solidFill>
            </a:endParaRPr>
          </a:p>
          <a:p>
            <a:pPr indent="0" lvl="0" marL="0" rtl="0" algn="l">
              <a:lnSpc>
                <a:spcPct val="115000"/>
              </a:lnSpc>
              <a:spcBef>
                <a:spcPts val="1200"/>
              </a:spcBef>
              <a:spcAft>
                <a:spcPts val="1200"/>
              </a:spcAft>
              <a:buNone/>
            </a:pPr>
            <a:r>
              <a:rPr lang="en-US">
                <a:solidFill>
                  <a:schemeClr val="dk1"/>
                </a:solidFill>
              </a:rPr>
              <a:t>Confidence is medium because several market indicators point toward tighter financial conditions, but the upcoming CPI release has the potential to significantly change market expectations.</a:t>
            </a:r>
            <a:endParaRPr>
              <a:solidFill>
                <a:schemeClr val="dk1"/>
              </a:solidFill>
            </a:endParaRPr>
          </a:p>
        </p:txBody>
      </p:sp>
      <p:sp>
        <p:nvSpPr>
          <p:cNvPr id="387" name="Google Shape;387;g3e903fcdfcd_11_3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3e903fcdfcd_8_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02" name="Google Shape;402;g3e903fcdfcd_8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3e903fcdfcd_8_3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07" name="Google Shape;407;g3e903fcdfcd_8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g3e903fcdfcd_37_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2" name="Google Shape;412;g3e903fcdfcd_37_0: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3" name="Google Shape;413;g3e903fcdfcd_37_0: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3e903fcdfcd_37_1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4" name="Google Shape;424;g3e903fcdfcd_37_12: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5" name="Google Shape;425;g3e903fcdfcd_37_12: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3e903fcdfcd_37_31: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4" name="Google Shape;444;g3e903fcdfcd_37_31: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5" name="Google Shape;445;g3e903fcdfcd_37_31: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g3e903fcdfcd_37_7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9" name="Google Shape;489;g3e903fcdfcd_37_75: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0" name="Google Shape;490;g3e903fcdfcd_37_75: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g3e903fcdfcd_37_12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9" name="Google Shape;539;g3e903fcdfcd_37_124: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0" name="Google Shape;540;g3e903fcdfcd_37_124: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g3e903fcdfcd_37_147: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3" name="Google Shape;563;g3e903fcdfcd_37_147: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4" name="Google Shape;564;g3e903fcdfcd_37_147: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g3e903fcdfcd_37_18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1" name="Google Shape;601;g3e903fcdfcd_37_184: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2" name="Google Shape;602;g3e903fcdfcd_37_184: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p:txBody>
      </p:sp>
      <p:sp>
        <p:nvSpPr>
          <p:cNvPr id="635" name="Google Shape;635;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g3e903fcdfcd_8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g3e903fcdfcd_8_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g3e903fcdfcd_8_3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657" name="Google Shape;657;g3e903fcdfcd_8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0" name="Shape 660"/>
        <p:cNvGrpSpPr/>
        <p:nvPr/>
      </p:nvGrpSpPr>
      <p:grpSpPr>
        <a:xfrm>
          <a:off x="0" y="0"/>
          <a:ext cx="0" cy="0"/>
          <a:chOff x="0" y="0"/>
          <a:chExt cx="0" cy="0"/>
        </a:xfrm>
      </p:grpSpPr>
      <p:sp>
        <p:nvSpPr>
          <p:cNvPr id="661" name="Google Shape;661;g3e903fcdfcd_1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g3e903fcdfcd_12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0" name="Shape 670"/>
        <p:cNvGrpSpPr/>
        <p:nvPr/>
      </p:nvGrpSpPr>
      <p:grpSpPr>
        <a:xfrm>
          <a:off x="0" y="0"/>
          <a:ext cx="0" cy="0"/>
          <a:chOff x="0" y="0"/>
          <a:chExt cx="0" cy="0"/>
        </a:xfrm>
      </p:grpSpPr>
      <p:sp>
        <p:nvSpPr>
          <p:cNvPr id="671" name="Google Shape;671;g3e903fcdfcd_12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g3e903fcdfcd_12_3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g3e903fcdfcd_19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g3e903fcdfcd_19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2" name="Shape 692"/>
        <p:cNvGrpSpPr/>
        <p:nvPr/>
      </p:nvGrpSpPr>
      <p:grpSpPr>
        <a:xfrm>
          <a:off x="0" y="0"/>
          <a:ext cx="0" cy="0"/>
          <a:chOff x="0" y="0"/>
          <a:chExt cx="0" cy="0"/>
        </a:xfrm>
      </p:grpSpPr>
      <p:sp>
        <p:nvSpPr>
          <p:cNvPr id="693" name="Google Shape;693;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spTree>
      <p:nvGrpSpPr>
        <p:cNvPr id="81" name="Shape 81"/>
        <p:cNvGrpSpPr/>
        <p:nvPr/>
      </p:nvGrpSpPr>
      <p:grpSpPr>
        <a:xfrm>
          <a:off x="0" y="0"/>
          <a:ext cx="0" cy="0"/>
          <a:chOff x="0" y="0"/>
          <a:chExt cx="0" cy="0"/>
        </a:xfrm>
      </p:grpSpPr>
      <p:pic>
        <p:nvPicPr>
          <p:cNvPr descr="preencoded.png" id="82" name="Google Shape;82;p14"/>
          <p:cNvPicPr preferRelativeResize="0"/>
          <p:nvPr/>
        </p:nvPicPr>
        <p:blipFill rotWithShape="1">
          <a:blip r:embed="rId2">
            <a:alphaModFix/>
          </a:blip>
          <a:srcRect b="0" l="0" r="0" t="0"/>
          <a:stretch/>
        </p:blipFill>
        <p:spPr>
          <a:xfrm>
            <a:off x="0" y="0"/>
            <a:ext cx="18288000" cy="10287000"/>
          </a:xfrm>
          <a:prstGeom prst="rect">
            <a:avLst/>
          </a:prstGeom>
          <a:noFill/>
          <a:ln>
            <a:noFill/>
          </a:ln>
        </p:spPr>
      </p:pic>
      <p:sp>
        <p:nvSpPr>
          <p:cNvPr id="83" name="Google Shape;83;p14"/>
          <p:cNvSpPr/>
          <p:nvPr/>
        </p:nvSpPr>
        <p:spPr>
          <a:xfrm>
            <a:off x="0" y="0"/>
            <a:ext cx="18288000" cy="10287000"/>
          </a:xfrm>
          <a:prstGeom prst="rect">
            <a:avLst/>
          </a:prstGeom>
          <a:solidFill>
            <a:srgbClr val="FFFAF6"/>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spTree>
      <p:nvGrpSpPr>
        <p:cNvPr id="84" name="Shape 84"/>
        <p:cNvGrpSpPr/>
        <p:nvPr/>
      </p:nvGrpSpPr>
      <p:grpSpPr>
        <a:xfrm>
          <a:off x="0" y="0"/>
          <a:ext cx="0" cy="0"/>
          <a:chOff x="0" y="0"/>
          <a:chExt cx="0" cy="0"/>
        </a:xfrm>
      </p:grpSpPr>
      <p:pic>
        <p:nvPicPr>
          <p:cNvPr descr="preencoded.png" id="85" name="Google Shape;85;p15"/>
          <p:cNvPicPr preferRelativeResize="0"/>
          <p:nvPr/>
        </p:nvPicPr>
        <p:blipFill rotWithShape="1">
          <a:blip r:embed="rId2">
            <a:alphaModFix/>
          </a:blip>
          <a:srcRect b="0" l="0" r="0" t="0"/>
          <a:stretch/>
        </p:blipFill>
        <p:spPr>
          <a:xfrm>
            <a:off x="0" y="0"/>
            <a:ext cx="18288000" cy="10287000"/>
          </a:xfrm>
          <a:prstGeom prst="rect">
            <a:avLst/>
          </a:prstGeom>
          <a:noFill/>
          <a:ln>
            <a:noFill/>
          </a:ln>
        </p:spPr>
      </p:pic>
      <p:sp>
        <p:nvSpPr>
          <p:cNvPr id="86" name="Google Shape;86;p15"/>
          <p:cNvSpPr/>
          <p:nvPr/>
        </p:nvSpPr>
        <p:spPr>
          <a:xfrm>
            <a:off x="0" y="0"/>
            <a:ext cx="18288000" cy="10287000"/>
          </a:xfrm>
          <a:prstGeom prst="rect">
            <a:avLst/>
          </a:prstGeom>
          <a:solidFill>
            <a:srgbClr val="FFFAF6"/>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spTree>
      <p:nvGrpSpPr>
        <p:cNvPr id="87" name="Shape 87"/>
        <p:cNvGrpSpPr/>
        <p:nvPr/>
      </p:nvGrpSpPr>
      <p:grpSpPr>
        <a:xfrm>
          <a:off x="0" y="0"/>
          <a:ext cx="0" cy="0"/>
          <a:chOff x="0" y="0"/>
          <a:chExt cx="0" cy="0"/>
        </a:xfrm>
      </p:grpSpPr>
      <p:pic>
        <p:nvPicPr>
          <p:cNvPr descr="preencoded.png" id="88" name="Google Shape;88;p16"/>
          <p:cNvPicPr preferRelativeResize="0"/>
          <p:nvPr/>
        </p:nvPicPr>
        <p:blipFill rotWithShape="1">
          <a:blip r:embed="rId2">
            <a:alphaModFix/>
          </a:blip>
          <a:srcRect b="0" l="0" r="0" t="0"/>
          <a:stretch/>
        </p:blipFill>
        <p:spPr>
          <a:xfrm>
            <a:off x="0" y="0"/>
            <a:ext cx="18288000" cy="10287000"/>
          </a:xfrm>
          <a:prstGeom prst="rect">
            <a:avLst/>
          </a:prstGeom>
          <a:noFill/>
          <a:ln>
            <a:noFill/>
          </a:ln>
        </p:spPr>
      </p:pic>
      <p:sp>
        <p:nvSpPr>
          <p:cNvPr id="89" name="Google Shape;89;p16"/>
          <p:cNvSpPr/>
          <p:nvPr/>
        </p:nvSpPr>
        <p:spPr>
          <a:xfrm>
            <a:off x="0" y="0"/>
            <a:ext cx="18288000" cy="10287000"/>
          </a:xfrm>
          <a:prstGeom prst="rect">
            <a:avLst/>
          </a:prstGeom>
          <a:solidFill>
            <a:srgbClr val="FFFAF6"/>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spTree>
      <p:nvGrpSpPr>
        <p:cNvPr id="90" name="Shape 90"/>
        <p:cNvGrpSpPr/>
        <p:nvPr/>
      </p:nvGrpSpPr>
      <p:grpSpPr>
        <a:xfrm>
          <a:off x="0" y="0"/>
          <a:ext cx="0" cy="0"/>
          <a:chOff x="0" y="0"/>
          <a:chExt cx="0" cy="0"/>
        </a:xfrm>
      </p:grpSpPr>
      <p:pic>
        <p:nvPicPr>
          <p:cNvPr descr="preencoded.png" id="91" name="Google Shape;91;p17"/>
          <p:cNvPicPr preferRelativeResize="0"/>
          <p:nvPr/>
        </p:nvPicPr>
        <p:blipFill rotWithShape="1">
          <a:blip r:embed="rId2">
            <a:alphaModFix/>
          </a:blip>
          <a:srcRect b="0" l="0" r="0" t="0"/>
          <a:stretch/>
        </p:blipFill>
        <p:spPr>
          <a:xfrm>
            <a:off x="0" y="0"/>
            <a:ext cx="18288000" cy="10287000"/>
          </a:xfrm>
          <a:prstGeom prst="rect">
            <a:avLst/>
          </a:prstGeom>
          <a:noFill/>
          <a:ln>
            <a:noFill/>
          </a:ln>
        </p:spPr>
      </p:pic>
      <p:sp>
        <p:nvSpPr>
          <p:cNvPr id="92" name="Google Shape;92;p17"/>
          <p:cNvSpPr/>
          <p:nvPr/>
        </p:nvSpPr>
        <p:spPr>
          <a:xfrm>
            <a:off x="0" y="0"/>
            <a:ext cx="18288000" cy="10287000"/>
          </a:xfrm>
          <a:prstGeom prst="rect">
            <a:avLst/>
          </a:prstGeom>
          <a:solidFill>
            <a:srgbClr val="FFFAF6"/>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spTree>
      <p:nvGrpSpPr>
        <p:cNvPr id="93" name="Shape 93"/>
        <p:cNvGrpSpPr/>
        <p:nvPr/>
      </p:nvGrpSpPr>
      <p:grpSpPr>
        <a:xfrm>
          <a:off x="0" y="0"/>
          <a:ext cx="0" cy="0"/>
          <a:chOff x="0" y="0"/>
          <a:chExt cx="0" cy="0"/>
        </a:xfrm>
      </p:grpSpPr>
      <p:pic>
        <p:nvPicPr>
          <p:cNvPr descr="preencoded.png" id="94" name="Google Shape;94;p18"/>
          <p:cNvPicPr preferRelativeResize="0"/>
          <p:nvPr/>
        </p:nvPicPr>
        <p:blipFill rotWithShape="1">
          <a:blip r:embed="rId2">
            <a:alphaModFix/>
          </a:blip>
          <a:srcRect b="0" l="0" r="0" t="0"/>
          <a:stretch/>
        </p:blipFill>
        <p:spPr>
          <a:xfrm>
            <a:off x="0" y="0"/>
            <a:ext cx="18288000" cy="10287000"/>
          </a:xfrm>
          <a:prstGeom prst="rect">
            <a:avLst/>
          </a:prstGeom>
          <a:noFill/>
          <a:ln>
            <a:noFill/>
          </a:ln>
        </p:spPr>
      </p:pic>
      <p:sp>
        <p:nvSpPr>
          <p:cNvPr id="95" name="Google Shape;95;p18"/>
          <p:cNvSpPr/>
          <p:nvPr/>
        </p:nvSpPr>
        <p:spPr>
          <a:xfrm>
            <a:off x="0" y="0"/>
            <a:ext cx="18288000" cy="10287000"/>
          </a:xfrm>
          <a:prstGeom prst="rect">
            <a:avLst/>
          </a:prstGeom>
          <a:solidFill>
            <a:srgbClr val="FFFAF6"/>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6 master">
  <p:cSld name="Slide 6 master">
    <p:spTree>
      <p:nvGrpSpPr>
        <p:cNvPr id="96" name="Shape 96"/>
        <p:cNvGrpSpPr/>
        <p:nvPr/>
      </p:nvGrpSpPr>
      <p:grpSpPr>
        <a:xfrm>
          <a:off x="0" y="0"/>
          <a:ext cx="0" cy="0"/>
          <a:chOff x="0" y="0"/>
          <a:chExt cx="0" cy="0"/>
        </a:xfrm>
      </p:grpSpPr>
      <p:pic>
        <p:nvPicPr>
          <p:cNvPr descr="preencoded.png" id="97" name="Google Shape;97;p19"/>
          <p:cNvPicPr preferRelativeResize="0"/>
          <p:nvPr/>
        </p:nvPicPr>
        <p:blipFill rotWithShape="1">
          <a:blip r:embed="rId2">
            <a:alphaModFix/>
          </a:blip>
          <a:srcRect b="0" l="0" r="0" t="0"/>
          <a:stretch/>
        </p:blipFill>
        <p:spPr>
          <a:xfrm>
            <a:off x="0" y="0"/>
            <a:ext cx="18288000" cy="10287000"/>
          </a:xfrm>
          <a:prstGeom prst="rect">
            <a:avLst/>
          </a:prstGeom>
          <a:noFill/>
          <a:ln>
            <a:noFill/>
          </a:ln>
        </p:spPr>
      </p:pic>
      <p:sp>
        <p:nvSpPr>
          <p:cNvPr id="98" name="Google Shape;98;p19"/>
          <p:cNvSpPr/>
          <p:nvPr/>
        </p:nvSpPr>
        <p:spPr>
          <a:xfrm>
            <a:off x="0" y="0"/>
            <a:ext cx="18288000" cy="10287000"/>
          </a:xfrm>
          <a:prstGeom prst="rect">
            <a:avLst/>
          </a:prstGeom>
          <a:solidFill>
            <a:srgbClr val="FFFAF6"/>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7 master">
  <p:cSld name="Slide 7 master">
    <p:spTree>
      <p:nvGrpSpPr>
        <p:cNvPr id="99" name="Shape 99"/>
        <p:cNvGrpSpPr/>
        <p:nvPr/>
      </p:nvGrpSpPr>
      <p:grpSpPr>
        <a:xfrm>
          <a:off x="0" y="0"/>
          <a:ext cx="0" cy="0"/>
          <a:chOff x="0" y="0"/>
          <a:chExt cx="0" cy="0"/>
        </a:xfrm>
      </p:grpSpPr>
      <p:pic>
        <p:nvPicPr>
          <p:cNvPr descr="preencoded.png" id="100" name="Google Shape;100;p20"/>
          <p:cNvPicPr preferRelativeResize="0"/>
          <p:nvPr/>
        </p:nvPicPr>
        <p:blipFill rotWithShape="1">
          <a:blip r:embed="rId2">
            <a:alphaModFix/>
          </a:blip>
          <a:srcRect b="0" l="0" r="0" t="0"/>
          <a:stretch/>
        </p:blipFill>
        <p:spPr>
          <a:xfrm>
            <a:off x="0" y="0"/>
            <a:ext cx="18288000" cy="10287000"/>
          </a:xfrm>
          <a:prstGeom prst="rect">
            <a:avLst/>
          </a:prstGeom>
          <a:noFill/>
          <a:ln>
            <a:noFill/>
          </a:ln>
        </p:spPr>
      </p:pic>
      <p:sp>
        <p:nvSpPr>
          <p:cNvPr id="101" name="Google Shape;101;p20"/>
          <p:cNvSpPr/>
          <p:nvPr/>
        </p:nvSpPr>
        <p:spPr>
          <a:xfrm>
            <a:off x="0" y="0"/>
            <a:ext cx="18288000" cy="10287000"/>
          </a:xfrm>
          <a:prstGeom prst="rect">
            <a:avLst/>
          </a:prstGeom>
          <a:solidFill>
            <a:srgbClr val="FFFAF6"/>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2" name="Shape 102"/>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theme" Target="../theme/theme2.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3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2.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3.png"/><Relationship Id="rId4" Type="http://schemas.openxmlformats.org/officeDocument/2006/relationships/image" Target="../media/image3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1.png"/><Relationship Id="rId4" Type="http://schemas.openxmlformats.org/officeDocument/2006/relationships/image" Target="../media/image23.png"/><Relationship Id="rId5" Type="http://schemas.openxmlformats.org/officeDocument/2006/relationships/image" Target="../media/image3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2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 Id="rId3" Type="http://schemas.openxmlformats.org/officeDocument/2006/relationships/image" Target="../media/image16.png"/><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9.xml"/><Relationship Id="rId3" Type="http://schemas.openxmlformats.org/officeDocument/2006/relationships/image" Target="../media/image2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0.xml"/><Relationship Id="rId3"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2.xml"/><Relationship Id="rId3" Type="http://schemas.openxmlformats.org/officeDocument/2006/relationships/image" Target="../media/image2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3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3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35.png"/><Relationship Id="rId4" Type="http://schemas.openxmlformats.org/officeDocument/2006/relationships/image" Target="../media/image40.png"/><Relationship Id="rId5" Type="http://schemas.openxmlformats.org/officeDocument/2006/relationships/image" Target="../media/image3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36.png"/><Relationship Id="rId4" Type="http://schemas.openxmlformats.org/officeDocument/2006/relationships/image" Target="../media/image34.png"/><Relationship Id="rId5" Type="http://schemas.openxmlformats.org/officeDocument/2006/relationships/image" Target="../media/image4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E7DE"/>
        </a:solidFill>
      </p:bgPr>
    </p:bg>
    <p:spTree>
      <p:nvGrpSpPr>
        <p:cNvPr id="106" name="Shape 106"/>
        <p:cNvGrpSpPr/>
        <p:nvPr/>
      </p:nvGrpSpPr>
      <p:grpSpPr>
        <a:xfrm>
          <a:off x="0" y="0"/>
          <a:ext cx="0" cy="0"/>
          <a:chOff x="0" y="0"/>
          <a:chExt cx="0" cy="0"/>
        </a:xfrm>
      </p:grpSpPr>
      <p:sp>
        <p:nvSpPr>
          <p:cNvPr id="107" name="Google Shape;107;p22"/>
          <p:cNvSpPr/>
          <p:nvPr/>
        </p:nvSpPr>
        <p:spPr>
          <a:xfrm>
            <a:off x="11267394" y="329173"/>
            <a:ext cx="6658830" cy="9628654"/>
          </a:xfrm>
          <a:custGeom>
            <a:rect b="b" l="l" r="r" t="t"/>
            <a:pathLst>
              <a:path extrusionOk="0" h="3257100" w="2252493">
                <a:moveTo>
                  <a:pt x="2128033" y="3257100"/>
                </a:moveTo>
                <a:lnTo>
                  <a:pt x="124460" y="3257100"/>
                </a:lnTo>
                <a:cubicBezTo>
                  <a:pt x="55880" y="3257100"/>
                  <a:pt x="0" y="3201220"/>
                  <a:pt x="0" y="3132640"/>
                </a:cubicBezTo>
                <a:lnTo>
                  <a:pt x="0" y="124460"/>
                </a:lnTo>
                <a:cubicBezTo>
                  <a:pt x="0" y="55880"/>
                  <a:pt x="55880" y="0"/>
                  <a:pt x="124460" y="0"/>
                </a:cubicBezTo>
                <a:lnTo>
                  <a:pt x="2128033" y="0"/>
                </a:lnTo>
                <a:cubicBezTo>
                  <a:pt x="2196613" y="0"/>
                  <a:pt x="2252493" y="55880"/>
                  <a:pt x="2252493" y="124460"/>
                </a:cubicBezTo>
                <a:lnTo>
                  <a:pt x="2252493" y="3132640"/>
                </a:lnTo>
                <a:cubicBezTo>
                  <a:pt x="2252493" y="3201220"/>
                  <a:pt x="2196613" y="3257100"/>
                  <a:pt x="2128033" y="325710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22"/>
          <p:cNvSpPr/>
          <p:nvPr/>
        </p:nvSpPr>
        <p:spPr>
          <a:xfrm>
            <a:off x="361776" y="329173"/>
            <a:ext cx="10516997" cy="9628654"/>
          </a:xfrm>
          <a:custGeom>
            <a:rect b="b" l="l" r="r" t="t"/>
            <a:pathLst>
              <a:path extrusionOk="0" h="3257100" w="3557601">
                <a:moveTo>
                  <a:pt x="3433140" y="3257100"/>
                </a:moveTo>
                <a:lnTo>
                  <a:pt x="124460" y="3257100"/>
                </a:lnTo>
                <a:cubicBezTo>
                  <a:pt x="55880" y="3257100"/>
                  <a:pt x="0" y="3201220"/>
                  <a:pt x="0" y="3132640"/>
                </a:cubicBezTo>
                <a:lnTo>
                  <a:pt x="0" y="124460"/>
                </a:lnTo>
                <a:cubicBezTo>
                  <a:pt x="0" y="55880"/>
                  <a:pt x="55880" y="0"/>
                  <a:pt x="124460" y="0"/>
                </a:cubicBezTo>
                <a:lnTo>
                  <a:pt x="3433140" y="0"/>
                </a:lnTo>
                <a:cubicBezTo>
                  <a:pt x="3501720" y="0"/>
                  <a:pt x="3557601" y="55880"/>
                  <a:pt x="3557601" y="124460"/>
                </a:cubicBezTo>
                <a:lnTo>
                  <a:pt x="3557601" y="3132640"/>
                </a:lnTo>
                <a:cubicBezTo>
                  <a:pt x="3557601" y="3201220"/>
                  <a:pt x="3501720" y="3257100"/>
                  <a:pt x="3433140" y="325710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22"/>
          <p:cNvSpPr/>
          <p:nvPr/>
        </p:nvSpPr>
        <p:spPr>
          <a:xfrm>
            <a:off x="11661285" y="711638"/>
            <a:ext cx="5909149" cy="8863723"/>
          </a:xfrm>
          <a:custGeom>
            <a:rect b="b" l="l" r="r" t="t"/>
            <a:pathLst>
              <a:path extrusionOk="0" h="9525000" w="6350000">
                <a:moveTo>
                  <a:pt x="0" y="9042400"/>
                </a:moveTo>
                <a:lnTo>
                  <a:pt x="0" y="482600"/>
                </a:lnTo>
                <a:cubicBezTo>
                  <a:pt x="0" y="215900"/>
                  <a:pt x="215900" y="0"/>
                  <a:pt x="482600" y="0"/>
                </a:cubicBezTo>
                <a:lnTo>
                  <a:pt x="5867400" y="0"/>
                </a:lnTo>
                <a:cubicBezTo>
                  <a:pt x="6134100" y="0"/>
                  <a:pt x="6350000" y="217170"/>
                  <a:pt x="6350000" y="482600"/>
                </a:cubicBezTo>
                <a:lnTo>
                  <a:pt x="6350000" y="9042400"/>
                </a:lnTo>
                <a:cubicBezTo>
                  <a:pt x="6350000" y="9309100"/>
                  <a:pt x="6134100" y="9525000"/>
                  <a:pt x="5867400" y="9525000"/>
                </a:cubicBezTo>
                <a:lnTo>
                  <a:pt x="482600" y="9525000"/>
                </a:lnTo>
                <a:cubicBezTo>
                  <a:pt x="217170" y="9525000"/>
                  <a:pt x="0" y="9309100"/>
                  <a:pt x="0" y="9042400"/>
                </a:cubicBezTo>
                <a:close/>
              </a:path>
            </a:pathLst>
          </a:custGeom>
          <a:blipFill rotWithShape="1">
            <a:blip r:embed="rId3">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0" name="Google Shape;110;p22"/>
          <p:cNvGrpSpPr/>
          <p:nvPr/>
        </p:nvGrpSpPr>
        <p:grpSpPr>
          <a:xfrm>
            <a:off x="1465531" y="6972117"/>
            <a:ext cx="2571151" cy="822960"/>
            <a:chOff x="0" y="0"/>
            <a:chExt cx="3428201" cy="1097280"/>
          </a:xfrm>
        </p:grpSpPr>
        <p:sp>
          <p:nvSpPr>
            <p:cNvPr id="111" name="Google Shape;111;p22"/>
            <p:cNvSpPr/>
            <p:nvPr/>
          </p:nvSpPr>
          <p:spPr>
            <a:xfrm>
              <a:off x="0" y="0"/>
              <a:ext cx="3428201" cy="1097280"/>
            </a:xfrm>
            <a:custGeom>
              <a:rect b="b" l="l" r="r" t="t"/>
              <a:pathLst>
                <a:path extrusionOk="0" h="660400" w="2063269">
                  <a:moveTo>
                    <a:pt x="1938809" y="660400"/>
                  </a:moveTo>
                  <a:lnTo>
                    <a:pt x="124460" y="660400"/>
                  </a:lnTo>
                  <a:cubicBezTo>
                    <a:pt x="55880" y="660400"/>
                    <a:pt x="0" y="604520"/>
                    <a:pt x="0" y="535940"/>
                  </a:cubicBezTo>
                  <a:lnTo>
                    <a:pt x="0" y="124460"/>
                  </a:lnTo>
                  <a:cubicBezTo>
                    <a:pt x="0" y="55880"/>
                    <a:pt x="55880" y="0"/>
                    <a:pt x="124460" y="0"/>
                  </a:cubicBezTo>
                  <a:lnTo>
                    <a:pt x="1938809" y="0"/>
                  </a:lnTo>
                  <a:cubicBezTo>
                    <a:pt x="2007389" y="0"/>
                    <a:pt x="2063269" y="55880"/>
                    <a:pt x="2063269" y="124460"/>
                  </a:cubicBezTo>
                  <a:lnTo>
                    <a:pt x="2063269" y="535940"/>
                  </a:lnTo>
                  <a:cubicBezTo>
                    <a:pt x="2063269" y="604520"/>
                    <a:pt x="2007389" y="660400"/>
                    <a:pt x="1938809" y="660400"/>
                  </a:cubicBezTo>
                  <a:close/>
                </a:path>
              </a:pathLst>
            </a:custGeom>
            <a:solidFill>
              <a:srgbClr val="FF6F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22"/>
            <p:cNvSpPr txBox="1"/>
            <p:nvPr/>
          </p:nvSpPr>
          <p:spPr>
            <a:xfrm>
              <a:off x="398608" y="377078"/>
              <a:ext cx="2631000" cy="332100"/>
            </a:xfrm>
            <a:prstGeom prst="rect">
              <a:avLst/>
            </a:prstGeom>
            <a:noFill/>
            <a:ln>
              <a:noFill/>
            </a:ln>
          </p:spPr>
          <p:txBody>
            <a:bodyPr anchorCtr="0" anchor="t" bIns="0" lIns="0" spcFirstLastPara="1" rIns="0" wrap="square" tIns="0">
              <a:spAutoFit/>
            </a:bodyPr>
            <a:lstStyle/>
            <a:p>
              <a:pPr indent="0" lvl="0" marL="0" marR="0" rtl="0" algn="ctr">
                <a:lnSpc>
                  <a:spcPct val="139987"/>
                </a:lnSpc>
                <a:spcBef>
                  <a:spcPts val="0"/>
                </a:spcBef>
                <a:spcAft>
                  <a:spcPts val="0"/>
                </a:spcAft>
                <a:buNone/>
              </a:pPr>
              <a:r>
                <a:rPr b="1" lang="en-US" sz="1618">
                  <a:solidFill>
                    <a:srgbClr val="FFFFFF"/>
                  </a:solidFill>
                </a:rPr>
                <a:t>TEAM 1</a:t>
              </a:r>
              <a:endParaRPr/>
            </a:p>
          </p:txBody>
        </p:sp>
      </p:grpSp>
      <p:grpSp>
        <p:nvGrpSpPr>
          <p:cNvPr id="113" name="Google Shape;113;p22"/>
          <p:cNvGrpSpPr/>
          <p:nvPr/>
        </p:nvGrpSpPr>
        <p:grpSpPr>
          <a:xfrm>
            <a:off x="1465531" y="2491923"/>
            <a:ext cx="8309476" cy="3708459"/>
            <a:chOff x="0" y="0"/>
            <a:chExt cx="11079300" cy="4944613"/>
          </a:xfrm>
        </p:grpSpPr>
        <p:sp>
          <p:nvSpPr>
            <p:cNvPr id="114" name="Google Shape;114;p22"/>
            <p:cNvSpPr txBox="1"/>
            <p:nvPr/>
          </p:nvSpPr>
          <p:spPr>
            <a:xfrm>
              <a:off x="0" y="0"/>
              <a:ext cx="11079300" cy="3476100"/>
            </a:xfrm>
            <a:prstGeom prst="rect">
              <a:avLst/>
            </a:prstGeom>
            <a:noFill/>
            <a:ln>
              <a:noFill/>
            </a:ln>
          </p:spPr>
          <p:txBody>
            <a:bodyPr anchorCtr="0" anchor="t" bIns="0" lIns="0" spcFirstLastPara="1" rIns="0" wrap="square" tIns="0">
              <a:spAutoFit/>
            </a:bodyPr>
            <a:lstStyle/>
            <a:p>
              <a:pPr indent="0" lvl="0" marL="0" marR="0" rtl="0" algn="l">
                <a:lnSpc>
                  <a:spcPct val="120002"/>
                </a:lnSpc>
                <a:spcBef>
                  <a:spcPts val="0"/>
                </a:spcBef>
                <a:spcAft>
                  <a:spcPts val="0"/>
                </a:spcAft>
                <a:buNone/>
              </a:pPr>
              <a:r>
                <a:rPr b="1" i="0" lang="en-US" sz="7699" u="none" cap="none" strike="noStrike">
                  <a:solidFill>
                    <a:srgbClr val="191919"/>
                  </a:solidFill>
                  <a:latin typeface="Ultra"/>
                  <a:ea typeface="Ultra"/>
                  <a:cs typeface="Ultra"/>
                  <a:sym typeface="Ultra"/>
                </a:rPr>
                <a:t>Weekly</a:t>
              </a:r>
              <a:endParaRPr sz="100"/>
            </a:p>
            <a:p>
              <a:pPr indent="0" lvl="0" marL="0" marR="0" rtl="0" algn="l">
                <a:lnSpc>
                  <a:spcPct val="120002"/>
                </a:lnSpc>
                <a:spcBef>
                  <a:spcPts val="0"/>
                </a:spcBef>
                <a:spcAft>
                  <a:spcPts val="0"/>
                </a:spcAft>
                <a:buNone/>
              </a:pPr>
              <a:r>
                <a:rPr b="1" i="0" lang="en-US" sz="7699" u="none" cap="none" strike="noStrike">
                  <a:solidFill>
                    <a:srgbClr val="191919"/>
                  </a:solidFill>
                  <a:latin typeface="Ultra"/>
                  <a:ea typeface="Ultra"/>
                  <a:cs typeface="Ultra"/>
                  <a:sym typeface="Ultra"/>
                </a:rPr>
                <a:t>Goal Updates</a:t>
              </a:r>
              <a:endParaRPr sz="100"/>
            </a:p>
          </p:txBody>
        </p:sp>
        <p:sp>
          <p:nvSpPr>
            <p:cNvPr id="115" name="Google Shape;115;p22"/>
            <p:cNvSpPr txBox="1"/>
            <p:nvPr/>
          </p:nvSpPr>
          <p:spPr>
            <a:xfrm>
              <a:off x="0" y="4329013"/>
              <a:ext cx="6353700" cy="6156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3000" u="none" cap="none" strike="noStrike">
                  <a:solidFill>
                    <a:srgbClr val="191919"/>
                  </a:solidFill>
                  <a:latin typeface="Arial"/>
                  <a:ea typeface="Arial"/>
                  <a:cs typeface="Arial"/>
                  <a:sym typeface="Arial"/>
                </a:rPr>
                <a:t>8 J</a:t>
              </a:r>
              <a:r>
                <a:rPr lang="en-US" sz="3000">
                  <a:solidFill>
                    <a:srgbClr val="191919"/>
                  </a:solidFill>
                </a:rPr>
                <a:t>une</a:t>
              </a:r>
              <a:r>
                <a:rPr b="0" i="0" lang="en-US" sz="3000" u="none" cap="none" strike="noStrike">
                  <a:solidFill>
                    <a:srgbClr val="191919"/>
                  </a:solidFill>
                  <a:latin typeface="Arial"/>
                  <a:ea typeface="Arial"/>
                  <a:cs typeface="Arial"/>
                  <a:sym typeface="Arial"/>
                </a:rPr>
                <a:t> 202</a:t>
              </a:r>
              <a:r>
                <a:rPr lang="en-US" sz="3000">
                  <a:solidFill>
                    <a:srgbClr val="191919"/>
                  </a:solidFill>
                </a:rPr>
                <a:t>6</a:t>
              </a: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E7DE"/>
        </a:solidFill>
      </p:bgPr>
    </p:bg>
    <p:spTree>
      <p:nvGrpSpPr>
        <p:cNvPr id="119" name="Shape 119"/>
        <p:cNvGrpSpPr/>
        <p:nvPr/>
      </p:nvGrpSpPr>
      <p:grpSpPr>
        <a:xfrm>
          <a:off x="0" y="0"/>
          <a:ext cx="0" cy="0"/>
          <a:chOff x="0" y="0"/>
          <a:chExt cx="0" cy="0"/>
        </a:xfrm>
      </p:grpSpPr>
      <p:sp>
        <p:nvSpPr>
          <p:cNvPr id="120" name="Google Shape;120;p23"/>
          <p:cNvSpPr/>
          <p:nvPr/>
        </p:nvSpPr>
        <p:spPr>
          <a:xfrm>
            <a:off x="8339700" y="-41500"/>
            <a:ext cx="9696651" cy="10284293"/>
          </a:xfrm>
          <a:custGeom>
            <a:rect b="b" l="l" r="r" t="t"/>
            <a:pathLst>
              <a:path extrusionOk="0" h="3257100" w="3070990">
                <a:moveTo>
                  <a:pt x="2946530" y="3257100"/>
                </a:moveTo>
                <a:lnTo>
                  <a:pt x="124460" y="3257100"/>
                </a:lnTo>
                <a:cubicBezTo>
                  <a:pt x="55880" y="3257100"/>
                  <a:pt x="0" y="3201220"/>
                  <a:pt x="0" y="3132640"/>
                </a:cubicBezTo>
                <a:lnTo>
                  <a:pt x="0" y="124460"/>
                </a:lnTo>
                <a:cubicBezTo>
                  <a:pt x="0" y="55880"/>
                  <a:pt x="55880" y="0"/>
                  <a:pt x="124460" y="0"/>
                </a:cubicBezTo>
                <a:lnTo>
                  <a:pt x="2946530" y="0"/>
                </a:lnTo>
                <a:cubicBezTo>
                  <a:pt x="3015110" y="0"/>
                  <a:pt x="3070990" y="55880"/>
                  <a:pt x="3070990" y="124460"/>
                </a:cubicBezTo>
                <a:lnTo>
                  <a:pt x="3070990" y="3132640"/>
                </a:lnTo>
                <a:cubicBezTo>
                  <a:pt x="3070990" y="3201220"/>
                  <a:pt x="3015110" y="3257100"/>
                  <a:pt x="2946530" y="325710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1" name="Google Shape;121;p23"/>
          <p:cNvCxnSpPr/>
          <p:nvPr/>
        </p:nvCxnSpPr>
        <p:spPr>
          <a:xfrm rot="-5400000">
            <a:off x="7384058" y="5100638"/>
            <a:ext cx="8229600" cy="0"/>
          </a:xfrm>
          <a:prstGeom prst="straightConnector1">
            <a:avLst/>
          </a:prstGeom>
          <a:noFill/>
          <a:ln cap="rnd" cmpd="sng" w="85725">
            <a:solidFill>
              <a:srgbClr val="D5D8DB"/>
            </a:solidFill>
            <a:prstDash val="solid"/>
            <a:round/>
            <a:headEnd len="sm" w="sm" type="none"/>
            <a:tailEnd len="sm" w="sm" type="none"/>
          </a:ln>
        </p:spPr>
      </p:cxnSp>
      <p:sp>
        <p:nvSpPr>
          <p:cNvPr id="122" name="Google Shape;122;p23"/>
          <p:cNvSpPr/>
          <p:nvPr/>
        </p:nvSpPr>
        <p:spPr>
          <a:xfrm>
            <a:off x="11330498" y="1838384"/>
            <a:ext cx="336720" cy="336720"/>
          </a:xfrm>
          <a:custGeom>
            <a:rect b="b" l="l" r="r" t="t"/>
            <a:pathLst>
              <a:path extrusionOk="0"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6F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3" name="Google Shape;123;p23"/>
          <p:cNvGrpSpPr/>
          <p:nvPr/>
        </p:nvGrpSpPr>
        <p:grpSpPr>
          <a:xfrm>
            <a:off x="12436450" y="375423"/>
            <a:ext cx="3697884" cy="3053569"/>
            <a:chOff x="-36" y="-19050"/>
            <a:chExt cx="5310000" cy="4384792"/>
          </a:xfrm>
        </p:grpSpPr>
        <p:sp>
          <p:nvSpPr>
            <p:cNvPr id="124" name="Google Shape;124;p23"/>
            <p:cNvSpPr txBox="1"/>
            <p:nvPr/>
          </p:nvSpPr>
          <p:spPr>
            <a:xfrm>
              <a:off x="0" y="-19050"/>
              <a:ext cx="4550700" cy="468900"/>
            </a:xfrm>
            <a:prstGeom prst="rect">
              <a:avLst/>
            </a:prstGeom>
            <a:noFill/>
            <a:ln>
              <a:noFill/>
            </a:ln>
          </p:spPr>
          <p:txBody>
            <a:bodyPr anchorCtr="0" anchor="t" bIns="0" lIns="0" spcFirstLastPara="1" rIns="0" wrap="square" tIns="0">
              <a:spAutoFit/>
            </a:bodyPr>
            <a:lstStyle/>
            <a:p>
              <a:pPr indent="0" lvl="0" marL="0" rtl="0" algn="l">
                <a:lnSpc>
                  <a:spcPct val="130037"/>
                </a:lnSpc>
                <a:spcBef>
                  <a:spcPts val="0"/>
                </a:spcBef>
                <a:spcAft>
                  <a:spcPts val="0"/>
                </a:spcAft>
                <a:buClr>
                  <a:schemeClr val="dk1"/>
                </a:buClr>
                <a:buFont typeface="Arial"/>
                <a:buNone/>
              </a:pPr>
              <a:r>
                <a:rPr b="1" lang="en-US" sz="2121">
                  <a:solidFill>
                    <a:schemeClr val="dk1"/>
                  </a:solidFill>
                  <a:latin typeface="Ultra"/>
                  <a:ea typeface="Ultra"/>
                  <a:cs typeface="Ultra"/>
                  <a:sym typeface="Ultra"/>
                </a:rPr>
                <a:t>25th MAY</a:t>
              </a:r>
              <a:endParaRPr sz="2400">
                <a:latin typeface="Ultra"/>
                <a:ea typeface="Ultra"/>
                <a:cs typeface="Ultra"/>
                <a:sym typeface="Ultra"/>
              </a:endParaRPr>
            </a:p>
          </p:txBody>
        </p:sp>
        <p:sp>
          <p:nvSpPr>
            <p:cNvPr id="125" name="Google Shape;125;p23"/>
            <p:cNvSpPr txBox="1"/>
            <p:nvPr/>
          </p:nvSpPr>
          <p:spPr>
            <a:xfrm>
              <a:off x="-36" y="695842"/>
              <a:ext cx="5310000" cy="3669900"/>
            </a:xfrm>
            <a:prstGeom prst="rect">
              <a:avLst/>
            </a:prstGeom>
            <a:noFill/>
            <a:ln>
              <a:noFill/>
            </a:ln>
          </p:spPr>
          <p:txBody>
            <a:bodyPr anchorCtr="0" anchor="t" bIns="0" lIns="0" spcFirstLastPara="1" rIns="0" wrap="square" tIns="0">
              <a:spAutoFit/>
            </a:bodyPr>
            <a:lstStyle/>
            <a:p>
              <a:pPr indent="0" lvl="0" marL="0" rtl="0" algn="l">
                <a:lnSpc>
                  <a:spcPct val="238636"/>
                </a:lnSpc>
                <a:spcBef>
                  <a:spcPts val="1114"/>
                </a:spcBef>
                <a:spcAft>
                  <a:spcPts val="0"/>
                </a:spcAft>
                <a:buClr>
                  <a:schemeClr val="dk1"/>
                </a:buClr>
                <a:buSzPts val="1021"/>
                <a:buFont typeface="Arial"/>
                <a:buNone/>
              </a:pPr>
              <a:r>
                <a:rPr lang="en-US" sz="1694">
                  <a:solidFill>
                    <a:srgbClr val="191919"/>
                  </a:solidFill>
                </a:rPr>
                <a:t>+ Assigned to a team</a:t>
              </a:r>
              <a:endParaRPr sz="1694">
                <a:solidFill>
                  <a:srgbClr val="191919"/>
                </a:solidFill>
              </a:endParaRPr>
            </a:p>
            <a:p>
              <a:pPr indent="0" lvl="0" marL="0" rtl="0" algn="l">
                <a:lnSpc>
                  <a:spcPct val="238636"/>
                </a:lnSpc>
                <a:spcBef>
                  <a:spcPts val="1114"/>
                </a:spcBef>
                <a:spcAft>
                  <a:spcPts val="0"/>
                </a:spcAft>
                <a:buClr>
                  <a:schemeClr val="dk1"/>
                </a:buClr>
                <a:buSzPts val="1021"/>
                <a:buFont typeface="Arial"/>
                <a:buNone/>
              </a:pPr>
              <a:r>
                <a:rPr lang="en-US" sz="1694">
                  <a:solidFill>
                    <a:srgbClr val="191919"/>
                  </a:solidFill>
                </a:rPr>
                <a:t>+ Assigned roles to each members</a:t>
              </a:r>
              <a:endParaRPr sz="1694">
                <a:solidFill>
                  <a:srgbClr val="191919"/>
                </a:solidFill>
              </a:endParaRPr>
            </a:p>
            <a:p>
              <a:pPr indent="0" lvl="0" marL="0" rtl="0" algn="l">
                <a:lnSpc>
                  <a:spcPct val="238636"/>
                </a:lnSpc>
                <a:spcBef>
                  <a:spcPts val="1114"/>
                </a:spcBef>
                <a:spcAft>
                  <a:spcPts val="0"/>
                </a:spcAft>
                <a:buClr>
                  <a:schemeClr val="dk1"/>
                </a:buClr>
                <a:buSzPts val="1021"/>
                <a:buFont typeface="Arial"/>
                <a:buNone/>
              </a:pPr>
              <a:r>
                <a:rPr lang="en-US" sz="1694">
                  <a:solidFill>
                    <a:srgbClr val="191919"/>
                  </a:solidFill>
                </a:rPr>
                <a:t>+ Set up milestones</a:t>
              </a:r>
              <a:endParaRPr sz="1694">
                <a:solidFill>
                  <a:srgbClr val="191919"/>
                </a:solidFill>
              </a:endParaRPr>
            </a:p>
            <a:p>
              <a:pPr indent="0" lvl="0" marL="0" marR="0" rtl="0" algn="l">
                <a:lnSpc>
                  <a:spcPct val="140021"/>
                </a:lnSpc>
                <a:spcBef>
                  <a:spcPts val="1114"/>
                </a:spcBef>
                <a:spcAft>
                  <a:spcPts val="0"/>
                </a:spcAft>
                <a:buNone/>
              </a:pPr>
              <a:r>
                <a:t/>
              </a:r>
              <a:endParaRPr sz="1694">
                <a:solidFill>
                  <a:srgbClr val="191919"/>
                </a:solidFill>
              </a:endParaRPr>
            </a:p>
          </p:txBody>
        </p:sp>
      </p:grpSp>
      <p:sp>
        <p:nvSpPr>
          <p:cNvPr id="126" name="Google Shape;126;p23"/>
          <p:cNvSpPr/>
          <p:nvPr/>
        </p:nvSpPr>
        <p:spPr>
          <a:xfrm>
            <a:off x="11330498" y="3831129"/>
            <a:ext cx="336720" cy="336720"/>
          </a:xfrm>
          <a:custGeom>
            <a:rect b="b" l="l" r="r" t="t"/>
            <a:pathLst>
              <a:path extrusionOk="0"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6F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7" name="Google Shape;127;p23"/>
          <p:cNvGrpSpPr/>
          <p:nvPr/>
        </p:nvGrpSpPr>
        <p:grpSpPr>
          <a:xfrm>
            <a:off x="12578900" y="3223850"/>
            <a:ext cx="3796899" cy="1819125"/>
            <a:chOff x="-49" y="-307063"/>
            <a:chExt cx="5062531" cy="2425500"/>
          </a:xfrm>
        </p:grpSpPr>
        <p:sp>
          <p:nvSpPr>
            <p:cNvPr id="128" name="Google Shape;128;p23"/>
            <p:cNvSpPr txBox="1"/>
            <p:nvPr/>
          </p:nvSpPr>
          <p:spPr>
            <a:xfrm>
              <a:off x="-49" y="-307063"/>
              <a:ext cx="5062500" cy="435900"/>
            </a:xfrm>
            <a:prstGeom prst="rect">
              <a:avLst/>
            </a:prstGeom>
            <a:noFill/>
            <a:ln>
              <a:noFill/>
            </a:ln>
          </p:spPr>
          <p:txBody>
            <a:bodyPr anchorCtr="0" anchor="t" bIns="0" lIns="0" spcFirstLastPara="1" rIns="0" wrap="square" tIns="0">
              <a:spAutoFit/>
            </a:bodyPr>
            <a:lstStyle/>
            <a:p>
              <a:pPr indent="0" lvl="0" marL="0" marR="0" rtl="0" algn="l">
                <a:lnSpc>
                  <a:spcPct val="130037"/>
                </a:lnSpc>
                <a:spcBef>
                  <a:spcPts val="0"/>
                </a:spcBef>
                <a:spcAft>
                  <a:spcPts val="0"/>
                </a:spcAft>
                <a:buNone/>
              </a:pPr>
              <a:r>
                <a:rPr b="1" lang="en-US" sz="2124">
                  <a:solidFill>
                    <a:srgbClr val="191919"/>
                  </a:solidFill>
                  <a:latin typeface="Ultra"/>
                  <a:ea typeface="Ultra"/>
                  <a:cs typeface="Ultra"/>
                  <a:sym typeface="Ultra"/>
                </a:rPr>
                <a:t>26th May - 1 June 2026</a:t>
              </a:r>
              <a:endParaRPr/>
            </a:p>
          </p:txBody>
        </p:sp>
        <p:sp>
          <p:nvSpPr>
            <p:cNvPr id="129" name="Google Shape;129;p23"/>
            <p:cNvSpPr txBox="1"/>
            <p:nvPr/>
          </p:nvSpPr>
          <p:spPr>
            <a:xfrm>
              <a:off x="-18" y="695837"/>
              <a:ext cx="5062500" cy="1422600"/>
            </a:xfrm>
            <a:prstGeom prst="rect">
              <a:avLst/>
            </a:prstGeom>
            <a:noFill/>
            <a:ln>
              <a:noFill/>
            </a:ln>
          </p:spPr>
          <p:txBody>
            <a:bodyPr anchorCtr="0" anchor="t" bIns="0" lIns="0" spcFirstLastPara="1" rIns="0" wrap="square" tIns="0">
              <a:spAutoFit/>
            </a:bodyPr>
            <a:lstStyle/>
            <a:p>
              <a:pPr indent="-344424" lvl="0" marL="457200" marR="0" rtl="0" algn="l">
                <a:lnSpc>
                  <a:spcPct val="140021"/>
                </a:lnSpc>
                <a:spcBef>
                  <a:spcPts val="0"/>
                </a:spcBef>
                <a:spcAft>
                  <a:spcPts val="0"/>
                </a:spcAft>
                <a:buClr>
                  <a:srgbClr val="191919"/>
                </a:buClr>
                <a:buSzPts val="1824"/>
                <a:buChar char="+"/>
              </a:pPr>
              <a:r>
                <a:rPr lang="en-US" sz="1824">
                  <a:solidFill>
                    <a:srgbClr val="191919"/>
                  </a:solidFill>
                </a:rPr>
                <a:t>collects data, runs the agents, queries four AI models, and commits a prediction to GitHub </a:t>
              </a:r>
              <a:endParaRPr/>
            </a:p>
          </p:txBody>
        </p:sp>
      </p:grpSp>
      <p:sp>
        <p:nvSpPr>
          <p:cNvPr id="130" name="Google Shape;130;p23"/>
          <p:cNvSpPr/>
          <p:nvPr/>
        </p:nvSpPr>
        <p:spPr>
          <a:xfrm>
            <a:off x="11330498" y="5823875"/>
            <a:ext cx="336720" cy="336720"/>
          </a:xfrm>
          <a:custGeom>
            <a:rect b="b" l="l" r="r" t="t"/>
            <a:pathLst>
              <a:path extrusionOk="0"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6F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1" name="Google Shape;131;p23"/>
          <p:cNvGrpSpPr/>
          <p:nvPr/>
        </p:nvGrpSpPr>
        <p:grpSpPr>
          <a:xfrm>
            <a:off x="12578887" y="5351981"/>
            <a:ext cx="3413075" cy="3243671"/>
            <a:chOff x="-67" y="-126550"/>
            <a:chExt cx="4550767" cy="4324896"/>
          </a:xfrm>
        </p:grpSpPr>
        <p:sp>
          <p:nvSpPr>
            <p:cNvPr id="132" name="Google Shape;132;p23"/>
            <p:cNvSpPr txBox="1"/>
            <p:nvPr/>
          </p:nvSpPr>
          <p:spPr>
            <a:xfrm>
              <a:off x="-67" y="-126550"/>
              <a:ext cx="4550700" cy="410400"/>
            </a:xfrm>
            <a:prstGeom prst="rect">
              <a:avLst/>
            </a:prstGeom>
            <a:noFill/>
            <a:ln>
              <a:noFill/>
            </a:ln>
          </p:spPr>
          <p:txBody>
            <a:bodyPr anchorCtr="0" anchor="t" bIns="0" lIns="0" spcFirstLastPara="1" rIns="0" wrap="square" tIns="0">
              <a:spAutoFit/>
            </a:bodyPr>
            <a:lstStyle/>
            <a:p>
              <a:pPr indent="0" lvl="0" marL="0" marR="0" rtl="0" algn="l">
                <a:lnSpc>
                  <a:spcPct val="130037"/>
                </a:lnSpc>
                <a:spcBef>
                  <a:spcPts val="0"/>
                </a:spcBef>
                <a:spcAft>
                  <a:spcPts val="0"/>
                </a:spcAft>
                <a:buNone/>
              </a:pPr>
              <a:r>
                <a:rPr b="1" lang="en-US" sz="2000">
                  <a:solidFill>
                    <a:schemeClr val="dk1"/>
                  </a:solidFill>
                  <a:latin typeface="Ultra"/>
                  <a:ea typeface="Ultra"/>
                  <a:cs typeface="Ultra"/>
                  <a:sym typeface="Ultra"/>
                </a:rPr>
                <a:t>31st May</a:t>
              </a:r>
              <a:endParaRPr sz="2300">
                <a:latin typeface="Ultra"/>
                <a:ea typeface="Ultra"/>
                <a:cs typeface="Ultra"/>
                <a:sym typeface="Ultra"/>
              </a:endParaRPr>
            </a:p>
          </p:txBody>
        </p:sp>
        <p:sp>
          <p:nvSpPr>
            <p:cNvPr id="133" name="Google Shape;133;p23"/>
            <p:cNvSpPr txBox="1"/>
            <p:nvPr/>
          </p:nvSpPr>
          <p:spPr>
            <a:xfrm>
              <a:off x="0" y="695846"/>
              <a:ext cx="4550700" cy="3502500"/>
            </a:xfrm>
            <a:prstGeom prst="rect">
              <a:avLst/>
            </a:prstGeom>
            <a:noFill/>
            <a:ln>
              <a:noFill/>
            </a:ln>
          </p:spPr>
          <p:txBody>
            <a:bodyPr anchorCtr="0" anchor="t" bIns="0" lIns="0" spcFirstLastPara="1" rIns="0" wrap="square" tIns="0">
              <a:spAutoFit/>
            </a:bodyPr>
            <a:lstStyle/>
            <a:p>
              <a:pPr indent="0" lvl="0" marL="0" rtl="0" algn="l">
                <a:lnSpc>
                  <a:spcPct val="238636"/>
                </a:lnSpc>
                <a:spcBef>
                  <a:spcPts val="1200"/>
                </a:spcBef>
                <a:spcAft>
                  <a:spcPts val="0"/>
                </a:spcAft>
                <a:buClr>
                  <a:schemeClr val="dk1"/>
                </a:buClr>
                <a:buSzPts val="1100"/>
                <a:buFont typeface="Arial"/>
                <a:buNone/>
              </a:pPr>
              <a:r>
                <a:rPr lang="en-US" sz="1724">
                  <a:solidFill>
                    <a:srgbClr val="191919"/>
                  </a:solidFill>
                </a:rPr>
                <a:t>+ Summarizing Works</a:t>
              </a:r>
              <a:endParaRPr sz="1724">
                <a:solidFill>
                  <a:srgbClr val="191919"/>
                </a:solidFill>
              </a:endParaRPr>
            </a:p>
            <a:p>
              <a:pPr indent="0" lvl="0" marL="0" rtl="0" algn="l">
                <a:lnSpc>
                  <a:spcPct val="238636"/>
                </a:lnSpc>
                <a:spcBef>
                  <a:spcPts val="1200"/>
                </a:spcBef>
                <a:spcAft>
                  <a:spcPts val="0"/>
                </a:spcAft>
                <a:buClr>
                  <a:schemeClr val="dk1"/>
                </a:buClr>
                <a:buSzPts val="1100"/>
                <a:buFont typeface="Arial"/>
                <a:buNone/>
              </a:pPr>
              <a:r>
                <a:rPr lang="en-US" sz="1724">
                  <a:solidFill>
                    <a:srgbClr val="191919"/>
                  </a:solidFill>
                </a:rPr>
                <a:t>+ Check the criterias</a:t>
              </a:r>
              <a:endParaRPr sz="1724">
                <a:solidFill>
                  <a:srgbClr val="191919"/>
                </a:solidFill>
              </a:endParaRPr>
            </a:p>
            <a:p>
              <a:pPr indent="0" lvl="0" marL="0" rtl="0" algn="l">
                <a:lnSpc>
                  <a:spcPct val="238636"/>
                </a:lnSpc>
                <a:spcBef>
                  <a:spcPts val="1200"/>
                </a:spcBef>
                <a:spcAft>
                  <a:spcPts val="0"/>
                </a:spcAft>
                <a:buClr>
                  <a:schemeClr val="dk1"/>
                </a:buClr>
                <a:buSzPts val="1100"/>
                <a:buFont typeface="Arial"/>
                <a:buNone/>
              </a:pPr>
              <a:r>
                <a:rPr lang="en-US" sz="1724">
                  <a:solidFill>
                    <a:srgbClr val="191919"/>
                  </a:solidFill>
                </a:rPr>
                <a:t>+ Send the Final report to Dr.Tan</a:t>
              </a:r>
              <a:endParaRPr sz="1724">
                <a:solidFill>
                  <a:srgbClr val="191919"/>
                </a:solidFill>
              </a:endParaRPr>
            </a:p>
            <a:p>
              <a:pPr indent="0" lvl="0" marL="0" marR="0" rtl="0" algn="l">
                <a:lnSpc>
                  <a:spcPct val="140021"/>
                </a:lnSpc>
                <a:spcBef>
                  <a:spcPts val="1200"/>
                </a:spcBef>
                <a:spcAft>
                  <a:spcPts val="0"/>
                </a:spcAft>
                <a:buNone/>
              </a:pPr>
              <a:r>
                <a:t/>
              </a:r>
              <a:endParaRPr sz="1724">
                <a:solidFill>
                  <a:srgbClr val="191919"/>
                </a:solidFill>
              </a:endParaRPr>
            </a:p>
          </p:txBody>
        </p:sp>
      </p:grpSp>
      <p:sp>
        <p:nvSpPr>
          <p:cNvPr id="134" name="Google Shape;134;p23"/>
          <p:cNvSpPr/>
          <p:nvPr/>
        </p:nvSpPr>
        <p:spPr>
          <a:xfrm>
            <a:off x="11330498" y="7816621"/>
            <a:ext cx="336720" cy="336720"/>
          </a:xfrm>
          <a:custGeom>
            <a:rect b="b" l="l" r="r" t="t"/>
            <a:pathLst>
              <a:path extrusionOk="0"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6F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5" name="Google Shape;135;p23"/>
          <p:cNvGrpSpPr/>
          <p:nvPr/>
        </p:nvGrpSpPr>
        <p:grpSpPr>
          <a:xfrm>
            <a:off x="12578887" y="7956976"/>
            <a:ext cx="3413025" cy="1603122"/>
            <a:chOff x="0" y="-19050"/>
            <a:chExt cx="4550700" cy="2137496"/>
          </a:xfrm>
        </p:grpSpPr>
        <p:sp>
          <p:nvSpPr>
            <p:cNvPr id="136" name="Google Shape;136;p23"/>
            <p:cNvSpPr txBox="1"/>
            <p:nvPr/>
          </p:nvSpPr>
          <p:spPr>
            <a:xfrm>
              <a:off x="0" y="-19050"/>
              <a:ext cx="4550700" cy="435900"/>
            </a:xfrm>
            <a:prstGeom prst="rect">
              <a:avLst/>
            </a:prstGeom>
            <a:noFill/>
            <a:ln>
              <a:noFill/>
            </a:ln>
          </p:spPr>
          <p:txBody>
            <a:bodyPr anchorCtr="0" anchor="t" bIns="0" lIns="0" spcFirstLastPara="1" rIns="0" wrap="square" tIns="0">
              <a:spAutoFit/>
            </a:bodyPr>
            <a:lstStyle/>
            <a:p>
              <a:pPr indent="0" lvl="0" marL="0" marR="0" rtl="0" algn="l">
                <a:lnSpc>
                  <a:spcPct val="130037"/>
                </a:lnSpc>
                <a:spcBef>
                  <a:spcPts val="0"/>
                </a:spcBef>
                <a:spcAft>
                  <a:spcPts val="0"/>
                </a:spcAft>
                <a:buNone/>
              </a:pPr>
              <a:r>
                <a:rPr b="1" lang="en-US" sz="2124">
                  <a:solidFill>
                    <a:srgbClr val="191919"/>
                  </a:solidFill>
                  <a:latin typeface="Ultra"/>
                  <a:ea typeface="Ultra"/>
                  <a:cs typeface="Ultra"/>
                  <a:sym typeface="Ultra"/>
                </a:rPr>
                <a:t>8th June</a:t>
              </a:r>
              <a:endParaRPr/>
            </a:p>
          </p:txBody>
        </p:sp>
        <p:sp>
          <p:nvSpPr>
            <p:cNvPr id="137" name="Google Shape;137;p23"/>
            <p:cNvSpPr txBox="1"/>
            <p:nvPr/>
          </p:nvSpPr>
          <p:spPr>
            <a:xfrm>
              <a:off x="0" y="695846"/>
              <a:ext cx="4550700" cy="1422600"/>
            </a:xfrm>
            <a:prstGeom prst="rect">
              <a:avLst/>
            </a:prstGeom>
            <a:noFill/>
            <a:ln>
              <a:noFill/>
            </a:ln>
          </p:spPr>
          <p:txBody>
            <a:bodyPr anchorCtr="0" anchor="t" bIns="0" lIns="0" spcFirstLastPara="1" rIns="0" wrap="square" tIns="0">
              <a:spAutoFit/>
            </a:bodyPr>
            <a:lstStyle/>
            <a:p>
              <a:pPr indent="0" lvl="0" marL="0" marR="0" rtl="0" algn="l">
                <a:lnSpc>
                  <a:spcPct val="140021"/>
                </a:lnSpc>
                <a:spcBef>
                  <a:spcPts val="0"/>
                </a:spcBef>
                <a:spcAft>
                  <a:spcPts val="0"/>
                </a:spcAft>
                <a:buNone/>
              </a:pPr>
              <a:r>
                <a:rPr lang="en-US" sz="1824">
                  <a:solidFill>
                    <a:srgbClr val="191919"/>
                  </a:solidFill>
                </a:rPr>
                <a:t>+ Presentation about team works and what team have accomplished </a:t>
              </a:r>
              <a:endParaRPr/>
            </a:p>
          </p:txBody>
        </p:sp>
      </p:grpSp>
      <p:sp>
        <p:nvSpPr>
          <p:cNvPr id="138" name="Google Shape;138;p23"/>
          <p:cNvSpPr txBox="1"/>
          <p:nvPr/>
        </p:nvSpPr>
        <p:spPr>
          <a:xfrm>
            <a:off x="1143000" y="2676732"/>
            <a:ext cx="5676900" cy="11544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7500" u="none" cap="none" strike="noStrike">
                <a:solidFill>
                  <a:srgbClr val="191919"/>
                </a:solidFill>
                <a:latin typeface="Ultra"/>
                <a:ea typeface="Ultra"/>
                <a:cs typeface="Ultra"/>
                <a:sym typeface="Ultra"/>
              </a:rPr>
              <a:t>Timeline</a:t>
            </a:r>
            <a:endParaRPr sz="900"/>
          </a:p>
        </p:txBody>
      </p:sp>
      <p:sp>
        <p:nvSpPr>
          <p:cNvPr id="139" name="Google Shape;139;p23"/>
          <p:cNvSpPr txBox="1"/>
          <p:nvPr/>
        </p:nvSpPr>
        <p:spPr>
          <a:xfrm>
            <a:off x="505700" y="6192975"/>
            <a:ext cx="7341900" cy="3634200"/>
          </a:xfrm>
          <a:prstGeom prst="rect">
            <a:avLst/>
          </a:prstGeom>
          <a:noFill/>
          <a:ln>
            <a:noFill/>
          </a:ln>
        </p:spPr>
        <p:txBody>
          <a:bodyPr anchorCtr="0" anchor="t" bIns="91425" lIns="91425" spcFirstLastPara="1" rIns="91425" wrap="square" tIns="91425">
            <a:noAutofit/>
          </a:bodyPr>
          <a:lstStyle/>
          <a:p>
            <a:pPr indent="0" lvl="0" marL="0" rtl="0" algn="l">
              <a:lnSpc>
                <a:spcPct val="129545"/>
              </a:lnSpc>
              <a:spcBef>
                <a:spcPts val="120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Welcome to Team 1's Market Intelligence synthesis. I am presenting as the Product Owner alongside my co-PO, Georgi.</a:t>
            </a:r>
            <a:endParaRPr sz="1600">
              <a:solidFill>
                <a:schemeClr val="dk1"/>
              </a:solidFill>
              <a:latin typeface="Times New Roman"/>
              <a:ea typeface="Times New Roman"/>
              <a:cs typeface="Times New Roman"/>
              <a:sym typeface="Times New Roman"/>
            </a:endParaRPr>
          </a:p>
          <a:p>
            <a:pPr indent="0" lvl="0" marL="0" rtl="0" algn="l">
              <a:lnSpc>
                <a:spcPct val="129545"/>
              </a:lnSpc>
              <a:spcBef>
                <a:spcPts val="120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As required for the Product Owner role, I will first address our team's performance tracking: our calibration score from last week's sprint is currently Pending, as our QA Lead noted, because prediction and actuals weeks must align before scoring.</a:t>
            </a:r>
            <a:endParaRPr sz="1600">
              <a:solidFill>
                <a:schemeClr val="dk1"/>
              </a:solidFill>
              <a:latin typeface="Times New Roman"/>
              <a:ea typeface="Times New Roman"/>
              <a:cs typeface="Times New Roman"/>
              <a:sym typeface="Times New Roman"/>
            </a:endParaRPr>
          </a:p>
          <a:p>
            <a:pPr indent="0" lvl="0" marL="0" rtl="0" algn="l">
              <a:lnSpc>
                <a:spcPct val="129545"/>
              </a:lnSpc>
              <a:spcBef>
                <a:spcPts val="120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As outlined in our timeline, our sprint kicked off on May 25th with team formation and milestone planning. From May 26th up until today, May 31st, we executed a rigorous process of collecting data, running agents, and querying four distinct AI models.</a:t>
            </a:r>
            <a:endParaRPr sz="1600">
              <a:solidFill>
                <a:schemeClr val="dk1"/>
              </a:solidFill>
              <a:latin typeface="Times New Roman"/>
              <a:ea typeface="Times New Roman"/>
              <a:cs typeface="Times New Roman"/>
              <a:sym typeface="Times New Roman"/>
            </a:endParaRPr>
          </a:p>
          <a:p>
            <a:pPr indent="0" lvl="0" marL="0" rtl="0" algn="l">
              <a:lnSpc>
                <a:spcPct val="129545"/>
              </a:lnSpc>
              <a:spcBef>
                <a:spcPts val="1200"/>
              </a:spcBef>
              <a:spcAft>
                <a:spcPts val="0"/>
              </a:spcAft>
              <a:buClr>
                <a:schemeClr val="dk1"/>
              </a:buClr>
              <a:buSzPts val="1100"/>
              <a:buFont typeface="Arial"/>
              <a:buNone/>
            </a:pPr>
            <a:r>
              <a:t/>
            </a:r>
            <a:endParaRPr sz="16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600">
              <a:solidFill>
                <a:schemeClr val="dk1"/>
              </a:solidFill>
              <a:latin typeface="Times New Roman"/>
              <a:ea typeface="Times New Roman"/>
              <a:cs typeface="Times New Roman"/>
              <a:sym typeface="Times New Roman"/>
            </a:endParaRPr>
          </a:p>
        </p:txBody>
      </p:sp>
      <p:sp>
        <p:nvSpPr>
          <p:cNvPr id="140" name="Google Shape;140;p23"/>
          <p:cNvSpPr txBox="1"/>
          <p:nvPr/>
        </p:nvSpPr>
        <p:spPr>
          <a:xfrm>
            <a:off x="0" y="0"/>
            <a:ext cx="3000000" cy="3693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lang="en-US" sz="1200">
                <a:solidFill>
                  <a:srgbClr val="6F655D"/>
                </a:solidFill>
                <a:latin typeface="Public Sans"/>
                <a:ea typeface="Public Sans"/>
                <a:cs typeface="Public Sans"/>
                <a:sym typeface="Public Sans"/>
              </a:rPr>
              <a:t>R1 — </a:t>
            </a:r>
            <a:r>
              <a:rPr lang="en-US" sz="1200">
                <a:solidFill>
                  <a:srgbClr val="6F655D"/>
                </a:solidFill>
                <a:latin typeface="Public Sans"/>
                <a:ea typeface="Public Sans"/>
                <a:cs typeface="Public Sans"/>
                <a:sym typeface="Public Sans"/>
              </a:rPr>
              <a:t>Product</a:t>
            </a:r>
            <a:r>
              <a:rPr lang="en-US" sz="1200">
                <a:solidFill>
                  <a:srgbClr val="6F655D"/>
                </a:solidFill>
                <a:latin typeface="Public Sans"/>
                <a:ea typeface="Public Sans"/>
                <a:cs typeface="Public Sans"/>
                <a:sym typeface="Public Sans"/>
              </a:rPr>
              <a:t> Owner</a:t>
            </a:r>
            <a:endParaRPr sz="120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E7DE"/>
        </a:solidFill>
      </p:bgPr>
    </p:bg>
    <p:spTree>
      <p:nvGrpSpPr>
        <p:cNvPr id="144" name="Shape 144"/>
        <p:cNvGrpSpPr/>
        <p:nvPr/>
      </p:nvGrpSpPr>
      <p:grpSpPr>
        <a:xfrm>
          <a:off x="0" y="0"/>
          <a:ext cx="0" cy="0"/>
          <a:chOff x="0" y="0"/>
          <a:chExt cx="0" cy="0"/>
        </a:xfrm>
      </p:grpSpPr>
      <p:sp>
        <p:nvSpPr>
          <p:cNvPr id="145" name="Google Shape;145;p24"/>
          <p:cNvSpPr/>
          <p:nvPr/>
        </p:nvSpPr>
        <p:spPr>
          <a:xfrm>
            <a:off x="361774" y="329175"/>
            <a:ext cx="17521185" cy="9624731"/>
          </a:xfrm>
          <a:custGeom>
            <a:rect b="b" l="l" r="r" t="t"/>
            <a:pathLst>
              <a:path extrusionOk="0" h="3257100" w="3557601">
                <a:moveTo>
                  <a:pt x="3433140" y="3257100"/>
                </a:moveTo>
                <a:lnTo>
                  <a:pt x="124460" y="3257100"/>
                </a:lnTo>
                <a:cubicBezTo>
                  <a:pt x="55880" y="3257100"/>
                  <a:pt x="0" y="3201220"/>
                  <a:pt x="0" y="3132640"/>
                </a:cubicBezTo>
                <a:lnTo>
                  <a:pt x="0" y="124460"/>
                </a:lnTo>
                <a:cubicBezTo>
                  <a:pt x="0" y="55880"/>
                  <a:pt x="55880" y="0"/>
                  <a:pt x="124460" y="0"/>
                </a:cubicBezTo>
                <a:lnTo>
                  <a:pt x="3433140" y="0"/>
                </a:lnTo>
                <a:cubicBezTo>
                  <a:pt x="3501720" y="0"/>
                  <a:pt x="3557601" y="55880"/>
                  <a:pt x="3557601" y="124460"/>
                </a:cubicBezTo>
                <a:lnTo>
                  <a:pt x="3557601" y="3132640"/>
                </a:lnTo>
                <a:cubicBezTo>
                  <a:pt x="3557601" y="3201220"/>
                  <a:pt x="3501720" y="3257100"/>
                  <a:pt x="3433140" y="325710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6" name="Google Shape;146;p24"/>
          <p:cNvGrpSpPr/>
          <p:nvPr/>
        </p:nvGrpSpPr>
        <p:grpSpPr>
          <a:xfrm>
            <a:off x="975675" y="1206010"/>
            <a:ext cx="8309481" cy="8289802"/>
            <a:chOff x="-8" y="-571500"/>
            <a:chExt cx="11079308" cy="11053069"/>
          </a:xfrm>
        </p:grpSpPr>
        <p:sp>
          <p:nvSpPr>
            <p:cNvPr id="147" name="Google Shape;147;p24"/>
            <p:cNvSpPr txBox="1"/>
            <p:nvPr/>
          </p:nvSpPr>
          <p:spPr>
            <a:xfrm>
              <a:off x="0" y="-571500"/>
              <a:ext cx="11079300" cy="1580100"/>
            </a:xfrm>
            <a:prstGeom prst="rect">
              <a:avLst/>
            </a:prstGeom>
            <a:noFill/>
            <a:ln>
              <a:noFill/>
            </a:ln>
          </p:spPr>
          <p:txBody>
            <a:bodyPr anchorCtr="0" anchor="t" bIns="0" lIns="0" spcFirstLastPara="1" rIns="0" wrap="square" tIns="0">
              <a:spAutoFit/>
            </a:bodyPr>
            <a:lstStyle/>
            <a:p>
              <a:pPr indent="0" lvl="0" marL="0" marR="0" rtl="0" algn="l">
                <a:lnSpc>
                  <a:spcPct val="120002"/>
                </a:lnSpc>
                <a:spcBef>
                  <a:spcPts val="0"/>
                </a:spcBef>
                <a:spcAft>
                  <a:spcPts val="0"/>
                </a:spcAft>
                <a:buNone/>
              </a:pPr>
              <a:r>
                <a:rPr b="1" lang="en-US" sz="7699">
                  <a:solidFill>
                    <a:srgbClr val="191919"/>
                  </a:solidFill>
                  <a:latin typeface="Ultra"/>
                  <a:ea typeface="Ultra"/>
                  <a:cs typeface="Ultra"/>
                  <a:sym typeface="Ultra"/>
                </a:rPr>
                <a:t>Sprint Goal</a:t>
              </a:r>
              <a:endParaRPr sz="100"/>
            </a:p>
          </p:txBody>
        </p:sp>
        <p:sp>
          <p:nvSpPr>
            <p:cNvPr id="148" name="Google Shape;148;p24"/>
            <p:cNvSpPr txBox="1"/>
            <p:nvPr/>
          </p:nvSpPr>
          <p:spPr>
            <a:xfrm>
              <a:off x="-8" y="1656469"/>
              <a:ext cx="10258500" cy="88251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1200"/>
                </a:spcBef>
                <a:spcAft>
                  <a:spcPts val="0"/>
                </a:spcAft>
                <a:buClr>
                  <a:schemeClr val="dk1"/>
                </a:buClr>
                <a:buSzPts val="1100"/>
                <a:buFont typeface="Arial"/>
                <a:buNone/>
              </a:pPr>
              <a:r>
                <a:rPr lang="en-US" sz="1800">
                  <a:solidFill>
                    <a:schemeClr val="dk1"/>
                  </a:solidFill>
                  <a:latin typeface="Times New Roman"/>
                  <a:ea typeface="Times New Roman"/>
                  <a:cs typeface="Times New Roman"/>
                  <a:sym typeface="Times New Roman"/>
                </a:rPr>
                <a:t>To create a </a:t>
              </a:r>
              <a:r>
                <a:rPr b="1" lang="en-US" sz="1800">
                  <a:solidFill>
                    <a:schemeClr val="dk1"/>
                  </a:solidFill>
                  <a:latin typeface="Times New Roman"/>
                  <a:ea typeface="Times New Roman"/>
                  <a:cs typeface="Times New Roman"/>
                  <a:sym typeface="Times New Roman"/>
                </a:rPr>
                <a:t>clean, evidence-based market prediction process</a:t>
              </a:r>
              <a:r>
                <a:rPr lang="en-US" sz="1800">
                  <a:solidFill>
                    <a:schemeClr val="dk1"/>
                  </a:solidFill>
                  <a:latin typeface="Times New Roman"/>
                  <a:ea typeface="Times New Roman"/>
                  <a:cs typeface="Times New Roman"/>
                  <a:sym typeface="Times New Roman"/>
                </a:rPr>
                <a:t> where every team member contributes clearly, all files are committed to GitHub, and the final prediction is supported by structured reasoning and human judgement.</a:t>
              </a:r>
              <a:endParaRPr sz="1800">
                <a:solidFill>
                  <a:schemeClr val="dk1"/>
                </a:solidFill>
                <a:latin typeface="Times New Roman"/>
                <a:ea typeface="Times New Roman"/>
                <a:cs typeface="Times New Roman"/>
                <a:sym typeface="Times New Roman"/>
              </a:endParaRPr>
            </a:p>
            <a:p>
              <a:pPr indent="0" lvl="0" marL="0" rtl="0" algn="l">
                <a:lnSpc>
                  <a:spcPct val="100000"/>
                </a:lnSpc>
                <a:spcBef>
                  <a:spcPts val="1200"/>
                </a:spcBef>
                <a:spcAft>
                  <a:spcPts val="0"/>
                </a:spcAft>
                <a:buSzPts val="1100"/>
                <a:buNone/>
              </a:pPr>
              <a:r>
                <a:rPr lang="en-US" sz="1800">
                  <a:solidFill>
                    <a:schemeClr val="dk1"/>
                  </a:solidFill>
                  <a:latin typeface="Times New Roman"/>
                  <a:ea typeface="Times New Roman"/>
                  <a:cs typeface="Times New Roman"/>
                  <a:sym typeface="Times New Roman"/>
                </a:rPr>
                <a:t>This sprint goal was established collaboratively between the Scrum Master and Product Owner to ensure that every deliverable is traceable, reviewable, and grounded in documented analytical reasoning  not assumption. The emphasis on GitHub commits guarantees a fully auditable project trail for all stakeholders.</a:t>
              </a:r>
              <a:endParaRPr sz="1800">
                <a:solidFill>
                  <a:schemeClr val="dk1"/>
                </a:solidFill>
                <a:latin typeface="Times New Roman"/>
                <a:ea typeface="Times New Roman"/>
                <a:cs typeface="Times New Roman"/>
                <a:sym typeface="Times New Roman"/>
              </a:endParaRPr>
            </a:p>
            <a:p>
              <a:pPr indent="0" lvl="0" marL="0" rtl="0" algn="l">
                <a:lnSpc>
                  <a:spcPct val="100000"/>
                </a:lnSpc>
                <a:spcBef>
                  <a:spcPts val="1200"/>
                </a:spcBef>
                <a:spcAft>
                  <a:spcPts val="0"/>
                </a:spcAft>
                <a:buSzPts val="1100"/>
                <a:buNone/>
              </a:pPr>
              <a:r>
                <a:rPr lang="en-US" sz="1800">
                  <a:solidFill>
                    <a:schemeClr val="dk1"/>
                  </a:solidFill>
                  <a:latin typeface="Times New Roman"/>
                  <a:ea typeface="Times New Roman"/>
                  <a:cs typeface="Times New Roman"/>
                  <a:sym typeface="Times New Roman"/>
                </a:rPr>
                <a:t>What does "Done" look like for us this week? For this sprint to be considered completely done, our final prediction must be filed in GitHub specifying the market direction, percentage range, and our confidence level. Furthermore, our repository's evidence folder must be fully populated with the required data screenshots, raw LLM responses, our independent Human Score, the README update, and the official release tag.</a:t>
              </a:r>
              <a:endParaRPr sz="1800">
                <a:solidFill>
                  <a:schemeClr val="dk1"/>
                </a:solidFill>
                <a:latin typeface="Times New Roman"/>
                <a:ea typeface="Times New Roman"/>
                <a:cs typeface="Times New Roman"/>
                <a:sym typeface="Times New Roman"/>
              </a:endParaRPr>
            </a:p>
            <a:p>
              <a:pPr indent="0" lvl="0" marL="0" rtl="0" algn="l">
                <a:lnSpc>
                  <a:spcPct val="100000"/>
                </a:lnSpc>
                <a:spcBef>
                  <a:spcPts val="1200"/>
                </a:spcBef>
                <a:spcAft>
                  <a:spcPts val="0"/>
                </a:spcAft>
                <a:buSzPts val="1100"/>
                <a:buNone/>
              </a:pPr>
              <a:r>
                <a:rPr lang="en-US" sz="1800">
                  <a:solidFill>
                    <a:schemeClr val="dk1"/>
                  </a:solidFill>
                  <a:latin typeface="Times New Roman"/>
                  <a:ea typeface="Times New Roman"/>
                  <a:cs typeface="Times New Roman"/>
                  <a:sym typeface="Times New Roman"/>
                </a:rPr>
                <a:t>My ultimate focus as Product Owner is to ensure the team does not merely complete tasks, but continuously improves the quality, clarity, and reliability of our prediction process as we prepare for our upcoming presentation on June 8th.</a:t>
              </a:r>
              <a:endParaRPr sz="1800">
                <a:solidFill>
                  <a:schemeClr val="dk1"/>
                </a:solidFill>
                <a:latin typeface="Times New Roman"/>
                <a:ea typeface="Times New Roman"/>
                <a:cs typeface="Times New Roman"/>
                <a:sym typeface="Times New Roman"/>
              </a:endParaRPr>
            </a:p>
            <a:p>
              <a:pPr indent="0" lvl="0" marL="0" rtl="0" algn="l">
                <a:lnSpc>
                  <a:spcPct val="100000"/>
                </a:lnSpc>
                <a:spcBef>
                  <a:spcPts val="1200"/>
                </a:spcBef>
                <a:spcAft>
                  <a:spcPts val="0"/>
                </a:spcAft>
                <a:buSzPts val="1100"/>
                <a:buNone/>
              </a:pPr>
              <a:r>
                <a:rPr lang="en-US" sz="1800">
                  <a:solidFill>
                    <a:schemeClr val="dk1"/>
                  </a:solidFill>
                  <a:latin typeface="Times New Roman"/>
                  <a:ea typeface="Times New Roman"/>
                  <a:cs typeface="Times New Roman"/>
                  <a:sym typeface="Times New Roman"/>
                </a:rPr>
                <a:t>W3</a:t>
              </a:r>
              <a:endParaRPr sz="1800">
                <a:solidFill>
                  <a:schemeClr val="dk1"/>
                </a:solidFill>
                <a:latin typeface="Times New Roman"/>
                <a:ea typeface="Times New Roman"/>
                <a:cs typeface="Times New Roman"/>
                <a:sym typeface="Times New Roman"/>
              </a:endParaRPr>
            </a:p>
            <a:p>
              <a:pPr indent="0" lvl="0" marL="0" rtl="0" algn="l">
                <a:lnSpc>
                  <a:spcPct val="100000"/>
                </a:lnSpc>
                <a:spcBef>
                  <a:spcPts val="1200"/>
                </a:spcBef>
                <a:spcAft>
                  <a:spcPts val="0"/>
                </a:spcAft>
                <a:buSzPts val="1100"/>
                <a:buNone/>
              </a:pPr>
              <a:r>
                <a:rPr lang="en-US" sz="1800">
                  <a:solidFill>
                    <a:schemeClr val="dk1"/>
                  </a:solidFill>
                  <a:latin typeface="Times New Roman"/>
                  <a:ea typeface="Times New Roman"/>
                  <a:cs typeface="Times New Roman"/>
                  <a:sym typeface="Times New Roman"/>
                </a:rPr>
                <a:t>Observations: this was easier week, but was still chaotic </a:t>
              </a:r>
              <a:endParaRPr sz="1800">
                <a:solidFill>
                  <a:schemeClr val="dk1"/>
                </a:solidFill>
                <a:latin typeface="Times New Roman"/>
                <a:ea typeface="Times New Roman"/>
                <a:cs typeface="Times New Roman"/>
                <a:sym typeface="Times New Roman"/>
              </a:endParaRPr>
            </a:p>
            <a:p>
              <a:pPr indent="0" lvl="0" marL="0" rtl="0" algn="l">
                <a:lnSpc>
                  <a:spcPct val="100000"/>
                </a:lnSpc>
                <a:spcBef>
                  <a:spcPts val="1200"/>
                </a:spcBef>
                <a:spcAft>
                  <a:spcPts val="0"/>
                </a:spcAft>
                <a:buClr>
                  <a:schemeClr val="dk1"/>
                </a:buClr>
                <a:buSzPts val="1100"/>
                <a:buFont typeface="Arial"/>
                <a:buNone/>
              </a:pPr>
              <a:r>
                <a:rPr lang="en-US" sz="1800">
                  <a:solidFill>
                    <a:schemeClr val="dk1"/>
                  </a:solidFill>
                  <a:latin typeface="Times New Roman"/>
                  <a:ea typeface="Times New Roman"/>
                  <a:cs typeface="Times New Roman"/>
                  <a:sym typeface="Times New Roman"/>
                </a:rPr>
                <a:t>Aiming: define clear communication protocol on Monday </a:t>
              </a:r>
              <a:endParaRPr sz="1800">
                <a:solidFill>
                  <a:schemeClr val="dk1"/>
                </a:solidFill>
                <a:latin typeface="Times New Roman"/>
                <a:ea typeface="Times New Roman"/>
                <a:cs typeface="Times New Roman"/>
                <a:sym typeface="Times New Roman"/>
              </a:endParaRPr>
            </a:p>
            <a:p>
              <a:pPr indent="0" lvl="0" marL="0" marR="0" rtl="0" algn="l">
                <a:lnSpc>
                  <a:spcPct val="100000"/>
                </a:lnSpc>
                <a:spcBef>
                  <a:spcPts val="1200"/>
                </a:spcBef>
                <a:spcAft>
                  <a:spcPts val="0"/>
                </a:spcAft>
                <a:buNone/>
              </a:pPr>
              <a:r>
                <a:t/>
              </a:r>
              <a:endParaRPr sz="1800">
                <a:solidFill>
                  <a:srgbClr val="191919"/>
                </a:solidFill>
                <a:latin typeface="Times New Roman"/>
                <a:ea typeface="Times New Roman"/>
                <a:cs typeface="Times New Roman"/>
                <a:sym typeface="Times New Roman"/>
              </a:endParaRPr>
            </a:p>
          </p:txBody>
        </p:sp>
      </p:grpSp>
      <p:sp>
        <p:nvSpPr>
          <p:cNvPr id="149" name="Google Shape;149;p24"/>
          <p:cNvSpPr/>
          <p:nvPr/>
        </p:nvSpPr>
        <p:spPr>
          <a:xfrm>
            <a:off x="9602650" y="823075"/>
            <a:ext cx="3392250" cy="2607624"/>
          </a:xfrm>
          <a:custGeom>
            <a:rect b="b" l="l" r="r" t="t"/>
            <a:pathLst>
              <a:path extrusionOk="0" h="1650395" w="1746332">
                <a:moveTo>
                  <a:pt x="1621872" y="1650395"/>
                </a:moveTo>
                <a:lnTo>
                  <a:pt x="124460" y="1650395"/>
                </a:lnTo>
                <a:cubicBezTo>
                  <a:pt x="55880" y="1650395"/>
                  <a:pt x="0" y="1594515"/>
                  <a:pt x="0" y="1525935"/>
                </a:cubicBezTo>
                <a:lnTo>
                  <a:pt x="0" y="124460"/>
                </a:lnTo>
                <a:cubicBezTo>
                  <a:pt x="0" y="55880"/>
                  <a:pt x="55880" y="0"/>
                  <a:pt x="124460" y="0"/>
                </a:cubicBezTo>
                <a:lnTo>
                  <a:pt x="1621872" y="0"/>
                </a:lnTo>
                <a:cubicBezTo>
                  <a:pt x="1690452" y="0"/>
                  <a:pt x="1746332" y="55880"/>
                  <a:pt x="1746332" y="124460"/>
                </a:cubicBezTo>
                <a:lnTo>
                  <a:pt x="1746332" y="1525935"/>
                </a:lnTo>
                <a:cubicBezTo>
                  <a:pt x="1746332" y="1594515"/>
                  <a:pt x="1690452" y="1650395"/>
                  <a:pt x="1621872" y="1650395"/>
                </a:cubicBezTo>
                <a:close/>
              </a:path>
            </a:pathLst>
          </a:custGeom>
          <a:solidFill>
            <a:srgbClr val="FFFFFF"/>
          </a:solidFill>
          <a:ln cap="flat" cmpd="sng" w="228600">
            <a:solidFill>
              <a:srgbClr val="F6E7D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24"/>
          <p:cNvSpPr/>
          <p:nvPr/>
        </p:nvSpPr>
        <p:spPr>
          <a:xfrm>
            <a:off x="13733100" y="823075"/>
            <a:ext cx="3392250" cy="2607624"/>
          </a:xfrm>
          <a:custGeom>
            <a:rect b="b" l="l" r="r" t="t"/>
            <a:pathLst>
              <a:path extrusionOk="0" h="1650395" w="1746332">
                <a:moveTo>
                  <a:pt x="1621872" y="1650395"/>
                </a:moveTo>
                <a:lnTo>
                  <a:pt x="124460" y="1650395"/>
                </a:lnTo>
                <a:cubicBezTo>
                  <a:pt x="55880" y="1650395"/>
                  <a:pt x="0" y="1594515"/>
                  <a:pt x="0" y="1525935"/>
                </a:cubicBezTo>
                <a:lnTo>
                  <a:pt x="0" y="124460"/>
                </a:lnTo>
                <a:cubicBezTo>
                  <a:pt x="0" y="55880"/>
                  <a:pt x="55880" y="0"/>
                  <a:pt x="124460" y="0"/>
                </a:cubicBezTo>
                <a:lnTo>
                  <a:pt x="1621872" y="0"/>
                </a:lnTo>
                <a:cubicBezTo>
                  <a:pt x="1690452" y="0"/>
                  <a:pt x="1746332" y="55880"/>
                  <a:pt x="1746332" y="124460"/>
                </a:cubicBezTo>
                <a:lnTo>
                  <a:pt x="1746332" y="1525935"/>
                </a:lnTo>
                <a:cubicBezTo>
                  <a:pt x="1746332" y="1594515"/>
                  <a:pt x="1690452" y="1650395"/>
                  <a:pt x="1621872" y="1650395"/>
                </a:cubicBezTo>
                <a:close/>
              </a:path>
            </a:pathLst>
          </a:custGeom>
          <a:solidFill>
            <a:srgbClr val="FFFFFF"/>
          </a:solidFill>
          <a:ln cap="flat" cmpd="sng" w="228600">
            <a:solidFill>
              <a:srgbClr val="F6E7D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24"/>
          <p:cNvSpPr/>
          <p:nvPr/>
        </p:nvSpPr>
        <p:spPr>
          <a:xfrm>
            <a:off x="9602650" y="4091200"/>
            <a:ext cx="3392250" cy="2607624"/>
          </a:xfrm>
          <a:custGeom>
            <a:rect b="b" l="l" r="r" t="t"/>
            <a:pathLst>
              <a:path extrusionOk="0" h="1650395" w="1746332">
                <a:moveTo>
                  <a:pt x="1621872" y="1650395"/>
                </a:moveTo>
                <a:lnTo>
                  <a:pt x="124460" y="1650395"/>
                </a:lnTo>
                <a:cubicBezTo>
                  <a:pt x="55880" y="1650395"/>
                  <a:pt x="0" y="1594515"/>
                  <a:pt x="0" y="1525935"/>
                </a:cubicBezTo>
                <a:lnTo>
                  <a:pt x="0" y="124460"/>
                </a:lnTo>
                <a:cubicBezTo>
                  <a:pt x="0" y="55880"/>
                  <a:pt x="55880" y="0"/>
                  <a:pt x="124460" y="0"/>
                </a:cubicBezTo>
                <a:lnTo>
                  <a:pt x="1621872" y="0"/>
                </a:lnTo>
                <a:cubicBezTo>
                  <a:pt x="1690452" y="0"/>
                  <a:pt x="1746332" y="55880"/>
                  <a:pt x="1746332" y="124460"/>
                </a:cubicBezTo>
                <a:lnTo>
                  <a:pt x="1746332" y="1525935"/>
                </a:lnTo>
                <a:cubicBezTo>
                  <a:pt x="1746332" y="1594515"/>
                  <a:pt x="1690452" y="1650395"/>
                  <a:pt x="1621872" y="1650395"/>
                </a:cubicBezTo>
                <a:close/>
              </a:path>
            </a:pathLst>
          </a:custGeom>
          <a:solidFill>
            <a:srgbClr val="FFFFFF"/>
          </a:solidFill>
          <a:ln cap="flat" cmpd="sng" w="228600">
            <a:solidFill>
              <a:srgbClr val="F6E7D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24"/>
          <p:cNvSpPr/>
          <p:nvPr/>
        </p:nvSpPr>
        <p:spPr>
          <a:xfrm>
            <a:off x="13733100" y="4091200"/>
            <a:ext cx="3392250" cy="2607624"/>
          </a:xfrm>
          <a:custGeom>
            <a:rect b="b" l="l" r="r" t="t"/>
            <a:pathLst>
              <a:path extrusionOk="0" h="1650395" w="1746332">
                <a:moveTo>
                  <a:pt x="1621872" y="1650395"/>
                </a:moveTo>
                <a:lnTo>
                  <a:pt x="124460" y="1650395"/>
                </a:lnTo>
                <a:cubicBezTo>
                  <a:pt x="55880" y="1650395"/>
                  <a:pt x="0" y="1594515"/>
                  <a:pt x="0" y="1525935"/>
                </a:cubicBezTo>
                <a:lnTo>
                  <a:pt x="0" y="124460"/>
                </a:lnTo>
                <a:cubicBezTo>
                  <a:pt x="0" y="55880"/>
                  <a:pt x="55880" y="0"/>
                  <a:pt x="124460" y="0"/>
                </a:cubicBezTo>
                <a:lnTo>
                  <a:pt x="1621872" y="0"/>
                </a:lnTo>
                <a:cubicBezTo>
                  <a:pt x="1690452" y="0"/>
                  <a:pt x="1746332" y="55880"/>
                  <a:pt x="1746332" y="124460"/>
                </a:cubicBezTo>
                <a:lnTo>
                  <a:pt x="1746332" y="1525935"/>
                </a:lnTo>
                <a:cubicBezTo>
                  <a:pt x="1746332" y="1594515"/>
                  <a:pt x="1690452" y="1650395"/>
                  <a:pt x="1621872" y="1650395"/>
                </a:cubicBezTo>
                <a:close/>
              </a:path>
            </a:pathLst>
          </a:custGeom>
          <a:solidFill>
            <a:srgbClr val="FFFFFF"/>
          </a:solidFill>
          <a:ln cap="flat" cmpd="sng" w="228600">
            <a:solidFill>
              <a:srgbClr val="F6E7D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24"/>
          <p:cNvSpPr txBox="1"/>
          <p:nvPr/>
        </p:nvSpPr>
        <p:spPr>
          <a:xfrm>
            <a:off x="10084375" y="1091063"/>
            <a:ext cx="2428800" cy="1785900"/>
          </a:xfrm>
          <a:prstGeom prst="rect">
            <a:avLst/>
          </a:prstGeom>
          <a:noFill/>
          <a:ln>
            <a:noFill/>
          </a:ln>
        </p:spPr>
        <p:txBody>
          <a:bodyPr anchorCtr="0" anchor="t" bIns="91425" lIns="91425" spcFirstLastPara="1" rIns="91425" wrap="square" tIns="91425">
            <a:noAutofit/>
          </a:bodyPr>
          <a:lstStyle/>
          <a:p>
            <a:pPr indent="0" lvl="0" marL="0" rtl="0" algn="l">
              <a:lnSpc>
                <a:spcPct val="124800"/>
              </a:lnSpc>
              <a:spcBef>
                <a:spcPts val="1700"/>
              </a:spcBef>
              <a:spcAft>
                <a:spcPts val="0"/>
              </a:spcAft>
              <a:buClr>
                <a:schemeClr val="dk1"/>
              </a:buClr>
              <a:buSzPts val="1100"/>
              <a:buFont typeface="Arial"/>
              <a:buNone/>
            </a:pPr>
            <a:r>
              <a:rPr lang="en-US" sz="1700">
                <a:solidFill>
                  <a:srgbClr val="6F655D"/>
                </a:solidFill>
              </a:rPr>
              <a:t>Prediction File Committed</a:t>
            </a:r>
            <a:endParaRPr sz="1700">
              <a:solidFill>
                <a:srgbClr val="6F655D"/>
              </a:solidFill>
            </a:endParaRPr>
          </a:p>
          <a:p>
            <a:pPr indent="0" lvl="0" marL="0" rtl="0" algn="l">
              <a:lnSpc>
                <a:spcPct val="139200"/>
              </a:lnSpc>
              <a:spcBef>
                <a:spcPts val="1700"/>
              </a:spcBef>
              <a:spcAft>
                <a:spcPts val="0"/>
              </a:spcAft>
              <a:buClr>
                <a:schemeClr val="dk1"/>
              </a:buClr>
              <a:buSzPts val="1100"/>
              <a:buFont typeface="Arial"/>
              <a:buNone/>
            </a:pPr>
            <a:r>
              <a:rPr lang="en-US">
                <a:solidFill>
                  <a:srgbClr val="6F655D"/>
                </a:solidFill>
              </a:rPr>
              <a:t>Exact SPX, NDX, and IWM ranges with associated confidence levels committed to the repository.</a:t>
            </a:r>
            <a:endParaRPr>
              <a:solidFill>
                <a:srgbClr val="6F655D"/>
              </a:solidFill>
            </a:endParaRPr>
          </a:p>
          <a:p>
            <a:pPr indent="0" lvl="0" marL="0" rtl="0" algn="l">
              <a:spcBef>
                <a:spcPts val="1400"/>
              </a:spcBef>
              <a:spcAft>
                <a:spcPts val="0"/>
              </a:spcAft>
              <a:buNone/>
            </a:pPr>
            <a:r>
              <a:t/>
            </a:r>
            <a:endParaRPr sz="3200">
              <a:solidFill>
                <a:schemeClr val="dk1"/>
              </a:solidFill>
              <a:latin typeface="Calibri"/>
              <a:ea typeface="Calibri"/>
              <a:cs typeface="Calibri"/>
              <a:sym typeface="Calibri"/>
            </a:endParaRPr>
          </a:p>
        </p:txBody>
      </p:sp>
      <p:sp>
        <p:nvSpPr>
          <p:cNvPr id="154" name="Google Shape;154;p24"/>
          <p:cNvSpPr txBox="1"/>
          <p:nvPr/>
        </p:nvSpPr>
        <p:spPr>
          <a:xfrm>
            <a:off x="14214825" y="1091063"/>
            <a:ext cx="2428800" cy="17859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1700"/>
              </a:spcBef>
              <a:spcAft>
                <a:spcPts val="0"/>
              </a:spcAft>
              <a:buNone/>
            </a:pPr>
            <a:r>
              <a:rPr lang="en-US" sz="1700">
                <a:solidFill>
                  <a:srgbClr val="6F655D"/>
                </a:solidFill>
              </a:rPr>
              <a:t>LLM Evidence Stored </a:t>
            </a:r>
            <a:endParaRPr sz="1700">
              <a:solidFill>
                <a:srgbClr val="6F655D"/>
              </a:solidFill>
            </a:endParaRPr>
          </a:p>
          <a:p>
            <a:pPr indent="0" lvl="0" marL="0" rtl="0" algn="l">
              <a:lnSpc>
                <a:spcPct val="100000"/>
              </a:lnSpc>
              <a:spcBef>
                <a:spcPts val="1700"/>
              </a:spcBef>
              <a:spcAft>
                <a:spcPts val="0"/>
              </a:spcAft>
              <a:buNone/>
            </a:pPr>
            <a:r>
              <a:rPr lang="en-US">
                <a:solidFill>
                  <a:srgbClr val="6F655D"/>
                </a:solidFill>
              </a:rPr>
              <a:t>All four raw LLM responses explicitly stored in the designated /evidence folder — no summaries, full logs only. </a:t>
            </a:r>
            <a:endParaRPr>
              <a:solidFill>
                <a:srgbClr val="6F655D"/>
              </a:solidFill>
            </a:endParaRPr>
          </a:p>
          <a:p>
            <a:pPr indent="0" lvl="0" marL="0" rtl="0" algn="l">
              <a:lnSpc>
                <a:spcPct val="100000"/>
              </a:lnSpc>
              <a:spcBef>
                <a:spcPts val="1400"/>
              </a:spcBef>
              <a:spcAft>
                <a:spcPts val="0"/>
              </a:spcAft>
              <a:buNone/>
            </a:pPr>
            <a:r>
              <a:t/>
            </a:r>
            <a:endParaRPr sz="3200">
              <a:solidFill>
                <a:schemeClr val="dk1"/>
              </a:solidFill>
              <a:latin typeface="Calibri"/>
              <a:ea typeface="Calibri"/>
              <a:cs typeface="Calibri"/>
              <a:sym typeface="Calibri"/>
            </a:endParaRPr>
          </a:p>
        </p:txBody>
      </p:sp>
      <p:sp>
        <p:nvSpPr>
          <p:cNvPr id="155" name="Google Shape;155;p24"/>
          <p:cNvSpPr txBox="1"/>
          <p:nvPr/>
        </p:nvSpPr>
        <p:spPr>
          <a:xfrm>
            <a:off x="10084375" y="4308463"/>
            <a:ext cx="2428800" cy="17859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1700"/>
              </a:spcBef>
              <a:spcAft>
                <a:spcPts val="0"/>
              </a:spcAft>
              <a:buNone/>
            </a:pPr>
            <a:r>
              <a:rPr lang="en-US" sz="1700">
                <a:solidFill>
                  <a:srgbClr val="6F655D"/>
                </a:solidFill>
              </a:rPr>
              <a:t>Human Score Table Complete </a:t>
            </a:r>
            <a:endParaRPr sz="1700">
              <a:solidFill>
                <a:srgbClr val="6F655D"/>
              </a:solidFill>
            </a:endParaRPr>
          </a:p>
          <a:p>
            <a:pPr indent="0" lvl="0" marL="0" rtl="0" algn="l">
              <a:lnSpc>
                <a:spcPct val="100000"/>
              </a:lnSpc>
              <a:spcBef>
                <a:spcPts val="1700"/>
              </a:spcBef>
              <a:spcAft>
                <a:spcPts val="0"/>
              </a:spcAft>
              <a:buNone/>
            </a:pPr>
            <a:r>
              <a:rPr lang="en-US">
                <a:solidFill>
                  <a:srgbClr val="6F655D"/>
                </a:solidFill>
              </a:rPr>
              <a:t>Override justification written clearly alongside the completed Human Score table. Rationale must be traceable. </a:t>
            </a:r>
            <a:endParaRPr>
              <a:solidFill>
                <a:srgbClr val="6F655D"/>
              </a:solidFill>
            </a:endParaRPr>
          </a:p>
          <a:p>
            <a:pPr indent="0" lvl="0" marL="0" rtl="0" algn="l">
              <a:lnSpc>
                <a:spcPct val="100000"/>
              </a:lnSpc>
              <a:spcBef>
                <a:spcPts val="1400"/>
              </a:spcBef>
              <a:spcAft>
                <a:spcPts val="0"/>
              </a:spcAft>
              <a:buNone/>
            </a:pPr>
            <a:r>
              <a:t/>
            </a:r>
            <a:endParaRPr sz="3200">
              <a:solidFill>
                <a:schemeClr val="dk1"/>
              </a:solidFill>
              <a:latin typeface="Calibri"/>
              <a:ea typeface="Calibri"/>
              <a:cs typeface="Calibri"/>
              <a:sym typeface="Calibri"/>
            </a:endParaRPr>
          </a:p>
        </p:txBody>
      </p:sp>
      <p:sp>
        <p:nvSpPr>
          <p:cNvPr id="156" name="Google Shape;156;p24"/>
          <p:cNvSpPr txBox="1"/>
          <p:nvPr/>
        </p:nvSpPr>
        <p:spPr>
          <a:xfrm>
            <a:off x="14214825" y="4308463"/>
            <a:ext cx="2428800" cy="17859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1700"/>
              </a:spcBef>
              <a:spcAft>
                <a:spcPts val="0"/>
              </a:spcAft>
              <a:buNone/>
            </a:pPr>
            <a:r>
              <a:rPr lang="en-US" sz="1700">
                <a:solidFill>
                  <a:srgbClr val="6F655D"/>
                </a:solidFill>
              </a:rPr>
              <a:t>GitHub Release Tag Created </a:t>
            </a:r>
            <a:endParaRPr sz="1700">
              <a:solidFill>
                <a:srgbClr val="6F655D"/>
              </a:solidFill>
            </a:endParaRPr>
          </a:p>
          <a:p>
            <a:pPr indent="0" lvl="0" marL="0" rtl="0" algn="l">
              <a:lnSpc>
                <a:spcPct val="100000"/>
              </a:lnSpc>
              <a:spcBef>
                <a:spcPts val="1700"/>
              </a:spcBef>
              <a:spcAft>
                <a:spcPts val="0"/>
              </a:spcAft>
              <a:buNone/>
            </a:pPr>
            <a:r>
              <a:rPr lang="en-US">
                <a:solidFill>
                  <a:schemeClr val="dk1"/>
                </a:solidFill>
              </a:rPr>
              <a:t>Official release tag successfully created and pushed to GitHub </a:t>
            </a:r>
            <a:r>
              <a:rPr b="1" lang="en-US">
                <a:solidFill>
                  <a:schemeClr val="dk1"/>
                </a:solidFill>
              </a:rPr>
              <a:t>before class</a:t>
            </a:r>
            <a:r>
              <a:rPr lang="en-US">
                <a:solidFill>
                  <a:schemeClr val="dk1"/>
                </a:solidFill>
              </a:rPr>
              <a:t>. Late tags do not satisfy this criter</a:t>
            </a:r>
            <a:r>
              <a:rPr lang="en-US" sz="1100">
                <a:solidFill>
                  <a:schemeClr val="dk1"/>
                </a:solidFill>
              </a:rPr>
              <a:t>ion. </a:t>
            </a:r>
            <a:endParaRPr>
              <a:solidFill>
                <a:srgbClr val="6F655D"/>
              </a:solidFill>
            </a:endParaRPr>
          </a:p>
          <a:p>
            <a:pPr indent="0" lvl="0" marL="0" rtl="0" algn="l">
              <a:lnSpc>
                <a:spcPct val="100000"/>
              </a:lnSpc>
              <a:spcBef>
                <a:spcPts val="1400"/>
              </a:spcBef>
              <a:spcAft>
                <a:spcPts val="0"/>
              </a:spcAft>
              <a:buNone/>
            </a:pPr>
            <a:r>
              <a:t/>
            </a:r>
            <a:endParaRPr sz="3200">
              <a:solidFill>
                <a:schemeClr val="dk1"/>
              </a:solidFill>
              <a:latin typeface="Calibri"/>
              <a:ea typeface="Calibri"/>
              <a:cs typeface="Calibri"/>
              <a:sym typeface="Calibri"/>
            </a:endParaRPr>
          </a:p>
        </p:txBody>
      </p:sp>
      <p:sp>
        <p:nvSpPr>
          <p:cNvPr id="157" name="Google Shape;157;p24"/>
          <p:cNvSpPr txBox="1"/>
          <p:nvPr/>
        </p:nvSpPr>
        <p:spPr>
          <a:xfrm>
            <a:off x="0" y="0"/>
            <a:ext cx="3000000" cy="3693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lang="en-US" sz="1200">
                <a:solidFill>
                  <a:srgbClr val="6F655D"/>
                </a:solidFill>
                <a:latin typeface="Public Sans"/>
                <a:ea typeface="Public Sans"/>
                <a:cs typeface="Public Sans"/>
                <a:sym typeface="Public Sans"/>
              </a:rPr>
              <a:t>R1 — Product Owner</a:t>
            </a:r>
            <a:endParaRPr sz="12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E7DE"/>
        </a:solidFill>
      </p:bgPr>
    </p:bg>
    <p:spTree>
      <p:nvGrpSpPr>
        <p:cNvPr id="161" name="Shape 161"/>
        <p:cNvGrpSpPr/>
        <p:nvPr/>
      </p:nvGrpSpPr>
      <p:grpSpPr>
        <a:xfrm>
          <a:off x="0" y="0"/>
          <a:ext cx="0" cy="0"/>
          <a:chOff x="0" y="0"/>
          <a:chExt cx="0" cy="0"/>
        </a:xfrm>
      </p:grpSpPr>
      <p:sp>
        <p:nvSpPr>
          <p:cNvPr id="162" name="Google Shape;162;p25"/>
          <p:cNvSpPr/>
          <p:nvPr/>
        </p:nvSpPr>
        <p:spPr>
          <a:xfrm>
            <a:off x="458022" y="0"/>
            <a:ext cx="17573740" cy="10243580"/>
          </a:xfrm>
          <a:custGeom>
            <a:rect b="b" l="l" r="r" t="t"/>
            <a:pathLst>
              <a:path extrusionOk="0" h="3257100" w="3070990">
                <a:moveTo>
                  <a:pt x="2946530" y="3257100"/>
                </a:moveTo>
                <a:lnTo>
                  <a:pt x="124460" y="3257100"/>
                </a:lnTo>
                <a:cubicBezTo>
                  <a:pt x="55880" y="3257100"/>
                  <a:pt x="0" y="3201220"/>
                  <a:pt x="0" y="3132640"/>
                </a:cubicBezTo>
                <a:lnTo>
                  <a:pt x="0" y="124460"/>
                </a:lnTo>
                <a:cubicBezTo>
                  <a:pt x="0" y="55880"/>
                  <a:pt x="55880" y="0"/>
                  <a:pt x="124460" y="0"/>
                </a:cubicBezTo>
                <a:lnTo>
                  <a:pt x="2946530" y="0"/>
                </a:lnTo>
                <a:cubicBezTo>
                  <a:pt x="3015110" y="0"/>
                  <a:pt x="3070990" y="55880"/>
                  <a:pt x="3070990" y="124460"/>
                </a:cubicBezTo>
                <a:lnTo>
                  <a:pt x="3070990" y="3132640"/>
                </a:lnTo>
                <a:cubicBezTo>
                  <a:pt x="3070990" y="3201220"/>
                  <a:pt x="3015110" y="3257100"/>
                  <a:pt x="2946530" y="325710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25"/>
          <p:cNvSpPr txBox="1"/>
          <p:nvPr/>
        </p:nvSpPr>
        <p:spPr>
          <a:xfrm>
            <a:off x="6406438" y="291882"/>
            <a:ext cx="5676900" cy="11544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US" sz="7500">
                <a:solidFill>
                  <a:srgbClr val="191919"/>
                </a:solidFill>
                <a:latin typeface="Ultra"/>
                <a:ea typeface="Ultra"/>
                <a:cs typeface="Ultra"/>
                <a:sym typeface="Ultra"/>
              </a:rPr>
              <a:t>Evidence </a:t>
            </a:r>
            <a:endParaRPr sz="900"/>
          </a:p>
        </p:txBody>
      </p:sp>
      <p:sp>
        <p:nvSpPr>
          <p:cNvPr id="164" name="Google Shape;164;p25"/>
          <p:cNvSpPr txBox="1"/>
          <p:nvPr/>
        </p:nvSpPr>
        <p:spPr>
          <a:xfrm>
            <a:off x="686675" y="291875"/>
            <a:ext cx="3000000" cy="3693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lang="en-US" sz="1200">
                <a:solidFill>
                  <a:srgbClr val="6F655D"/>
                </a:solidFill>
                <a:latin typeface="Public Sans"/>
                <a:ea typeface="Public Sans"/>
                <a:cs typeface="Public Sans"/>
                <a:sym typeface="Public Sans"/>
              </a:rPr>
              <a:t>R1 — Product Owner</a:t>
            </a:r>
            <a:endParaRPr sz="1200">
              <a:solidFill>
                <a:schemeClr val="dk1"/>
              </a:solidFill>
            </a:endParaRPr>
          </a:p>
        </p:txBody>
      </p:sp>
      <p:pic>
        <p:nvPicPr>
          <p:cNvPr id="165" name="Google Shape;165;p25"/>
          <p:cNvPicPr preferRelativeResize="0"/>
          <p:nvPr/>
        </p:nvPicPr>
        <p:blipFill>
          <a:blip r:embed="rId3">
            <a:alphaModFix/>
          </a:blip>
          <a:stretch>
            <a:fillRect/>
          </a:stretch>
        </p:blipFill>
        <p:spPr>
          <a:xfrm>
            <a:off x="2975587" y="1599600"/>
            <a:ext cx="12336826" cy="827774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E7DE"/>
        </a:solidFill>
      </p:bgPr>
    </p:bg>
    <p:spTree>
      <p:nvGrpSpPr>
        <p:cNvPr id="169" name="Shape 169"/>
        <p:cNvGrpSpPr/>
        <p:nvPr/>
      </p:nvGrpSpPr>
      <p:grpSpPr>
        <a:xfrm>
          <a:off x="0" y="0"/>
          <a:ext cx="0" cy="0"/>
          <a:chOff x="0" y="0"/>
          <a:chExt cx="0" cy="0"/>
        </a:xfrm>
      </p:grpSpPr>
      <p:sp>
        <p:nvSpPr>
          <p:cNvPr id="170" name="Google Shape;170;p26"/>
          <p:cNvSpPr/>
          <p:nvPr/>
        </p:nvSpPr>
        <p:spPr>
          <a:xfrm>
            <a:off x="1507500" y="1503000"/>
            <a:ext cx="6129000" cy="35085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latin typeface="Times New Roman"/>
              <a:ea typeface="Times New Roman"/>
              <a:cs typeface="Times New Roman"/>
              <a:sym typeface="Times New Roman"/>
            </a:endParaRPr>
          </a:p>
        </p:txBody>
      </p:sp>
      <p:sp>
        <p:nvSpPr>
          <p:cNvPr id="171" name="Google Shape;171;p26"/>
          <p:cNvSpPr/>
          <p:nvPr/>
        </p:nvSpPr>
        <p:spPr>
          <a:xfrm>
            <a:off x="10487050" y="1503000"/>
            <a:ext cx="6129000" cy="35085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72" name="Google Shape;172;p26"/>
          <p:cNvSpPr/>
          <p:nvPr/>
        </p:nvSpPr>
        <p:spPr>
          <a:xfrm>
            <a:off x="1507500" y="5901750"/>
            <a:ext cx="6129000" cy="35085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73" name="Google Shape;173;p26"/>
          <p:cNvSpPr/>
          <p:nvPr/>
        </p:nvSpPr>
        <p:spPr>
          <a:xfrm>
            <a:off x="10413775" y="5901750"/>
            <a:ext cx="6129000" cy="35085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74" name="Google Shape;174;p26"/>
          <p:cNvSpPr txBox="1"/>
          <p:nvPr/>
        </p:nvSpPr>
        <p:spPr>
          <a:xfrm>
            <a:off x="7636500" y="376825"/>
            <a:ext cx="4807800" cy="75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4300">
                <a:solidFill>
                  <a:schemeClr val="dk1"/>
                </a:solidFill>
                <a:latin typeface="Times New Roman"/>
                <a:ea typeface="Times New Roman"/>
                <a:cs typeface="Times New Roman"/>
                <a:sym typeface="Times New Roman"/>
              </a:rPr>
              <a:t>Scrum master</a:t>
            </a:r>
            <a:endParaRPr b="1" sz="4300">
              <a:solidFill>
                <a:schemeClr val="dk1"/>
              </a:solidFill>
              <a:latin typeface="Times New Roman"/>
              <a:ea typeface="Times New Roman"/>
              <a:cs typeface="Times New Roman"/>
              <a:sym typeface="Times New Roman"/>
            </a:endParaRPr>
          </a:p>
        </p:txBody>
      </p:sp>
      <p:sp>
        <p:nvSpPr>
          <p:cNvPr id="175" name="Google Shape;175;p26"/>
          <p:cNvSpPr txBox="1"/>
          <p:nvPr/>
        </p:nvSpPr>
        <p:spPr>
          <a:xfrm>
            <a:off x="2012100" y="1630900"/>
            <a:ext cx="5119800" cy="3073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US" sz="2100">
                <a:solidFill>
                  <a:schemeClr val="dk1"/>
                </a:solidFill>
                <a:latin typeface="Times New Roman"/>
                <a:ea typeface="Times New Roman"/>
                <a:cs typeface="Times New Roman"/>
                <a:sym typeface="Times New Roman"/>
              </a:rPr>
              <a:t>Completed</a:t>
            </a:r>
            <a:r>
              <a:rPr lang="en-US" sz="2100">
                <a:solidFill>
                  <a:schemeClr val="dk1"/>
                </a:solidFill>
                <a:latin typeface="Times New Roman"/>
                <a:ea typeface="Times New Roman"/>
                <a:cs typeface="Times New Roman"/>
                <a:sym typeface="Times New Roman"/>
              </a:rPr>
              <a:t> </a:t>
            </a:r>
            <a:endParaRPr sz="2100">
              <a:solidFill>
                <a:schemeClr val="dk1"/>
              </a:solidFill>
              <a:latin typeface="Times New Roman"/>
              <a:ea typeface="Times New Roman"/>
              <a:cs typeface="Times New Roman"/>
              <a:sym typeface="Times New Roman"/>
            </a:endParaRPr>
          </a:p>
          <a:p>
            <a:pPr indent="0" lvl="0" marL="0" rtl="0" algn="ctr">
              <a:spcBef>
                <a:spcPts val="1200"/>
              </a:spcBef>
              <a:spcAft>
                <a:spcPts val="0"/>
              </a:spcAft>
              <a:buNone/>
            </a:pPr>
            <a:r>
              <a:rPr lang="en-US" sz="1900">
                <a:solidFill>
                  <a:schemeClr val="dk1"/>
                </a:solidFill>
                <a:latin typeface="Times New Roman"/>
                <a:ea typeface="Times New Roman"/>
                <a:cs typeface="Times New Roman"/>
                <a:sym typeface="Times New Roman"/>
              </a:rPr>
              <a:t>Facilitated team communication and coordination.</a:t>
            </a:r>
            <a:endParaRPr sz="1900">
              <a:solidFill>
                <a:schemeClr val="dk1"/>
              </a:solidFill>
              <a:latin typeface="Times New Roman"/>
              <a:ea typeface="Times New Roman"/>
              <a:cs typeface="Times New Roman"/>
              <a:sym typeface="Times New Roman"/>
            </a:endParaRPr>
          </a:p>
          <a:p>
            <a:pPr indent="0" lvl="0" marL="0" rtl="0" algn="ctr">
              <a:spcBef>
                <a:spcPts val="1200"/>
              </a:spcBef>
              <a:spcAft>
                <a:spcPts val="0"/>
              </a:spcAft>
              <a:buNone/>
            </a:pPr>
            <a:r>
              <a:rPr lang="en-US" sz="1900">
                <a:solidFill>
                  <a:schemeClr val="dk1"/>
                </a:solidFill>
                <a:latin typeface="Times New Roman"/>
                <a:ea typeface="Times New Roman"/>
                <a:cs typeface="Times New Roman"/>
                <a:sym typeface="Times New Roman"/>
              </a:rPr>
              <a:t>Monitored sprint progress and tracked outstanding tasks.</a:t>
            </a:r>
            <a:endParaRPr sz="1900">
              <a:solidFill>
                <a:schemeClr val="dk1"/>
              </a:solidFill>
              <a:latin typeface="Times New Roman"/>
              <a:ea typeface="Times New Roman"/>
              <a:cs typeface="Times New Roman"/>
              <a:sym typeface="Times New Roman"/>
            </a:endParaRPr>
          </a:p>
          <a:p>
            <a:pPr indent="0" lvl="0" marL="0" rtl="0" algn="ctr">
              <a:spcBef>
                <a:spcPts val="1200"/>
              </a:spcBef>
              <a:spcAft>
                <a:spcPts val="0"/>
              </a:spcAft>
              <a:buNone/>
            </a:pPr>
            <a:r>
              <a:rPr lang="en-US" sz="1900">
                <a:solidFill>
                  <a:schemeClr val="dk1"/>
                </a:solidFill>
                <a:latin typeface="Times New Roman"/>
                <a:ea typeface="Times New Roman"/>
                <a:cs typeface="Times New Roman"/>
                <a:sym typeface="Times New Roman"/>
              </a:rPr>
              <a:t>Completed standup notes and sprint retrospective.</a:t>
            </a:r>
            <a:endParaRPr sz="1900">
              <a:solidFill>
                <a:schemeClr val="dk1"/>
              </a:solidFill>
              <a:latin typeface="Times New Roman"/>
              <a:ea typeface="Times New Roman"/>
              <a:cs typeface="Times New Roman"/>
              <a:sym typeface="Times New Roman"/>
            </a:endParaRPr>
          </a:p>
          <a:p>
            <a:pPr indent="0" lvl="0" marL="0" rtl="0" algn="ctr">
              <a:spcBef>
                <a:spcPts val="1200"/>
              </a:spcBef>
              <a:spcAft>
                <a:spcPts val="0"/>
              </a:spcAft>
              <a:buNone/>
            </a:pPr>
            <a:r>
              <a:rPr lang="en-US" sz="1900">
                <a:solidFill>
                  <a:schemeClr val="dk1"/>
                </a:solidFill>
                <a:latin typeface="Times New Roman"/>
                <a:ea typeface="Times New Roman"/>
                <a:cs typeface="Times New Roman"/>
                <a:sym typeface="Times New Roman"/>
              </a:rPr>
              <a:t>Supported team members with workflow guidance.</a:t>
            </a:r>
            <a:endParaRPr sz="1900">
              <a:solidFill>
                <a:schemeClr val="dk1"/>
              </a:solidFill>
              <a:latin typeface="Times New Roman"/>
              <a:ea typeface="Times New Roman"/>
              <a:cs typeface="Times New Roman"/>
              <a:sym typeface="Times New Roman"/>
            </a:endParaRPr>
          </a:p>
          <a:p>
            <a:pPr indent="0" lvl="0" marL="0" rtl="0" algn="ctr">
              <a:spcBef>
                <a:spcPts val="1200"/>
              </a:spcBef>
              <a:spcAft>
                <a:spcPts val="0"/>
              </a:spcAft>
              <a:buNone/>
            </a:pPr>
            <a:r>
              <a:rPr lang="en-US" sz="1900">
                <a:solidFill>
                  <a:schemeClr val="dk1"/>
                </a:solidFill>
                <a:latin typeface="Times New Roman"/>
                <a:ea typeface="Times New Roman"/>
                <a:cs typeface="Times New Roman"/>
                <a:sym typeface="Times New Roman"/>
              </a:rPr>
              <a:t>Updated and maintained Scrum documentation.</a:t>
            </a:r>
            <a:endParaRPr sz="1900">
              <a:solidFill>
                <a:schemeClr val="dk1"/>
              </a:solidFill>
              <a:latin typeface="Times New Roman"/>
              <a:ea typeface="Times New Roman"/>
              <a:cs typeface="Times New Roman"/>
              <a:sym typeface="Times New Roman"/>
            </a:endParaRPr>
          </a:p>
          <a:p>
            <a:pPr indent="0" lvl="0" marL="0" rtl="0" algn="ctr">
              <a:spcBef>
                <a:spcPts val="1200"/>
              </a:spcBef>
              <a:spcAft>
                <a:spcPts val="1200"/>
              </a:spcAft>
              <a:buClr>
                <a:schemeClr val="dk1"/>
              </a:buClr>
              <a:buSzPts val="1100"/>
              <a:buFont typeface="Arial"/>
              <a:buNone/>
            </a:pPr>
            <a:r>
              <a:t/>
            </a:r>
            <a:endParaRPr sz="1100">
              <a:solidFill>
                <a:schemeClr val="dk1"/>
              </a:solidFill>
            </a:endParaRPr>
          </a:p>
        </p:txBody>
      </p:sp>
      <p:sp>
        <p:nvSpPr>
          <p:cNvPr id="176" name="Google Shape;176;p26"/>
          <p:cNvSpPr txBox="1"/>
          <p:nvPr/>
        </p:nvSpPr>
        <p:spPr>
          <a:xfrm>
            <a:off x="10991650" y="1918000"/>
            <a:ext cx="5119800" cy="27861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b="1" lang="en-US" sz="2100">
                <a:solidFill>
                  <a:schemeClr val="dk1"/>
                </a:solidFill>
                <a:latin typeface="Times New Roman"/>
                <a:ea typeface="Times New Roman"/>
                <a:cs typeface="Times New Roman"/>
                <a:sym typeface="Times New Roman"/>
              </a:rPr>
              <a:t>Key Challenges </a:t>
            </a:r>
            <a:endParaRPr sz="2100">
              <a:solidFill>
                <a:schemeClr val="dk1"/>
              </a:solidFill>
              <a:latin typeface="Times New Roman"/>
              <a:ea typeface="Times New Roman"/>
              <a:cs typeface="Times New Roman"/>
              <a:sym typeface="Times New Roman"/>
            </a:endParaRPr>
          </a:p>
          <a:p>
            <a:pPr indent="0" lvl="0" marL="0" rtl="0" algn="ctr">
              <a:spcBef>
                <a:spcPts val="1200"/>
              </a:spcBef>
              <a:spcAft>
                <a:spcPts val="0"/>
              </a:spcAft>
              <a:buClr>
                <a:schemeClr val="dk1"/>
              </a:buClr>
              <a:buSzPts val="1100"/>
              <a:buFont typeface="Arial"/>
              <a:buNone/>
            </a:pPr>
            <a:r>
              <a:rPr lang="en-US" sz="2000">
                <a:solidFill>
                  <a:schemeClr val="dk1"/>
                </a:solidFill>
                <a:latin typeface="Times New Roman"/>
                <a:ea typeface="Times New Roman"/>
                <a:cs typeface="Times New Roman"/>
                <a:sym typeface="Times New Roman"/>
              </a:rPr>
              <a:t>Some team members were inactive.</a:t>
            </a:r>
            <a:endParaRPr sz="2000">
              <a:solidFill>
                <a:schemeClr val="dk1"/>
              </a:solidFill>
              <a:latin typeface="Times New Roman"/>
              <a:ea typeface="Times New Roman"/>
              <a:cs typeface="Times New Roman"/>
              <a:sym typeface="Times New Roman"/>
            </a:endParaRPr>
          </a:p>
          <a:p>
            <a:pPr indent="0" lvl="0" marL="0" rtl="0" algn="ctr">
              <a:spcBef>
                <a:spcPts val="1200"/>
              </a:spcBef>
              <a:spcAft>
                <a:spcPts val="0"/>
              </a:spcAft>
              <a:buClr>
                <a:schemeClr val="dk1"/>
              </a:buClr>
              <a:buSzPts val="1100"/>
              <a:buFont typeface="Arial"/>
              <a:buNone/>
            </a:pPr>
            <a:r>
              <a:rPr lang="en-US" sz="2000">
                <a:solidFill>
                  <a:schemeClr val="dk1"/>
                </a:solidFill>
                <a:latin typeface="Times New Roman"/>
                <a:ea typeface="Times New Roman"/>
                <a:cs typeface="Times New Roman"/>
                <a:sym typeface="Times New Roman"/>
              </a:rPr>
              <a:t>Delayed progress updates from contributors.</a:t>
            </a:r>
            <a:endParaRPr sz="2000">
              <a:solidFill>
                <a:schemeClr val="dk1"/>
              </a:solidFill>
              <a:latin typeface="Times New Roman"/>
              <a:ea typeface="Times New Roman"/>
              <a:cs typeface="Times New Roman"/>
              <a:sym typeface="Times New Roman"/>
            </a:endParaRPr>
          </a:p>
          <a:p>
            <a:pPr indent="0" lvl="0" marL="0" rtl="0" algn="ctr">
              <a:spcBef>
                <a:spcPts val="1200"/>
              </a:spcBef>
              <a:spcAft>
                <a:spcPts val="0"/>
              </a:spcAft>
              <a:buClr>
                <a:schemeClr val="dk1"/>
              </a:buClr>
              <a:buSzPts val="1100"/>
              <a:buFont typeface="Arial"/>
              <a:buNone/>
            </a:pPr>
            <a:r>
              <a:rPr lang="en-US" sz="2000">
                <a:solidFill>
                  <a:schemeClr val="dk1"/>
                </a:solidFill>
                <a:latin typeface="Times New Roman"/>
                <a:ea typeface="Times New Roman"/>
                <a:cs typeface="Times New Roman"/>
                <a:sym typeface="Times New Roman"/>
              </a:rPr>
              <a:t>Communication issues on Discord.</a:t>
            </a:r>
            <a:endParaRPr sz="2000">
              <a:solidFill>
                <a:schemeClr val="dk1"/>
              </a:solidFill>
              <a:latin typeface="Times New Roman"/>
              <a:ea typeface="Times New Roman"/>
              <a:cs typeface="Times New Roman"/>
              <a:sym typeface="Times New Roman"/>
            </a:endParaRPr>
          </a:p>
          <a:p>
            <a:pPr indent="0" lvl="0" marL="0" rtl="0" algn="ctr">
              <a:spcBef>
                <a:spcPts val="1200"/>
              </a:spcBef>
              <a:spcAft>
                <a:spcPts val="0"/>
              </a:spcAft>
              <a:buClr>
                <a:schemeClr val="dk1"/>
              </a:buClr>
              <a:buSzPts val="1100"/>
              <a:buFont typeface="Arial"/>
              <a:buNone/>
            </a:pPr>
            <a:r>
              <a:rPr lang="en-US" sz="2000">
                <a:solidFill>
                  <a:schemeClr val="dk1"/>
                </a:solidFill>
                <a:latin typeface="Times New Roman"/>
                <a:ea typeface="Times New Roman"/>
                <a:cs typeface="Times New Roman"/>
                <a:sym typeface="Times New Roman"/>
              </a:rPr>
              <a:t>Role clarification was required for some members.</a:t>
            </a:r>
            <a:endParaRPr sz="2000">
              <a:solidFill>
                <a:schemeClr val="dk1"/>
              </a:solidFill>
              <a:latin typeface="Times New Roman"/>
              <a:ea typeface="Times New Roman"/>
              <a:cs typeface="Times New Roman"/>
              <a:sym typeface="Times New Roman"/>
            </a:endParaRPr>
          </a:p>
          <a:p>
            <a:pPr indent="0" lvl="0" marL="0" rtl="0" algn="ctr">
              <a:lnSpc>
                <a:spcPct val="100000"/>
              </a:lnSpc>
              <a:spcBef>
                <a:spcPts val="1200"/>
              </a:spcBef>
              <a:spcAft>
                <a:spcPts val="0"/>
              </a:spcAft>
              <a:buNone/>
            </a:pPr>
            <a:r>
              <a:t/>
            </a:r>
            <a:endParaRPr sz="1100">
              <a:solidFill>
                <a:schemeClr val="dk1"/>
              </a:solidFill>
            </a:endParaRPr>
          </a:p>
          <a:p>
            <a:pPr indent="0" lvl="0" marL="0" rtl="0" algn="ctr">
              <a:lnSpc>
                <a:spcPct val="100000"/>
              </a:lnSpc>
              <a:spcBef>
                <a:spcPts val="1200"/>
              </a:spcBef>
              <a:spcAft>
                <a:spcPts val="0"/>
              </a:spcAft>
              <a:buNone/>
            </a:pPr>
            <a:r>
              <a:t/>
            </a:r>
            <a:endParaRPr sz="1100">
              <a:solidFill>
                <a:schemeClr val="dk1"/>
              </a:solidFill>
            </a:endParaRPr>
          </a:p>
        </p:txBody>
      </p:sp>
      <p:sp>
        <p:nvSpPr>
          <p:cNvPr id="177" name="Google Shape;177;p26"/>
          <p:cNvSpPr txBox="1"/>
          <p:nvPr/>
        </p:nvSpPr>
        <p:spPr>
          <a:xfrm>
            <a:off x="2012100" y="6262950"/>
            <a:ext cx="5119800" cy="27861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b="1" lang="en-US" sz="1900">
                <a:solidFill>
                  <a:schemeClr val="dk1"/>
                </a:solidFill>
                <a:latin typeface="Times New Roman"/>
                <a:ea typeface="Times New Roman"/>
                <a:cs typeface="Times New Roman"/>
                <a:sym typeface="Times New Roman"/>
              </a:rPr>
              <a:t>Lessons Learned </a:t>
            </a:r>
            <a:endParaRPr sz="1900">
              <a:solidFill>
                <a:schemeClr val="dk1"/>
              </a:solidFill>
              <a:latin typeface="Times New Roman"/>
              <a:ea typeface="Times New Roman"/>
              <a:cs typeface="Times New Roman"/>
              <a:sym typeface="Times New Roman"/>
            </a:endParaRPr>
          </a:p>
          <a:p>
            <a:pPr indent="0" lvl="0" marL="0" rtl="0" algn="ctr">
              <a:spcBef>
                <a:spcPts val="1200"/>
              </a:spcBef>
              <a:spcAft>
                <a:spcPts val="0"/>
              </a:spcAft>
              <a:buClr>
                <a:schemeClr val="dk1"/>
              </a:buClr>
              <a:buSzPts val="1100"/>
              <a:buFont typeface="Arial"/>
              <a:buNone/>
            </a:pPr>
            <a:r>
              <a:rPr lang="en-US" sz="1900">
                <a:solidFill>
                  <a:schemeClr val="dk1"/>
                </a:solidFill>
                <a:latin typeface="Times New Roman"/>
                <a:ea typeface="Times New Roman"/>
                <a:cs typeface="Times New Roman"/>
                <a:sym typeface="Times New Roman"/>
              </a:rPr>
              <a:t>Clarify roles earlier.</a:t>
            </a:r>
            <a:endParaRPr sz="1900">
              <a:solidFill>
                <a:schemeClr val="dk1"/>
              </a:solidFill>
              <a:latin typeface="Times New Roman"/>
              <a:ea typeface="Times New Roman"/>
              <a:cs typeface="Times New Roman"/>
              <a:sym typeface="Times New Roman"/>
            </a:endParaRPr>
          </a:p>
          <a:p>
            <a:pPr indent="0" lvl="0" marL="0" rtl="0" algn="ctr">
              <a:spcBef>
                <a:spcPts val="1200"/>
              </a:spcBef>
              <a:spcAft>
                <a:spcPts val="0"/>
              </a:spcAft>
              <a:buClr>
                <a:schemeClr val="dk1"/>
              </a:buClr>
              <a:buSzPts val="1100"/>
              <a:buFont typeface="Arial"/>
              <a:buNone/>
            </a:pPr>
            <a:r>
              <a:rPr lang="en-US" sz="1900">
                <a:solidFill>
                  <a:schemeClr val="dk1"/>
                </a:solidFill>
                <a:latin typeface="Times New Roman"/>
                <a:ea typeface="Times New Roman"/>
                <a:cs typeface="Times New Roman"/>
                <a:sym typeface="Times New Roman"/>
              </a:rPr>
              <a:t>Improve communication.</a:t>
            </a:r>
            <a:endParaRPr sz="1900">
              <a:solidFill>
                <a:schemeClr val="dk1"/>
              </a:solidFill>
              <a:latin typeface="Times New Roman"/>
              <a:ea typeface="Times New Roman"/>
              <a:cs typeface="Times New Roman"/>
              <a:sym typeface="Times New Roman"/>
            </a:endParaRPr>
          </a:p>
          <a:p>
            <a:pPr indent="0" lvl="0" marL="0" rtl="0" algn="ctr">
              <a:spcBef>
                <a:spcPts val="1200"/>
              </a:spcBef>
              <a:spcAft>
                <a:spcPts val="0"/>
              </a:spcAft>
              <a:buClr>
                <a:schemeClr val="dk1"/>
              </a:buClr>
              <a:buSzPts val="1100"/>
              <a:buFont typeface="Arial"/>
              <a:buNone/>
            </a:pPr>
            <a:r>
              <a:rPr lang="en-US" sz="1900">
                <a:solidFill>
                  <a:schemeClr val="dk1"/>
                </a:solidFill>
                <a:latin typeface="Times New Roman"/>
                <a:ea typeface="Times New Roman"/>
                <a:cs typeface="Times New Roman"/>
                <a:sym typeface="Times New Roman"/>
              </a:rPr>
              <a:t>Raise blockers sooner.</a:t>
            </a:r>
            <a:endParaRPr sz="1900">
              <a:solidFill>
                <a:schemeClr val="dk1"/>
              </a:solidFill>
              <a:latin typeface="Times New Roman"/>
              <a:ea typeface="Times New Roman"/>
              <a:cs typeface="Times New Roman"/>
              <a:sym typeface="Times New Roman"/>
            </a:endParaRPr>
          </a:p>
          <a:p>
            <a:pPr indent="0" lvl="0" marL="0" rtl="0" algn="ctr">
              <a:spcBef>
                <a:spcPts val="1200"/>
              </a:spcBef>
              <a:spcAft>
                <a:spcPts val="0"/>
              </a:spcAft>
              <a:buClr>
                <a:schemeClr val="dk1"/>
              </a:buClr>
              <a:buSzPts val="1100"/>
              <a:buFont typeface="Arial"/>
              <a:buNone/>
            </a:pPr>
            <a:r>
              <a:rPr lang="en-US" sz="1900">
                <a:solidFill>
                  <a:schemeClr val="dk1"/>
                </a:solidFill>
                <a:latin typeface="Times New Roman"/>
                <a:ea typeface="Times New Roman"/>
                <a:cs typeface="Times New Roman"/>
                <a:sym typeface="Times New Roman"/>
              </a:rPr>
              <a:t>Schedule regular check-ins.</a:t>
            </a:r>
            <a:endParaRPr sz="1900">
              <a:solidFill>
                <a:schemeClr val="dk1"/>
              </a:solidFill>
              <a:latin typeface="Times New Roman"/>
              <a:ea typeface="Times New Roman"/>
              <a:cs typeface="Times New Roman"/>
              <a:sym typeface="Times New Roman"/>
            </a:endParaRPr>
          </a:p>
          <a:p>
            <a:pPr indent="0" lvl="0" marL="0" rtl="0" algn="ctr">
              <a:lnSpc>
                <a:spcPct val="100000"/>
              </a:lnSpc>
              <a:spcBef>
                <a:spcPts val="1200"/>
              </a:spcBef>
              <a:spcAft>
                <a:spcPts val="0"/>
              </a:spcAft>
              <a:buNone/>
            </a:pPr>
            <a:r>
              <a:t/>
            </a:r>
            <a:endParaRPr sz="1100">
              <a:solidFill>
                <a:schemeClr val="dk1"/>
              </a:solidFill>
            </a:endParaRPr>
          </a:p>
          <a:p>
            <a:pPr indent="0" lvl="0" marL="0" rtl="0" algn="ctr">
              <a:lnSpc>
                <a:spcPct val="100000"/>
              </a:lnSpc>
              <a:spcBef>
                <a:spcPts val="1200"/>
              </a:spcBef>
              <a:spcAft>
                <a:spcPts val="0"/>
              </a:spcAft>
              <a:buNone/>
            </a:pPr>
            <a:r>
              <a:t/>
            </a:r>
            <a:endParaRPr sz="1100">
              <a:solidFill>
                <a:schemeClr val="dk1"/>
              </a:solidFill>
            </a:endParaRPr>
          </a:p>
        </p:txBody>
      </p:sp>
      <p:sp>
        <p:nvSpPr>
          <p:cNvPr id="178" name="Google Shape;178;p26"/>
          <p:cNvSpPr txBox="1"/>
          <p:nvPr/>
        </p:nvSpPr>
        <p:spPr>
          <a:xfrm>
            <a:off x="10991650" y="6262950"/>
            <a:ext cx="5119800" cy="27861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b="1" lang="en-US" sz="1900">
                <a:solidFill>
                  <a:schemeClr val="dk1"/>
                </a:solidFill>
                <a:latin typeface="Times New Roman"/>
                <a:ea typeface="Times New Roman"/>
                <a:cs typeface="Times New Roman"/>
                <a:sym typeface="Times New Roman"/>
              </a:rPr>
              <a:t>Reflection </a:t>
            </a:r>
            <a:endParaRPr sz="1900">
              <a:solidFill>
                <a:schemeClr val="dk1"/>
              </a:solidFill>
              <a:latin typeface="Times New Roman"/>
              <a:ea typeface="Times New Roman"/>
              <a:cs typeface="Times New Roman"/>
              <a:sym typeface="Times New Roman"/>
            </a:endParaRPr>
          </a:p>
          <a:p>
            <a:pPr indent="0" lvl="0" marL="0" rtl="0" algn="ctr">
              <a:spcBef>
                <a:spcPts val="1200"/>
              </a:spcBef>
              <a:spcAft>
                <a:spcPts val="0"/>
              </a:spcAft>
              <a:buClr>
                <a:schemeClr val="dk1"/>
              </a:buClr>
              <a:buSzPts val="1100"/>
              <a:buFont typeface="Arial"/>
              <a:buNone/>
            </a:pPr>
            <a:r>
              <a:rPr lang="en-US" sz="1900">
                <a:solidFill>
                  <a:schemeClr val="dk1"/>
                </a:solidFill>
                <a:latin typeface="Times New Roman"/>
                <a:ea typeface="Times New Roman"/>
                <a:cs typeface="Times New Roman"/>
                <a:sym typeface="Times New Roman"/>
              </a:rPr>
              <a:t>Good collaboration from active members.</a:t>
            </a:r>
            <a:endParaRPr sz="1900">
              <a:solidFill>
                <a:schemeClr val="dk1"/>
              </a:solidFill>
              <a:latin typeface="Times New Roman"/>
              <a:ea typeface="Times New Roman"/>
              <a:cs typeface="Times New Roman"/>
              <a:sym typeface="Times New Roman"/>
            </a:endParaRPr>
          </a:p>
          <a:p>
            <a:pPr indent="0" lvl="0" marL="0" rtl="0" algn="ctr">
              <a:spcBef>
                <a:spcPts val="1200"/>
              </a:spcBef>
              <a:spcAft>
                <a:spcPts val="0"/>
              </a:spcAft>
              <a:buClr>
                <a:schemeClr val="dk1"/>
              </a:buClr>
              <a:buSzPts val="1100"/>
              <a:buFont typeface="Arial"/>
              <a:buNone/>
            </a:pPr>
            <a:r>
              <a:rPr lang="en-US" sz="1900">
                <a:solidFill>
                  <a:schemeClr val="dk1"/>
                </a:solidFill>
                <a:latin typeface="Times New Roman"/>
                <a:ea typeface="Times New Roman"/>
                <a:cs typeface="Times New Roman"/>
                <a:sym typeface="Times New Roman"/>
              </a:rPr>
              <a:t>Most deliverables completed successfully.</a:t>
            </a:r>
            <a:endParaRPr sz="1900">
              <a:solidFill>
                <a:schemeClr val="dk1"/>
              </a:solidFill>
              <a:latin typeface="Times New Roman"/>
              <a:ea typeface="Times New Roman"/>
              <a:cs typeface="Times New Roman"/>
              <a:sym typeface="Times New Roman"/>
            </a:endParaRPr>
          </a:p>
          <a:p>
            <a:pPr indent="0" lvl="0" marL="0" rtl="0" algn="ctr">
              <a:spcBef>
                <a:spcPts val="1200"/>
              </a:spcBef>
              <a:spcAft>
                <a:spcPts val="0"/>
              </a:spcAft>
              <a:buClr>
                <a:schemeClr val="dk1"/>
              </a:buClr>
              <a:buSzPts val="1100"/>
              <a:buFont typeface="Arial"/>
              <a:buNone/>
            </a:pPr>
            <a:r>
              <a:rPr lang="en-US" sz="1900">
                <a:solidFill>
                  <a:schemeClr val="dk1"/>
                </a:solidFill>
                <a:latin typeface="Times New Roman"/>
                <a:ea typeface="Times New Roman"/>
                <a:cs typeface="Times New Roman"/>
                <a:sym typeface="Times New Roman"/>
              </a:rPr>
              <a:t>Earlier communication would improve future sprints.</a:t>
            </a:r>
            <a:endParaRPr sz="1900">
              <a:solidFill>
                <a:schemeClr val="dk1"/>
              </a:solidFill>
              <a:latin typeface="Times New Roman"/>
              <a:ea typeface="Times New Roman"/>
              <a:cs typeface="Times New Roman"/>
              <a:sym typeface="Times New Roman"/>
            </a:endParaRPr>
          </a:p>
          <a:p>
            <a:pPr indent="0" lvl="0" marL="0" rtl="0" algn="ctr">
              <a:lnSpc>
                <a:spcPct val="100000"/>
              </a:lnSpc>
              <a:spcBef>
                <a:spcPts val="1200"/>
              </a:spcBef>
              <a:spcAft>
                <a:spcPts val="0"/>
              </a:spcAft>
              <a:buNone/>
            </a:pPr>
            <a:r>
              <a:t/>
            </a:r>
            <a:endParaRPr sz="1100">
              <a:solidFill>
                <a:schemeClr val="dk1"/>
              </a:solidFill>
              <a:latin typeface="Times New Roman"/>
              <a:ea typeface="Times New Roman"/>
              <a:cs typeface="Times New Roman"/>
              <a:sym typeface="Times New Roman"/>
            </a:endParaRPr>
          </a:p>
          <a:p>
            <a:pPr indent="0" lvl="0" marL="0" rtl="0" algn="ctr">
              <a:lnSpc>
                <a:spcPct val="100000"/>
              </a:lnSpc>
              <a:spcBef>
                <a:spcPts val="1200"/>
              </a:spcBef>
              <a:spcAft>
                <a:spcPts val="0"/>
              </a:spcAft>
              <a:buNone/>
            </a:pPr>
            <a:r>
              <a:t/>
            </a:r>
            <a:endParaRPr sz="1100">
              <a:solidFill>
                <a:schemeClr val="dk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E7DE"/>
        </a:solidFill>
      </p:bgPr>
    </p:bg>
    <p:spTree>
      <p:nvGrpSpPr>
        <p:cNvPr id="182" name="Shape 182"/>
        <p:cNvGrpSpPr/>
        <p:nvPr/>
      </p:nvGrpSpPr>
      <p:grpSpPr>
        <a:xfrm>
          <a:off x="0" y="0"/>
          <a:ext cx="0" cy="0"/>
          <a:chOff x="0" y="0"/>
          <a:chExt cx="0" cy="0"/>
        </a:xfrm>
      </p:grpSpPr>
      <p:sp>
        <p:nvSpPr>
          <p:cNvPr id="183" name="Google Shape;183;p27"/>
          <p:cNvSpPr/>
          <p:nvPr/>
        </p:nvSpPr>
        <p:spPr>
          <a:xfrm>
            <a:off x="1028700" y="2704048"/>
            <a:ext cx="5162513" cy="4878904"/>
          </a:xfrm>
          <a:custGeom>
            <a:rect b="b" l="l" r="r" t="t"/>
            <a:pathLst>
              <a:path extrusionOk="0" h="1650395" w="1746332">
                <a:moveTo>
                  <a:pt x="1621872" y="1650395"/>
                </a:moveTo>
                <a:lnTo>
                  <a:pt x="124460" y="1650395"/>
                </a:lnTo>
                <a:cubicBezTo>
                  <a:pt x="55880" y="1650395"/>
                  <a:pt x="0" y="1594515"/>
                  <a:pt x="0" y="1525935"/>
                </a:cubicBezTo>
                <a:lnTo>
                  <a:pt x="0" y="124460"/>
                </a:lnTo>
                <a:cubicBezTo>
                  <a:pt x="0" y="55880"/>
                  <a:pt x="55880" y="0"/>
                  <a:pt x="124460" y="0"/>
                </a:cubicBezTo>
                <a:lnTo>
                  <a:pt x="1621872" y="0"/>
                </a:lnTo>
                <a:cubicBezTo>
                  <a:pt x="1690452" y="0"/>
                  <a:pt x="1746332" y="55880"/>
                  <a:pt x="1746332" y="124460"/>
                </a:cubicBezTo>
                <a:lnTo>
                  <a:pt x="1746332" y="1525935"/>
                </a:lnTo>
                <a:cubicBezTo>
                  <a:pt x="1746332" y="1594515"/>
                  <a:pt x="1690452" y="1650395"/>
                  <a:pt x="1621872" y="1650395"/>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27"/>
          <p:cNvSpPr txBox="1"/>
          <p:nvPr/>
        </p:nvSpPr>
        <p:spPr>
          <a:xfrm>
            <a:off x="1028700" y="1019175"/>
            <a:ext cx="10696500" cy="11235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7300" u="none" cap="none" strike="noStrike">
                <a:solidFill>
                  <a:srgbClr val="191919"/>
                </a:solidFill>
                <a:latin typeface="Ultra"/>
                <a:ea typeface="Ultra"/>
                <a:cs typeface="Ultra"/>
                <a:sym typeface="Ultra"/>
              </a:rPr>
              <a:t>Overview of Goals</a:t>
            </a:r>
            <a:endParaRPr sz="700"/>
          </a:p>
        </p:txBody>
      </p:sp>
      <p:grpSp>
        <p:nvGrpSpPr>
          <p:cNvPr id="185" name="Google Shape;185;p27"/>
          <p:cNvGrpSpPr/>
          <p:nvPr/>
        </p:nvGrpSpPr>
        <p:grpSpPr>
          <a:xfrm>
            <a:off x="3325981" y="6495187"/>
            <a:ext cx="567950" cy="567950"/>
            <a:chOff x="0" y="0"/>
            <a:chExt cx="757267" cy="757267"/>
          </a:xfrm>
        </p:grpSpPr>
        <p:sp>
          <p:nvSpPr>
            <p:cNvPr id="186" name="Google Shape;186;p27"/>
            <p:cNvSpPr/>
            <p:nvPr/>
          </p:nvSpPr>
          <p:spPr>
            <a:xfrm>
              <a:off x="0" y="0"/>
              <a:ext cx="757267" cy="757267"/>
            </a:xfrm>
            <a:custGeom>
              <a:rect b="b" l="l" r="r" t="t"/>
              <a:pathLst>
                <a:path extrusionOk="0"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6F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27"/>
            <p:cNvSpPr/>
            <p:nvPr/>
          </p:nvSpPr>
          <p:spPr>
            <a:xfrm>
              <a:off x="189682" y="227473"/>
              <a:ext cx="377902" cy="302322"/>
            </a:xfrm>
            <a:custGeom>
              <a:rect b="b" l="l" r="r" t="t"/>
              <a:pathLst>
                <a:path extrusionOk="0" h="302322" w="377902">
                  <a:moveTo>
                    <a:pt x="0" y="0"/>
                  </a:moveTo>
                  <a:lnTo>
                    <a:pt x="377903" y="0"/>
                  </a:lnTo>
                  <a:lnTo>
                    <a:pt x="377903" y="302322"/>
                  </a:lnTo>
                  <a:lnTo>
                    <a:pt x="0" y="302322"/>
                  </a:lnTo>
                  <a:lnTo>
                    <a:pt x="0" y="0"/>
                  </a:lnTo>
                  <a:close/>
                </a:path>
              </a:pathLst>
            </a:custGeom>
            <a:blipFill rotWithShape="1">
              <a:blip r:embed="rId3">
                <a:alphaModFix/>
              </a:blip>
              <a:stretch>
                <a:fillRect b="0" l="0" r="0" t="0"/>
              </a:stretch>
            </a:blipFill>
            <a:ln>
              <a:noFill/>
            </a:ln>
          </p:spPr>
        </p:sp>
      </p:grpSp>
      <p:grpSp>
        <p:nvGrpSpPr>
          <p:cNvPr id="188" name="Google Shape;188;p27"/>
          <p:cNvGrpSpPr/>
          <p:nvPr/>
        </p:nvGrpSpPr>
        <p:grpSpPr>
          <a:xfrm>
            <a:off x="1562272" y="4680078"/>
            <a:ext cx="4095368" cy="1211994"/>
            <a:chOff x="0" y="-28575"/>
            <a:chExt cx="5460491" cy="1615992"/>
          </a:xfrm>
        </p:grpSpPr>
        <p:sp>
          <p:nvSpPr>
            <p:cNvPr id="189" name="Google Shape;189;p27"/>
            <p:cNvSpPr txBox="1"/>
            <p:nvPr/>
          </p:nvSpPr>
          <p:spPr>
            <a:xfrm>
              <a:off x="0" y="-28575"/>
              <a:ext cx="5460491" cy="858308"/>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None/>
              </a:pPr>
              <a:r>
                <a:rPr b="1" i="0" lang="en-US" sz="2000" u="none" cap="none" strike="noStrike">
                  <a:solidFill>
                    <a:srgbClr val="191919"/>
                  </a:solidFill>
                  <a:latin typeface="Arial"/>
                  <a:ea typeface="Arial"/>
                  <a:cs typeface="Arial"/>
                  <a:sym typeface="Arial"/>
                </a:rPr>
                <a:t>UPGRADE CUSTOMER EXPANSION PROGRAM</a:t>
              </a:r>
              <a:endParaRPr/>
            </a:p>
          </p:txBody>
        </p:sp>
        <p:sp>
          <p:nvSpPr>
            <p:cNvPr id="190" name="Google Shape;190;p27"/>
            <p:cNvSpPr txBox="1"/>
            <p:nvPr/>
          </p:nvSpPr>
          <p:spPr>
            <a:xfrm>
              <a:off x="0" y="1232240"/>
              <a:ext cx="5460491" cy="355177"/>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1700" u="none" cap="none" strike="noStrike">
                  <a:solidFill>
                    <a:srgbClr val="191919"/>
                  </a:solidFill>
                  <a:latin typeface="Arial"/>
                  <a:ea typeface="Arial"/>
                  <a:cs typeface="Arial"/>
                  <a:sym typeface="Arial"/>
                </a:rPr>
                <a:t>Keep it updated and relevant</a:t>
              </a:r>
              <a:endParaRPr/>
            </a:p>
          </p:txBody>
        </p:sp>
      </p:grpSp>
      <p:grpSp>
        <p:nvGrpSpPr>
          <p:cNvPr id="191" name="Google Shape;191;p27"/>
          <p:cNvGrpSpPr/>
          <p:nvPr/>
        </p:nvGrpSpPr>
        <p:grpSpPr>
          <a:xfrm>
            <a:off x="3193204" y="3223863"/>
            <a:ext cx="833504" cy="833504"/>
            <a:chOff x="0" y="0"/>
            <a:chExt cx="1111339" cy="1111339"/>
          </a:xfrm>
        </p:grpSpPr>
        <p:sp>
          <p:nvSpPr>
            <p:cNvPr id="192" name="Google Shape;192;p27"/>
            <p:cNvSpPr/>
            <p:nvPr/>
          </p:nvSpPr>
          <p:spPr>
            <a:xfrm>
              <a:off x="0" y="0"/>
              <a:ext cx="1111339" cy="1111339"/>
            </a:xfrm>
            <a:custGeom>
              <a:rect b="b" l="l" r="r" t="t"/>
              <a:pathLst>
                <a:path extrusionOk="0" h="6355080" w="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FF6F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27"/>
            <p:cNvSpPr txBox="1"/>
            <p:nvPr/>
          </p:nvSpPr>
          <p:spPr>
            <a:xfrm>
              <a:off x="246393" y="313946"/>
              <a:ext cx="618552" cy="440267"/>
            </a:xfrm>
            <a:prstGeom prst="rect">
              <a:avLst/>
            </a:prstGeom>
            <a:noFill/>
            <a:ln>
              <a:noFill/>
            </a:ln>
          </p:spPr>
          <p:txBody>
            <a:bodyPr anchorCtr="0" anchor="t" bIns="0" lIns="0" spcFirstLastPara="1" rIns="0" wrap="square" tIns="0">
              <a:spAutoFit/>
            </a:bodyPr>
            <a:lstStyle/>
            <a:p>
              <a:pPr indent="0" lvl="0" marL="0" marR="0" rtl="0" algn="ctr">
                <a:lnSpc>
                  <a:spcPct val="130037"/>
                </a:lnSpc>
                <a:spcBef>
                  <a:spcPts val="0"/>
                </a:spcBef>
                <a:spcAft>
                  <a:spcPts val="0"/>
                </a:spcAft>
                <a:buNone/>
              </a:pPr>
              <a:r>
                <a:rPr b="1" i="0" lang="en-US" sz="2124" u="none" cap="none" strike="noStrike">
                  <a:solidFill>
                    <a:srgbClr val="FF7B26"/>
                  </a:solidFill>
                  <a:latin typeface="Ultra"/>
                  <a:ea typeface="Ultra"/>
                  <a:cs typeface="Ultra"/>
                  <a:sym typeface="Ultra"/>
                </a:rPr>
                <a:t>1</a:t>
              </a:r>
              <a:endParaRPr/>
            </a:p>
          </p:txBody>
        </p:sp>
      </p:grpSp>
      <p:sp>
        <p:nvSpPr>
          <p:cNvPr id="194" name="Google Shape;194;p27"/>
          <p:cNvSpPr/>
          <p:nvPr/>
        </p:nvSpPr>
        <p:spPr>
          <a:xfrm>
            <a:off x="6562743" y="2704048"/>
            <a:ext cx="5162513" cy="4878904"/>
          </a:xfrm>
          <a:custGeom>
            <a:rect b="b" l="l" r="r" t="t"/>
            <a:pathLst>
              <a:path extrusionOk="0" h="1650395" w="1746332">
                <a:moveTo>
                  <a:pt x="1621872" y="1650395"/>
                </a:moveTo>
                <a:lnTo>
                  <a:pt x="124460" y="1650395"/>
                </a:lnTo>
                <a:cubicBezTo>
                  <a:pt x="55880" y="1650395"/>
                  <a:pt x="0" y="1594515"/>
                  <a:pt x="0" y="1525935"/>
                </a:cubicBezTo>
                <a:lnTo>
                  <a:pt x="0" y="124460"/>
                </a:lnTo>
                <a:cubicBezTo>
                  <a:pt x="0" y="55880"/>
                  <a:pt x="55880" y="0"/>
                  <a:pt x="124460" y="0"/>
                </a:cubicBezTo>
                <a:lnTo>
                  <a:pt x="1621872" y="0"/>
                </a:lnTo>
                <a:cubicBezTo>
                  <a:pt x="1690452" y="0"/>
                  <a:pt x="1746332" y="55880"/>
                  <a:pt x="1746332" y="124460"/>
                </a:cubicBezTo>
                <a:lnTo>
                  <a:pt x="1746332" y="1525935"/>
                </a:lnTo>
                <a:cubicBezTo>
                  <a:pt x="1746332" y="1594515"/>
                  <a:pt x="1690452" y="1650395"/>
                  <a:pt x="1621872" y="1650395"/>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5" name="Google Shape;195;p27"/>
          <p:cNvGrpSpPr/>
          <p:nvPr/>
        </p:nvGrpSpPr>
        <p:grpSpPr>
          <a:xfrm>
            <a:off x="7096316" y="4680078"/>
            <a:ext cx="4095368" cy="888144"/>
            <a:chOff x="0" y="-28575"/>
            <a:chExt cx="5460491" cy="1184192"/>
          </a:xfrm>
        </p:grpSpPr>
        <p:sp>
          <p:nvSpPr>
            <p:cNvPr id="196" name="Google Shape;196;p27"/>
            <p:cNvSpPr txBox="1"/>
            <p:nvPr/>
          </p:nvSpPr>
          <p:spPr>
            <a:xfrm>
              <a:off x="0" y="-28575"/>
              <a:ext cx="5460491" cy="426508"/>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None/>
              </a:pPr>
              <a:r>
                <a:rPr b="1" i="0" lang="en-US" sz="2000" u="none" cap="none" strike="noStrike">
                  <a:solidFill>
                    <a:srgbClr val="191919"/>
                  </a:solidFill>
                  <a:latin typeface="Arial"/>
                  <a:ea typeface="Arial"/>
                  <a:cs typeface="Arial"/>
                  <a:sym typeface="Arial"/>
                </a:rPr>
                <a:t>IMPLEMENT NEW SYSTEM</a:t>
              </a:r>
              <a:endParaRPr/>
            </a:p>
          </p:txBody>
        </p:sp>
        <p:sp>
          <p:nvSpPr>
            <p:cNvPr id="197" name="Google Shape;197;p27"/>
            <p:cNvSpPr txBox="1"/>
            <p:nvPr/>
          </p:nvSpPr>
          <p:spPr>
            <a:xfrm>
              <a:off x="0" y="800440"/>
              <a:ext cx="5460491" cy="355177"/>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1700" u="none" cap="none" strike="noStrike">
                  <a:solidFill>
                    <a:srgbClr val="191919"/>
                  </a:solidFill>
                  <a:latin typeface="Arial"/>
                  <a:ea typeface="Arial"/>
                  <a:cs typeface="Arial"/>
                  <a:sym typeface="Arial"/>
                </a:rPr>
                <a:t>Install system and train users</a:t>
              </a:r>
              <a:endParaRPr/>
            </a:p>
          </p:txBody>
        </p:sp>
      </p:grpSp>
      <p:grpSp>
        <p:nvGrpSpPr>
          <p:cNvPr id="198" name="Google Shape;198;p27"/>
          <p:cNvGrpSpPr/>
          <p:nvPr/>
        </p:nvGrpSpPr>
        <p:grpSpPr>
          <a:xfrm>
            <a:off x="8727248" y="3223863"/>
            <a:ext cx="833504" cy="833504"/>
            <a:chOff x="0" y="0"/>
            <a:chExt cx="1111339" cy="1111339"/>
          </a:xfrm>
        </p:grpSpPr>
        <p:sp>
          <p:nvSpPr>
            <p:cNvPr id="199" name="Google Shape;199;p27"/>
            <p:cNvSpPr/>
            <p:nvPr/>
          </p:nvSpPr>
          <p:spPr>
            <a:xfrm>
              <a:off x="0" y="0"/>
              <a:ext cx="1111339" cy="1111339"/>
            </a:xfrm>
            <a:custGeom>
              <a:rect b="b" l="l" r="r" t="t"/>
              <a:pathLst>
                <a:path extrusionOk="0" h="6355080" w="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FF6F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27"/>
            <p:cNvSpPr txBox="1"/>
            <p:nvPr/>
          </p:nvSpPr>
          <p:spPr>
            <a:xfrm>
              <a:off x="246393" y="313946"/>
              <a:ext cx="618552" cy="440267"/>
            </a:xfrm>
            <a:prstGeom prst="rect">
              <a:avLst/>
            </a:prstGeom>
            <a:noFill/>
            <a:ln>
              <a:noFill/>
            </a:ln>
          </p:spPr>
          <p:txBody>
            <a:bodyPr anchorCtr="0" anchor="t" bIns="0" lIns="0" spcFirstLastPara="1" rIns="0" wrap="square" tIns="0">
              <a:spAutoFit/>
            </a:bodyPr>
            <a:lstStyle/>
            <a:p>
              <a:pPr indent="0" lvl="0" marL="0" marR="0" rtl="0" algn="ctr">
                <a:lnSpc>
                  <a:spcPct val="130037"/>
                </a:lnSpc>
                <a:spcBef>
                  <a:spcPts val="0"/>
                </a:spcBef>
                <a:spcAft>
                  <a:spcPts val="0"/>
                </a:spcAft>
                <a:buNone/>
              </a:pPr>
              <a:r>
                <a:rPr b="1" i="0" lang="en-US" sz="2124" u="none" cap="none" strike="noStrike">
                  <a:solidFill>
                    <a:srgbClr val="FF7B26"/>
                  </a:solidFill>
                  <a:latin typeface="Ultra"/>
                  <a:ea typeface="Ultra"/>
                  <a:cs typeface="Ultra"/>
                  <a:sym typeface="Ultra"/>
                </a:rPr>
                <a:t>2</a:t>
              </a:r>
              <a:endParaRPr/>
            </a:p>
          </p:txBody>
        </p:sp>
      </p:grpSp>
      <p:sp>
        <p:nvSpPr>
          <p:cNvPr id="201" name="Google Shape;201;p27"/>
          <p:cNvSpPr/>
          <p:nvPr/>
        </p:nvSpPr>
        <p:spPr>
          <a:xfrm>
            <a:off x="12096787" y="2704048"/>
            <a:ext cx="5162513" cy="4878904"/>
          </a:xfrm>
          <a:custGeom>
            <a:rect b="b" l="l" r="r" t="t"/>
            <a:pathLst>
              <a:path extrusionOk="0" h="1650395" w="1746332">
                <a:moveTo>
                  <a:pt x="1621872" y="1650395"/>
                </a:moveTo>
                <a:lnTo>
                  <a:pt x="124460" y="1650395"/>
                </a:lnTo>
                <a:cubicBezTo>
                  <a:pt x="55880" y="1650395"/>
                  <a:pt x="0" y="1594515"/>
                  <a:pt x="0" y="1525935"/>
                </a:cubicBezTo>
                <a:lnTo>
                  <a:pt x="0" y="124460"/>
                </a:lnTo>
                <a:cubicBezTo>
                  <a:pt x="0" y="55880"/>
                  <a:pt x="55880" y="0"/>
                  <a:pt x="124460" y="0"/>
                </a:cubicBezTo>
                <a:lnTo>
                  <a:pt x="1621872" y="0"/>
                </a:lnTo>
                <a:cubicBezTo>
                  <a:pt x="1690452" y="0"/>
                  <a:pt x="1746332" y="55880"/>
                  <a:pt x="1746332" y="124460"/>
                </a:cubicBezTo>
                <a:lnTo>
                  <a:pt x="1746332" y="1525935"/>
                </a:lnTo>
                <a:cubicBezTo>
                  <a:pt x="1746332" y="1594515"/>
                  <a:pt x="1690452" y="1650395"/>
                  <a:pt x="1621872" y="1650395"/>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2" name="Google Shape;202;p27"/>
          <p:cNvGrpSpPr/>
          <p:nvPr/>
        </p:nvGrpSpPr>
        <p:grpSpPr>
          <a:xfrm>
            <a:off x="12630359" y="4680078"/>
            <a:ext cx="4095368" cy="1211994"/>
            <a:chOff x="0" y="-28575"/>
            <a:chExt cx="5460491" cy="1615992"/>
          </a:xfrm>
        </p:grpSpPr>
        <p:sp>
          <p:nvSpPr>
            <p:cNvPr id="203" name="Google Shape;203;p27"/>
            <p:cNvSpPr txBox="1"/>
            <p:nvPr/>
          </p:nvSpPr>
          <p:spPr>
            <a:xfrm>
              <a:off x="0" y="-28575"/>
              <a:ext cx="5460491" cy="858308"/>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None/>
              </a:pPr>
              <a:r>
                <a:rPr b="1" i="0" lang="en-US" sz="2000" u="none" cap="none" strike="noStrike">
                  <a:solidFill>
                    <a:srgbClr val="191919"/>
                  </a:solidFill>
                  <a:latin typeface="Arial"/>
                  <a:ea typeface="Arial"/>
                  <a:cs typeface="Arial"/>
                  <a:sym typeface="Arial"/>
                </a:rPr>
                <a:t>ASSESS NEW SYSTEM AND PROGRAM</a:t>
              </a:r>
              <a:endParaRPr/>
            </a:p>
          </p:txBody>
        </p:sp>
        <p:sp>
          <p:nvSpPr>
            <p:cNvPr id="204" name="Google Shape;204;p27"/>
            <p:cNvSpPr txBox="1"/>
            <p:nvPr/>
          </p:nvSpPr>
          <p:spPr>
            <a:xfrm>
              <a:off x="0" y="1232240"/>
              <a:ext cx="5460491" cy="355177"/>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1700" u="none" cap="none" strike="noStrike">
                  <a:solidFill>
                    <a:srgbClr val="191919"/>
                  </a:solidFill>
                  <a:latin typeface="Arial"/>
                  <a:ea typeface="Arial"/>
                  <a:cs typeface="Arial"/>
                  <a:sym typeface="Arial"/>
                </a:rPr>
                <a:t>Identify areas for improvement</a:t>
              </a:r>
              <a:endParaRPr/>
            </a:p>
          </p:txBody>
        </p:sp>
      </p:grpSp>
      <p:grpSp>
        <p:nvGrpSpPr>
          <p:cNvPr id="205" name="Google Shape;205;p27"/>
          <p:cNvGrpSpPr/>
          <p:nvPr/>
        </p:nvGrpSpPr>
        <p:grpSpPr>
          <a:xfrm>
            <a:off x="14261291" y="3223863"/>
            <a:ext cx="833504" cy="833504"/>
            <a:chOff x="0" y="0"/>
            <a:chExt cx="1111339" cy="1111339"/>
          </a:xfrm>
        </p:grpSpPr>
        <p:sp>
          <p:nvSpPr>
            <p:cNvPr id="206" name="Google Shape;206;p27"/>
            <p:cNvSpPr/>
            <p:nvPr/>
          </p:nvSpPr>
          <p:spPr>
            <a:xfrm>
              <a:off x="0" y="0"/>
              <a:ext cx="1111339" cy="1111339"/>
            </a:xfrm>
            <a:custGeom>
              <a:rect b="b" l="l" r="r" t="t"/>
              <a:pathLst>
                <a:path extrusionOk="0" h="6355080" w="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FF6F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27"/>
            <p:cNvSpPr txBox="1"/>
            <p:nvPr/>
          </p:nvSpPr>
          <p:spPr>
            <a:xfrm>
              <a:off x="246393" y="313946"/>
              <a:ext cx="618552" cy="440267"/>
            </a:xfrm>
            <a:prstGeom prst="rect">
              <a:avLst/>
            </a:prstGeom>
            <a:noFill/>
            <a:ln>
              <a:noFill/>
            </a:ln>
          </p:spPr>
          <p:txBody>
            <a:bodyPr anchorCtr="0" anchor="t" bIns="0" lIns="0" spcFirstLastPara="1" rIns="0" wrap="square" tIns="0">
              <a:spAutoFit/>
            </a:bodyPr>
            <a:lstStyle/>
            <a:p>
              <a:pPr indent="0" lvl="0" marL="0" marR="0" rtl="0" algn="ctr">
                <a:lnSpc>
                  <a:spcPct val="130037"/>
                </a:lnSpc>
                <a:spcBef>
                  <a:spcPts val="0"/>
                </a:spcBef>
                <a:spcAft>
                  <a:spcPts val="0"/>
                </a:spcAft>
                <a:buNone/>
              </a:pPr>
              <a:r>
                <a:rPr b="1" i="0" lang="en-US" sz="2124" u="none" cap="none" strike="noStrike">
                  <a:solidFill>
                    <a:srgbClr val="FF7B26"/>
                  </a:solidFill>
                  <a:latin typeface="Ultra"/>
                  <a:ea typeface="Ultra"/>
                  <a:cs typeface="Ultra"/>
                  <a:sym typeface="Ultra"/>
                </a:rPr>
                <a:t>3</a:t>
              </a:r>
              <a:endParaRPr/>
            </a:p>
          </p:txBody>
        </p:sp>
      </p:grpSp>
      <p:sp>
        <p:nvSpPr>
          <p:cNvPr id="208" name="Google Shape;208;p27"/>
          <p:cNvSpPr/>
          <p:nvPr/>
        </p:nvSpPr>
        <p:spPr>
          <a:xfrm>
            <a:off x="6561727" y="8460737"/>
            <a:ext cx="5164545" cy="798579"/>
          </a:xfrm>
          <a:custGeom>
            <a:rect b="b" l="l" r="r" t="t"/>
            <a:pathLst>
              <a:path extrusionOk="0" h="9982238" w="64556816">
                <a:moveTo>
                  <a:pt x="63694481" y="0"/>
                </a:moveTo>
                <a:lnTo>
                  <a:pt x="862330" y="0"/>
                </a:lnTo>
                <a:cubicBezTo>
                  <a:pt x="389890" y="0"/>
                  <a:pt x="0" y="389890"/>
                  <a:pt x="0" y="862330"/>
                </a:cubicBezTo>
                <a:lnTo>
                  <a:pt x="0" y="9119908"/>
                </a:lnTo>
                <a:cubicBezTo>
                  <a:pt x="0" y="9592348"/>
                  <a:pt x="389890" y="9982238"/>
                  <a:pt x="862330" y="9982238"/>
                </a:cubicBezTo>
                <a:lnTo>
                  <a:pt x="63694481" y="9982238"/>
                </a:lnTo>
                <a:cubicBezTo>
                  <a:pt x="64166924" y="9982238"/>
                  <a:pt x="64556816" y="9592348"/>
                  <a:pt x="64556816" y="9119908"/>
                </a:cubicBezTo>
                <a:lnTo>
                  <a:pt x="64556816" y="862330"/>
                </a:lnTo>
                <a:cubicBezTo>
                  <a:pt x="64556816" y="389890"/>
                  <a:pt x="64166924" y="0"/>
                  <a:pt x="63694481" y="0"/>
                </a:cubicBezTo>
                <a:close/>
                <a:moveTo>
                  <a:pt x="64366316" y="927100"/>
                </a:moveTo>
                <a:lnTo>
                  <a:pt x="64366316" y="9119908"/>
                </a:lnTo>
                <a:cubicBezTo>
                  <a:pt x="64366316" y="9486937"/>
                  <a:pt x="64061516" y="9791737"/>
                  <a:pt x="63694481" y="9791737"/>
                </a:cubicBezTo>
                <a:lnTo>
                  <a:pt x="862330" y="9791737"/>
                </a:lnTo>
                <a:cubicBezTo>
                  <a:pt x="495300" y="9791737"/>
                  <a:pt x="190500" y="9486937"/>
                  <a:pt x="190500" y="9119908"/>
                </a:cubicBezTo>
                <a:lnTo>
                  <a:pt x="190500" y="862330"/>
                </a:lnTo>
                <a:cubicBezTo>
                  <a:pt x="190500" y="495300"/>
                  <a:pt x="495300" y="190500"/>
                  <a:pt x="862330" y="190500"/>
                </a:cubicBezTo>
                <a:lnTo>
                  <a:pt x="63694481" y="190500"/>
                </a:lnTo>
                <a:cubicBezTo>
                  <a:pt x="64061516" y="190500"/>
                  <a:pt x="64366316" y="495300"/>
                  <a:pt x="64366316" y="862330"/>
                </a:cubicBezTo>
                <a:lnTo>
                  <a:pt x="64366316" y="927100"/>
                </a:lnTo>
                <a:close/>
              </a:path>
            </a:pathLst>
          </a:custGeom>
          <a:solidFill>
            <a:srgbClr val="FF6F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9" name="Google Shape;209;p27"/>
          <p:cNvGrpSpPr/>
          <p:nvPr/>
        </p:nvGrpSpPr>
        <p:grpSpPr>
          <a:xfrm>
            <a:off x="7269541" y="8686541"/>
            <a:ext cx="346970" cy="346970"/>
            <a:chOff x="0" y="0"/>
            <a:chExt cx="462627" cy="462627"/>
          </a:xfrm>
        </p:grpSpPr>
        <p:sp>
          <p:nvSpPr>
            <p:cNvPr id="210" name="Google Shape;210;p27"/>
            <p:cNvSpPr/>
            <p:nvPr/>
          </p:nvSpPr>
          <p:spPr>
            <a:xfrm>
              <a:off x="0" y="0"/>
              <a:ext cx="462627" cy="462627"/>
            </a:xfrm>
            <a:custGeom>
              <a:rect b="b" l="l" r="r" t="t"/>
              <a:pathLst>
                <a:path extrusionOk="0"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6F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27"/>
            <p:cNvSpPr/>
            <p:nvPr/>
          </p:nvSpPr>
          <p:spPr>
            <a:xfrm>
              <a:off x="115880" y="138967"/>
              <a:ext cx="230867" cy="184694"/>
            </a:xfrm>
            <a:custGeom>
              <a:rect b="b" l="l" r="r" t="t"/>
              <a:pathLst>
                <a:path extrusionOk="0" h="184694" w="230867">
                  <a:moveTo>
                    <a:pt x="0" y="0"/>
                  </a:moveTo>
                  <a:lnTo>
                    <a:pt x="230867" y="0"/>
                  </a:lnTo>
                  <a:lnTo>
                    <a:pt x="230867" y="184693"/>
                  </a:lnTo>
                  <a:lnTo>
                    <a:pt x="0" y="184693"/>
                  </a:lnTo>
                  <a:lnTo>
                    <a:pt x="0" y="0"/>
                  </a:lnTo>
                  <a:close/>
                </a:path>
              </a:pathLst>
            </a:custGeom>
            <a:blipFill rotWithShape="1">
              <a:blip r:embed="rId3">
                <a:alphaModFix/>
              </a:blip>
              <a:stretch>
                <a:fillRect b="0" l="0" r="0" t="0"/>
              </a:stretch>
            </a:blipFill>
            <a:ln>
              <a:noFill/>
            </a:ln>
          </p:spPr>
        </p:sp>
      </p:grpSp>
      <p:sp>
        <p:nvSpPr>
          <p:cNvPr id="212" name="Google Shape;212;p27"/>
          <p:cNvSpPr txBox="1"/>
          <p:nvPr/>
        </p:nvSpPr>
        <p:spPr>
          <a:xfrm>
            <a:off x="7899369" y="8673971"/>
            <a:ext cx="2857975" cy="334963"/>
          </a:xfrm>
          <a:prstGeom prst="rect">
            <a:avLst/>
          </a:prstGeom>
          <a:noFill/>
          <a:ln>
            <a:noFill/>
          </a:ln>
        </p:spPr>
        <p:txBody>
          <a:bodyPr anchorCtr="0" anchor="t" bIns="0" lIns="0" spcFirstLastPara="1" rIns="0" wrap="square" tIns="0">
            <a:spAutoFit/>
          </a:bodyPr>
          <a:lstStyle/>
          <a:p>
            <a:pPr indent="0" lvl="0" marL="0" marR="0" rtl="0" algn="ctr">
              <a:lnSpc>
                <a:spcPct val="130037"/>
              </a:lnSpc>
              <a:spcBef>
                <a:spcPts val="0"/>
              </a:spcBef>
              <a:spcAft>
                <a:spcPts val="0"/>
              </a:spcAft>
              <a:buNone/>
            </a:pPr>
            <a:r>
              <a:rPr b="1" i="0" lang="en-US" sz="2124" u="none" cap="none" strike="noStrike">
                <a:solidFill>
                  <a:srgbClr val="191919"/>
                </a:solidFill>
                <a:latin typeface="Ultra"/>
                <a:ea typeface="Ultra"/>
                <a:cs typeface="Ultra"/>
                <a:sym typeface="Ultra"/>
              </a:rPr>
              <a:t>DONE</a:t>
            </a:r>
            <a:endParaRPr/>
          </a:p>
        </p:txBody>
      </p:sp>
      <p:sp>
        <p:nvSpPr>
          <p:cNvPr id="213" name="Google Shape;213;p27"/>
          <p:cNvSpPr/>
          <p:nvPr/>
        </p:nvSpPr>
        <p:spPr>
          <a:xfrm>
            <a:off x="12095771" y="8460737"/>
            <a:ext cx="5164545" cy="798579"/>
          </a:xfrm>
          <a:custGeom>
            <a:rect b="b" l="l" r="r" t="t"/>
            <a:pathLst>
              <a:path extrusionOk="0" h="9982238" w="64556816">
                <a:moveTo>
                  <a:pt x="63694481" y="0"/>
                </a:moveTo>
                <a:lnTo>
                  <a:pt x="862330" y="0"/>
                </a:lnTo>
                <a:cubicBezTo>
                  <a:pt x="389890" y="0"/>
                  <a:pt x="0" y="389890"/>
                  <a:pt x="0" y="862330"/>
                </a:cubicBezTo>
                <a:lnTo>
                  <a:pt x="0" y="9119908"/>
                </a:lnTo>
                <a:cubicBezTo>
                  <a:pt x="0" y="9592348"/>
                  <a:pt x="389890" y="9982238"/>
                  <a:pt x="862330" y="9982238"/>
                </a:cubicBezTo>
                <a:lnTo>
                  <a:pt x="63694481" y="9982238"/>
                </a:lnTo>
                <a:cubicBezTo>
                  <a:pt x="64166924" y="9982238"/>
                  <a:pt x="64556816" y="9592348"/>
                  <a:pt x="64556816" y="9119908"/>
                </a:cubicBezTo>
                <a:lnTo>
                  <a:pt x="64556816" y="862330"/>
                </a:lnTo>
                <a:cubicBezTo>
                  <a:pt x="64556816" y="389890"/>
                  <a:pt x="64166924" y="0"/>
                  <a:pt x="63694481" y="0"/>
                </a:cubicBezTo>
                <a:close/>
                <a:moveTo>
                  <a:pt x="64366316" y="927100"/>
                </a:moveTo>
                <a:lnTo>
                  <a:pt x="64366316" y="9119908"/>
                </a:lnTo>
                <a:cubicBezTo>
                  <a:pt x="64366316" y="9486937"/>
                  <a:pt x="64061516" y="9791737"/>
                  <a:pt x="63694481" y="9791737"/>
                </a:cubicBezTo>
                <a:lnTo>
                  <a:pt x="862330" y="9791737"/>
                </a:lnTo>
                <a:cubicBezTo>
                  <a:pt x="495300" y="9791737"/>
                  <a:pt x="190500" y="9486937"/>
                  <a:pt x="190500" y="9119908"/>
                </a:cubicBezTo>
                <a:lnTo>
                  <a:pt x="190500" y="862330"/>
                </a:lnTo>
                <a:cubicBezTo>
                  <a:pt x="190500" y="495300"/>
                  <a:pt x="495300" y="190500"/>
                  <a:pt x="862330" y="190500"/>
                </a:cubicBezTo>
                <a:lnTo>
                  <a:pt x="63694481" y="190500"/>
                </a:lnTo>
                <a:cubicBezTo>
                  <a:pt x="64061516" y="190500"/>
                  <a:pt x="64366316" y="495300"/>
                  <a:pt x="64366316" y="862330"/>
                </a:cubicBezTo>
                <a:lnTo>
                  <a:pt x="64366316" y="927100"/>
                </a:lnTo>
                <a:close/>
              </a:path>
            </a:pathLst>
          </a:custGeom>
          <a:solidFill>
            <a:srgbClr val="FF6F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27"/>
          <p:cNvSpPr txBox="1"/>
          <p:nvPr/>
        </p:nvSpPr>
        <p:spPr>
          <a:xfrm>
            <a:off x="13433412" y="8673971"/>
            <a:ext cx="2857975" cy="334963"/>
          </a:xfrm>
          <a:prstGeom prst="rect">
            <a:avLst/>
          </a:prstGeom>
          <a:noFill/>
          <a:ln>
            <a:noFill/>
          </a:ln>
        </p:spPr>
        <p:txBody>
          <a:bodyPr anchorCtr="0" anchor="t" bIns="0" lIns="0" spcFirstLastPara="1" rIns="0" wrap="square" tIns="0">
            <a:spAutoFit/>
          </a:bodyPr>
          <a:lstStyle/>
          <a:p>
            <a:pPr indent="0" lvl="0" marL="0" marR="0" rtl="0" algn="ctr">
              <a:lnSpc>
                <a:spcPct val="130037"/>
              </a:lnSpc>
              <a:spcBef>
                <a:spcPts val="0"/>
              </a:spcBef>
              <a:spcAft>
                <a:spcPts val="0"/>
              </a:spcAft>
              <a:buNone/>
            </a:pPr>
            <a:r>
              <a:rPr b="1" i="0" lang="en-US" sz="2124" u="none" cap="none" strike="noStrike">
                <a:solidFill>
                  <a:srgbClr val="191919"/>
                </a:solidFill>
                <a:latin typeface="Ultra"/>
                <a:ea typeface="Ultra"/>
                <a:cs typeface="Ultra"/>
                <a:sym typeface="Ultra"/>
              </a:rPr>
              <a:t>ONGOING</a:t>
            </a:r>
            <a:endParaRPr/>
          </a:p>
        </p:txBody>
      </p:sp>
      <p:sp>
        <p:nvSpPr>
          <p:cNvPr id="215" name="Google Shape;215;p27"/>
          <p:cNvSpPr/>
          <p:nvPr/>
        </p:nvSpPr>
        <p:spPr>
          <a:xfrm>
            <a:off x="12803584" y="8686541"/>
            <a:ext cx="346970" cy="346970"/>
          </a:xfrm>
          <a:custGeom>
            <a:rect b="b" l="l" r="r" t="t"/>
            <a:pathLst>
              <a:path extrusionOk="0"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6F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27"/>
          <p:cNvSpPr/>
          <p:nvPr/>
        </p:nvSpPr>
        <p:spPr>
          <a:xfrm>
            <a:off x="12901840" y="8784797"/>
            <a:ext cx="150459" cy="150459"/>
          </a:xfrm>
          <a:custGeom>
            <a:rect b="b" l="l" r="r" t="t"/>
            <a:pathLst>
              <a:path extrusionOk="0" h="150459" w="150459">
                <a:moveTo>
                  <a:pt x="0" y="0"/>
                </a:moveTo>
                <a:lnTo>
                  <a:pt x="150459" y="0"/>
                </a:lnTo>
                <a:lnTo>
                  <a:pt x="150459" y="150459"/>
                </a:lnTo>
                <a:lnTo>
                  <a:pt x="0" y="150459"/>
                </a:lnTo>
                <a:lnTo>
                  <a:pt x="0" y="0"/>
                </a:lnTo>
                <a:close/>
              </a:path>
            </a:pathLst>
          </a:custGeom>
          <a:blipFill rotWithShape="1">
            <a:blip r:embed="rId4">
              <a:alphaModFix/>
            </a:blip>
            <a:stretch>
              <a:fillRect b="0" l="0" r="0" t="0"/>
            </a:stretch>
          </a:blipFill>
          <a:ln>
            <a:noFill/>
          </a:ln>
        </p:spPr>
      </p:sp>
      <p:grpSp>
        <p:nvGrpSpPr>
          <p:cNvPr id="217" name="Google Shape;217;p27"/>
          <p:cNvGrpSpPr/>
          <p:nvPr/>
        </p:nvGrpSpPr>
        <p:grpSpPr>
          <a:xfrm>
            <a:off x="8860025" y="6495187"/>
            <a:ext cx="567950" cy="567950"/>
            <a:chOff x="0" y="0"/>
            <a:chExt cx="757267" cy="757267"/>
          </a:xfrm>
        </p:grpSpPr>
        <p:sp>
          <p:nvSpPr>
            <p:cNvPr id="218" name="Google Shape;218;p27"/>
            <p:cNvSpPr/>
            <p:nvPr/>
          </p:nvSpPr>
          <p:spPr>
            <a:xfrm>
              <a:off x="0" y="0"/>
              <a:ext cx="757267" cy="757267"/>
            </a:xfrm>
            <a:custGeom>
              <a:rect b="b" l="l" r="r" t="t"/>
              <a:pathLst>
                <a:path extrusionOk="0"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6F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27"/>
            <p:cNvSpPr/>
            <p:nvPr/>
          </p:nvSpPr>
          <p:spPr>
            <a:xfrm>
              <a:off x="197756" y="197756"/>
              <a:ext cx="361754" cy="361754"/>
            </a:xfrm>
            <a:custGeom>
              <a:rect b="b" l="l" r="r" t="t"/>
              <a:pathLst>
                <a:path extrusionOk="0" h="361754" w="361754">
                  <a:moveTo>
                    <a:pt x="0" y="0"/>
                  </a:moveTo>
                  <a:lnTo>
                    <a:pt x="361755" y="0"/>
                  </a:lnTo>
                  <a:lnTo>
                    <a:pt x="361755" y="361755"/>
                  </a:lnTo>
                  <a:lnTo>
                    <a:pt x="0" y="361755"/>
                  </a:lnTo>
                  <a:lnTo>
                    <a:pt x="0" y="0"/>
                  </a:lnTo>
                  <a:close/>
                </a:path>
              </a:pathLst>
            </a:custGeom>
            <a:blipFill rotWithShape="1">
              <a:blip r:embed="rId4">
                <a:alphaModFix/>
              </a:blip>
              <a:stretch>
                <a:fillRect b="0" l="0" r="0" t="0"/>
              </a:stretch>
            </a:blipFill>
            <a:ln>
              <a:noFill/>
            </a:ln>
          </p:spPr>
        </p:sp>
      </p:grpSp>
      <p:grpSp>
        <p:nvGrpSpPr>
          <p:cNvPr id="220" name="Google Shape;220;p27"/>
          <p:cNvGrpSpPr/>
          <p:nvPr/>
        </p:nvGrpSpPr>
        <p:grpSpPr>
          <a:xfrm>
            <a:off x="14394068" y="6495187"/>
            <a:ext cx="567950" cy="567950"/>
            <a:chOff x="0" y="0"/>
            <a:chExt cx="757267" cy="757267"/>
          </a:xfrm>
        </p:grpSpPr>
        <p:sp>
          <p:nvSpPr>
            <p:cNvPr id="221" name="Google Shape;221;p27"/>
            <p:cNvSpPr/>
            <p:nvPr/>
          </p:nvSpPr>
          <p:spPr>
            <a:xfrm>
              <a:off x="0" y="0"/>
              <a:ext cx="757267" cy="757267"/>
            </a:xfrm>
            <a:custGeom>
              <a:rect b="b" l="l" r="r" t="t"/>
              <a:pathLst>
                <a:path extrusionOk="0"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6F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27"/>
            <p:cNvSpPr/>
            <p:nvPr/>
          </p:nvSpPr>
          <p:spPr>
            <a:xfrm>
              <a:off x="197756" y="197756"/>
              <a:ext cx="361754" cy="361754"/>
            </a:xfrm>
            <a:custGeom>
              <a:rect b="b" l="l" r="r" t="t"/>
              <a:pathLst>
                <a:path extrusionOk="0" h="361754" w="361754">
                  <a:moveTo>
                    <a:pt x="0" y="0"/>
                  </a:moveTo>
                  <a:lnTo>
                    <a:pt x="361755" y="0"/>
                  </a:lnTo>
                  <a:lnTo>
                    <a:pt x="361755" y="361755"/>
                  </a:lnTo>
                  <a:lnTo>
                    <a:pt x="0" y="361755"/>
                  </a:lnTo>
                  <a:lnTo>
                    <a:pt x="0" y="0"/>
                  </a:lnTo>
                  <a:close/>
                </a:path>
              </a:pathLst>
            </a:custGeom>
            <a:blipFill rotWithShape="1">
              <a:blip r:embed="rId4">
                <a:alphaModFix/>
              </a:blip>
              <a:stretch>
                <a:fillRect b="0" l="0" r="0" t="0"/>
              </a:stretch>
            </a:blipFill>
            <a:ln>
              <a:noFill/>
            </a:ln>
          </p:spPr>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E7DE"/>
        </a:solidFill>
      </p:bgPr>
    </p:bg>
    <p:spTree>
      <p:nvGrpSpPr>
        <p:cNvPr id="226" name="Shape 226"/>
        <p:cNvGrpSpPr/>
        <p:nvPr/>
      </p:nvGrpSpPr>
      <p:grpSpPr>
        <a:xfrm>
          <a:off x="0" y="0"/>
          <a:ext cx="0" cy="0"/>
          <a:chOff x="0" y="0"/>
          <a:chExt cx="0" cy="0"/>
        </a:xfrm>
      </p:grpSpPr>
      <p:sp>
        <p:nvSpPr>
          <p:cNvPr id="227" name="Google Shape;227;p28"/>
          <p:cNvSpPr/>
          <p:nvPr/>
        </p:nvSpPr>
        <p:spPr>
          <a:xfrm>
            <a:off x="238125" y="4780825"/>
            <a:ext cx="5495100" cy="3168900"/>
          </a:xfrm>
          <a:prstGeom prst="rect">
            <a:avLst/>
          </a:prstGeom>
          <a:solidFill>
            <a:schemeClr val="lt2"/>
          </a:solidFill>
          <a:ln cap="flat" cmpd="sng" w="9525">
            <a:solidFill>
              <a:srgbClr val="D4A01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28" name="Google Shape;228;p28"/>
          <p:cNvSpPr/>
          <p:nvPr/>
        </p:nvSpPr>
        <p:spPr>
          <a:xfrm>
            <a:off x="14993279" y="244550"/>
            <a:ext cx="2920740" cy="1411088"/>
          </a:xfrm>
          <a:custGeom>
            <a:rect b="b" l="l" r="r" t="t"/>
            <a:pathLst>
              <a:path extrusionOk="0" h="1650395" w="1746332">
                <a:moveTo>
                  <a:pt x="1621872" y="1650395"/>
                </a:moveTo>
                <a:lnTo>
                  <a:pt x="124460" y="1650395"/>
                </a:lnTo>
                <a:cubicBezTo>
                  <a:pt x="55880" y="1650395"/>
                  <a:pt x="0" y="1594515"/>
                  <a:pt x="0" y="1525935"/>
                </a:cubicBezTo>
                <a:lnTo>
                  <a:pt x="0" y="124460"/>
                </a:lnTo>
                <a:cubicBezTo>
                  <a:pt x="0" y="55880"/>
                  <a:pt x="55880" y="0"/>
                  <a:pt x="124460" y="0"/>
                </a:cubicBezTo>
                <a:lnTo>
                  <a:pt x="1621872" y="0"/>
                </a:lnTo>
                <a:cubicBezTo>
                  <a:pt x="1690452" y="0"/>
                  <a:pt x="1746332" y="55880"/>
                  <a:pt x="1746332" y="124460"/>
                </a:cubicBezTo>
                <a:lnTo>
                  <a:pt x="1746332" y="1525935"/>
                </a:lnTo>
                <a:cubicBezTo>
                  <a:pt x="1746332" y="1594515"/>
                  <a:pt x="1690452" y="1650395"/>
                  <a:pt x="1621872" y="1650395"/>
                </a:cubicBezTo>
                <a:close/>
              </a:path>
            </a:pathLst>
          </a:custGeom>
          <a:solidFill>
            <a:schemeClr val="lt2"/>
          </a:solidFill>
          <a:ln cap="flat" cmpd="sng" w="9525">
            <a:solidFill>
              <a:srgbClr val="D4A01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28"/>
          <p:cNvSpPr txBox="1"/>
          <p:nvPr/>
        </p:nvSpPr>
        <p:spPr>
          <a:xfrm>
            <a:off x="0" y="119225"/>
            <a:ext cx="4070400" cy="374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800">
                <a:solidFill>
                  <a:srgbClr val="6B7280"/>
                </a:solidFill>
                <a:latin typeface="Calibri"/>
                <a:ea typeface="Calibri"/>
                <a:cs typeface="Calibri"/>
                <a:sym typeface="Calibri"/>
              </a:rPr>
              <a:t>CP3405 DT3 · WEEK 3 · SPRINT REVIEW</a:t>
            </a:r>
            <a:endParaRPr sz="1800">
              <a:solidFill>
                <a:srgbClr val="6B7280"/>
              </a:solidFill>
              <a:latin typeface="Calibri"/>
              <a:ea typeface="Calibri"/>
              <a:cs typeface="Calibri"/>
              <a:sym typeface="Calibri"/>
            </a:endParaRPr>
          </a:p>
          <a:p>
            <a:pPr indent="0" lvl="0" marL="0" rtl="0" algn="l">
              <a:spcBef>
                <a:spcPts val="0"/>
              </a:spcBef>
              <a:spcAft>
                <a:spcPts val="0"/>
              </a:spcAft>
              <a:buNone/>
            </a:pPr>
            <a:r>
              <a:t/>
            </a:r>
            <a:endParaRPr sz="4100">
              <a:solidFill>
                <a:schemeClr val="dk1"/>
              </a:solidFill>
              <a:latin typeface="Calibri"/>
              <a:ea typeface="Calibri"/>
              <a:cs typeface="Calibri"/>
              <a:sym typeface="Calibri"/>
            </a:endParaRPr>
          </a:p>
        </p:txBody>
      </p:sp>
      <p:sp>
        <p:nvSpPr>
          <p:cNvPr id="230" name="Google Shape;230;p28"/>
          <p:cNvSpPr txBox="1"/>
          <p:nvPr/>
        </p:nvSpPr>
        <p:spPr>
          <a:xfrm>
            <a:off x="0" y="493925"/>
            <a:ext cx="5092200" cy="630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sz="3600">
                <a:solidFill>
                  <a:srgbClr val="1E3A5F"/>
                </a:solidFill>
                <a:latin typeface="Calibri"/>
                <a:ea typeface="Calibri"/>
                <a:cs typeface="Calibri"/>
                <a:sym typeface="Calibri"/>
              </a:rPr>
              <a:t>R3 — Almanac </a:t>
            </a:r>
            <a:r>
              <a:rPr b="1" lang="en-US" sz="3600">
                <a:solidFill>
                  <a:srgbClr val="1E3A5F"/>
                </a:solidFill>
                <a:latin typeface="Calibri"/>
                <a:ea typeface="Calibri"/>
                <a:cs typeface="Calibri"/>
                <a:sym typeface="Calibri"/>
              </a:rPr>
              <a:t>A</a:t>
            </a:r>
            <a:r>
              <a:rPr b="1" lang="en-US" sz="3600">
                <a:solidFill>
                  <a:srgbClr val="1E3A5F"/>
                </a:solidFill>
                <a:latin typeface="Calibri"/>
                <a:ea typeface="Calibri"/>
                <a:cs typeface="Calibri"/>
                <a:sym typeface="Calibri"/>
              </a:rPr>
              <a:t>gent</a:t>
            </a:r>
            <a:endParaRPr b="1" sz="3600">
              <a:solidFill>
                <a:srgbClr val="1E3A5F"/>
              </a:solidFill>
              <a:latin typeface="Calibri"/>
              <a:ea typeface="Calibri"/>
              <a:cs typeface="Calibri"/>
              <a:sym typeface="Calibri"/>
            </a:endParaRPr>
          </a:p>
          <a:p>
            <a:pPr indent="0" lvl="0" marL="0" rtl="0" algn="l">
              <a:spcBef>
                <a:spcPts val="0"/>
              </a:spcBef>
              <a:spcAft>
                <a:spcPts val="0"/>
              </a:spcAft>
              <a:buNone/>
            </a:pPr>
            <a:r>
              <a:t/>
            </a:r>
            <a:endParaRPr sz="3200">
              <a:solidFill>
                <a:srgbClr val="FF7B26"/>
              </a:solidFill>
              <a:latin typeface="Calibri"/>
              <a:ea typeface="Calibri"/>
              <a:cs typeface="Calibri"/>
              <a:sym typeface="Calibri"/>
            </a:endParaRPr>
          </a:p>
        </p:txBody>
      </p:sp>
      <p:sp>
        <p:nvSpPr>
          <p:cNvPr id="231" name="Google Shape;231;p28"/>
          <p:cNvSpPr txBox="1"/>
          <p:nvPr/>
        </p:nvSpPr>
        <p:spPr>
          <a:xfrm>
            <a:off x="0" y="1124225"/>
            <a:ext cx="5177700" cy="561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2600">
                <a:solidFill>
                  <a:srgbClr val="0F766E"/>
                </a:solidFill>
                <a:latin typeface="Calibri"/>
                <a:ea typeface="Calibri"/>
                <a:cs typeface="Calibri"/>
                <a:sym typeface="Calibri"/>
              </a:rPr>
              <a:t>Seasonal Patterns · June 2026</a:t>
            </a:r>
            <a:endParaRPr sz="2600">
              <a:solidFill>
                <a:srgbClr val="0F766E"/>
              </a:solidFill>
              <a:latin typeface="Calibri"/>
              <a:ea typeface="Calibri"/>
              <a:cs typeface="Calibri"/>
              <a:sym typeface="Calibri"/>
            </a:endParaRPr>
          </a:p>
          <a:p>
            <a:pPr indent="0" lvl="0" marL="0" rtl="0" algn="l">
              <a:spcBef>
                <a:spcPts val="0"/>
              </a:spcBef>
              <a:spcAft>
                <a:spcPts val="0"/>
              </a:spcAft>
              <a:buNone/>
            </a:pPr>
            <a:r>
              <a:t/>
            </a:r>
            <a:endParaRPr sz="3200">
              <a:solidFill>
                <a:schemeClr val="dk1"/>
              </a:solidFill>
              <a:latin typeface="Calibri"/>
              <a:ea typeface="Calibri"/>
              <a:cs typeface="Calibri"/>
              <a:sym typeface="Calibri"/>
            </a:endParaRPr>
          </a:p>
        </p:txBody>
      </p:sp>
      <p:cxnSp>
        <p:nvCxnSpPr>
          <p:cNvPr id="232" name="Google Shape;232;p28"/>
          <p:cNvCxnSpPr/>
          <p:nvPr/>
        </p:nvCxnSpPr>
        <p:spPr>
          <a:xfrm>
            <a:off x="68125" y="1975650"/>
            <a:ext cx="18172500" cy="34200"/>
          </a:xfrm>
          <a:prstGeom prst="straightConnector1">
            <a:avLst/>
          </a:prstGeom>
          <a:noFill/>
          <a:ln cap="flat" cmpd="sng" w="9525">
            <a:solidFill>
              <a:schemeClr val="dk2"/>
            </a:solidFill>
            <a:prstDash val="solid"/>
            <a:round/>
            <a:headEnd len="med" w="med" type="none"/>
            <a:tailEnd len="med" w="med" type="none"/>
          </a:ln>
        </p:spPr>
      </p:cxnSp>
      <p:sp>
        <p:nvSpPr>
          <p:cNvPr id="233" name="Google Shape;233;p28"/>
          <p:cNvSpPr txBox="1"/>
          <p:nvPr/>
        </p:nvSpPr>
        <p:spPr>
          <a:xfrm>
            <a:off x="14953650" y="596100"/>
            <a:ext cx="3000000" cy="708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US" sz="3400">
                <a:solidFill>
                  <a:srgbClr val="DC2626"/>
                </a:solidFill>
                <a:latin typeface="Calibri"/>
                <a:ea typeface="Calibri"/>
                <a:cs typeface="Calibri"/>
                <a:sym typeface="Calibri"/>
              </a:rPr>
              <a:t>Bearish</a:t>
            </a:r>
            <a:endParaRPr b="1" sz="3400">
              <a:solidFill>
                <a:srgbClr val="DC2626"/>
              </a:solidFill>
              <a:latin typeface="Calibri"/>
              <a:ea typeface="Calibri"/>
              <a:cs typeface="Calibri"/>
              <a:sym typeface="Calibri"/>
            </a:endParaRPr>
          </a:p>
        </p:txBody>
      </p:sp>
      <p:sp>
        <p:nvSpPr>
          <p:cNvPr id="234" name="Google Shape;234;p28"/>
          <p:cNvSpPr txBox="1"/>
          <p:nvPr/>
        </p:nvSpPr>
        <p:spPr>
          <a:xfrm>
            <a:off x="143050" y="2600438"/>
            <a:ext cx="4588500" cy="2912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sz="2400">
                <a:solidFill>
                  <a:srgbClr val="374151"/>
                </a:solidFill>
                <a:latin typeface="Calibri"/>
                <a:ea typeface="Calibri"/>
                <a:cs typeface="Calibri"/>
                <a:sym typeface="Calibri"/>
              </a:rPr>
              <a:t>2026 = Midterm Year</a:t>
            </a:r>
            <a:endParaRPr b="1" sz="2400">
              <a:solidFill>
                <a:srgbClr val="374151"/>
              </a:solidFill>
              <a:latin typeface="Calibri"/>
              <a:ea typeface="Calibri"/>
              <a:cs typeface="Calibri"/>
              <a:sym typeface="Calibri"/>
            </a:endParaRPr>
          </a:p>
          <a:p>
            <a:pPr indent="0" lvl="0" marL="0" rtl="0" algn="l">
              <a:lnSpc>
                <a:spcPct val="115000"/>
              </a:lnSpc>
              <a:spcBef>
                <a:spcPts val="0"/>
              </a:spcBef>
              <a:spcAft>
                <a:spcPts val="0"/>
              </a:spcAft>
              <a:buNone/>
            </a:pPr>
            <a:r>
              <a:rPr lang="en-US" sz="2400">
                <a:solidFill>
                  <a:srgbClr val="374151"/>
                </a:solidFill>
                <a:latin typeface="Calibri"/>
                <a:ea typeface="Calibri"/>
                <a:cs typeface="Calibri"/>
                <a:sym typeface="Calibri"/>
              </a:rPr>
              <a:t>Q2–Q3 = The Weak Spot (still active)</a:t>
            </a:r>
            <a:endParaRPr sz="2400">
              <a:solidFill>
                <a:srgbClr val="374151"/>
              </a:solidFill>
              <a:latin typeface="Calibri"/>
              <a:ea typeface="Calibri"/>
              <a:cs typeface="Calibri"/>
              <a:sym typeface="Calibri"/>
            </a:endParaRPr>
          </a:p>
          <a:p>
            <a:pPr indent="0" lvl="0" marL="0" rtl="0" algn="l">
              <a:lnSpc>
                <a:spcPct val="115000"/>
              </a:lnSpc>
              <a:spcBef>
                <a:spcPts val="0"/>
              </a:spcBef>
              <a:spcAft>
                <a:spcPts val="0"/>
              </a:spcAft>
              <a:buNone/>
            </a:pPr>
            <a:r>
              <a:rPr lang="en-US" sz="2400">
                <a:solidFill>
                  <a:srgbClr val="374151"/>
                </a:solidFill>
                <a:latin typeface="Calibri"/>
                <a:ea typeface="Calibri"/>
                <a:cs typeface="Calibri"/>
                <a:sym typeface="Calibri"/>
              </a:rPr>
              <a:t>Q4 2026 = Sweet Spot begins later</a:t>
            </a:r>
            <a:endParaRPr sz="2400">
              <a:solidFill>
                <a:srgbClr val="374151"/>
              </a:solidFill>
              <a:latin typeface="Calibri"/>
              <a:ea typeface="Calibri"/>
              <a:cs typeface="Calibri"/>
              <a:sym typeface="Calibri"/>
            </a:endParaRPr>
          </a:p>
          <a:p>
            <a:pPr indent="0" lvl="0" marL="0" rtl="0" algn="l">
              <a:spcBef>
                <a:spcPts val="0"/>
              </a:spcBef>
              <a:spcAft>
                <a:spcPts val="0"/>
              </a:spcAft>
              <a:buNone/>
            </a:pPr>
            <a:r>
              <a:t/>
            </a:r>
            <a:endParaRPr sz="3200">
              <a:solidFill>
                <a:schemeClr val="dk1"/>
              </a:solidFill>
              <a:latin typeface="Calibri"/>
              <a:ea typeface="Calibri"/>
              <a:cs typeface="Calibri"/>
              <a:sym typeface="Calibri"/>
            </a:endParaRPr>
          </a:p>
        </p:txBody>
      </p:sp>
      <p:sp>
        <p:nvSpPr>
          <p:cNvPr id="235" name="Google Shape;235;p28"/>
          <p:cNvSpPr txBox="1"/>
          <p:nvPr/>
        </p:nvSpPr>
        <p:spPr>
          <a:xfrm>
            <a:off x="274800" y="4780800"/>
            <a:ext cx="3795600" cy="1353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b="1" lang="en-US" sz="2600">
                <a:solidFill>
                  <a:srgbClr val="0F766E"/>
                </a:solidFill>
                <a:latin typeface="Calibri"/>
                <a:ea typeface="Calibri"/>
                <a:cs typeface="Calibri"/>
                <a:sym typeface="Calibri"/>
              </a:rPr>
              <a:t>JUNE VITAL STATS</a:t>
            </a:r>
            <a:endParaRPr b="1" sz="2600">
              <a:solidFill>
                <a:srgbClr val="0F766E"/>
              </a:solidFill>
              <a:latin typeface="Calibri"/>
              <a:ea typeface="Calibri"/>
              <a:cs typeface="Calibri"/>
              <a:sym typeface="Calibri"/>
            </a:endParaRPr>
          </a:p>
          <a:p>
            <a:pPr indent="0" lvl="0" marL="0" rtl="0" algn="l">
              <a:spcBef>
                <a:spcPts val="0"/>
              </a:spcBef>
              <a:spcAft>
                <a:spcPts val="0"/>
              </a:spcAft>
              <a:buNone/>
            </a:pPr>
            <a:r>
              <a:t/>
            </a:r>
            <a:endParaRPr sz="4600">
              <a:solidFill>
                <a:schemeClr val="dk1"/>
              </a:solidFill>
              <a:latin typeface="Calibri"/>
              <a:ea typeface="Calibri"/>
              <a:cs typeface="Calibri"/>
              <a:sym typeface="Calibri"/>
            </a:endParaRPr>
          </a:p>
        </p:txBody>
      </p:sp>
      <p:sp>
        <p:nvSpPr>
          <p:cNvPr id="236" name="Google Shape;236;p28"/>
          <p:cNvSpPr txBox="1"/>
          <p:nvPr/>
        </p:nvSpPr>
        <p:spPr>
          <a:xfrm>
            <a:off x="1536675" y="5371638"/>
            <a:ext cx="2898000" cy="12822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b="1" lang="en-US" sz="6200">
                <a:solidFill>
                  <a:srgbClr val="DC2626"/>
                </a:solidFill>
                <a:latin typeface="Calibri"/>
                <a:ea typeface="Calibri"/>
                <a:cs typeface="Calibri"/>
                <a:sym typeface="Calibri"/>
              </a:rPr>
              <a:t>−2.1%</a:t>
            </a:r>
            <a:endParaRPr b="1" sz="6200">
              <a:solidFill>
                <a:srgbClr val="DC2626"/>
              </a:solidFill>
              <a:latin typeface="Calibri"/>
              <a:ea typeface="Calibri"/>
              <a:cs typeface="Calibri"/>
              <a:sym typeface="Calibri"/>
            </a:endParaRPr>
          </a:p>
          <a:p>
            <a:pPr indent="0" lvl="0" marL="0" rtl="0" algn="l">
              <a:spcBef>
                <a:spcPts val="0"/>
              </a:spcBef>
              <a:spcAft>
                <a:spcPts val="0"/>
              </a:spcAft>
              <a:buNone/>
            </a:pPr>
            <a:r>
              <a:t/>
            </a:r>
            <a:endParaRPr sz="3200">
              <a:solidFill>
                <a:schemeClr val="dk1"/>
              </a:solidFill>
              <a:latin typeface="Calibri"/>
              <a:ea typeface="Calibri"/>
              <a:cs typeface="Calibri"/>
              <a:sym typeface="Calibri"/>
            </a:endParaRPr>
          </a:p>
        </p:txBody>
      </p:sp>
      <p:sp>
        <p:nvSpPr>
          <p:cNvPr id="237" name="Google Shape;237;p28"/>
          <p:cNvSpPr txBox="1"/>
          <p:nvPr/>
        </p:nvSpPr>
        <p:spPr>
          <a:xfrm>
            <a:off x="950475" y="6460575"/>
            <a:ext cx="4070400" cy="3747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lang="en-US" sz="2400">
                <a:solidFill>
                  <a:srgbClr val="374151"/>
                </a:solidFill>
                <a:latin typeface="Calibri"/>
                <a:ea typeface="Calibri"/>
                <a:cs typeface="Calibri"/>
                <a:sym typeface="Calibri"/>
              </a:rPr>
              <a:t>S&amp;P midterm year June avg</a:t>
            </a:r>
            <a:endParaRPr sz="2400">
              <a:solidFill>
                <a:srgbClr val="374151"/>
              </a:solidFill>
              <a:latin typeface="Calibri"/>
              <a:ea typeface="Calibri"/>
              <a:cs typeface="Calibri"/>
              <a:sym typeface="Calibri"/>
            </a:endParaRPr>
          </a:p>
          <a:p>
            <a:pPr indent="0" lvl="0" marL="0" rtl="0" algn="ctr">
              <a:spcBef>
                <a:spcPts val="0"/>
              </a:spcBef>
              <a:spcAft>
                <a:spcPts val="0"/>
              </a:spcAft>
              <a:buNone/>
            </a:pPr>
            <a:r>
              <a:t/>
            </a:r>
            <a:endParaRPr sz="3200">
              <a:solidFill>
                <a:schemeClr val="dk1"/>
              </a:solidFill>
              <a:latin typeface="Calibri"/>
              <a:ea typeface="Calibri"/>
              <a:cs typeface="Calibri"/>
              <a:sym typeface="Calibri"/>
            </a:endParaRPr>
          </a:p>
        </p:txBody>
      </p:sp>
      <p:sp>
        <p:nvSpPr>
          <p:cNvPr id="238" name="Google Shape;238;p28"/>
          <p:cNvSpPr txBox="1"/>
          <p:nvPr/>
        </p:nvSpPr>
        <p:spPr>
          <a:xfrm>
            <a:off x="238125" y="6989075"/>
            <a:ext cx="5495100" cy="11541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lang="en-US" sz="2400">
                <a:solidFill>
                  <a:srgbClr val="374151"/>
                </a:solidFill>
                <a:latin typeface="Calibri"/>
                <a:ea typeface="Calibri"/>
                <a:cs typeface="Calibri"/>
                <a:sym typeface="Calibri"/>
              </a:rPr>
              <a:t>June ranks #12 of 12 in midterm year — dead last</a:t>
            </a:r>
            <a:endParaRPr sz="2400">
              <a:solidFill>
                <a:srgbClr val="374151"/>
              </a:solidFill>
              <a:latin typeface="Calibri"/>
              <a:ea typeface="Calibri"/>
              <a:cs typeface="Calibri"/>
              <a:sym typeface="Calibri"/>
            </a:endParaRPr>
          </a:p>
          <a:p>
            <a:pPr indent="0" lvl="0" marL="0" rtl="0" algn="l">
              <a:spcBef>
                <a:spcPts val="0"/>
              </a:spcBef>
              <a:spcAft>
                <a:spcPts val="0"/>
              </a:spcAft>
              <a:buNone/>
            </a:pPr>
            <a:r>
              <a:t/>
            </a:r>
            <a:endParaRPr sz="3200">
              <a:solidFill>
                <a:schemeClr val="dk1"/>
              </a:solidFill>
              <a:latin typeface="Calibri"/>
              <a:ea typeface="Calibri"/>
              <a:cs typeface="Calibri"/>
              <a:sym typeface="Calibri"/>
            </a:endParaRPr>
          </a:p>
        </p:txBody>
      </p:sp>
      <p:sp>
        <p:nvSpPr>
          <p:cNvPr id="239" name="Google Shape;239;p28"/>
          <p:cNvSpPr txBox="1"/>
          <p:nvPr/>
        </p:nvSpPr>
        <p:spPr>
          <a:xfrm>
            <a:off x="143050" y="2143125"/>
            <a:ext cx="4333800" cy="561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US" sz="2600">
                <a:solidFill>
                  <a:srgbClr val="0F766E"/>
                </a:solidFill>
                <a:latin typeface="Calibri"/>
                <a:ea typeface="Calibri"/>
                <a:cs typeface="Calibri"/>
                <a:sym typeface="Calibri"/>
              </a:rPr>
              <a:t>CYCLE CONTEXT</a:t>
            </a:r>
            <a:endParaRPr b="1" sz="2600">
              <a:solidFill>
                <a:srgbClr val="0F766E"/>
              </a:solidFill>
              <a:latin typeface="Calibri"/>
              <a:ea typeface="Calibri"/>
              <a:cs typeface="Calibri"/>
              <a:sym typeface="Calibri"/>
            </a:endParaRPr>
          </a:p>
          <a:p>
            <a:pPr indent="0" lvl="0" marL="0" rtl="0" algn="l">
              <a:spcBef>
                <a:spcPts val="0"/>
              </a:spcBef>
              <a:spcAft>
                <a:spcPts val="0"/>
              </a:spcAft>
              <a:buNone/>
            </a:pPr>
            <a:r>
              <a:t/>
            </a:r>
            <a:endParaRPr sz="3200">
              <a:solidFill>
                <a:schemeClr val="dk1"/>
              </a:solidFill>
              <a:latin typeface="Calibri"/>
              <a:ea typeface="Calibri"/>
              <a:cs typeface="Calibri"/>
              <a:sym typeface="Calibri"/>
            </a:endParaRPr>
          </a:p>
        </p:txBody>
      </p:sp>
      <p:cxnSp>
        <p:nvCxnSpPr>
          <p:cNvPr id="240" name="Google Shape;240;p28"/>
          <p:cNvCxnSpPr/>
          <p:nvPr/>
        </p:nvCxnSpPr>
        <p:spPr>
          <a:xfrm>
            <a:off x="68125" y="8350500"/>
            <a:ext cx="18172500" cy="34200"/>
          </a:xfrm>
          <a:prstGeom prst="straightConnector1">
            <a:avLst/>
          </a:prstGeom>
          <a:noFill/>
          <a:ln cap="flat" cmpd="sng" w="9525">
            <a:solidFill>
              <a:schemeClr val="dk2"/>
            </a:solidFill>
            <a:prstDash val="solid"/>
            <a:round/>
            <a:headEnd len="med" w="med" type="none"/>
            <a:tailEnd len="med" w="med" type="none"/>
          </a:ln>
        </p:spPr>
      </p:cxnSp>
      <p:sp>
        <p:nvSpPr>
          <p:cNvPr id="241" name="Google Shape;241;p28"/>
          <p:cNvSpPr txBox="1"/>
          <p:nvPr/>
        </p:nvSpPr>
        <p:spPr>
          <a:xfrm>
            <a:off x="6865325" y="2205600"/>
            <a:ext cx="4333800" cy="561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US" sz="2600">
                <a:solidFill>
                  <a:srgbClr val="0F766E"/>
                </a:solidFill>
                <a:latin typeface="Calibri"/>
                <a:ea typeface="Calibri"/>
                <a:cs typeface="Calibri"/>
                <a:sym typeface="Calibri"/>
              </a:rPr>
              <a:t>WEEK PATTERN (2–6 June)</a:t>
            </a:r>
            <a:endParaRPr b="1" sz="2600">
              <a:solidFill>
                <a:srgbClr val="0F766E"/>
              </a:solidFill>
              <a:latin typeface="Calibri"/>
              <a:ea typeface="Calibri"/>
              <a:cs typeface="Calibri"/>
              <a:sym typeface="Calibri"/>
            </a:endParaRPr>
          </a:p>
          <a:p>
            <a:pPr indent="0" lvl="0" marL="0" rtl="0" algn="l">
              <a:spcBef>
                <a:spcPts val="0"/>
              </a:spcBef>
              <a:spcAft>
                <a:spcPts val="0"/>
              </a:spcAft>
              <a:buNone/>
            </a:pPr>
            <a:r>
              <a:t/>
            </a:r>
            <a:endParaRPr b="1" sz="2600">
              <a:solidFill>
                <a:srgbClr val="0F766E"/>
              </a:solidFill>
              <a:latin typeface="Calibri"/>
              <a:ea typeface="Calibri"/>
              <a:cs typeface="Calibri"/>
              <a:sym typeface="Calibri"/>
            </a:endParaRPr>
          </a:p>
        </p:txBody>
      </p:sp>
      <p:sp>
        <p:nvSpPr>
          <p:cNvPr id="242" name="Google Shape;242;p28"/>
          <p:cNvSpPr txBox="1"/>
          <p:nvPr/>
        </p:nvSpPr>
        <p:spPr>
          <a:xfrm>
            <a:off x="12745513" y="2205600"/>
            <a:ext cx="4333800" cy="561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US" sz="2600">
                <a:solidFill>
                  <a:srgbClr val="0F766E"/>
                </a:solidFill>
                <a:latin typeface="Calibri"/>
                <a:ea typeface="Calibri"/>
                <a:cs typeface="Calibri"/>
                <a:sym typeface="Calibri"/>
              </a:rPr>
              <a:t>SECTOR SIGNALS</a:t>
            </a:r>
            <a:endParaRPr b="1" sz="2600">
              <a:solidFill>
                <a:srgbClr val="0F766E"/>
              </a:solidFill>
              <a:latin typeface="Calibri"/>
              <a:ea typeface="Calibri"/>
              <a:cs typeface="Calibri"/>
              <a:sym typeface="Calibri"/>
            </a:endParaRPr>
          </a:p>
          <a:p>
            <a:pPr indent="0" lvl="0" marL="0" rtl="0" algn="l">
              <a:spcBef>
                <a:spcPts val="0"/>
              </a:spcBef>
              <a:spcAft>
                <a:spcPts val="0"/>
              </a:spcAft>
              <a:buNone/>
            </a:pPr>
            <a:r>
              <a:t/>
            </a:r>
            <a:endParaRPr b="1" sz="2600">
              <a:solidFill>
                <a:srgbClr val="0F766E"/>
              </a:solidFill>
              <a:latin typeface="Calibri"/>
              <a:ea typeface="Calibri"/>
              <a:cs typeface="Calibri"/>
              <a:sym typeface="Calibri"/>
            </a:endParaRPr>
          </a:p>
        </p:txBody>
      </p:sp>
      <p:sp>
        <p:nvSpPr>
          <p:cNvPr id="243" name="Google Shape;243;p28"/>
          <p:cNvSpPr txBox="1"/>
          <p:nvPr/>
        </p:nvSpPr>
        <p:spPr>
          <a:xfrm>
            <a:off x="15318000" y="1124225"/>
            <a:ext cx="2271300" cy="4590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lang="en-US" sz="1800">
                <a:solidFill>
                  <a:srgbClr val="374151"/>
                </a:solidFill>
                <a:latin typeface="Calibri"/>
                <a:ea typeface="Calibri"/>
                <a:cs typeface="Calibri"/>
                <a:sym typeface="Calibri"/>
              </a:rPr>
              <a:t>Confidence: MEDIUM</a:t>
            </a:r>
            <a:endParaRPr sz="1800">
              <a:solidFill>
                <a:srgbClr val="374151"/>
              </a:solidFill>
              <a:latin typeface="Calibri"/>
              <a:ea typeface="Calibri"/>
              <a:cs typeface="Calibri"/>
              <a:sym typeface="Calibri"/>
            </a:endParaRPr>
          </a:p>
          <a:p>
            <a:pPr indent="0" lvl="0" marL="0" rtl="0" algn="l">
              <a:spcBef>
                <a:spcPts val="0"/>
              </a:spcBef>
              <a:spcAft>
                <a:spcPts val="0"/>
              </a:spcAft>
              <a:buNone/>
            </a:pPr>
            <a:r>
              <a:t/>
            </a:r>
            <a:endParaRPr sz="3200">
              <a:solidFill>
                <a:schemeClr val="dk1"/>
              </a:solidFill>
              <a:latin typeface="Calibri"/>
              <a:ea typeface="Calibri"/>
              <a:cs typeface="Calibri"/>
              <a:sym typeface="Calibri"/>
            </a:endParaRPr>
          </a:p>
        </p:txBody>
      </p:sp>
      <p:sp>
        <p:nvSpPr>
          <p:cNvPr id="244" name="Google Shape;244;p28"/>
          <p:cNvSpPr txBox="1"/>
          <p:nvPr/>
        </p:nvSpPr>
        <p:spPr>
          <a:xfrm>
            <a:off x="15253950" y="357100"/>
            <a:ext cx="2399400" cy="3747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lang="en-US" sz="1800">
                <a:solidFill>
                  <a:srgbClr val="374151"/>
                </a:solidFill>
                <a:latin typeface="Calibri"/>
                <a:ea typeface="Calibri"/>
                <a:cs typeface="Calibri"/>
                <a:sym typeface="Calibri"/>
              </a:rPr>
              <a:t>ALMANAC BIAS</a:t>
            </a:r>
            <a:endParaRPr sz="1800">
              <a:solidFill>
                <a:srgbClr val="374151"/>
              </a:solidFill>
              <a:latin typeface="Calibri"/>
              <a:ea typeface="Calibri"/>
              <a:cs typeface="Calibri"/>
              <a:sym typeface="Calibri"/>
            </a:endParaRPr>
          </a:p>
          <a:p>
            <a:pPr indent="0" lvl="0" marL="0" rtl="0" algn="l">
              <a:spcBef>
                <a:spcPts val="0"/>
              </a:spcBef>
              <a:spcAft>
                <a:spcPts val="0"/>
              </a:spcAft>
              <a:buNone/>
            </a:pPr>
            <a:r>
              <a:t/>
            </a:r>
            <a:endParaRPr sz="3200">
              <a:solidFill>
                <a:schemeClr val="dk1"/>
              </a:solidFill>
              <a:latin typeface="Calibri"/>
              <a:ea typeface="Calibri"/>
              <a:cs typeface="Calibri"/>
              <a:sym typeface="Calibri"/>
            </a:endParaRPr>
          </a:p>
        </p:txBody>
      </p:sp>
      <p:sp>
        <p:nvSpPr>
          <p:cNvPr id="245" name="Google Shape;245;p28"/>
          <p:cNvSpPr/>
          <p:nvPr/>
        </p:nvSpPr>
        <p:spPr>
          <a:xfrm>
            <a:off x="6865325" y="2963250"/>
            <a:ext cx="5495100" cy="1154100"/>
          </a:xfrm>
          <a:prstGeom prst="rect">
            <a:avLst/>
          </a:prstGeom>
          <a:solidFill>
            <a:schemeClr val="lt2"/>
          </a:solidFill>
          <a:ln cap="flat" cmpd="sng" w="9525">
            <a:solidFill>
              <a:srgbClr val="D4A01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46" name="Google Shape;246;p28"/>
          <p:cNvSpPr/>
          <p:nvPr/>
        </p:nvSpPr>
        <p:spPr>
          <a:xfrm>
            <a:off x="6865325" y="4489450"/>
            <a:ext cx="5495100" cy="1154100"/>
          </a:xfrm>
          <a:prstGeom prst="rect">
            <a:avLst/>
          </a:prstGeom>
          <a:solidFill>
            <a:schemeClr val="lt2"/>
          </a:solidFill>
          <a:ln cap="flat" cmpd="sng" w="9525">
            <a:solidFill>
              <a:srgbClr val="D4A01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47" name="Google Shape;247;p28"/>
          <p:cNvSpPr/>
          <p:nvPr/>
        </p:nvSpPr>
        <p:spPr>
          <a:xfrm>
            <a:off x="6865325" y="6133800"/>
            <a:ext cx="5495100" cy="1154100"/>
          </a:xfrm>
          <a:prstGeom prst="rect">
            <a:avLst/>
          </a:prstGeom>
          <a:solidFill>
            <a:schemeClr val="lt2"/>
          </a:solidFill>
          <a:ln cap="flat" cmpd="sng" w="9525">
            <a:solidFill>
              <a:srgbClr val="D4A01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48" name="Google Shape;248;p28"/>
          <p:cNvSpPr/>
          <p:nvPr/>
        </p:nvSpPr>
        <p:spPr>
          <a:xfrm>
            <a:off x="12745525" y="2963250"/>
            <a:ext cx="5495100" cy="920100"/>
          </a:xfrm>
          <a:prstGeom prst="rect">
            <a:avLst/>
          </a:prstGeom>
          <a:solidFill>
            <a:schemeClr val="lt2"/>
          </a:solidFill>
          <a:ln cap="flat" cmpd="sng" w="9525">
            <a:solidFill>
              <a:srgbClr val="D4A01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49" name="Google Shape;249;p28"/>
          <p:cNvSpPr/>
          <p:nvPr/>
        </p:nvSpPr>
        <p:spPr>
          <a:xfrm>
            <a:off x="12745525" y="4052250"/>
            <a:ext cx="5495100" cy="920100"/>
          </a:xfrm>
          <a:prstGeom prst="rect">
            <a:avLst/>
          </a:prstGeom>
          <a:solidFill>
            <a:schemeClr val="lt2"/>
          </a:solidFill>
          <a:ln cap="flat" cmpd="sng" w="9525">
            <a:solidFill>
              <a:srgbClr val="D4A01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50" name="Google Shape;250;p28"/>
          <p:cNvSpPr/>
          <p:nvPr/>
        </p:nvSpPr>
        <p:spPr>
          <a:xfrm>
            <a:off x="12745525" y="5177475"/>
            <a:ext cx="5495100" cy="920100"/>
          </a:xfrm>
          <a:prstGeom prst="rect">
            <a:avLst/>
          </a:prstGeom>
          <a:solidFill>
            <a:schemeClr val="lt2"/>
          </a:solidFill>
          <a:ln cap="flat" cmpd="sng" w="9525">
            <a:solidFill>
              <a:srgbClr val="D4A01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51" name="Google Shape;251;p28"/>
          <p:cNvSpPr/>
          <p:nvPr/>
        </p:nvSpPr>
        <p:spPr>
          <a:xfrm>
            <a:off x="12745525" y="6291325"/>
            <a:ext cx="5495100" cy="920100"/>
          </a:xfrm>
          <a:prstGeom prst="rect">
            <a:avLst/>
          </a:prstGeom>
          <a:solidFill>
            <a:schemeClr val="lt2"/>
          </a:solidFill>
          <a:ln cap="flat" cmpd="sng" w="9525">
            <a:solidFill>
              <a:srgbClr val="D4A01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52" name="Google Shape;252;p28"/>
          <p:cNvSpPr/>
          <p:nvPr/>
        </p:nvSpPr>
        <p:spPr>
          <a:xfrm>
            <a:off x="12745525" y="7398438"/>
            <a:ext cx="5495100" cy="920100"/>
          </a:xfrm>
          <a:prstGeom prst="rect">
            <a:avLst/>
          </a:prstGeom>
          <a:solidFill>
            <a:srgbClr val="6C0404"/>
          </a:solidFill>
          <a:ln cap="flat" cmpd="sng" w="9525">
            <a:solidFill>
              <a:srgbClr val="DC262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53" name="Google Shape;253;p28"/>
          <p:cNvSpPr txBox="1"/>
          <p:nvPr/>
        </p:nvSpPr>
        <p:spPr>
          <a:xfrm>
            <a:off x="6865325" y="2963250"/>
            <a:ext cx="2399400" cy="309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sz="1800">
                <a:solidFill>
                  <a:srgbClr val="374151"/>
                </a:solidFill>
                <a:latin typeface="Calibri"/>
                <a:ea typeface="Calibri"/>
                <a:cs typeface="Calibri"/>
                <a:sym typeface="Calibri"/>
              </a:rPr>
              <a:t>Holiday Pattern</a:t>
            </a:r>
            <a:endParaRPr sz="1800">
              <a:solidFill>
                <a:srgbClr val="374151"/>
              </a:solidFill>
              <a:latin typeface="Calibri"/>
              <a:ea typeface="Calibri"/>
              <a:cs typeface="Calibri"/>
              <a:sym typeface="Calibri"/>
            </a:endParaRPr>
          </a:p>
          <a:p>
            <a:pPr indent="0" lvl="0" marL="0" rtl="0" algn="l">
              <a:spcBef>
                <a:spcPts val="0"/>
              </a:spcBef>
              <a:spcAft>
                <a:spcPts val="0"/>
              </a:spcAft>
              <a:buNone/>
            </a:pPr>
            <a:r>
              <a:t/>
            </a:r>
            <a:endParaRPr sz="3200">
              <a:solidFill>
                <a:schemeClr val="dk1"/>
              </a:solidFill>
              <a:latin typeface="Calibri"/>
              <a:ea typeface="Calibri"/>
              <a:cs typeface="Calibri"/>
              <a:sym typeface="Calibri"/>
            </a:endParaRPr>
          </a:p>
        </p:txBody>
      </p:sp>
      <p:sp>
        <p:nvSpPr>
          <p:cNvPr id="254" name="Google Shape;254;p28"/>
          <p:cNvSpPr txBox="1"/>
          <p:nvPr/>
        </p:nvSpPr>
        <p:spPr>
          <a:xfrm>
            <a:off x="6865325" y="4548525"/>
            <a:ext cx="2399400" cy="309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sz="1800">
                <a:solidFill>
                  <a:srgbClr val="374151"/>
                </a:solidFill>
                <a:latin typeface="Calibri"/>
                <a:ea typeface="Calibri"/>
                <a:cs typeface="Calibri"/>
                <a:sym typeface="Calibri"/>
              </a:rPr>
              <a:t>Early June Tendency</a:t>
            </a:r>
            <a:endParaRPr sz="1800">
              <a:solidFill>
                <a:srgbClr val="374151"/>
              </a:solidFill>
              <a:latin typeface="Calibri"/>
              <a:ea typeface="Calibri"/>
              <a:cs typeface="Calibri"/>
              <a:sym typeface="Calibri"/>
            </a:endParaRPr>
          </a:p>
          <a:p>
            <a:pPr indent="0" lvl="0" marL="0" rtl="0" algn="l">
              <a:spcBef>
                <a:spcPts val="0"/>
              </a:spcBef>
              <a:spcAft>
                <a:spcPts val="0"/>
              </a:spcAft>
              <a:buNone/>
            </a:pPr>
            <a:r>
              <a:t/>
            </a:r>
            <a:endParaRPr sz="1800">
              <a:solidFill>
                <a:srgbClr val="374151"/>
              </a:solidFill>
              <a:latin typeface="Calibri"/>
              <a:ea typeface="Calibri"/>
              <a:cs typeface="Calibri"/>
              <a:sym typeface="Calibri"/>
            </a:endParaRPr>
          </a:p>
        </p:txBody>
      </p:sp>
      <p:sp>
        <p:nvSpPr>
          <p:cNvPr id="255" name="Google Shape;255;p28"/>
          <p:cNvSpPr txBox="1"/>
          <p:nvPr/>
        </p:nvSpPr>
        <p:spPr>
          <a:xfrm>
            <a:off x="6865325" y="6133800"/>
            <a:ext cx="3282600" cy="309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sz="1800">
                <a:solidFill>
                  <a:srgbClr val="374151"/>
                </a:solidFill>
                <a:latin typeface="Calibri"/>
                <a:ea typeface="Calibri"/>
                <a:cs typeface="Calibri"/>
                <a:sym typeface="Calibri"/>
              </a:rPr>
              <a:t>Key Event — NFP Fri 5 Jun</a:t>
            </a:r>
            <a:endParaRPr sz="1800">
              <a:solidFill>
                <a:srgbClr val="374151"/>
              </a:solidFill>
              <a:latin typeface="Calibri"/>
              <a:ea typeface="Calibri"/>
              <a:cs typeface="Calibri"/>
              <a:sym typeface="Calibri"/>
            </a:endParaRPr>
          </a:p>
          <a:p>
            <a:pPr indent="0" lvl="0" marL="0" rtl="0" algn="l">
              <a:spcBef>
                <a:spcPts val="0"/>
              </a:spcBef>
              <a:spcAft>
                <a:spcPts val="0"/>
              </a:spcAft>
              <a:buNone/>
            </a:pPr>
            <a:r>
              <a:t/>
            </a:r>
            <a:endParaRPr sz="1800">
              <a:solidFill>
                <a:srgbClr val="374151"/>
              </a:solidFill>
              <a:latin typeface="Calibri"/>
              <a:ea typeface="Calibri"/>
              <a:cs typeface="Calibri"/>
              <a:sym typeface="Calibri"/>
            </a:endParaRPr>
          </a:p>
        </p:txBody>
      </p:sp>
      <p:sp>
        <p:nvSpPr>
          <p:cNvPr id="256" name="Google Shape;256;p28"/>
          <p:cNvSpPr txBox="1"/>
          <p:nvPr/>
        </p:nvSpPr>
        <p:spPr>
          <a:xfrm>
            <a:off x="6865325" y="3468600"/>
            <a:ext cx="2546100" cy="630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US" sz="2400">
                <a:solidFill>
                  <a:srgbClr val="0F766E"/>
                </a:solidFill>
                <a:latin typeface="Calibri"/>
                <a:ea typeface="Calibri"/>
                <a:cs typeface="Calibri"/>
                <a:sym typeface="Calibri"/>
              </a:rPr>
              <a:t>None this week</a:t>
            </a:r>
            <a:endParaRPr b="1" sz="2400">
              <a:solidFill>
                <a:srgbClr val="0F766E"/>
              </a:solidFill>
              <a:latin typeface="Calibri"/>
              <a:ea typeface="Calibri"/>
              <a:cs typeface="Calibri"/>
              <a:sym typeface="Calibri"/>
            </a:endParaRPr>
          </a:p>
          <a:p>
            <a:pPr indent="0" lvl="0" marL="0" rtl="0" algn="l">
              <a:spcBef>
                <a:spcPts val="0"/>
              </a:spcBef>
              <a:spcAft>
                <a:spcPts val="0"/>
              </a:spcAft>
              <a:buNone/>
            </a:pPr>
            <a:r>
              <a:t/>
            </a:r>
            <a:endParaRPr sz="3200">
              <a:solidFill>
                <a:schemeClr val="dk1"/>
              </a:solidFill>
              <a:latin typeface="Calibri"/>
              <a:ea typeface="Calibri"/>
              <a:cs typeface="Calibri"/>
              <a:sym typeface="Calibri"/>
            </a:endParaRPr>
          </a:p>
        </p:txBody>
      </p:sp>
      <p:sp>
        <p:nvSpPr>
          <p:cNvPr id="257" name="Google Shape;257;p28"/>
          <p:cNvSpPr txBox="1"/>
          <p:nvPr/>
        </p:nvSpPr>
        <p:spPr>
          <a:xfrm>
            <a:off x="6865325" y="4972350"/>
            <a:ext cx="3725100" cy="630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US" sz="2400">
                <a:solidFill>
                  <a:srgbClr val="0F766E"/>
                </a:solidFill>
                <a:latin typeface="Calibri"/>
                <a:ea typeface="Calibri"/>
                <a:cs typeface="Calibri"/>
                <a:sym typeface="Calibri"/>
              </a:rPr>
              <a:t>Summer doldrums building</a:t>
            </a:r>
            <a:endParaRPr b="1" sz="2400">
              <a:solidFill>
                <a:srgbClr val="0F766E"/>
              </a:solidFill>
              <a:latin typeface="Calibri"/>
              <a:ea typeface="Calibri"/>
              <a:cs typeface="Calibri"/>
              <a:sym typeface="Calibri"/>
            </a:endParaRPr>
          </a:p>
          <a:p>
            <a:pPr indent="0" lvl="0" marL="0" rtl="0" algn="l">
              <a:spcBef>
                <a:spcPts val="0"/>
              </a:spcBef>
              <a:spcAft>
                <a:spcPts val="0"/>
              </a:spcAft>
              <a:buNone/>
            </a:pPr>
            <a:r>
              <a:t/>
            </a:r>
            <a:endParaRPr b="1" sz="2400">
              <a:solidFill>
                <a:srgbClr val="0F766E"/>
              </a:solidFill>
              <a:latin typeface="Calibri"/>
              <a:ea typeface="Calibri"/>
              <a:cs typeface="Calibri"/>
              <a:sym typeface="Calibri"/>
            </a:endParaRPr>
          </a:p>
        </p:txBody>
      </p:sp>
      <p:sp>
        <p:nvSpPr>
          <p:cNvPr id="258" name="Google Shape;258;p28"/>
          <p:cNvSpPr txBox="1"/>
          <p:nvPr/>
        </p:nvSpPr>
        <p:spPr>
          <a:xfrm>
            <a:off x="6865325" y="6639150"/>
            <a:ext cx="3648900" cy="630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US" sz="2400">
                <a:solidFill>
                  <a:srgbClr val="0F766E"/>
                </a:solidFill>
                <a:latin typeface="Calibri"/>
                <a:ea typeface="Calibri"/>
                <a:cs typeface="Calibri"/>
                <a:sym typeface="Calibri"/>
              </a:rPr>
              <a:t>Dominant macro event</a:t>
            </a:r>
            <a:endParaRPr b="1" sz="2400">
              <a:solidFill>
                <a:srgbClr val="0F766E"/>
              </a:solidFill>
              <a:latin typeface="Calibri"/>
              <a:ea typeface="Calibri"/>
              <a:cs typeface="Calibri"/>
              <a:sym typeface="Calibri"/>
            </a:endParaRPr>
          </a:p>
          <a:p>
            <a:pPr indent="0" lvl="0" marL="0" rtl="0" algn="l">
              <a:spcBef>
                <a:spcPts val="0"/>
              </a:spcBef>
              <a:spcAft>
                <a:spcPts val="0"/>
              </a:spcAft>
              <a:buNone/>
            </a:pPr>
            <a:r>
              <a:t/>
            </a:r>
            <a:endParaRPr b="1" sz="2400">
              <a:solidFill>
                <a:srgbClr val="0F766E"/>
              </a:solidFill>
              <a:latin typeface="Calibri"/>
              <a:ea typeface="Calibri"/>
              <a:cs typeface="Calibri"/>
              <a:sym typeface="Calibri"/>
            </a:endParaRPr>
          </a:p>
        </p:txBody>
      </p:sp>
      <p:sp>
        <p:nvSpPr>
          <p:cNvPr id="259" name="Google Shape;259;p28"/>
          <p:cNvSpPr/>
          <p:nvPr/>
        </p:nvSpPr>
        <p:spPr>
          <a:xfrm>
            <a:off x="12913700" y="3132250"/>
            <a:ext cx="1007400" cy="561900"/>
          </a:xfrm>
          <a:prstGeom prst="rect">
            <a:avLst/>
          </a:prstGeom>
          <a:solidFill>
            <a:srgbClr val="D4A01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60" name="Google Shape;260;p28"/>
          <p:cNvSpPr/>
          <p:nvPr/>
        </p:nvSpPr>
        <p:spPr>
          <a:xfrm>
            <a:off x="12913700" y="4249463"/>
            <a:ext cx="1007400" cy="561900"/>
          </a:xfrm>
          <a:prstGeom prst="rect">
            <a:avLst/>
          </a:prstGeom>
          <a:solidFill>
            <a:srgbClr val="D4A01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61" name="Google Shape;261;p28"/>
          <p:cNvSpPr/>
          <p:nvPr/>
        </p:nvSpPr>
        <p:spPr>
          <a:xfrm>
            <a:off x="12913700" y="5350875"/>
            <a:ext cx="1007400" cy="561900"/>
          </a:xfrm>
          <a:prstGeom prst="rect">
            <a:avLst/>
          </a:prstGeom>
          <a:solidFill>
            <a:srgbClr val="D4A01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62" name="Google Shape;262;p28"/>
          <p:cNvSpPr/>
          <p:nvPr/>
        </p:nvSpPr>
        <p:spPr>
          <a:xfrm>
            <a:off x="12944875" y="6467063"/>
            <a:ext cx="1007400" cy="561900"/>
          </a:xfrm>
          <a:prstGeom prst="rect">
            <a:avLst/>
          </a:prstGeom>
          <a:solidFill>
            <a:srgbClr val="D4A01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63" name="Google Shape;263;p28"/>
          <p:cNvSpPr/>
          <p:nvPr/>
        </p:nvSpPr>
        <p:spPr>
          <a:xfrm>
            <a:off x="12944875" y="7577525"/>
            <a:ext cx="1007400" cy="561900"/>
          </a:xfrm>
          <a:prstGeom prst="rect">
            <a:avLst/>
          </a:prstGeom>
          <a:solidFill>
            <a:srgbClr val="D4A01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64" name="Google Shape;264;p28"/>
          <p:cNvSpPr/>
          <p:nvPr/>
        </p:nvSpPr>
        <p:spPr>
          <a:xfrm>
            <a:off x="10713825" y="3134400"/>
            <a:ext cx="1503900" cy="811800"/>
          </a:xfrm>
          <a:prstGeom prst="rect">
            <a:avLst/>
          </a:prstGeom>
          <a:solidFill>
            <a:srgbClr val="44444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65" name="Google Shape;265;p28"/>
          <p:cNvSpPr/>
          <p:nvPr/>
        </p:nvSpPr>
        <p:spPr>
          <a:xfrm>
            <a:off x="10713825" y="4634100"/>
            <a:ext cx="1503900" cy="811800"/>
          </a:xfrm>
          <a:prstGeom prst="rect">
            <a:avLst/>
          </a:prstGeom>
          <a:solidFill>
            <a:srgbClr val="DC2626"/>
          </a:solidFill>
          <a:ln cap="flat" cmpd="sng" w="9525">
            <a:solidFill>
              <a:srgbClr val="DC262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66" name="Google Shape;266;p28"/>
          <p:cNvSpPr/>
          <p:nvPr/>
        </p:nvSpPr>
        <p:spPr>
          <a:xfrm>
            <a:off x="10694775" y="6304950"/>
            <a:ext cx="1503900" cy="811800"/>
          </a:xfrm>
          <a:prstGeom prst="rect">
            <a:avLst/>
          </a:prstGeom>
          <a:solidFill>
            <a:srgbClr val="D4A01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67" name="Google Shape;267;p28"/>
          <p:cNvSpPr txBox="1"/>
          <p:nvPr/>
        </p:nvSpPr>
        <p:spPr>
          <a:xfrm>
            <a:off x="10861275" y="3316050"/>
            <a:ext cx="1209000" cy="459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2400">
                <a:solidFill>
                  <a:schemeClr val="lt1"/>
                </a:solidFill>
                <a:latin typeface="Calibri"/>
                <a:ea typeface="Calibri"/>
                <a:cs typeface="Calibri"/>
                <a:sym typeface="Calibri"/>
              </a:rPr>
              <a:t>Neutral</a:t>
            </a:r>
            <a:endParaRPr sz="2400">
              <a:solidFill>
                <a:schemeClr val="lt1"/>
              </a:solidFill>
              <a:latin typeface="Calibri"/>
              <a:ea typeface="Calibri"/>
              <a:cs typeface="Calibri"/>
              <a:sym typeface="Calibri"/>
            </a:endParaRPr>
          </a:p>
        </p:txBody>
      </p:sp>
      <p:sp>
        <p:nvSpPr>
          <p:cNvPr id="268" name="Google Shape;268;p28"/>
          <p:cNvSpPr txBox="1"/>
          <p:nvPr/>
        </p:nvSpPr>
        <p:spPr>
          <a:xfrm>
            <a:off x="10842225" y="4810500"/>
            <a:ext cx="1209000" cy="459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2400">
                <a:solidFill>
                  <a:schemeClr val="lt1"/>
                </a:solidFill>
                <a:latin typeface="Calibri"/>
                <a:ea typeface="Calibri"/>
                <a:cs typeface="Calibri"/>
                <a:sym typeface="Calibri"/>
              </a:rPr>
              <a:t>Bearish</a:t>
            </a:r>
            <a:endParaRPr sz="2400">
              <a:solidFill>
                <a:schemeClr val="lt1"/>
              </a:solidFill>
              <a:latin typeface="Calibri"/>
              <a:ea typeface="Calibri"/>
              <a:cs typeface="Calibri"/>
              <a:sym typeface="Calibri"/>
            </a:endParaRPr>
          </a:p>
        </p:txBody>
      </p:sp>
      <p:sp>
        <p:nvSpPr>
          <p:cNvPr id="269" name="Google Shape;269;p28"/>
          <p:cNvSpPr txBox="1"/>
          <p:nvPr/>
        </p:nvSpPr>
        <p:spPr>
          <a:xfrm>
            <a:off x="10842225" y="6467725"/>
            <a:ext cx="1209000" cy="459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2400">
                <a:solidFill>
                  <a:schemeClr val="lt1"/>
                </a:solidFill>
                <a:latin typeface="Calibri"/>
                <a:ea typeface="Calibri"/>
                <a:cs typeface="Calibri"/>
                <a:sym typeface="Calibri"/>
              </a:rPr>
              <a:t>Watch</a:t>
            </a:r>
            <a:endParaRPr sz="2400">
              <a:solidFill>
                <a:schemeClr val="lt1"/>
              </a:solidFill>
              <a:latin typeface="Calibri"/>
              <a:ea typeface="Calibri"/>
              <a:cs typeface="Calibri"/>
              <a:sym typeface="Calibri"/>
            </a:endParaRPr>
          </a:p>
        </p:txBody>
      </p:sp>
      <p:sp>
        <p:nvSpPr>
          <p:cNvPr id="270" name="Google Shape;270;p28"/>
          <p:cNvSpPr txBox="1"/>
          <p:nvPr/>
        </p:nvSpPr>
        <p:spPr>
          <a:xfrm>
            <a:off x="13005300" y="3242175"/>
            <a:ext cx="769200" cy="309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2400">
                <a:solidFill>
                  <a:schemeClr val="dk1"/>
                </a:solidFill>
                <a:latin typeface="Calibri"/>
                <a:ea typeface="Calibri"/>
                <a:cs typeface="Calibri"/>
                <a:sym typeface="Calibri"/>
              </a:rPr>
              <a:t>XLK</a:t>
            </a:r>
            <a:endParaRPr sz="2400">
              <a:solidFill>
                <a:schemeClr val="dk1"/>
              </a:solidFill>
              <a:latin typeface="Calibri"/>
              <a:ea typeface="Calibri"/>
              <a:cs typeface="Calibri"/>
              <a:sym typeface="Calibri"/>
            </a:endParaRPr>
          </a:p>
        </p:txBody>
      </p:sp>
      <p:sp>
        <p:nvSpPr>
          <p:cNvPr id="271" name="Google Shape;271;p28"/>
          <p:cNvSpPr txBox="1"/>
          <p:nvPr/>
        </p:nvSpPr>
        <p:spPr>
          <a:xfrm>
            <a:off x="13032800" y="4375613"/>
            <a:ext cx="769200" cy="309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2400">
                <a:solidFill>
                  <a:schemeClr val="dk1"/>
                </a:solidFill>
                <a:latin typeface="Calibri"/>
                <a:ea typeface="Calibri"/>
                <a:cs typeface="Calibri"/>
                <a:sym typeface="Calibri"/>
              </a:rPr>
              <a:t>XLF</a:t>
            </a:r>
            <a:endParaRPr sz="2400">
              <a:solidFill>
                <a:schemeClr val="dk1"/>
              </a:solidFill>
              <a:latin typeface="Calibri"/>
              <a:ea typeface="Calibri"/>
              <a:cs typeface="Calibri"/>
              <a:sym typeface="Calibri"/>
            </a:endParaRPr>
          </a:p>
        </p:txBody>
      </p:sp>
      <p:sp>
        <p:nvSpPr>
          <p:cNvPr id="272" name="Google Shape;272;p28"/>
          <p:cNvSpPr txBox="1"/>
          <p:nvPr/>
        </p:nvSpPr>
        <p:spPr>
          <a:xfrm>
            <a:off x="13021075" y="5477025"/>
            <a:ext cx="769200" cy="309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2400">
                <a:solidFill>
                  <a:schemeClr val="dk1"/>
                </a:solidFill>
                <a:latin typeface="Calibri"/>
                <a:ea typeface="Calibri"/>
                <a:cs typeface="Calibri"/>
                <a:sym typeface="Calibri"/>
              </a:rPr>
              <a:t>XAU</a:t>
            </a:r>
            <a:endParaRPr sz="2400">
              <a:solidFill>
                <a:schemeClr val="dk1"/>
              </a:solidFill>
              <a:latin typeface="Calibri"/>
              <a:ea typeface="Calibri"/>
              <a:cs typeface="Calibri"/>
              <a:sym typeface="Calibri"/>
            </a:endParaRPr>
          </a:p>
        </p:txBody>
      </p:sp>
      <p:sp>
        <p:nvSpPr>
          <p:cNvPr id="273" name="Google Shape;273;p28"/>
          <p:cNvSpPr txBox="1"/>
          <p:nvPr/>
        </p:nvSpPr>
        <p:spPr>
          <a:xfrm>
            <a:off x="13063975" y="6593213"/>
            <a:ext cx="769200" cy="309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2400">
                <a:solidFill>
                  <a:schemeClr val="dk1"/>
                </a:solidFill>
                <a:latin typeface="Calibri"/>
                <a:ea typeface="Calibri"/>
                <a:cs typeface="Calibri"/>
                <a:sym typeface="Calibri"/>
              </a:rPr>
              <a:t>XLB</a:t>
            </a:r>
            <a:endParaRPr sz="2400">
              <a:solidFill>
                <a:schemeClr val="dk1"/>
              </a:solidFill>
              <a:latin typeface="Calibri"/>
              <a:ea typeface="Calibri"/>
              <a:cs typeface="Calibri"/>
              <a:sym typeface="Calibri"/>
            </a:endParaRPr>
          </a:p>
        </p:txBody>
      </p:sp>
      <p:sp>
        <p:nvSpPr>
          <p:cNvPr id="274" name="Google Shape;274;p28"/>
          <p:cNvSpPr txBox="1"/>
          <p:nvPr/>
        </p:nvSpPr>
        <p:spPr>
          <a:xfrm>
            <a:off x="13063975" y="7703675"/>
            <a:ext cx="769200" cy="309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2400">
                <a:solidFill>
                  <a:schemeClr val="dk1"/>
                </a:solidFill>
                <a:latin typeface="Calibri"/>
                <a:ea typeface="Calibri"/>
                <a:cs typeface="Calibri"/>
                <a:sym typeface="Calibri"/>
              </a:rPr>
              <a:t>XLE</a:t>
            </a:r>
            <a:endParaRPr sz="2400">
              <a:solidFill>
                <a:schemeClr val="dk1"/>
              </a:solidFill>
              <a:latin typeface="Calibri"/>
              <a:ea typeface="Calibri"/>
              <a:cs typeface="Calibri"/>
              <a:sym typeface="Calibri"/>
            </a:endParaRPr>
          </a:p>
        </p:txBody>
      </p:sp>
      <p:sp>
        <p:nvSpPr>
          <p:cNvPr id="275" name="Google Shape;275;p28"/>
          <p:cNvSpPr/>
          <p:nvPr/>
        </p:nvSpPr>
        <p:spPr>
          <a:xfrm>
            <a:off x="16526250" y="7577526"/>
            <a:ext cx="1503900" cy="561900"/>
          </a:xfrm>
          <a:prstGeom prst="rect">
            <a:avLst/>
          </a:prstGeom>
          <a:solidFill>
            <a:srgbClr val="DC2626"/>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76" name="Google Shape;276;p28"/>
          <p:cNvSpPr txBox="1"/>
          <p:nvPr/>
        </p:nvSpPr>
        <p:spPr>
          <a:xfrm>
            <a:off x="16673700" y="7703688"/>
            <a:ext cx="1209000" cy="309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2400">
                <a:solidFill>
                  <a:schemeClr val="lt1"/>
                </a:solidFill>
                <a:latin typeface="Calibri"/>
                <a:ea typeface="Calibri"/>
                <a:cs typeface="Calibri"/>
                <a:sym typeface="Calibri"/>
              </a:rPr>
              <a:t>SHORT</a:t>
            </a:r>
            <a:endParaRPr sz="2400">
              <a:solidFill>
                <a:schemeClr val="lt1"/>
              </a:solidFill>
              <a:latin typeface="Calibri"/>
              <a:ea typeface="Calibri"/>
              <a:cs typeface="Calibri"/>
              <a:sym typeface="Calibri"/>
            </a:endParaRPr>
          </a:p>
        </p:txBody>
      </p:sp>
      <p:sp>
        <p:nvSpPr>
          <p:cNvPr id="277" name="Google Shape;277;p28"/>
          <p:cNvSpPr/>
          <p:nvPr/>
        </p:nvSpPr>
        <p:spPr>
          <a:xfrm>
            <a:off x="16526250" y="6467063"/>
            <a:ext cx="1503900" cy="561900"/>
          </a:xfrm>
          <a:prstGeom prst="rect">
            <a:avLst/>
          </a:prstGeom>
          <a:solidFill>
            <a:srgbClr val="DC2626"/>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78" name="Google Shape;278;p28"/>
          <p:cNvSpPr/>
          <p:nvPr/>
        </p:nvSpPr>
        <p:spPr>
          <a:xfrm>
            <a:off x="16526250" y="5350876"/>
            <a:ext cx="1503900" cy="561900"/>
          </a:xfrm>
          <a:prstGeom prst="rect">
            <a:avLst/>
          </a:prstGeom>
          <a:solidFill>
            <a:srgbClr val="DC2626"/>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79" name="Google Shape;279;p28"/>
          <p:cNvSpPr/>
          <p:nvPr/>
        </p:nvSpPr>
        <p:spPr>
          <a:xfrm>
            <a:off x="16526250" y="4249463"/>
            <a:ext cx="1503900" cy="561900"/>
          </a:xfrm>
          <a:prstGeom prst="rect">
            <a:avLst/>
          </a:prstGeom>
          <a:solidFill>
            <a:srgbClr val="DC2626"/>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80" name="Google Shape;280;p28"/>
          <p:cNvSpPr txBox="1"/>
          <p:nvPr/>
        </p:nvSpPr>
        <p:spPr>
          <a:xfrm>
            <a:off x="16673700" y="6593200"/>
            <a:ext cx="1209000" cy="309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2400">
                <a:solidFill>
                  <a:schemeClr val="lt1"/>
                </a:solidFill>
                <a:latin typeface="Calibri"/>
                <a:ea typeface="Calibri"/>
                <a:cs typeface="Calibri"/>
                <a:sym typeface="Calibri"/>
              </a:rPr>
              <a:t>SHORT</a:t>
            </a:r>
            <a:endParaRPr sz="2400">
              <a:solidFill>
                <a:schemeClr val="lt1"/>
              </a:solidFill>
              <a:latin typeface="Calibri"/>
              <a:ea typeface="Calibri"/>
              <a:cs typeface="Calibri"/>
              <a:sym typeface="Calibri"/>
            </a:endParaRPr>
          </a:p>
        </p:txBody>
      </p:sp>
      <p:sp>
        <p:nvSpPr>
          <p:cNvPr id="281" name="Google Shape;281;p28"/>
          <p:cNvSpPr txBox="1"/>
          <p:nvPr/>
        </p:nvSpPr>
        <p:spPr>
          <a:xfrm>
            <a:off x="16673700" y="5477038"/>
            <a:ext cx="1209000" cy="309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2400">
                <a:solidFill>
                  <a:schemeClr val="lt1"/>
                </a:solidFill>
                <a:latin typeface="Calibri"/>
                <a:ea typeface="Calibri"/>
                <a:cs typeface="Calibri"/>
                <a:sym typeface="Calibri"/>
              </a:rPr>
              <a:t>SHORT</a:t>
            </a:r>
            <a:endParaRPr sz="2400">
              <a:solidFill>
                <a:schemeClr val="lt1"/>
              </a:solidFill>
              <a:latin typeface="Calibri"/>
              <a:ea typeface="Calibri"/>
              <a:cs typeface="Calibri"/>
              <a:sym typeface="Calibri"/>
            </a:endParaRPr>
          </a:p>
        </p:txBody>
      </p:sp>
      <p:sp>
        <p:nvSpPr>
          <p:cNvPr id="282" name="Google Shape;282;p28"/>
          <p:cNvSpPr txBox="1"/>
          <p:nvPr/>
        </p:nvSpPr>
        <p:spPr>
          <a:xfrm>
            <a:off x="16673700" y="4375600"/>
            <a:ext cx="1209000" cy="309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2400">
                <a:solidFill>
                  <a:schemeClr val="lt1"/>
                </a:solidFill>
                <a:latin typeface="Calibri"/>
                <a:ea typeface="Calibri"/>
                <a:cs typeface="Calibri"/>
                <a:sym typeface="Calibri"/>
              </a:rPr>
              <a:t>SHORT</a:t>
            </a:r>
            <a:endParaRPr sz="2400">
              <a:solidFill>
                <a:schemeClr val="lt1"/>
              </a:solidFill>
              <a:latin typeface="Calibri"/>
              <a:ea typeface="Calibri"/>
              <a:cs typeface="Calibri"/>
              <a:sym typeface="Calibri"/>
            </a:endParaRPr>
          </a:p>
        </p:txBody>
      </p:sp>
      <p:sp>
        <p:nvSpPr>
          <p:cNvPr id="283" name="Google Shape;283;p28"/>
          <p:cNvSpPr/>
          <p:nvPr/>
        </p:nvSpPr>
        <p:spPr>
          <a:xfrm>
            <a:off x="16526250" y="3128913"/>
            <a:ext cx="1503900" cy="561900"/>
          </a:xfrm>
          <a:prstGeom prst="rect">
            <a:avLst/>
          </a:prstGeom>
          <a:solidFill>
            <a:srgbClr val="1B7D3A"/>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84" name="Google Shape;284;p28"/>
          <p:cNvSpPr txBox="1"/>
          <p:nvPr/>
        </p:nvSpPr>
        <p:spPr>
          <a:xfrm>
            <a:off x="16673700" y="3255075"/>
            <a:ext cx="1209000" cy="309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2400">
                <a:solidFill>
                  <a:schemeClr val="lt1"/>
                </a:solidFill>
                <a:latin typeface="Calibri"/>
                <a:ea typeface="Calibri"/>
                <a:cs typeface="Calibri"/>
                <a:sym typeface="Calibri"/>
              </a:rPr>
              <a:t>LONG</a:t>
            </a:r>
            <a:endParaRPr sz="2400">
              <a:solidFill>
                <a:schemeClr val="lt1"/>
              </a:solidFill>
              <a:latin typeface="Calibri"/>
              <a:ea typeface="Calibri"/>
              <a:cs typeface="Calibri"/>
              <a:sym typeface="Calibri"/>
            </a:endParaRPr>
          </a:p>
        </p:txBody>
      </p:sp>
      <p:sp>
        <p:nvSpPr>
          <p:cNvPr id="285" name="Google Shape;285;p28"/>
          <p:cNvSpPr txBox="1"/>
          <p:nvPr/>
        </p:nvSpPr>
        <p:spPr>
          <a:xfrm>
            <a:off x="13952275" y="2963238"/>
            <a:ext cx="1692300" cy="45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400">
                <a:solidFill>
                  <a:srgbClr val="0F766E"/>
                </a:solidFill>
                <a:latin typeface="Calibri"/>
                <a:ea typeface="Calibri"/>
                <a:cs typeface="Calibri"/>
                <a:sym typeface="Calibri"/>
              </a:rPr>
              <a:t>Technology</a:t>
            </a:r>
            <a:endParaRPr sz="3200">
              <a:solidFill>
                <a:schemeClr val="dk1"/>
              </a:solidFill>
              <a:latin typeface="Calibri"/>
              <a:ea typeface="Calibri"/>
              <a:cs typeface="Calibri"/>
              <a:sym typeface="Calibri"/>
            </a:endParaRPr>
          </a:p>
        </p:txBody>
      </p:sp>
      <p:sp>
        <p:nvSpPr>
          <p:cNvPr id="286" name="Google Shape;286;p28"/>
          <p:cNvSpPr txBox="1"/>
          <p:nvPr/>
        </p:nvSpPr>
        <p:spPr>
          <a:xfrm>
            <a:off x="13952275" y="4070350"/>
            <a:ext cx="1692300" cy="45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400">
                <a:solidFill>
                  <a:srgbClr val="0F766E"/>
                </a:solidFill>
                <a:latin typeface="Calibri"/>
                <a:ea typeface="Calibri"/>
                <a:cs typeface="Calibri"/>
                <a:sym typeface="Calibri"/>
              </a:rPr>
              <a:t>Banking</a:t>
            </a:r>
            <a:endParaRPr sz="3200">
              <a:solidFill>
                <a:schemeClr val="dk1"/>
              </a:solidFill>
              <a:latin typeface="Calibri"/>
              <a:ea typeface="Calibri"/>
              <a:cs typeface="Calibri"/>
              <a:sym typeface="Calibri"/>
            </a:endParaRPr>
          </a:p>
        </p:txBody>
      </p:sp>
      <p:sp>
        <p:nvSpPr>
          <p:cNvPr id="287" name="Google Shape;287;p28"/>
          <p:cNvSpPr txBox="1"/>
          <p:nvPr/>
        </p:nvSpPr>
        <p:spPr>
          <a:xfrm>
            <a:off x="13952275" y="5180838"/>
            <a:ext cx="1692300" cy="45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400">
                <a:solidFill>
                  <a:srgbClr val="0F766E"/>
                </a:solidFill>
                <a:latin typeface="Calibri"/>
                <a:ea typeface="Calibri"/>
                <a:cs typeface="Calibri"/>
                <a:sym typeface="Calibri"/>
              </a:rPr>
              <a:t>Gold/Sliver</a:t>
            </a:r>
            <a:endParaRPr sz="3200">
              <a:solidFill>
                <a:schemeClr val="dk1"/>
              </a:solidFill>
              <a:latin typeface="Calibri"/>
              <a:ea typeface="Calibri"/>
              <a:cs typeface="Calibri"/>
              <a:sym typeface="Calibri"/>
            </a:endParaRPr>
          </a:p>
        </p:txBody>
      </p:sp>
      <p:sp>
        <p:nvSpPr>
          <p:cNvPr id="288" name="Google Shape;288;p28"/>
          <p:cNvSpPr txBox="1"/>
          <p:nvPr/>
        </p:nvSpPr>
        <p:spPr>
          <a:xfrm>
            <a:off x="14066275" y="6289638"/>
            <a:ext cx="1692300" cy="45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400">
                <a:solidFill>
                  <a:srgbClr val="0F766E"/>
                </a:solidFill>
                <a:latin typeface="Calibri"/>
                <a:ea typeface="Calibri"/>
                <a:cs typeface="Calibri"/>
                <a:sym typeface="Calibri"/>
              </a:rPr>
              <a:t>Materials</a:t>
            </a:r>
            <a:endParaRPr sz="3200">
              <a:solidFill>
                <a:schemeClr val="dk1"/>
              </a:solidFill>
              <a:latin typeface="Calibri"/>
              <a:ea typeface="Calibri"/>
              <a:cs typeface="Calibri"/>
              <a:sym typeface="Calibri"/>
            </a:endParaRPr>
          </a:p>
        </p:txBody>
      </p:sp>
      <p:sp>
        <p:nvSpPr>
          <p:cNvPr id="289" name="Google Shape;289;p28"/>
          <p:cNvSpPr txBox="1"/>
          <p:nvPr/>
        </p:nvSpPr>
        <p:spPr>
          <a:xfrm>
            <a:off x="14066275" y="7400113"/>
            <a:ext cx="1692300" cy="45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400">
                <a:solidFill>
                  <a:schemeClr val="lt1"/>
                </a:solidFill>
                <a:latin typeface="Calibri"/>
                <a:ea typeface="Calibri"/>
                <a:cs typeface="Calibri"/>
                <a:sym typeface="Calibri"/>
              </a:rPr>
              <a:t>Energy</a:t>
            </a:r>
            <a:endParaRPr sz="3200">
              <a:solidFill>
                <a:schemeClr val="lt1"/>
              </a:solidFill>
              <a:latin typeface="Calibri"/>
              <a:ea typeface="Calibri"/>
              <a:cs typeface="Calibri"/>
              <a:sym typeface="Calibri"/>
            </a:endParaRPr>
          </a:p>
        </p:txBody>
      </p:sp>
      <p:sp>
        <p:nvSpPr>
          <p:cNvPr id="290" name="Google Shape;290;p28"/>
          <p:cNvSpPr txBox="1"/>
          <p:nvPr/>
        </p:nvSpPr>
        <p:spPr>
          <a:xfrm>
            <a:off x="14023975" y="3438863"/>
            <a:ext cx="2399400" cy="309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sz="1800">
                <a:solidFill>
                  <a:srgbClr val="374151"/>
                </a:solidFill>
                <a:latin typeface="Calibri"/>
                <a:ea typeface="Calibri"/>
                <a:cs typeface="Calibri"/>
                <a:sym typeface="Calibri"/>
              </a:rPr>
              <a:t>Mar–Jul window active</a:t>
            </a:r>
            <a:endParaRPr sz="1800">
              <a:solidFill>
                <a:srgbClr val="374151"/>
              </a:solidFill>
              <a:latin typeface="Calibri"/>
              <a:ea typeface="Calibri"/>
              <a:cs typeface="Calibri"/>
              <a:sym typeface="Calibri"/>
            </a:endParaRPr>
          </a:p>
          <a:p>
            <a:pPr indent="0" lvl="0" marL="0" rtl="0" algn="l">
              <a:spcBef>
                <a:spcPts val="0"/>
              </a:spcBef>
              <a:spcAft>
                <a:spcPts val="0"/>
              </a:spcAft>
              <a:buNone/>
            </a:pPr>
            <a:r>
              <a:t/>
            </a:r>
            <a:endParaRPr sz="1800">
              <a:solidFill>
                <a:srgbClr val="374151"/>
              </a:solidFill>
              <a:latin typeface="Calibri"/>
              <a:ea typeface="Calibri"/>
              <a:cs typeface="Calibri"/>
              <a:sym typeface="Calibri"/>
            </a:endParaRPr>
          </a:p>
        </p:txBody>
      </p:sp>
      <p:sp>
        <p:nvSpPr>
          <p:cNvPr id="291" name="Google Shape;291;p28"/>
          <p:cNvSpPr txBox="1"/>
          <p:nvPr/>
        </p:nvSpPr>
        <p:spPr>
          <a:xfrm>
            <a:off x="14023975" y="4549338"/>
            <a:ext cx="2399400" cy="309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sz="1800">
                <a:solidFill>
                  <a:srgbClr val="374151"/>
                </a:solidFill>
                <a:latin typeface="Calibri"/>
                <a:ea typeface="Calibri"/>
                <a:cs typeface="Calibri"/>
                <a:sym typeface="Calibri"/>
              </a:rPr>
              <a:t>May–Jul headwind</a:t>
            </a:r>
            <a:endParaRPr sz="1800">
              <a:solidFill>
                <a:srgbClr val="374151"/>
              </a:solidFill>
              <a:latin typeface="Calibri"/>
              <a:ea typeface="Calibri"/>
              <a:cs typeface="Calibri"/>
              <a:sym typeface="Calibri"/>
            </a:endParaRPr>
          </a:p>
          <a:p>
            <a:pPr indent="0" lvl="0" marL="0" rtl="0" algn="l">
              <a:spcBef>
                <a:spcPts val="0"/>
              </a:spcBef>
              <a:spcAft>
                <a:spcPts val="0"/>
              </a:spcAft>
              <a:buNone/>
            </a:pPr>
            <a:r>
              <a:t/>
            </a:r>
            <a:endParaRPr sz="1800">
              <a:solidFill>
                <a:srgbClr val="374151"/>
              </a:solidFill>
              <a:latin typeface="Calibri"/>
              <a:ea typeface="Calibri"/>
              <a:cs typeface="Calibri"/>
              <a:sym typeface="Calibri"/>
            </a:endParaRPr>
          </a:p>
        </p:txBody>
      </p:sp>
      <p:sp>
        <p:nvSpPr>
          <p:cNvPr id="292" name="Google Shape;292;p28"/>
          <p:cNvSpPr txBox="1"/>
          <p:nvPr/>
        </p:nvSpPr>
        <p:spPr>
          <a:xfrm>
            <a:off x="14023975" y="5659813"/>
            <a:ext cx="2399400" cy="30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rgbClr val="374151"/>
                </a:solidFill>
                <a:latin typeface="Calibri"/>
                <a:ea typeface="Calibri"/>
                <a:cs typeface="Calibri"/>
                <a:sym typeface="Calibri"/>
              </a:rPr>
              <a:t>Contradicts ATH</a:t>
            </a:r>
            <a:endParaRPr sz="1800">
              <a:solidFill>
                <a:srgbClr val="374151"/>
              </a:solidFill>
              <a:latin typeface="Calibri"/>
              <a:ea typeface="Calibri"/>
              <a:cs typeface="Calibri"/>
              <a:sym typeface="Calibri"/>
            </a:endParaRPr>
          </a:p>
        </p:txBody>
      </p:sp>
      <p:sp>
        <p:nvSpPr>
          <p:cNvPr id="293" name="Google Shape;293;p28"/>
          <p:cNvSpPr txBox="1"/>
          <p:nvPr/>
        </p:nvSpPr>
        <p:spPr>
          <a:xfrm>
            <a:off x="14039563" y="6745688"/>
            <a:ext cx="2399400" cy="30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rgbClr val="374151"/>
                </a:solidFill>
                <a:latin typeface="Calibri"/>
                <a:ea typeface="Calibri"/>
                <a:cs typeface="Calibri"/>
                <a:sym typeface="Calibri"/>
              </a:rPr>
              <a:t>May-Oct Window</a:t>
            </a:r>
            <a:endParaRPr sz="1800">
              <a:solidFill>
                <a:srgbClr val="374151"/>
              </a:solidFill>
              <a:latin typeface="Calibri"/>
              <a:ea typeface="Calibri"/>
              <a:cs typeface="Calibri"/>
              <a:sym typeface="Calibri"/>
            </a:endParaRPr>
          </a:p>
        </p:txBody>
      </p:sp>
      <p:sp>
        <p:nvSpPr>
          <p:cNvPr id="294" name="Google Shape;294;p28"/>
          <p:cNvSpPr txBox="1"/>
          <p:nvPr/>
        </p:nvSpPr>
        <p:spPr>
          <a:xfrm>
            <a:off x="14039550" y="7862888"/>
            <a:ext cx="2399400" cy="30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rgbClr val="DC2626"/>
                </a:solidFill>
                <a:latin typeface="Calibri"/>
                <a:ea typeface="Calibri"/>
                <a:cs typeface="Calibri"/>
                <a:sym typeface="Calibri"/>
              </a:rPr>
              <a:t>New-begins June</a:t>
            </a:r>
            <a:endParaRPr sz="1800">
              <a:solidFill>
                <a:srgbClr val="DC2626"/>
              </a:solidFill>
              <a:latin typeface="Calibri"/>
              <a:ea typeface="Calibri"/>
              <a:cs typeface="Calibri"/>
              <a:sym typeface="Calibri"/>
            </a:endParaRPr>
          </a:p>
        </p:txBody>
      </p:sp>
      <p:sp>
        <p:nvSpPr>
          <p:cNvPr id="295" name="Google Shape;295;p28"/>
          <p:cNvSpPr txBox="1"/>
          <p:nvPr/>
        </p:nvSpPr>
        <p:spPr>
          <a:xfrm>
            <a:off x="6781125" y="7465200"/>
            <a:ext cx="5436600" cy="708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i="1" lang="en-US" sz="2400">
                <a:solidFill>
                  <a:srgbClr val="EF4444"/>
                </a:solidFill>
                <a:latin typeface="Calibri"/>
                <a:ea typeface="Calibri"/>
                <a:cs typeface="Calibri"/>
                <a:sym typeface="Calibri"/>
              </a:rPr>
              <a:t>NET: Slight Bearish Lean — Midterm June Context Dominates</a:t>
            </a:r>
            <a:endParaRPr b="1" i="1" sz="2400">
              <a:solidFill>
                <a:srgbClr val="EF4444"/>
              </a:solidFill>
              <a:latin typeface="Calibri"/>
              <a:ea typeface="Calibri"/>
              <a:cs typeface="Calibri"/>
              <a:sym typeface="Calibri"/>
            </a:endParaRPr>
          </a:p>
          <a:p>
            <a:pPr indent="0" lvl="0" marL="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96" name="Google Shape;296;p28"/>
          <p:cNvSpPr txBox="1"/>
          <p:nvPr/>
        </p:nvSpPr>
        <p:spPr>
          <a:xfrm>
            <a:off x="399575" y="8384700"/>
            <a:ext cx="2271300" cy="459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US" sz="2000">
                <a:solidFill>
                  <a:srgbClr val="EF4444"/>
                </a:solidFill>
                <a:latin typeface="Calibri"/>
                <a:ea typeface="Calibri"/>
                <a:cs typeface="Calibri"/>
                <a:sym typeface="Calibri"/>
              </a:rPr>
              <a:t>INVALIDATION:</a:t>
            </a:r>
            <a:endParaRPr b="1" sz="2000">
              <a:solidFill>
                <a:srgbClr val="EF4444"/>
              </a:solidFill>
              <a:latin typeface="Calibri"/>
              <a:ea typeface="Calibri"/>
              <a:cs typeface="Calibri"/>
              <a:sym typeface="Calibri"/>
            </a:endParaRPr>
          </a:p>
          <a:p>
            <a:pPr indent="0" lvl="0" marL="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297" name="Google Shape;297;p28"/>
          <p:cNvSpPr txBox="1"/>
          <p:nvPr/>
        </p:nvSpPr>
        <p:spPr>
          <a:xfrm>
            <a:off x="143050" y="9085225"/>
            <a:ext cx="2271300" cy="459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US" sz="2000">
                <a:solidFill>
                  <a:srgbClr val="EF4444"/>
                </a:solidFill>
                <a:latin typeface="Calibri"/>
                <a:ea typeface="Calibri"/>
                <a:cs typeface="Calibri"/>
                <a:sym typeface="Calibri"/>
              </a:rPr>
              <a:t>ALMANAC THESIS:</a:t>
            </a:r>
            <a:endParaRPr b="1" sz="2000">
              <a:solidFill>
                <a:srgbClr val="EF4444"/>
              </a:solidFill>
              <a:latin typeface="Calibri"/>
              <a:ea typeface="Calibri"/>
              <a:cs typeface="Calibri"/>
              <a:sym typeface="Calibri"/>
            </a:endParaRPr>
          </a:p>
          <a:p>
            <a:pPr indent="0" lvl="0" marL="0" rtl="0" algn="l">
              <a:spcBef>
                <a:spcPts val="0"/>
              </a:spcBef>
              <a:spcAft>
                <a:spcPts val="0"/>
              </a:spcAft>
              <a:buNone/>
            </a:pPr>
            <a:r>
              <a:t/>
            </a:r>
            <a:endParaRPr b="1" sz="2000">
              <a:solidFill>
                <a:srgbClr val="EF4444"/>
              </a:solidFill>
              <a:latin typeface="Calibri"/>
              <a:ea typeface="Calibri"/>
              <a:cs typeface="Calibri"/>
              <a:sym typeface="Calibri"/>
            </a:endParaRPr>
          </a:p>
        </p:txBody>
      </p:sp>
      <p:sp>
        <p:nvSpPr>
          <p:cNvPr id="298" name="Google Shape;298;p28"/>
          <p:cNvSpPr txBox="1"/>
          <p:nvPr/>
        </p:nvSpPr>
        <p:spPr>
          <a:xfrm>
            <a:off x="2192100" y="8517662"/>
            <a:ext cx="11501700" cy="561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sz="2000">
                <a:solidFill>
                  <a:srgbClr val="374151"/>
                </a:solidFill>
                <a:latin typeface="Calibri"/>
                <a:ea typeface="Calibri"/>
                <a:cs typeface="Calibri"/>
                <a:sym typeface="Calibri"/>
              </a:rPr>
              <a:t>Cool NFP print on 5 June triggering Fed cut expectations → bias shifts Neutral-Bullish</a:t>
            </a:r>
            <a:endParaRPr sz="2000">
              <a:solidFill>
                <a:srgbClr val="374151"/>
              </a:solidFill>
              <a:latin typeface="Calibri"/>
              <a:ea typeface="Calibri"/>
              <a:cs typeface="Calibri"/>
              <a:sym typeface="Calibri"/>
            </a:endParaRPr>
          </a:p>
          <a:p>
            <a:pPr indent="0" lvl="0" marL="0" rtl="0" algn="l">
              <a:spcBef>
                <a:spcPts val="0"/>
              </a:spcBef>
              <a:spcAft>
                <a:spcPts val="0"/>
              </a:spcAft>
              <a:buNone/>
            </a:pPr>
            <a:r>
              <a:t/>
            </a:r>
            <a:endParaRPr sz="2000">
              <a:solidFill>
                <a:srgbClr val="374151"/>
              </a:solidFill>
              <a:latin typeface="Calibri"/>
              <a:ea typeface="Calibri"/>
              <a:cs typeface="Calibri"/>
              <a:sym typeface="Calibri"/>
            </a:endParaRPr>
          </a:p>
        </p:txBody>
      </p:sp>
      <p:sp>
        <p:nvSpPr>
          <p:cNvPr id="299" name="Google Shape;299;p28"/>
          <p:cNvSpPr txBox="1"/>
          <p:nvPr/>
        </p:nvSpPr>
        <p:spPr>
          <a:xfrm>
            <a:off x="2309975" y="9085225"/>
            <a:ext cx="13444500" cy="811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sz="2000">
                <a:solidFill>
                  <a:srgbClr val="374151"/>
                </a:solidFill>
                <a:latin typeface="Calibri"/>
                <a:ea typeface="Calibri"/>
                <a:cs typeface="Calibri"/>
                <a:sym typeface="Calibri"/>
              </a:rPr>
              <a:t>June 2026 is the worst month of the year in a midterm cycle. Four sectors have active seasonal SHORT signals. Technology is the only seasonal bright spot.</a:t>
            </a:r>
            <a:endParaRPr sz="2000">
              <a:solidFill>
                <a:srgbClr val="374151"/>
              </a:solidFill>
              <a:latin typeface="Calibri"/>
              <a:ea typeface="Calibri"/>
              <a:cs typeface="Calibri"/>
              <a:sym typeface="Calibri"/>
            </a:endParaRPr>
          </a:p>
          <a:p>
            <a:pPr indent="0" lvl="0" marL="0" rtl="0" algn="l">
              <a:spcBef>
                <a:spcPts val="0"/>
              </a:spcBef>
              <a:spcAft>
                <a:spcPts val="0"/>
              </a:spcAft>
              <a:buNone/>
            </a:pPr>
            <a:r>
              <a:t/>
            </a:r>
            <a:endParaRPr sz="2000">
              <a:solidFill>
                <a:srgbClr val="37415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E7DE"/>
        </a:solidFill>
      </p:bgPr>
    </p:bg>
    <p:spTree>
      <p:nvGrpSpPr>
        <p:cNvPr id="303" name="Shape 303"/>
        <p:cNvGrpSpPr/>
        <p:nvPr/>
      </p:nvGrpSpPr>
      <p:grpSpPr>
        <a:xfrm>
          <a:off x="0" y="0"/>
          <a:ext cx="0" cy="0"/>
          <a:chOff x="0" y="0"/>
          <a:chExt cx="0" cy="0"/>
        </a:xfrm>
      </p:grpSpPr>
      <p:sp>
        <p:nvSpPr>
          <p:cNvPr id="304" name="Google Shape;304;p29"/>
          <p:cNvSpPr/>
          <p:nvPr/>
        </p:nvSpPr>
        <p:spPr>
          <a:xfrm>
            <a:off x="400189" y="339824"/>
            <a:ext cx="6118496" cy="9603440"/>
          </a:xfrm>
          <a:custGeom>
            <a:rect b="b" l="l" r="r" t="t"/>
            <a:pathLst>
              <a:path extrusionOk="0" h="3249895" w="2070557">
                <a:moveTo>
                  <a:pt x="1946097" y="3249894"/>
                </a:moveTo>
                <a:lnTo>
                  <a:pt x="124460" y="3249894"/>
                </a:lnTo>
                <a:cubicBezTo>
                  <a:pt x="55880" y="3249894"/>
                  <a:pt x="0" y="3194015"/>
                  <a:pt x="0" y="3125434"/>
                </a:cubicBezTo>
                <a:lnTo>
                  <a:pt x="0" y="124460"/>
                </a:lnTo>
                <a:cubicBezTo>
                  <a:pt x="0" y="55880"/>
                  <a:pt x="55880" y="0"/>
                  <a:pt x="124460" y="0"/>
                </a:cubicBezTo>
                <a:lnTo>
                  <a:pt x="1946097" y="0"/>
                </a:lnTo>
                <a:cubicBezTo>
                  <a:pt x="2014677" y="0"/>
                  <a:pt x="2070557" y="55880"/>
                  <a:pt x="2070557" y="124460"/>
                </a:cubicBezTo>
                <a:lnTo>
                  <a:pt x="2070557" y="3125435"/>
                </a:lnTo>
                <a:cubicBezTo>
                  <a:pt x="2070557" y="3194015"/>
                  <a:pt x="2014677" y="3249895"/>
                  <a:pt x="1946097" y="3249895"/>
                </a:cubicBezTo>
                <a:close/>
              </a:path>
            </a:pathLst>
          </a:custGeom>
          <a:solidFill>
            <a:srgbClr val="0B11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29"/>
          <p:cNvSpPr/>
          <p:nvPr/>
        </p:nvSpPr>
        <p:spPr>
          <a:xfrm>
            <a:off x="6883570" y="381155"/>
            <a:ext cx="10988791" cy="9603440"/>
          </a:xfrm>
          <a:custGeom>
            <a:rect b="b" l="l" r="r" t="t"/>
            <a:pathLst>
              <a:path extrusionOk="0" h="3249895" w="3718711">
                <a:moveTo>
                  <a:pt x="3594251" y="3249894"/>
                </a:moveTo>
                <a:lnTo>
                  <a:pt x="124460" y="3249894"/>
                </a:lnTo>
                <a:cubicBezTo>
                  <a:pt x="55880" y="3249894"/>
                  <a:pt x="0" y="3194015"/>
                  <a:pt x="0" y="3125434"/>
                </a:cubicBezTo>
                <a:lnTo>
                  <a:pt x="0" y="124460"/>
                </a:lnTo>
                <a:cubicBezTo>
                  <a:pt x="0" y="55880"/>
                  <a:pt x="55880" y="0"/>
                  <a:pt x="124460" y="0"/>
                </a:cubicBezTo>
                <a:lnTo>
                  <a:pt x="3594251" y="0"/>
                </a:lnTo>
                <a:cubicBezTo>
                  <a:pt x="3662831" y="0"/>
                  <a:pt x="3718711" y="55880"/>
                  <a:pt x="3718711" y="124460"/>
                </a:cubicBezTo>
                <a:lnTo>
                  <a:pt x="3718711" y="3125435"/>
                </a:lnTo>
                <a:cubicBezTo>
                  <a:pt x="3718711" y="3194015"/>
                  <a:pt x="3662831" y="3249895"/>
                  <a:pt x="3594251" y="3249895"/>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06" name="Google Shape;306;p29"/>
          <p:cNvGrpSpPr/>
          <p:nvPr/>
        </p:nvGrpSpPr>
        <p:grpSpPr>
          <a:xfrm>
            <a:off x="824400" y="957875"/>
            <a:ext cx="5249773" cy="3361625"/>
            <a:chOff x="85850" y="-2746441"/>
            <a:chExt cx="6162429" cy="4482167"/>
          </a:xfrm>
        </p:grpSpPr>
        <p:sp>
          <p:nvSpPr>
            <p:cNvPr id="307" name="Google Shape;307;p29"/>
            <p:cNvSpPr txBox="1"/>
            <p:nvPr/>
          </p:nvSpPr>
          <p:spPr>
            <a:xfrm>
              <a:off x="109679" y="-1555575"/>
              <a:ext cx="6138600" cy="3291300"/>
            </a:xfrm>
            <a:prstGeom prst="rect">
              <a:avLst/>
            </a:prstGeom>
            <a:noFill/>
            <a:ln>
              <a:noFill/>
            </a:ln>
          </p:spPr>
          <p:txBody>
            <a:bodyPr anchorCtr="0" anchor="t" bIns="0" lIns="0" spcFirstLastPara="1" rIns="0" wrap="square" tIns="0">
              <a:spAutoFit/>
            </a:bodyPr>
            <a:lstStyle/>
            <a:p>
              <a:pPr indent="-374079" lvl="0" marL="457200" rtl="0" algn="l">
                <a:lnSpc>
                  <a:spcPct val="100000"/>
                </a:lnSpc>
                <a:spcBef>
                  <a:spcPts val="0"/>
                </a:spcBef>
                <a:spcAft>
                  <a:spcPts val="0"/>
                </a:spcAft>
                <a:buClr>
                  <a:srgbClr val="FFFFFF"/>
                </a:buClr>
                <a:buSzPts val="2291"/>
                <a:buChar char="●"/>
              </a:pPr>
              <a:r>
                <a:rPr lang="en-US" sz="2291">
                  <a:solidFill>
                    <a:srgbClr val="FFFFFF"/>
                  </a:solidFill>
                </a:rPr>
                <a:t>Current Fed rate: 3.50%-3.75%</a:t>
              </a:r>
              <a:endParaRPr sz="2291">
                <a:solidFill>
                  <a:srgbClr val="FFFFFF"/>
                </a:solidFill>
              </a:endParaRPr>
            </a:p>
            <a:p>
              <a:pPr indent="0" lvl="0" marL="457200" rtl="0" algn="l">
                <a:lnSpc>
                  <a:spcPct val="100000"/>
                </a:lnSpc>
                <a:spcBef>
                  <a:spcPts val="0"/>
                </a:spcBef>
                <a:spcAft>
                  <a:spcPts val="0"/>
                </a:spcAft>
                <a:buNone/>
              </a:pPr>
              <a:r>
                <a:t/>
              </a:r>
              <a:endParaRPr sz="2291">
                <a:solidFill>
                  <a:srgbClr val="FFFFFF"/>
                </a:solidFill>
              </a:endParaRPr>
            </a:p>
            <a:p>
              <a:pPr indent="-374079" lvl="0" marL="457200" rtl="0" algn="l">
                <a:lnSpc>
                  <a:spcPct val="100000"/>
                </a:lnSpc>
                <a:spcBef>
                  <a:spcPts val="0"/>
                </a:spcBef>
                <a:spcAft>
                  <a:spcPts val="0"/>
                </a:spcAft>
                <a:buClr>
                  <a:srgbClr val="FFFFFF"/>
                </a:buClr>
                <a:buSzPts val="2291"/>
                <a:buChar char="●"/>
              </a:pPr>
              <a:r>
                <a:rPr lang="en-US" sz="2291">
                  <a:solidFill>
                    <a:srgbClr val="FFFFFF"/>
                  </a:solidFill>
                </a:rPr>
                <a:t>Next FOMC date: June 17, 2026. Hold probability: 96.2%. Cut probability: 3.8%. Direction vs last week: shifted dovish</a:t>
              </a:r>
              <a:endParaRPr sz="2291">
                <a:solidFill>
                  <a:srgbClr val="FFFFFF"/>
                </a:solidFill>
              </a:endParaRPr>
            </a:p>
            <a:p>
              <a:pPr indent="0" lvl="0" marL="0" rtl="0" algn="l">
                <a:lnSpc>
                  <a:spcPct val="100000"/>
                </a:lnSpc>
                <a:spcBef>
                  <a:spcPts val="0"/>
                </a:spcBef>
                <a:spcAft>
                  <a:spcPts val="0"/>
                </a:spcAft>
                <a:buNone/>
              </a:pPr>
              <a:r>
                <a:t/>
              </a:r>
              <a:endParaRPr sz="2291">
                <a:solidFill>
                  <a:srgbClr val="FFFFFF"/>
                </a:solidFill>
              </a:endParaRPr>
            </a:p>
          </p:txBody>
        </p:sp>
        <p:sp>
          <p:nvSpPr>
            <p:cNvPr id="308" name="Google Shape;308;p29"/>
            <p:cNvSpPr txBox="1"/>
            <p:nvPr/>
          </p:nvSpPr>
          <p:spPr>
            <a:xfrm>
              <a:off x="85850" y="-2746441"/>
              <a:ext cx="6138600" cy="1085700"/>
            </a:xfrm>
            <a:prstGeom prst="rect">
              <a:avLst/>
            </a:prstGeom>
            <a:noFill/>
            <a:ln>
              <a:noFill/>
            </a:ln>
          </p:spPr>
          <p:txBody>
            <a:bodyPr anchorCtr="0" anchor="t" bIns="0" lIns="0" spcFirstLastPara="1" rIns="0" wrap="square" tIns="0">
              <a:spAutoFit/>
            </a:bodyPr>
            <a:lstStyle/>
            <a:p>
              <a:pPr indent="0" lvl="0" marL="0" rtl="0" algn="ctr">
                <a:lnSpc>
                  <a:spcPct val="130000"/>
                </a:lnSpc>
                <a:spcBef>
                  <a:spcPts val="2200"/>
                </a:spcBef>
                <a:spcAft>
                  <a:spcPts val="2200"/>
                </a:spcAft>
                <a:buSzPts val="1100"/>
                <a:buNone/>
              </a:pPr>
              <a:r>
                <a:rPr b="1" lang="en-US" sz="2300">
                  <a:solidFill>
                    <a:schemeClr val="lt1"/>
                  </a:solidFill>
                </a:rPr>
                <a:t>FED &amp; RATES (CME FedWatch + Treasury.gov)</a:t>
              </a:r>
              <a:endParaRPr sz="1500">
                <a:solidFill>
                  <a:schemeClr val="lt1"/>
                </a:solidFill>
              </a:endParaRPr>
            </a:p>
          </p:txBody>
        </p:sp>
      </p:grpSp>
      <p:sp>
        <p:nvSpPr>
          <p:cNvPr id="309" name="Google Shape;309;p29"/>
          <p:cNvSpPr txBox="1"/>
          <p:nvPr/>
        </p:nvSpPr>
        <p:spPr>
          <a:xfrm>
            <a:off x="8312063" y="9420075"/>
            <a:ext cx="8131800" cy="523200"/>
          </a:xfrm>
          <a:prstGeom prst="rect">
            <a:avLst/>
          </a:prstGeom>
          <a:noFill/>
          <a:ln>
            <a:noFill/>
          </a:ln>
        </p:spPr>
        <p:txBody>
          <a:bodyPr anchorCtr="0" anchor="t" bIns="91425" lIns="91425" spcFirstLastPara="1" rIns="91425" wrap="square" tIns="91425">
            <a:spAutoFit/>
          </a:bodyPr>
          <a:lstStyle/>
          <a:p>
            <a:pPr indent="0" lvl="0" marL="0" rtl="0" algn="ctr">
              <a:lnSpc>
                <a:spcPct val="130000"/>
              </a:lnSpc>
              <a:spcBef>
                <a:spcPts val="2200"/>
              </a:spcBef>
              <a:spcAft>
                <a:spcPts val="2200"/>
              </a:spcAft>
              <a:buNone/>
            </a:pPr>
            <a:r>
              <a:rPr b="1" lang="en-US" sz="2200">
                <a:solidFill>
                  <a:schemeClr val="dk1"/>
                </a:solidFill>
              </a:rPr>
              <a:t>Image: Data Tables and charts from CME Fedwatch tool</a:t>
            </a:r>
            <a:endParaRPr b="1" sz="2200">
              <a:solidFill>
                <a:schemeClr val="dk1"/>
              </a:solidFill>
            </a:endParaRPr>
          </a:p>
        </p:txBody>
      </p:sp>
      <p:pic>
        <p:nvPicPr>
          <p:cNvPr id="310" name="Google Shape;310;p29" title="Screenshot (699).png"/>
          <p:cNvPicPr preferRelativeResize="0"/>
          <p:nvPr/>
        </p:nvPicPr>
        <p:blipFill>
          <a:blip r:embed="rId3">
            <a:alphaModFix/>
          </a:blip>
          <a:stretch>
            <a:fillRect/>
          </a:stretch>
        </p:blipFill>
        <p:spPr>
          <a:xfrm>
            <a:off x="7739849" y="2536975"/>
            <a:ext cx="9276224" cy="6703525"/>
          </a:xfrm>
          <a:prstGeom prst="rect">
            <a:avLst/>
          </a:prstGeom>
          <a:noFill/>
          <a:ln>
            <a:noFill/>
          </a:ln>
        </p:spPr>
      </p:pic>
      <p:pic>
        <p:nvPicPr>
          <p:cNvPr id="311" name="Google Shape;311;p29" title="Screenshot (700).png"/>
          <p:cNvPicPr preferRelativeResize="0"/>
          <p:nvPr/>
        </p:nvPicPr>
        <p:blipFill>
          <a:blip r:embed="rId4">
            <a:alphaModFix/>
          </a:blip>
          <a:stretch>
            <a:fillRect/>
          </a:stretch>
        </p:blipFill>
        <p:spPr>
          <a:xfrm>
            <a:off x="6997200" y="777452"/>
            <a:ext cx="10761525" cy="1759525"/>
          </a:xfrm>
          <a:prstGeom prst="rect">
            <a:avLst/>
          </a:prstGeom>
          <a:solidFill>
            <a:srgbClr val="FFFFFF"/>
          </a:solidFill>
          <a:ln>
            <a:noFill/>
          </a:ln>
        </p:spPr>
      </p:pic>
      <p:sp>
        <p:nvSpPr>
          <p:cNvPr id="312" name="Google Shape;312;p29"/>
          <p:cNvSpPr txBox="1"/>
          <p:nvPr/>
        </p:nvSpPr>
        <p:spPr>
          <a:xfrm>
            <a:off x="17645100" y="0"/>
            <a:ext cx="642900" cy="523200"/>
          </a:xfrm>
          <a:prstGeom prst="rect">
            <a:avLst/>
          </a:prstGeom>
          <a:noFill/>
          <a:ln>
            <a:noFill/>
          </a:ln>
        </p:spPr>
        <p:txBody>
          <a:bodyPr anchorCtr="0" anchor="t" bIns="91425" lIns="91425" spcFirstLastPara="1" rIns="91425" wrap="square" tIns="91425">
            <a:spAutoFit/>
          </a:bodyPr>
          <a:lstStyle/>
          <a:p>
            <a:pPr indent="0" lvl="0" marL="0" rtl="0" algn="ctr">
              <a:lnSpc>
                <a:spcPct val="130000"/>
              </a:lnSpc>
              <a:spcBef>
                <a:spcPts val="2200"/>
              </a:spcBef>
              <a:spcAft>
                <a:spcPts val="2200"/>
              </a:spcAft>
              <a:buNone/>
            </a:pPr>
            <a:r>
              <a:rPr b="1" lang="en-US" sz="2200">
                <a:solidFill>
                  <a:schemeClr val="dk1"/>
                </a:solidFill>
              </a:rPr>
              <a:t>R4</a:t>
            </a:r>
            <a:endParaRPr b="1" sz="22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E7DE"/>
        </a:solidFill>
      </p:bgPr>
    </p:bg>
    <p:spTree>
      <p:nvGrpSpPr>
        <p:cNvPr id="316" name="Shape 316"/>
        <p:cNvGrpSpPr/>
        <p:nvPr/>
      </p:nvGrpSpPr>
      <p:grpSpPr>
        <a:xfrm>
          <a:off x="0" y="0"/>
          <a:ext cx="0" cy="0"/>
          <a:chOff x="0" y="0"/>
          <a:chExt cx="0" cy="0"/>
        </a:xfrm>
      </p:grpSpPr>
      <p:sp>
        <p:nvSpPr>
          <p:cNvPr id="317" name="Google Shape;317;p30"/>
          <p:cNvSpPr/>
          <p:nvPr/>
        </p:nvSpPr>
        <p:spPr>
          <a:xfrm>
            <a:off x="400189" y="339824"/>
            <a:ext cx="6118496" cy="9603440"/>
          </a:xfrm>
          <a:custGeom>
            <a:rect b="b" l="l" r="r" t="t"/>
            <a:pathLst>
              <a:path extrusionOk="0" h="3249895" w="2070557">
                <a:moveTo>
                  <a:pt x="1946097" y="3249894"/>
                </a:moveTo>
                <a:lnTo>
                  <a:pt x="124460" y="3249894"/>
                </a:lnTo>
                <a:cubicBezTo>
                  <a:pt x="55880" y="3249894"/>
                  <a:pt x="0" y="3194015"/>
                  <a:pt x="0" y="3125434"/>
                </a:cubicBezTo>
                <a:lnTo>
                  <a:pt x="0" y="124460"/>
                </a:lnTo>
                <a:cubicBezTo>
                  <a:pt x="0" y="55880"/>
                  <a:pt x="55880" y="0"/>
                  <a:pt x="124460" y="0"/>
                </a:cubicBezTo>
                <a:lnTo>
                  <a:pt x="1946097" y="0"/>
                </a:lnTo>
                <a:cubicBezTo>
                  <a:pt x="2014677" y="0"/>
                  <a:pt x="2070557" y="55880"/>
                  <a:pt x="2070557" y="124460"/>
                </a:cubicBezTo>
                <a:lnTo>
                  <a:pt x="2070557" y="3125435"/>
                </a:lnTo>
                <a:cubicBezTo>
                  <a:pt x="2070557" y="3194015"/>
                  <a:pt x="2014677" y="3249895"/>
                  <a:pt x="1946097" y="3249895"/>
                </a:cubicBezTo>
                <a:close/>
              </a:path>
            </a:pathLst>
          </a:custGeom>
          <a:solidFill>
            <a:srgbClr val="0B11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30"/>
          <p:cNvSpPr/>
          <p:nvPr/>
        </p:nvSpPr>
        <p:spPr>
          <a:xfrm>
            <a:off x="6883570" y="381155"/>
            <a:ext cx="10988791" cy="9603440"/>
          </a:xfrm>
          <a:custGeom>
            <a:rect b="b" l="l" r="r" t="t"/>
            <a:pathLst>
              <a:path extrusionOk="0" h="3249895" w="3718711">
                <a:moveTo>
                  <a:pt x="3594251" y="3249894"/>
                </a:moveTo>
                <a:lnTo>
                  <a:pt x="124460" y="3249894"/>
                </a:lnTo>
                <a:cubicBezTo>
                  <a:pt x="55880" y="3249894"/>
                  <a:pt x="0" y="3194015"/>
                  <a:pt x="0" y="3125434"/>
                </a:cubicBezTo>
                <a:lnTo>
                  <a:pt x="0" y="124460"/>
                </a:lnTo>
                <a:cubicBezTo>
                  <a:pt x="0" y="55880"/>
                  <a:pt x="55880" y="0"/>
                  <a:pt x="124460" y="0"/>
                </a:cubicBezTo>
                <a:lnTo>
                  <a:pt x="3594251" y="0"/>
                </a:lnTo>
                <a:cubicBezTo>
                  <a:pt x="3662831" y="0"/>
                  <a:pt x="3718711" y="55880"/>
                  <a:pt x="3718711" y="124460"/>
                </a:cubicBezTo>
                <a:lnTo>
                  <a:pt x="3718711" y="3125435"/>
                </a:lnTo>
                <a:cubicBezTo>
                  <a:pt x="3718711" y="3194015"/>
                  <a:pt x="3662831" y="3249895"/>
                  <a:pt x="3594251" y="3249895"/>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19" name="Google Shape;319;p30"/>
          <p:cNvGrpSpPr/>
          <p:nvPr/>
        </p:nvGrpSpPr>
        <p:grpSpPr>
          <a:xfrm>
            <a:off x="824400" y="957875"/>
            <a:ext cx="5249773" cy="4772150"/>
            <a:chOff x="85850" y="-2746441"/>
            <a:chExt cx="6162429" cy="6362867"/>
          </a:xfrm>
        </p:grpSpPr>
        <p:sp>
          <p:nvSpPr>
            <p:cNvPr id="320" name="Google Shape;320;p30"/>
            <p:cNvSpPr txBox="1"/>
            <p:nvPr/>
          </p:nvSpPr>
          <p:spPr>
            <a:xfrm>
              <a:off x="109679" y="-1555575"/>
              <a:ext cx="6138600" cy="5172000"/>
            </a:xfrm>
            <a:prstGeom prst="rect">
              <a:avLst/>
            </a:prstGeom>
            <a:noFill/>
            <a:ln>
              <a:noFill/>
            </a:ln>
          </p:spPr>
          <p:txBody>
            <a:bodyPr anchorCtr="0" anchor="t" bIns="0" lIns="0" spcFirstLastPara="1" rIns="0" wrap="square" tIns="0">
              <a:spAutoFit/>
            </a:bodyPr>
            <a:lstStyle/>
            <a:p>
              <a:pPr indent="0" lvl="0" marL="457200" rtl="0" algn="l">
                <a:spcBef>
                  <a:spcPts val="0"/>
                </a:spcBef>
                <a:spcAft>
                  <a:spcPts val="0"/>
                </a:spcAft>
                <a:buNone/>
              </a:pPr>
              <a:r>
                <a:t/>
              </a:r>
              <a:endParaRPr sz="2291">
                <a:solidFill>
                  <a:schemeClr val="lt1"/>
                </a:solidFill>
              </a:endParaRPr>
            </a:p>
            <a:p>
              <a:pPr indent="-374079" lvl="0" marL="457200" rtl="0" algn="l">
                <a:spcBef>
                  <a:spcPts val="0"/>
                </a:spcBef>
                <a:spcAft>
                  <a:spcPts val="0"/>
                </a:spcAft>
                <a:buClr>
                  <a:schemeClr val="lt1"/>
                </a:buClr>
                <a:buSzPts val="2291"/>
                <a:buChar char="●"/>
              </a:pPr>
              <a:r>
                <a:rPr lang="en-US" sz="2291">
                  <a:solidFill>
                    <a:schemeClr val="lt1"/>
                  </a:solidFill>
                </a:rPr>
                <a:t>2-year yield: 4.158% 10-year yield: 4.534% 30-year yield: 4.998%</a:t>
              </a:r>
              <a:endParaRPr sz="2291">
                <a:solidFill>
                  <a:schemeClr val="lt1"/>
                </a:solidFill>
              </a:endParaRPr>
            </a:p>
            <a:p>
              <a:pPr indent="0" lvl="0" marL="457200" rtl="0" algn="l">
                <a:spcBef>
                  <a:spcPts val="0"/>
                </a:spcBef>
                <a:spcAft>
                  <a:spcPts val="0"/>
                </a:spcAft>
                <a:buNone/>
              </a:pPr>
              <a:r>
                <a:t/>
              </a:r>
              <a:endParaRPr sz="2291">
                <a:solidFill>
                  <a:schemeClr val="lt1"/>
                </a:solidFill>
              </a:endParaRPr>
            </a:p>
            <a:p>
              <a:pPr indent="-374079" lvl="0" marL="457200" rtl="0" algn="l">
                <a:spcBef>
                  <a:spcPts val="0"/>
                </a:spcBef>
                <a:spcAft>
                  <a:spcPts val="0"/>
                </a:spcAft>
                <a:buClr>
                  <a:schemeClr val="lt1"/>
                </a:buClr>
                <a:buSzPts val="2291"/>
                <a:buChar char="●"/>
              </a:pPr>
              <a:r>
                <a:rPr lang="en-US" sz="2291">
                  <a:solidFill>
                    <a:schemeClr val="lt1"/>
                  </a:solidFill>
                </a:rPr>
                <a:t>Yield curve: normal. 10-year direction this week: rising</a:t>
              </a:r>
              <a:endParaRPr sz="2291">
                <a:solidFill>
                  <a:schemeClr val="lt1"/>
                </a:solidFill>
              </a:endParaRPr>
            </a:p>
            <a:p>
              <a:pPr indent="0" lvl="0" marL="457200" rtl="0" algn="l">
                <a:spcBef>
                  <a:spcPts val="0"/>
                </a:spcBef>
                <a:spcAft>
                  <a:spcPts val="0"/>
                </a:spcAft>
                <a:buNone/>
              </a:pPr>
              <a:r>
                <a:t/>
              </a:r>
              <a:endParaRPr sz="2291">
                <a:solidFill>
                  <a:schemeClr val="lt1"/>
                </a:solidFill>
              </a:endParaRPr>
            </a:p>
            <a:p>
              <a:pPr indent="-374079" lvl="0" marL="457200" rtl="0" algn="l">
                <a:spcBef>
                  <a:spcPts val="0"/>
                </a:spcBef>
                <a:spcAft>
                  <a:spcPts val="0"/>
                </a:spcAft>
                <a:buClr>
                  <a:schemeClr val="lt1"/>
                </a:buClr>
                <a:buSzPts val="2291"/>
                <a:buChar char="●"/>
              </a:pPr>
              <a:r>
                <a:rPr lang="en-US" sz="2291">
                  <a:solidFill>
                    <a:schemeClr val="lt1"/>
                  </a:solidFill>
                </a:rPr>
                <a:t>Implication: Rising 10-year yields are a headwind for growth stocks, REITs, and other long-duration assets</a:t>
              </a:r>
              <a:endParaRPr sz="2291">
                <a:solidFill>
                  <a:srgbClr val="FFFFFF"/>
                </a:solidFill>
              </a:endParaRPr>
            </a:p>
          </p:txBody>
        </p:sp>
        <p:sp>
          <p:nvSpPr>
            <p:cNvPr id="321" name="Google Shape;321;p30"/>
            <p:cNvSpPr txBox="1"/>
            <p:nvPr/>
          </p:nvSpPr>
          <p:spPr>
            <a:xfrm>
              <a:off x="85850" y="-2746441"/>
              <a:ext cx="6138600" cy="1085700"/>
            </a:xfrm>
            <a:prstGeom prst="rect">
              <a:avLst/>
            </a:prstGeom>
            <a:noFill/>
            <a:ln>
              <a:noFill/>
            </a:ln>
          </p:spPr>
          <p:txBody>
            <a:bodyPr anchorCtr="0" anchor="t" bIns="0" lIns="0" spcFirstLastPara="1" rIns="0" wrap="square" tIns="0">
              <a:spAutoFit/>
            </a:bodyPr>
            <a:lstStyle/>
            <a:p>
              <a:pPr indent="0" lvl="0" marL="0" rtl="0" algn="ctr">
                <a:lnSpc>
                  <a:spcPct val="130000"/>
                </a:lnSpc>
                <a:spcBef>
                  <a:spcPts val="2200"/>
                </a:spcBef>
                <a:spcAft>
                  <a:spcPts val="2200"/>
                </a:spcAft>
                <a:buSzPts val="1100"/>
                <a:buNone/>
              </a:pPr>
              <a:r>
                <a:rPr b="1" lang="en-US" sz="2300">
                  <a:solidFill>
                    <a:schemeClr val="lt1"/>
                  </a:solidFill>
                </a:rPr>
                <a:t>FED &amp; RATES (CME FedWatch + Treasury.gov)</a:t>
              </a:r>
              <a:endParaRPr sz="1500">
                <a:solidFill>
                  <a:schemeClr val="lt1"/>
                </a:solidFill>
              </a:endParaRPr>
            </a:p>
          </p:txBody>
        </p:sp>
      </p:grpSp>
      <p:sp>
        <p:nvSpPr>
          <p:cNvPr id="322" name="Google Shape;322;p30"/>
          <p:cNvSpPr txBox="1"/>
          <p:nvPr/>
        </p:nvSpPr>
        <p:spPr>
          <a:xfrm>
            <a:off x="8611125" y="8704700"/>
            <a:ext cx="8131800" cy="523200"/>
          </a:xfrm>
          <a:prstGeom prst="rect">
            <a:avLst/>
          </a:prstGeom>
          <a:noFill/>
          <a:ln>
            <a:noFill/>
          </a:ln>
        </p:spPr>
        <p:txBody>
          <a:bodyPr anchorCtr="0" anchor="t" bIns="91425" lIns="91425" spcFirstLastPara="1" rIns="91425" wrap="square" tIns="91425">
            <a:spAutoFit/>
          </a:bodyPr>
          <a:lstStyle/>
          <a:p>
            <a:pPr indent="0" lvl="0" marL="0" rtl="0" algn="ctr">
              <a:lnSpc>
                <a:spcPct val="130000"/>
              </a:lnSpc>
              <a:spcBef>
                <a:spcPts val="2200"/>
              </a:spcBef>
              <a:spcAft>
                <a:spcPts val="2200"/>
              </a:spcAft>
              <a:buNone/>
            </a:pPr>
            <a:r>
              <a:rPr b="1" lang="en-US" sz="2200">
                <a:solidFill>
                  <a:schemeClr val="dk1"/>
                </a:solidFill>
              </a:rPr>
              <a:t>Image: Data Tables and charts from CME Fedwatch tool</a:t>
            </a:r>
            <a:endParaRPr b="1" sz="2200">
              <a:solidFill>
                <a:schemeClr val="dk1"/>
              </a:solidFill>
            </a:endParaRPr>
          </a:p>
        </p:txBody>
      </p:sp>
      <p:pic>
        <p:nvPicPr>
          <p:cNvPr id="323" name="Google Shape;323;p30" title="Screenshot (706).png"/>
          <p:cNvPicPr preferRelativeResize="0"/>
          <p:nvPr/>
        </p:nvPicPr>
        <p:blipFill>
          <a:blip r:embed="rId3">
            <a:alphaModFix/>
          </a:blip>
          <a:stretch>
            <a:fillRect/>
          </a:stretch>
        </p:blipFill>
        <p:spPr>
          <a:xfrm>
            <a:off x="7953450" y="1021926"/>
            <a:ext cx="3403250" cy="7392300"/>
          </a:xfrm>
          <a:prstGeom prst="rect">
            <a:avLst/>
          </a:prstGeom>
          <a:noFill/>
          <a:ln>
            <a:noFill/>
          </a:ln>
        </p:spPr>
      </p:pic>
      <p:pic>
        <p:nvPicPr>
          <p:cNvPr id="324" name="Google Shape;324;p30" title="Screenshot (706).png"/>
          <p:cNvPicPr preferRelativeResize="0"/>
          <p:nvPr/>
        </p:nvPicPr>
        <p:blipFill rotWithShape="1">
          <a:blip r:embed="rId3">
            <a:alphaModFix/>
          </a:blip>
          <a:srcRect b="0" l="0" r="0" t="89692"/>
          <a:stretch/>
        </p:blipFill>
        <p:spPr>
          <a:xfrm>
            <a:off x="12791475" y="7329202"/>
            <a:ext cx="4099975" cy="917998"/>
          </a:xfrm>
          <a:prstGeom prst="rect">
            <a:avLst/>
          </a:prstGeom>
          <a:noFill/>
          <a:ln>
            <a:noFill/>
          </a:ln>
        </p:spPr>
      </p:pic>
      <p:pic>
        <p:nvPicPr>
          <p:cNvPr id="325" name="Google Shape;325;p30" title="Screenshot (706).png"/>
          <p:cNvPicPr preferRelativeResize="0"/>
          <p:nvPr/>
        </p:nvPicPr>
        <p:blipFill rotWithShape="1">
          <a:blip r:embed="rId3">
            <a:alphaModFix/>
          </a:blip>
          <a:srcRect b="66839" l="0" r="0" t="22853"/>
          <a:stretch/>
        </p:blipFill>
        <p:spPr>
          <a:xfrm>
            <a:off x="12936600" y="2714875"/>
            <a:ext cx="4099975" cy="917998"/>
          </a:xfrm>
          <a:prstGeom prst="rect">
            <a:avLst/>
          </a:prstGeom>
          <a:noFill/>
          <a:ln>
            <a:noFill/>
          </a:ln>
        </p:spPr>
      </p:pic>
      <p:pic>
        <p:nvPicPr>
          <p:cNvPr id="326" name="Google Shape;326;p30" title="Screenshot (706).png"/>
          <p:cNvPicPr preferRelativeResize="0"/>
          <p:nvPr/>
        </p:nvPicPr>
        <p:blipFill rotWithShape="1">
          <a:blip r:embed="rId3">
            <a:alphaModFix/>
          </a:blip>
          <a:srcRect b="30498" l="0" r="0" t="62425"/>
          <a:stretch/>
        </p:blipFill>
        <p:spPr>
          <a:xfrm>
            <a:off x="12791475" y="5637031"/>
            <a:ext cx="4099975" cy="630310"/>
          </a:xfrm>
          <a:prstGeom prst="rect">
            <a:avLst/>
          </a:prstGeom>
          <a:noFill/>
          <a:ln>
            <a:noFill/>
          </a:ln>
        </p:spPr>
      </p:pic>
      <p:cxnSp>
        <p:nvCxnSpPr>
          <p:cNvPr id="327" name="Google Shape;327;p30"/>
          <p:cNvCxnSpPr>
            <a:endCxn id="324" idx="1"/>
          </p:cNvCxnSpPr>
          <p:nvPr/>
        </p:nvCxnSpPr>
        <p:spPr>
          <a:xfrm flipH="1" rot="10800000">
            <a:off x="11366175" y="7788201"/>
            <a:ext cx="1425300" cy="44100"/>
          </a:xfrm>
          <a:prstGeom prst="straightConnector1">
            <a:avLst/>
          </a:prstGeom>
          <a:noFill/>
          <a:ln cap="flat" cmpd="sng" w="76200">
            <a:solidFill>
              <a:schemeClr val="dk2"/>
            </a:solidFill>
            <a:prstDash val="solid"/>
            <a:round/>
            <a:headEnd len="med" w="med" type="none"/>
            <a:tailEnd len="med" w="med" type="triangle"/>
          </a:ln>
        </p:spPr>
      </p:cxnSp>
      <p:cxnSp>
        <p:nvCxnSpPr>
          <p:cNvPr id="328" name="Google Shape;328;p30"/>
          <p:cNvCxnSpPr>
            <a:endCxn id="326" idx="1"/>
          </p:cNvCxnSpPr>
          <p:nvPr/>
        </p:nvCxnSpPr>
        <p:spPr>
          <a:xfrm>
            <a:off x="11237475" y="5928487"/>
            <a:ext cx="1554000" cy="23700"/>
          </a:xfrm>
          <a:prstGeom prst="straightConnector1">
            <a:avLst/>
          </a:prstGeom>
          <a:noFill/>
          <a:ln cap="flat" cmpd="sng" w="76200">
            <a:solidFill>
              <a:schemeClr val="dk2"/>
            </a:solidFill>
            <a:prstDash val="solid"/>
            <a:round/>
            <a:headEnd len="med" w="med" type="none"/>
            <a:tailEnd len="med" w="med" type="triangle"/>
          </a:ln>
        </p:spPr>
      </p:cxnSp>
      <p:cxnSp>
        <p:nvCxnSpPr>
          <p:cNvPr id="329" name="Google Shape;329;p30"/>
          <p:cNvCxnSpPr/>
          <p:nvPr/>
        </p:nvCxnSpPr>
        <p:spPr>
          <a:xfrm>
            <a:off x="11314800" y="3148075"/>
            <a:ext cx="1621800" cy="51600"/>
          </a:xfrm>
          <a:prstGeom prst="straightConnector1">
            <a:avLst/>
          </a:prstGeom>
          <a:noFill/>
          <a:ln cap="flat" cmpd="sng" w="76200">
            <a:solidFill>
              <a:schemeClr val="dk2"/>
            </a:solidFill>
            <a:prstDash val="solid"/>
            <a:round/>
            <a:headEnd len="med" w="med" type="none"/>
            <a:tailEnd len="med" w="med" type="triangle"/>
          </a:ln>
        </p:spPr>
      </p:cxnSp>
      <p:sp>
        <p:nvSpPr>
          <p:cNvPr id="330" name="Google Shape;330;p30"/>
          <p:cNvSpPr txBox="1"/>
          <p:nvPr/>
        </p:nvSpPr>
        <p:spPr>
          <a:xfrm>
            <a:off x="17645100" y="0"/>
            <a:ext cx="642900" cy="523200"/>
          </a:xfrm>
          <a:prstGeom prst="rect">
            <a:avLst/>
          </a:prstGeom>
          <a:noFill/>
          <a:ln>
            <a:noFill/>
          </a:ln>
        </p:spPr>
        <p:txBody>
          <a:bodyPr anchorCtr="0" anchor="t" bIns="91425" lIns="91425" spcFirstLastPara="1" rIns="91425" wrap="square" tIns="91425">
            <a:spAutoFit/>
          </a:bodyPr>
          <a:lstStyle/>
          <a:p>
            <a:pPr indent="0" lvl="0" marL="0" rtl="0" algn="ctr">
              <a:lnSpc>
                <a:spcPct val="130000"/>
              </a:lnSpc>
              <a:spcBef>
                <a:spcPts val="2200"/>
              </a:spcBef>
              <a:spcAft>
                <a:spcPts val="2200"/>
              </a:spcAft>
              <a:buNone/>
            </a:pPr>
            <a:r>
              <a:rPr b="1" lang="en-US" sz="2200">
                <a:solidFill>
                  <a:schemeClr val="dk1"/>
                </a:solidFill>
              </a:rPr>
              <a:t>R4</a:t>
            </a:r>
            <a:endParaRPr b="1" sz="22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E7DE"/>
        </a:solidFill>
      </p:bgPr>
    </p:bg>
    <p:spTree>
      <p:nvGrpSpPr>
        <p:cNvPr id="334" name="Shape 334"/>
        <p:cNvGrpSpPr/>
        <p:nvPr/>
      </p:nvGrpSpPr>
      <p:grpSpPr>
        <a:xfrm>
          <a:off x="0" y="0"/>
          <a:ext cx="0" cy="0"/>
          <a:chOff x="0" y="0"/>
          <a:chExt cx="0" cy="0"/>
        </a:xfrm>
      </p:grpSpPr>
      <p:sp>
        <p:nvSpPr>
          <p:cNvPr id="335" name="Google Shape;335;p31"/>
          <p:cNvSpPr/>
          <p:nvPr/>
        </p:nvSpPr>
        <p:spPr>
          <a:xfrm>
            <a:off x="400189" y="339824"/>
            <a:ext cx="6118496" cy="9603440"/>
          </a:xfrm>
          <a:custGeom>
            <a:rect b="b" l="l" r="r" t="t"/>
            <a:pathLst>
              <a:path extrusionOk="0" h="3249895" w="2070557">
                <a:moveTo>
                  <a:pt x="1946097" y="3249894"/>
                </a:moveTo>
                <a:lnTo>
                  <a:pt x="124460" y="3249894"/>
                </a:lnTo>
                <a:cubicBezTo>
                  <a:pt x="55880" y="3249894"/>
                  <a:pt x="0" y="3194015"/>
                  <a:pt x="0" y="3125434"/>
                </a:cubicBezTo>
                <a:lnTo>
                  <a:pt x="0" y="124460"/>
                </a:lnTo>
                <a:cubicBezTo>
                  <a:pt x="0" y="55880"/>
                  <a:pt x="55880" y="0"/>
                  <a:pt x="124460" y="0"/>
                </a:cubicBezTo>
                <a:lnTo>
                  <a:pt x="1946097" y="0"/>
                </a:lnTo>
                <a:cubicBezTo>
                  <a:pt x="2014677" y="0"/>
                  <a:pt x="2070557" y="55880"/>
                  <a:pt x="2070557" y="124460"/>
                </a:cubicBezTo>
                <a:lnTo>
                  <a:pt x="2070557" y="3125435"/>
                </a:lnTo>
                <a:cubicBezTo>
                  <a:pt x="2070557" y="3194015"/>
                  <a:pt x="2014677" y="3249895"/>
                  <a:pt x="1946097" y="3249895"/>
                </a:cubicBezTo>
                <a:close/>
              </a:path>
            </a:pathLst>
          </a:custGeom>
          <a:solidFill>
            <a:srgbClr val="0B11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31"/>
          <p:cNvSpPr/>
          <p:nvPr/>
        </p:nvSpPr>
        <p:spPr>
          <a:xfrm>
            <a:off x="6883570" y="381155"/>
            <a:ext cx="10988791" cy="9603440"/>
          </a:xfrm>
          <a:custGeom>
            <a:rect b="b" l="l" r="r" t="t"/>
            <a:pathLst>
              <a:path extrusionOk="0" h="3249895" w="3718711">
                <a:moveTo>
                  <a:pt x="3594251" y="3249894"/>
                </a:moveTo>
                <a:lnTo>
                  <a:pt x="124460" y="3249894"/>
                </a:lnTo>
                <a:cubicBezTo>
                  <a:pt x="55880" y="3249894"/>
                  <a:pt x="0" y="3194015"/>
                  <a:pt x="0" y="3125434"/>
                </a:cubicBezTo>
                <a:lnTo>
                  <a:pt x="0" y="124460"/>
                </a:lnTo>
                <a:cubicBezTo>
                  <a:pt x="0" y="55880"/>
                  <a:pt x="55880" y="0"/>
                  <a:pt x="124460" y="0"/>
                </a:cubicBezTo>
                <a:lnTo>
                  <a:pt x="3594251" y="0"/>
                </a:lnTo>
                <a:cubicBezTo>
                  <a:pt x="3662831" y="0"/>
                  <a:pt x="3718711" y="55880"/>
                  <a:pt x="3718711" y="124460"/>
                </a:cubicBezTo>
                <a:lnTo>
                  <a:pt x="3718711" y="3125435"/>
                </a:lnTo>
                <a:cubicBezTo>
                  <a:pt x="3718711" y="3194015"/>
                  <a:pt x="3662831" y="3249895"/>
                  <a:pt x="3594251" y="3249895"/>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7" name="Google Shape;337;p31"/>
          <p:cNvGrpSpPr/>
          <p:nvPr/>
        </p:nvGrpSpPr>
        <p:grpSpPr>
          <a:xfrm>
            <a:off x="824400" y="957875"/>
            <a:ext cx="5249773" cy="7759025"/>
            <a:chOff x="85850" y="-2746441"/>
            <a:chExt cx="6162429" cy="10345367"/>
          </a:xfrm>
        </p:grpSpPr>
        <p:sp>
          <p:nvSpPr>
            <p:cNvPr id="338" name="Google Shape;338;p31"/>
            <p:cNvSpPr txBox="1"/>
            <p:nvPr/>
          </p:nvSpPr>
          <p:spPr>
            <a:xfrm>
              <a:off x="109679" y="-1555575"/>
              <a:ext cx="6138600" cy="91545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1200"/>
                </a:spcBef>
                <a:spcAft>
                  <a:spcPts val="0"/>
                </a:spcAft>
                <a:buNone/>
              </a:pPr>
              <a:r>
                <a:rPr lang="en-US" sz="1891">
                  <a:solidFill>
                    <a:schemeClr val="lt1"/>
                  </a:solidFill>
                </a:rPr>
                <a:t>WTI Crude Oil</a:t>
              </a:r>
              <a:endParaRPr sz="1891">
                <a:solidFill>
                  <a:schemeClr val="lt1"/>
                </a:solidFill>
              </a:endParaRPr>
            </a:p>
            <a:p>
              <a:pPr indent="-348679" lvl="0" marL="457200" rtl="0" algn="l">
                <a:lnSpc>
                  <a:spcPct val="100000"/>
                </a:lnSpc>
                <a:spcBef>
                  <a:spcPts val="1200"/>
                </a:spcBef>
                <a:spcAft>
                  <a:spcPts val="0"/>
                </a:spcAft>
                <a:buClr>
                  <a:schemeClr val="lt1"/>
                </a:buClr>
                <a:buSzPts val="1891"/>
                <a:buChar char="●"/>
              </a:pPr>
              <a:r>
                <a:rPr lang="en-US" sz="1891">
                  <a:solidFill>
                    <a:schemeClr val="lt1"/>
                  </a:solidFill>
                </a:rPr>
                <a:t>Last closed price: 90.25</a:t>
              </a:r>
              <a:endParaRPr sz="1891">
                <a:solidFill>
                  <a:schemeClr val="lt1"/>
                </a:solidFill>
              </a:endParaRPr>
            </a:p>
            <a:p>
              <a:pPr indent="-348679" lvl="0" marL="457200" rtl="0" algn="l">
                <a:lnSpc>
                  <a:spcPct val="100000"/>
                </a:lnSpc>
                <a:spcBef>
                  <a:spcPts val="0"/>
                </a:spcBef>
                <a:spcAft>
                  <a:spcPts val="0"/>
                </a:spcAft>
                <a:buClr>
                  <a:schemeClr val="lt1"/>
                </a:buClr>
                <a:buSzPts val="1891"/>
                <a:buChar char="●"/>
              </a:pPr>
              <a:r>
                <a:rPr lang="en-US" sz="1891">
                  <a:solidFill>
                    <a:schemeClr val="lt1"/>
                  </a:solidFill>
                </a:rPr>
                <a:t>weekly change +3.64%</a:t>
              </a:r>
              <a:endParaRPr sz="1891">
                <a:solidFill>
                  <a:schemeClr val="lt1"/>
                </a:solidFill>
              </a:endParaRPr>
            </a:p>
            <a:p>
              <a:pPr indent="-348679" lvl="0" marL="457200" rtl="0" algn="l">
                <a:lnSpc>
                  <a:spcPct val="100000"/>
                </a:lnSpc>
                <a:spcBef>
                  <a:spcPts val="0"/>
                </a:spcBef>
                <a:spcAft>
                  <a:spcPts val="0"/>
                </a:spcAft>
                <a:buClr>
                  <a:schemeClr val="lt1"/>
                </a:buClr>
                <a:buSzPts val="1891"/>
                <a:buChar char="●"/>
              </a:pPr>
              <a:r>
                <a:rPr lang="en-US" sz="1891">
                  <a:solidFill>
                    <a:schemeClr val="lt1"/>
                  </a:solidFill>
                </a:rPr>
                <a:t>direction: rising</a:t>
              </a:r>
              <a:endParaRPr sz="1891">
                <a:solidFill>
                  <a:schemeClr val="lt1"/>
                </a:solidFill>
              </a:endParaRPr>
            </a:p>
            <a:p>
              <a:pPr indent="0" lvl="0" marL="0" rtl="0" algn="l">
                <a:lnSpc>
                  <a:spcPct val="100000"/>
                </a:lnSpc>
                <a:spcBef>
                  <a:spcPts val="1200"/>
                </a:spcBef>
                <a:spcAft>
                  <a:spcPts val="0"/>
                </a:spcAft>
                <a:buNone/>
              </a:pPr>
              <a:r>
                <a:t/>
              </a:r>
              <a:endParaRPr sz="1891">
                <a:solidFill>
                  <a:schemeClr val="lt1"/>
                </a:solidFill>
              </a:endParaRPr>
            </a:p>
            <a:p>
              <a:pPr indent="0" lvl="0" marL="0" rtl="0" algn="l">
                <a:lnSpc>
                  <a:spcPct val="100000"/>
                </a:lnSpc>
                <a:spcBef>
                  <a:spcPts val="1200"/>
                </a:spcBef>
                <a:spcAft>
                  <a:spcPts val="0"/>
                </a:spcAft>
                <a:buNone/>
              </a:pPr>
              <a:r>
                <a:rPr lang="en-US" sz="1891">
                  <a:solidFill>
                    <a:schemeClr val="lt1"/>
                  </a:solidFill>
                </a:rPr>
                <a:t>Gold</a:t>
              </a:r>
              <a:endParaRPr sz="1891">
                <a:solidFill>
                  <a:schemeClr val="lt1"/>
                </a:solidFill>
              </a:endParaRPr>
            </a:p>
            <a:p>
              <a:pPr indent="-348679" lvl="0" marL="457200" rtl="0" algn="l">
                <a:lnSpc>
                  <a:spcPct val="100000"/>
                </a:lnSpc>
                <a:spcBef>
                  <a:spcPts val="1200"/>
                </a:spcBef>
                <a:spcAft>
                  <a:spcPts val="0"/>
                </a:spcAft>
                <a:buClr>
                  <a:schemeClr val="lt1"/>
                </a:buClr>
                <a:buSzPts val="1891"/>
                <a:buChar char="●"/>
              </a:pPr>
              <a:r>
                <a:rPr lang="en-US" sz="1891">
                  <a:solidFill>
                    <a:schemeClr val="lt1"/>
                  </a:solidFill>
                </a:rPr>
                <a:t>Last closed price: 4353.9</a:t>
              </a:r>
              <a:endParaRPr sz="1891">
                <a:solidFill>
                  <a:schemeClr val="lt1"/>
                </a:solidFill>
              </a:endParaRPr>
            </a:p>
            <a:p>
              <a:pPr indent="-348679" lvl="0" marL="457200" rtl="0" algn="l">
                <a:lnSpc>
                  <a:spcPct val="100000"/>
                </a:lnSpc>
                <a:spcBef>
                  <a:spcPts val="0"/>
                </a:spcBef>
                <a:spcAft>
                  <a:spcPts val="0"/>
                </a:spcAft>
                <a:buClr>
                  <a:schemeClr val="lt1"/>
                </a:buClr>
                <a:buSzPts val="1891"/>
                <a:buChar char="●"/>
              </a:pPr>
              <a:r>
                <a:rPr lang="en-US" sz="1891">
                  <a:solidFill>
                    <a:schemeClr val="lt1"/>
                  </a:solidFill>
                </a:rPr>
                <a:t>weekly change -4.96%</a:t>
              </a:r>
              <a:endParaRPr sz="1891">
                <a:solidFill>
                  <a:schemeClr val="lt1"/>
                </a:solidFill>
              </a:endParaRPr>
            </a:p>
            <a:p>
              <a:pPr indent="-348679" lvl="0" marL="457200" rtl="0" algn="l">
                <a:lnSpc>
                  <a:spcPct val="100000"/>
                </a:lnSpc>
                <a:spcBef>
                  <a:spcPts val="0"/>
                </a:spcBef>
                <a:spcAft>
                  <a:spcPts val="0"/>
                </a:spcAft>
                <a:buClr>
                  <a:schemeClr val="lt1"/>
                </a:buClr>
                <a:buSzPts val="1891"/>
                <a:buChar char="●"/>
              </a:pPr>
              <a:r>
                <a:rPr lang="en-US" sz="1891">
                  <a:solidFill>
                    <a:schemeClr val="lt1"/>
                  </a:solidFill>
                </a:rPr>
                <a:t>direction: falling</a:t>
              </a:r>
              <a:endParaRPr sz="1891">
                <a:solidFill>
                  <a:schemeClr val="lt1"/>
                </a:solidFill>
              </a:endParaRPr>
            </a:p>
            <a:p>
              <a:pPr indent="0" lvl="0" marL="0" rtl="0" algn="l">
                <a:lnSpc>
                  <a:spcPct val="100000"/>
                </a:lnSpc>
                <a:spcBef>
                  <a:spcPts val="1200"/>
                </a:spcBef>
                <a:spcAft>
                  <a:spcPts val="0"/>
                </a:spcAft>
                <a:buNone/>
              </a:pPr>
              <a:r>
                <a:t/>
              </a:r>
              <a:endParaRPr sz="1891">
                <a:solidFill>
                  <a:schemeClr val="lt1"/>
                </a:solidFill>
              </a:endParaRPr>
            </a:p>
            <a:p>
              <a:pPr indent="0" lvl="0" marL="0" rtl="0" algn="l">
                <a:lnSpc>
                  <a:spcPct val="100000"/>
                </a:lnSpc>
                <a:spcBef>
                  <a:spcPts val="1200"/>
                </a:spcBef>
                <a:spcAft>
                  <a:spcPts val="0"/>
                </a:spcAft>
                <a:buNone/>
              </a:pPr>
              <a:r>
                <a:rPr lang="en-US" sz="1891">
                  <a:solidFill>
                    <a:schemeClr val="lt1"/>
                  </a:solidFill>
                </a:rPr>
                <a:t>DXY (Dollar)</a:t>
              </a:r>
              <a:endParaRPr sz="1891">
                <a:solidFill>
                  <a:schemeClr val="lt1"/>
                </a:solidFill>
              </a:endParaRPr>
            </a:p>
            <a:p>
              <a:pPr indent="-348679" lvl="0" marL="457200" rtl="0" algn="l">
                <a:lnSpc>
                  <a:spcPct val="100000"/>
                </a:lnSpc>
                <a:spcBef>
                  <a:spcPts val="1200"/>
                </a:spcBef>
                <a:spcAft>
                  <a:spcPts val="0"/>
                </a:spcAft>
                <a:buClr>
                  <a:schemeClr val="lt1"/>
                </a:buClr>
                <a:buSzPts val="1891"/>
                <a:buChar char="●"/>
              </a:pPr>
              <a:r>
                <a:rPr lang="en-US" sz="1891">
                  <a:solidFill>
                    <a:schemeClr val="lt1"/>
                  </a:solidFill>
                </a:rPr>
                <a:t>weekly change +1.21%</a:t>
              </a:r>
              <a:endParaRPr sz="1891">
                <a:solidFill>
                  <a:schemeClr val="lt1"/>
                </a:solidFill>
              </a:endParaRPr>
            </a:p>
            <a:p>
              <a:pPr indent="-348679" lvl="0" marL="457200" rtl="0" algn="l">
                <a:lnSpc>
                  <a:spcPct val="100000"/>
                </a:lnSpc>
                <a:spcBef>
                  <a:spcPts val="0"/>
                </a:spcBef>
                <a:spcAft>
                  <a:spcPts val="0"/>
                </a:spcAft>
                <a:buClr>
                  <a:schemeClr val="lt1"/>
                </a:buClr>
                <a:buSzPts val="1891"/>
                <a:buChar char="●"/>
              </a:pPr>
              <a:r>
                <a:rPr lang="en-US" sz="1891">
                  <a:solidFill>
                    <a:schemeClr val="lt1"/>
                  </a:solidFill>
                </a:rPr>
                <a:t>direction: strengthening</a:t>
              </a:r>
              <a:endParaRPr sz="1891">
                <a:solidFill>
                  <a:schemeClr val="lt1"/>
                </a:solidFill>
              </a:endParaRPr>
            </a:p>
            <a:p>
              <a:pPr indent="0" lvl="0" marL="0" rtl="0" algn="l">
                <a:lnSpc>
                  <a:spcPct val="100000"/>
                </a:lnSpc>
                <a:spcBef>
                  <a:spcPts val="1200"/>
                </a:spcBef>
                <a:spcAft>
                  <a:spcPts val="0"/>
                </a:spcAft>
                <a:buNone/>
              </a:pPr>
              <a:r>
                <a:t/>
              </a:r>
              <a:endParaRPr sz="1891">
                <a:solidFill>
                  <a:schemeClr val="lt1"/>
                </a:solidFill>
              </a:endParaRPr>
            </a:p>
            <a:p>
              <a:pPr indent="0" lvl="0" marL="0" rtl="0" algn="l">
                <a:lnSpc>
                  <a:spcPct val="100000"/>
                </a:lnSpc>
                <a:spcBef>
                  <a:spcPts val="1200"/>
                </a:spcBef>
                <a:spcAft>
                  <a:spcPts val="0"/>
                </a:spcAft>
                <a:buNone/>
              </a:pPr>
              <a:r>
                <a:rPr lang="en-US" sz="1891">
                  <a:solidFill>
                    <a:schemeClr val="lt1"/>
                  </a:solidFill>
                </a:rPr>
                <a:t>Implication</a:t>
              </a:r>
              <a:endParaRPr sz="1891">
                <a:solidFill>
                  <a:schemeClr val="lt1"/>
                </a:solidFill>
              </a:endParaRPr>
            </a:p>
            <a:p>
              <a:pPr indent="0" lvl="0" marL="0" rtl="0" algn="l">
                <a:lnSpc>
                  <a:spcPct val="115000"/>
                </a:lnSpc>
                <a:spcBef>
                  <a:spcPts val="1200"/>
                </a:spcBef>
                <a:spcAft>
                  <a:spcPts val="0"/>
                </a:spcAft>
                <a:buNone/>
              </a:pPr>
              <a:r>
                <a:rPr lang="en-US" sz="1891">
                  <a:solidFill>
                    <a:schemeClr val="lt1"/>
                  </a:solidFill>
                </a:rPr>
                <a:t>Oil + Dollar + Yields rising mean:</a:t>
              </a:r>
              <a:endParaRPr sz="1891">
                <a:solidFill>
                  <a:schemeClr val="lt1"/>
                </a:solidFill>
              </a:endParaRPr>
            </a:p>
            <a:p>
              <a:pPr indent="-348679" lvl="0" marL="457200" rtl="0" algn="l">
                <a:lnSpc>
                  <a:spcPct val="115000"/>
                </a:lnSpc>
                <a:spcBef>
                  <a:spcPts val="0"/>
                </a:spcBef>
                <a:spcAft>
                  <a:spcPts val="0"/>
                </a:spcAft>
                <a:buClr>
                  <a:schemeClr val="lt1"/>
                </a:buClr>
                <a:buSzPts val="1891"/>
                <a:buChar char="●"/>
              </a:pPr>
              <a:r>
                <a:rPr lang="en-US" sz="1891">
                  <a:solidFill>
                    <a:schemeClr val="lt1"/>
                  </a:solidFill>
                </a:rPr>
                <a:t>tighter financial conditions</a:t>
              </a:r>
              <a:endParaRPr sz="1891">
                <a:solidFill>
                  <a:schemeClr val="lt1"/>
                </a:solidFill>
              </a:endParaRPr>
            </a:p>
            <a:p>
              <a:pPr indent="-348679" lvl="0" marL="457200" rtl="0" algn="l">
                <a:lnSpc>
                  <a:spcPct val="115000"/>
                </a:lnSpc>
                <a:spcBef>
                  <a:spcPts val="0"/>
                </a:spcBef>
                <a:spcAft>
                  <a:spcPts val="0"/>
                </a:spcAft>
                <a:buClr>
                  <a:schemeClr val="lt1"/>
                </a:buClr>
                <a:buSzPts val="1891"/>
                <a:buChar char="●"/>
              </a:pPr>
              <a:r>
                <a:rPr lang="en-US" sz="1891">
                  <a:solidFill>
                    <a:schemeClr val="lt1"/>
                  </a:solidFill>
                </a:rPr>
                <a:t>potential stagflation risk</a:t>
              </a:r>
              <a:endParaRPr sz="1891">
                <a:solidFill>
                  <a:schemeClr val="lt1"/>
                </a:solidFill>
              </a:endParaRPr>
            </a:p>
          </p:txBody>
        </p:sp>
        <p:sp>
          <p:nvSpPr>
            <p:cNvPr id="339" name="Google Shape;339;p31"/>
            <p:cNvSpPr txBox="1"/>
            <p:nvPr/>
          </p:nvSpPr>
          <p:spPr>
            <a:xfrm>
              <a:off x="85850" y="-2746441"/>
              <a:ext cx="6138600" cy="1085700"/>
            </a:xfrm>
            <a:prstGeom prst="rect">
              <a:avLst/>
            </a:prstGeom>
            <a:noFill/>
            <a:ln>
              <a:noFill/>
            </a:ln>
          </p:spPr>
          <p:txBody>
            <a:bodyPr anchorCtr="0" anchor="t" bIns="0" lIns="0" spcFirstLastPara="1" rIns="0" wrap="square" tIns="0">
              <a:spAutoFit/>
            </a:bodyPr>
            <a:lstStyle/>
            <a:p>
              <a:pPr indent="0" lvl="0" marL="0" rtl="0" algn="ctr">
                <a:lnSpc>
                  <a:spcPct val="130000"/>
                </a:lnSpc>
                <a:spcBef>
                  <a:spcPts val="2200"/>
                </a:spcBef>
                <a:spcAft>
                  <a:spcPts val="2200"/>
                </a:spcAft>
                <a:buSzPts val="1100"/>
                <a:buNone/>
              </a:pPr>
              <a:r>
                <a:rPr b="1" lang="en-US" sz="2300">
                  <a:solidFill>
                    <a:schemeClr val="lt1"/>
                  </a:solidFill>
                </a:rPr>
                <a:t>COMMODITIES &amp; DOLLAR (Finviz Futures 1W)</a:t>
              </a:r>
              <a:endParaRPr sz="1500">
                <a:solidFill>
                  <a:schemeClr val="lt1"/>
                </a:solidFill>
              </a:endParaRPr>
            </a:p>
          </p:txBody>
        </p:sp>
      </p:grpSp>
      <p:sp>
        <p:nvSpPr>
          <p:cNvPr id="340" name="Google Shape;340;p31"/>
          <p:cNvSpPr txBox="1"/>
          <p:nvPr/>
        </p:nvSpPr>
        <p:spPr>
          <a:xfrm>
            <a:off x="7978196" y="8609450"/>
            <a:ext cx="6460500" cy="446400"/>
          </a:xfrm>
          <a:prstGeom prst="rect">
            <a:avLst/>
          </a:prstGeom>
          <a:noFill/>
          <a:ln>
            <a:noFill/>
          </a:ln>
        </p:spPr>
        <p:txBody>
          <a:bodyPr anchorCtr="0" anchor="t" bIns="91425" lIns="91425" spcFirstLastPara="1" rIns="91425" wrap="square" tIns="91425">
            <a:spAutoFit/>
          </a:bodyPr>
          <a:lstStyle/>
          <a:p>
            <a:pPr indent="0" lvl="0" marL="0" rtl="0" algn="ctr">
              <a:lnSpc>
                <a:spcPct val="130000"/>
              </a:lnSpc>
              <a:spcBef>
                <a:spcPts val="2200"/>
              </a:spcBef>
              <a:spcAft>
                <a:spcPts val="2200"/>
              </a:spcAft>
              <a:buNone/>
            </a:pPr>
            <a:r>
              <a:rPr b="1" lang="en-US" sz="1700">
                <a:solidFill>
                  <a:schemeClr val="dk1"/>
                </a:solidFill>
              </a:rPr>
              <a:t>Image: 1 Week performance Bar Chart by finviz.com</a:t>
            </a:r>
            <a:r>
              <a:rPr lang="en-US" sz="1700">
                <a:solidFill>
                  <a:schemeClr val="dk1"/>
                </a:solidFill>
              </a:rPr>
              <a:t> </a:t>
            </a:r>
            <a:endParaRPr b="1" sz="2400">
              <a:solidFill>
                <a:schemeClr val="dk1"/>
              </a:solidFill>
            </a:endParaRPr>
          </a:p>
        </p:txBody>
      </p:sp>
      <p:pic>
        <p:nvPicPr>
          <p:cNvPr id="341" name="Google Shape;341;p31" title="Screenshot (702).png"/>
          <p:cNvPicPr preferRelativeResize="0"/>
          <p:nvPr/>
        </p:nvPicPr>
        <p:blipFill rotWithShape="1">
          <a:blip r:embed="rId3">
            <a:alphaModFix/>
          </a:blip>
          <a:srcRect b="0" l="21737" r="22671" t="0"/>
          <a:stretch/>
        </p:blipFill>
        <p:spPr>
          <a:xfrm>
            <a:off x="7420925" y="719675"/>
            <a:ext cx="7233376" cy="7315200"/>
          </a:xfrm>
          <a:prstGeom prst="rect">
            <a:avLst/>
          </a:prstGeom>
          <a:noFill/>
          <a:ln>
            <a:noFill/>
          </a:ln>
        </p:spPr>
      </p:pic>
      <p:cxnSp>
        <p:nvCxnSpPr>
          <p:cNvPr id="342" name="Google Shape;342;p31"/>
          <p:cNvCxnSpPr/>
          <p:nvPr/>
        </p:nvCxnSpPr>
        <p:spPr>
          <a:xfrm rot="10800000">
            <a:off x="9296625" y="2135225"/>
            <a:ext cx="5191800" cy="11700"/>
          </a:xfrm>
          <a:prstGeom prst="straightConnector1">
            <a:avLst/>
          </a:prstGeom>
          <a:noFill/>
          <a:ln cap="flat" cmpd="sng" w="76200">
            <a:solidFill>
              <a:schemeClr val="lt1"/>
            </a:solidFill>
            <a:prstDash val="solid"/>
            <a:round/>
            <a:headEnd len="med" w="med" type="none"/>
            <a:tailEnd len="med" w="med" type="triangle"/>
          </a:ln>
        </p:spPr>
      </p:cxnSp>
      <p:cxnSp>
        <p:nvCxnSpPr>
          <p:cNvPr id="343" name="Google Shape;343;p31"/>
          <p:cNvCxnSpPr/>
          <p:nvPr/>
        </p:nvCxnSpPr>
        <p:spPr>
          <a:xfrm rot="10800000">
            <a:off x="10115925" y="1508725"/>
            <a:ext cx="4372500" cy="53100"/>
          </a:xfrm>
          <a:prstGeom prst="straightConnector1">
            <a:avLst/>
          </a:prstGeom>
          <a:noFill/>
          <a:ln cap="flat" cmpd="sng" w="76200">
            <a:solidFill>
              <a:schemeClr val="lt1"/>
            </a:solidFill>
            <a:prstDash val="solid"/>
            <a:round/>
            <a:headEnd len="med" w="med" type="none"/>
            <a:tailEnd len="med" w="med" type="triangle"/>
          </a:ln>
        </p:spPr>
      </p:cxnSp>
      <p:cxnSp>
        <p:nvCxnSpPr>
          <p:cNvPr id="344" name="Google Shape;344;p31"/>
          <p:cNvCxnSpPr/>
          <p:nvPr/>
        </p:nvCxnSpPr>
        <p:spPr>
          <a:xfrm rot="10800000">
            <a:off x="10456275" y="6221550"/>
            <a:ext cx="4086600" cy="22800"/>
          </a:xfrm>
          <a:prstGeom prst="straightConnector1">
            <a:avLst/>
          </a:prstGeom>
          <a:noFill/>
          <a:ln cap="flat" cmpd="sng" w="76200">
            <a:solidFill>
              <a:schemeClr val="lt1"/>
            </a:solidFill>
            <a:prstDash val="solid"/>
            <a:round/>
            <a:headEnd len="med" w="med" type="none"/>
            <a:tailEnd len="med" w="med" type="triangle"/>
          </a:ln>
        </p:spPr>
      </p:cxnSp>
      <p:sp>
        <p:nvSpPr>
          <p:cNvPr id="345" name="Google Shape;345;p31"/>
          <p:cNvSpPr txBox="1"/>
          <p:nvPr/>
        </p:nvSpPr>
        <p:spPr>
          <a:xfrm>
            <a:off x="14488424" y="1312075"/>
            <a:ext cx="2675400" cy="446400"/>
          </a:xfrm>
          <a:prstGeom prst="rect">
            <a:avLst/>
          </a:prstGeom>
          <a:noFill/>
          <a:ln>
            <a:noFill/>
          </a:ln>
        </p:spPr>
        <p:txBody>
          <a:bodyPr anchorCtr="0" anchor="t" bIns="91425" lIns="91425" spcFirstLastPara="1" rIns="91425" wrap="square" tIns="91425">
            <a:spAutoFit/>
          </a:bodyPr>
          <a:lstStyle/>
          <a:p>
            <a:pPr indent="0" lvl="0" marL="0" rtl="0" algn="ctr">
              <a:lnSpc>
                <a:spcPct val="130000"/>
              </a:lnSpc>
              <a:spcBef>
                <a:spcPts val="2200"/>
              </a:spcBef>
              <a:spcAft>
                <a:spcPts val="2200"/>
              </a:spcAft>
              <a:buNone/>
            </a:pPr>
            <a:r>
              <a:rPr b="1" lang="en-US" sz="1700">
                <a:solidFill>
                  <a:schemeClr val="dk1"/>
                </a:solidFill>
              </a:rPr>
              <a:t>Crude Oil WTI (+3.64)</a:t>
            </a:r>
            <a:endParaRPr b="1" sz="2400">
              <a:solidFill>
                <a:schemeClr val="dk1"/>
              </a:solidFill>
            </a:endParaRPr>
          </a:p>
        </p:txBody>
      </p:sp>
      <p:sp>
        <p:nvSpPr>
          <p:cNvPr id="346" name="Google Shape;346;p31"/>
          <p:cNvSpPr txBox="1"/>
          <p:nvPr/>
        </p:nvSpPr>
        <p:spPr>
          <a:xfrm>
            <a:off x="14488425" y="1917875"/>
            <a:ext cx="1714200" cy="446400"/>
          </a:xfrm>
          <a:prstGeom prst="rect">
            <a:avLst/>
          </a:prstGeom>
          <a:noFill/>
          <a:ln>
            <a:noFill/>
          </a:ln>
        </p:spPr>
        <p:txBody>
          <a:bodyPr anchorCtr="0" anchor="t" bIns="91425" lIns="91425" spcFirstLastPara="1" rIns="91425" wrap="square" tIns="91425">
            <a:spAutoFit/>
          </a:bodyPr>
          <a:lstStyle/>
          <a:p>
            <a:pPr indent="0" lvl="0" marL="0" rtl="0" algn="ctr">
              <a:lnSpc>
                <a:spcPct val="130000"/>
              </a:lnSpc>
              <a:spcBef>
                <a:spcPts val="2200"/>
              </a:spcBef>
              <a:spcAft>
                <a:spcPts val="2200"/>
              </a:spcAft>
              <a:buNone/>
            </a:pPr>
            <a:r>
              <a:rPr b="1" lang="en-US" sz="1700">
                <a:solidFill>
                  <a:schemeClr val="dk1"/>
                </a:solidFill>
              </a:rPr>
              <a:t>USD (+1.09)</a:t>
            </a:r>
            <a:endParaRPr b="1" sz="2400">
              <a:solidFill>
                <a:schemeClr val="dk1"/>
              </a:solidFill>
            </a:endParaRPr>
          </a:p>
        </p:txBody>
      </p:sp>
      <p:sp>
        <p:nvSpPr>
          <p:cNvPr id="347" name="Google Shape;347;p31"/>
          <p:cNvSpPr txBox="1"/>
          <p:nvPr/>
        </p:nvSpPr>
        <p:spPr>
          <a:xfrm>
            <a:off x="14542875" y="6009750"/>
            <a:ext cx="1593600" cy="446400"/>
          </a:xfrm>
          <a:prstGeom prst="rect">
            <a:avLst/>
          </a:prstGeom>
          <a:noFill/>
          <a:ln>
            <a:noFill/>
          </a:ln>
        </p:spPr>
        <p:txBody>
          <a:bodyPr anchorCtr="0" anchor="t" bIns="91425" lIns="91425" spcFirstLastPara="1" rIns="91425" wrap="square" tIns="91425">
            <a:spAutoFit/>
          </a:bodyPr>
          <a:lstStyle/>
          <a:p>
            <a:pPr indent="0" lvl="0" marL="0" rtl="0" algn="ctr">
              <a:lnSpc>
                <a:spcPct val="130000"/>
              </a:lnSpc>
              <a:spcBef>
                <a:spcPts val="2200"/>
              </a:spcBef>
              <a:spcAft>
                <a:spcPts val="2200"/>
              </a:spcAft>
              <a:buNone/>
            </a:pPr>
            <a:r>
              <a:rPr b="1" lang="en-US" sz="1700">
                <a:solidFill>
                  <a:schemeClr val="dk1"/>
                </a:solidFill>
              </a:rPr>
              <a:t>Gold (-4.96)</a:t>
            </a:r>
            <a:endParaRPr b="1" sz="2400">
              <a:solidFill>
                <a:schemeClr val="dk1"/>
              </a:solidFill>
            </a:endParaRPr>
          </a:p>
        </p:txBody>
      </p:sp>
      <p:sp>
        <p:nvSpPr>
          <p:cNvPr id="348" name="Google Shape;348;p31"/>
          <p:cNvSpPr txBox="1"/>
          <p:nvPr/>
        </p:nvSpPr>
        <p:spPr>
          <a:xfrm>
            <a:off x="17645100" y="0"/>
            <a:ext cx="642900" cy="523200"/>
          </a:xfrm>
          <a:prstGeom prst="rect">
            <a:avLst/>
          </a:prstGeom>
          <a:noFill/>
          <a:ln>
            <a:noFill/>
          </a:ln>
        </p:spPr>
        <p:txBody>
          <a:bodyPr anchorCtr="0" anchor="t" bIns="91425" lIns="91425" spcFirstLastPara="1" rIns="91425" wrap="square" tIns="91425">
            <a:spAutoFit/>
          </a:bodyPr>
          <a:lstStyle/>
          <a:p>
            <a:pPr indent="0" lvl="0" marL="0" rtl="0" algn="ctr">
              <a:lnSpc>
                <a:spcPct val="130000"/>
              </a:lnSpc>
              <a:spcBef>
                <a:spcPts val="2200"/>
              </a:spcBef>
              <a:spcAft>
                <a:spcPts val="2200"/>
              </a:spcAft>
              <a:buNone/>
            </a:pPr>
            <a:r>
              <a:rPr b="1" lang="en-US" sz="2200">
                <a:solidFill>
                  <a:schemeClr val="dk1"/>
                </a:solidFill>
              </a:rPr>
              <a:t>R4</a:t>
            </a:r>
            <a:endParaRPr b="1" sz="220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E7DE"/>
        </a:solidFill>
      </p:bgPr>
    </p:bg>
    <p:spTree>
      <p:nvGrpSpPr>
        <p:cNvPr id="352" name="Shape 352"/>
        <p:cNvGrpSpPr/>
        <p:nvPr/>
      </p:nvGrpSpPr>
      <p:grpSpPr>
        <a:xfrm>
          <a:off x="0" y="0"/>
          <a:ext cx="0" cy="0"/>
          <a:chOff x="0" y="0"/>
          <a:chExt cx="0" cy="0"/>
        </a:xfrm>
      </p:grpSpPr>
      <p:sp>
        <p:nvSpPr>
          <p:cNvPr id="353" name="Google Shape;353;p32"/>
          <p:cNvSpPr/>
          <p:nvPr/>
        </p:nvSpPr>
        <p:spPr>
          <a:xfrm>
            <a:off x="400189" y="339824"/>
            <a:ext cx="6118496" cy="9603440"/>
          </a:xfrm>
          <a:custGeom>
            <a:rect b="b" l="l" r="r" t="t"/>
            <a:pathLst>
              <a:path extrusionOk="0" h="3249895" w="2070557">
                <a:moveTo>
                  <a:pt x="1946097" y="3249894"/>
                </a:moveTo>
                <a:lnTo>
                  <a:pt x="124460" y="3249894"/>
                </a:lnTo>
                <a:cubicBezTo>
                  <a:pt x="55880" y="3249894"/>
                  <a:pt x="0" y="3194015"/>
                  <a:pt x="0" y="3125434"/>
                </a:cubicBezTo>
                <a:lnTo>
                  <a:pt x="0" y="124460"/>
                </a:lnTo>
                <a:cubicBezTo>
                  <a:pt x="0" y="55880"/>
                  <a:pt x="55880" y="0"/>
                  <a:pt x="124460" y="0"/>
                </a:cubicBezTo>
                <a:lnTo>
                  <a:pt x="1946097" y="0"/>
                </a:lnTo>
                <a:cubicBezTo>
                  <a:pt x="2014677" y="0"/>
                  <a:pt x="2070557" y="55880"/>
                  <a:pt x="2070557" y="124460"/>
                </a:cubicBezTo>
                <a:lnTo>
                  <a:pt x="2070557" y="3125435"/>
                </a:lnTo>
                <a:cubicBezTo>
                  <a:pt x="2070557" y="3194015"/>
                  <a:pt x="2014677" y="3249895"/>
                  <a:pt x="1946097" y="3249895"/>
                </a:cubicBezTo>
                <a:close/>
              </a:path>
            </a:pathLst>
          </a:custGeom>
          <a:solidFill>
            <a:srgbClr val="0B11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32"/>
          <p:cNvSpPr/>
          <p:nvPr/>
        </p:nvSpPr>
        <p:spPr>
          <a:xfrm>
            <a:off x="6883570" y="381155"/>
            <a:ext cx="10988791" cy="9603440"/>
          </a:xfrm>
          <a:custGeom>
            <a:rect b="b" l="l" r="r" t="t"/>
            <a:pathLst>
              <a:path extrusionOk="0" h="3249895" w="3718711">
                <a:moveTo>
                  <a:pt x="3594251" y="3249894"/>
                </a:moveTo>
                <a:lnTo>
                  <a:pt x="124460" y="3249894"/>
                </a:lnTo>
                <a:cubicBezTo>
                  <a:pt x="55880" y="3249894"/>
                  <a:pt x="0" y="3194015"/>
                  <a:pt x="0" y="3125434"/>
                </a:cubicBezTo>
                <a:lnTo>
                  <a:pt x="0" y="124460"/>
                </a:lnTo>
                <a:cubicBezTo>
                  <a:pt x="0" y="55880"/>
                  <a:pt x="55880" y="0"/>
                  <a:pt x="124460" y="0"/>
                </a:cubicBezTo>
                <a:lnTo>
                  <a:pt x="3594251" y="0"/>
                </a:lnTo>
                <a:cubicBezTo>
                  <a:pt x="3662831" y="0"/>
                  <a:pt x="3718711" y="55880"/>
                  <a:pt x="3718711" y="124460"/>
                </a:cubicBezTo>
                <a:lnTo>
                  <a:pt x="3718711" y="3125435"/>
                </a:lnTo>
                <a:cubicBezTo>
                  <a:pt x="3718711" y="3194015"/>
                  <a:pt x="3662831" y="3249895"/>
                  <a:pt x="3594251" y="3249895"/>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5" name="Google Shape;355;p32"/>
          <p:cNvGrpSpPr/>
          <p:nvPr/>
        </p:nvGrpSpPr>
        <p:grpSpPr>
          <a:xfrm>
            <a:off x="824400" y="957875"/>
            <a:ext cx="5249773" cy="7209800"/>
            <a:chOff x="85850" y="-2746441"/>
            <a:chExt cx="6162429" cy="9613067"/>
          </a:xfrm>
        </p:grpSpPr>
        <p:sp>
          <p:nvSpPr>
            <p:cNvPr id="356" name="Google Shape;356;p32"/>
            <p:cNvSpPr txBox="1"/>
            <p:nvPr/>
          </p:nvSpPr>
          <p:spPr>
            <a:xfrm>
              <a:off x="109679" y="-1555575"/>
              <a:ext cx="6138600" cy="84222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1200"/>
                </a:spcBef>
                <a:spcAft>
                  <a:spcPts val="0"/>
                </a:spcAft>
                <a:buNone/>
              </a:pPr>
              <a:r>
                <a:rPr lang="en-US" sz="1891">
                  <a:solidFill>
                    <a:schemeClr val="lt1"/>
                  </a:solidFill>
                </a:rPr>
                <a:t>Wednesday, June 10 — US Inflation YoY (May)</a:t>
              </a:r>
              <a:endParaRPr sz="1891">
                <a:solidFill>
                  <a:schemeClr val="lt1"/>
                </a:solidFill>
              </a:endParaRPr>
            </a:p>
            <a:p>
              <a:pPr indent="-348679" lvl="0" marL="457200" rtl="0" algn="l">
                <a:lnSpc>
                  <a:spcPct val="100000"/>
                </a:lnSpc>
                <a:spcBef>
                  <a:spcPts val="1200"/>
                </a:spcBef>
                <a:spcAft>
                  <a:spcPts val="0"/>
                </a:spcAft>
                <a:buClr>
                  <a:schemeClr val="lt1"/>
                </a:buClr>
                <a:buSzPts val="1891"/>
                <a:buChar char="●"/>
              </a:pPr>
              <a:r>
                <a:rPr lang="en-US" sz="1891">
                  <a:solidFill>
                    <a:schemeClr val="lt1"/>
                  </a:solidFill>
                </a:rPr>
                <a:t>Expected: 3.9% (Previous: 3.8%)</a:t>
              </a:r>
              <a:endParaRPr sz="1891">
                <a:solidFill>
                  <a:schemeClr val="lt1"/>
                </a:solidFill>
              </a:endParaRPr>
            </a:p>
            <a:p>
              <a:pPr indent="-348679" lvl="0" marL="457200" rtl="0" algn="l">
                <a:lnSpc>
                  <a:spcPct val="100000"/>
                </a:lnSpc>
                <a:spcBef>
                  <a:spcPts val="0"/>
                </a:spcBef>
                <a:spcAft>
                  <a:spcPts val="0"/>
                </a:spcAft>
                <a:buClr>
                  <a:schemeClr val="lt1"/>
                </a:buClr>
                <a:buSzPts val="1891"/>
                <a:buChar char="●"/>
              </a:pPr>
              <a:r>
                <a:rPr lang="en-US" sz="1891">
                  <a:solidFill>
                    <a:schemeClr val="lt1"/>
                  </a:solidFill>
                </a:rPr>
                <a:t>Key inflation report of the week</a:t>
              </a:r>
              <a:endParaRPr sz="1891">
                <a:solidFill>
                  <a:schemeClr val="lt1"/>
                </a:solidFill>
              </a:endParaRPr>
            </a:p>
            <a:p>
              <a:pPr indent="-348679" lvl="0" marL="457200" rtl="0" algn="l">
                <a:lnSpc>
                  <a:spcPct val="100000"/>
                </a:lnSpc>
                <a:spcBef>
                  <a:spcPts val="0"/>
                </a:spcBef>
                <a:spcAft>
                  <a:spcPts val="0"/>
                </a:spcAft>
                <a:buClr>
                  <a:schemeClr val="lt1"/>
                </a:buClr>
                <a:buSzPts val="1891"/>
                <a:buChar char="●"/>
              </a:pPr>
              <a:r>
                <a:rPr lang="en-US" sz="1891">
                  <a:solidFill>
                    <a:schemeClr val="lt1"/>
                  </a:solidFill>
                </a:rPr>
                <a:t>Higher-than-expected inflation could reduce Fed cut expectations and pressure equities</a:t>
              </a:r>
              <a:endParaRPr sz="1891">
                <a:solidFill>
                  <a:schemeClr val="lt1"/>
                </a:solidFill>
              </a:endParaRPr>
            </a:p>
            <a:p>
              <a:pPr indent="0" lvl="0" marL="0" rtl="0" algn="l">
                <a:lnSpc>
                  <a:spcPct val="100000"/>
                </a:lnSpc>
                <a:spcBef>
                  <a:spcPts val="1200"/>
                </a:spcBef>
                <a:spcAft>
                  <a:spcPts val="0"/>
                </a:spcAft>
                <a:buNone/>
              </a:pPr>
              <a:r>
                <a:rPr lang="en-US" sz="1891">
                  <a:solidFill>
                    <a:schemeClr val="lt1"/>
                  </a:solidFill>
                </a:rPr>
                <a:t>Wednesday, June 10 — US Core CPI Inflation YoY (May)</a:t>
              </a:r>
              <a:endParaRPr sz="1891">
                <a:solidFill>
                  <a:schemeClr val="lt1"/>
                </a:solidFill>
              </a:endParaRPr>
            </a:p>
            <a:p>
              <a:pPr indent="-348679" lvl="0" marL="457200" rtl="0" algn="l">
                <a:lnSpc>
                  <a:spcPct val="100000"/>
                </a:lnSpc>
                <a:spcBef>
                  <a:spcPts val="1200"/>
                </a:spcBef>
                <a:spcAft>
                  <a:spcPts val="0"/>
                </a:spcAft>
                <a:buClr>
                  <a:schemeClr val="lt1"/>
                </a:buClr>
                <a:buSzPts val="1891"/>
                <a:buChar char="●"/>
              </a:pPr>
              <a:r>
                <a:rPr lang="en-US" sz="1891">
                  <a:solidFill>
                    <a:schemeClr val="lt1"/>
                  </a:solidFill>
                </a:rPr>
                <a:t>Expected: 2.8% (Previous: 2.9%)</a:t>
              </a:r>
              <a:endParaRPr sz="1891">
                <a:solidFill>
                  <a:schemeClr val="lt1"/>
                </a:solidFill>
              </a:endParaRPr>
            </a:p>
            <a:p>
              <a:pPr indent="-348679" lvl="0" marL="457200" rtl="0" algn="l">
                <a:lnSpc>
                  <a:spcPct val="100000"/>
                </a:lnSpc>
                <a:spcBef>
                  <a:spcPts val="0"/>
                </a:spcBef>
                <a:spcAft>
                  <a:spcPts val="0"/>
                </a:spcAft>
                <a:buClr>
                  <a:schemeClr val="lt1"/>
                </a:buClr>
                <a:buSzPts val="1891"/>
                <a:buChar char="●"/>
              </a:pPr>
              <a:r>
                <a:rPr lang="en-US" sz="1891">
                  <a:solidFill>
                    <a:schemeClr val="lt1"/>
                  </a:solidFill>
                </a:rPr>
                <a:t>Closely watched by the Fed</a:t>
              </a:r>
              <a:endParaRPr sz="1891">
                <a:solidFill>
                  <a:schemeClr val="lt1"/>
                </a:solidFill>
              </a:endParaRPr>
            </a:p>
            <a:p>
              <a:pPr indent="-348679" lvl="0" marL="457200" rtl="0" algn="l">
                <a:lnSpc>
                  <a:spcPct val="100000"/>
                </a:lnSpc>
                <a:spcBef>
                  <a:spcPts val="0"/>
                </a:spcBef>
                <a:spcAft>
                  <a:spcPts val="0"/>
                </a:spcAft>
                <a:buClr>
                  <a:schemeClr val="lt1"/>
                </a:buClr>
                <a:buSzPts val="1891"/>
                <a:buChar char="●"/>
              </a:pPr>
              <a:r>
                <a:rPr lang="en-US" sz="1891">
                  <a:solidFill>
                    <a:schemeClr val="lt1"/>
                  </a:solidFill>
                </a:rPr>
                <a:t>A lower reading would support the disinflation narrative</a:t>
              </a:r>
              <a:endParaRPr sz="1891">
                <a:solidFill>
                  <a:schemeClr val="lt1"/>
                </a:solidFill>
              </a:endParaRPr>
            </a:p>
            <a:p>
              <a:pPr indent="0" lvl="0" marL="0" rtl="0" algn="l">
                <a:lnSpc>
                  <a:spcPct val="100000"/>
                </a:lnSpc>
                <a:spcBef>
                  <a:spcPts val="1200"/>
                </a:spcBef>
                <a:spcAft>
                  <a:spcPts val="0"/>
                </a:spcAft>
                <a:buNone/>
              </a:pPr>
              <a:r>
                <a:rPr lang="en-US" sz="1891">
                  <a:solidFill>
                    <a:schemeClr val="lt1"/>
                  </a:solidFill>
                </a:rPr>
                <a:t>Thursday, June 11 — ECB Interest Rate Decision</a:t>
              </a:r>
              <a:endParaRPr sz="1891">
                <a:solidFill>
                  <a:schemeClr val="lt1"/>
                </a:solidFill>
              </a:endParaRPr>
            </a:p>
            <a:p>
              <a:pPr indent="-348679" lvl="0" marL="457200" rtl="0" algn="l">
                <a:lnSpc>
                  <a:spcPct val="100000"/>
                </a:lnSpc>
                <a:spcBef>
                  <a:spcPts val="1200"/>
                </a:spcBef>
                <a:spcAft>
                  <a:spcPts val="0"/>
                </a:spcAft>
                <a:buClr>
                  <a:schemeClr val="lt1"/>
                </a:buClr>
                <a:buSzPts val="1891"/>
                <a:buChar char="●"/>
              </a:pPr>
              <a:r>
                <a:rPr lang="en-US" sz="1891">
                  <a:solidFill>
                    <a:schemeClr val="lt1"/>
                  </a:solidFill>
                </a:rPr>
                <a:t>Expected: 2.40% (Previous: 2.15%)</a:t>
              </a:r>
              <a:endParaRPr sz="1891">
                <a:solidFill>
                  <a:schemeClr val="lt1"/>
                </a:solidFill>
              </a:endParaRPr>
            </a:p>
            <a:p>
              <a:pPr indent="-348679" lvl="0" marL="457200" rtl="0" algn="l">
                <a:lnSpc>
                  <a:spcPct val="100000"/>
                </a:lnSpc>
                <a:spcBef>
                  <a:spcPts val="0"/>
                </a:spcBef>
                <a:spcAft>
                  <a:spcPts val="0"/>
                </a:spcAft>
                <a:buClr>
                  <a:schemeClr val="lt1"/>
                </a:buClr>
                <a:buSzPts val="1891"/>
                <a:buChar char="●"/>
              </a:pPr>
              <a:r>
                <a:rPr lang="en-US" sz="1891">
                  <a:solidFill>
                    <a:schemeClr val="lt1"/>
                  </a:solidFill>
                </a:rPr>
                <a:t>Markets will focus on future policy guidance</a:t>
              </a:r>
              <a:endParaRPr sz="1891">
                <a:solidFill>
                  <a:schemeClr val="lt1"/>
                </a:solidFill>
              </a:endParaRPr>
            </a:p>
            <a:p>
              <a:pPr indent="0" lvl="0" marL="0" rtl="0" algn="l">
                <a:lnSpc>
                  <a:spcPct val="100000"/>
                </a:lnSpc>
                <a:spcBef>
                  <a:spcPts val="1200"/>
                </a:spcBef>
                <a:spcAft>
                  <a:spcPts val="0"/>
                </a:spcAft>
                <a:buNone/>
              </a:pPr>
              <a:r>
                <a:rPr lang="en-US" sz="1891">
                  <a:solidFill>
                    <a:schemeClr val="lt1"/>
                  </a:solidFill>
                </a:rPr>
                <a:t>Thursday, June 11 — US PPI MoM (May)</a:t>
              </a:r>
              <a:endParaRPr sz="1891">
                <a:solidFill>
                  <a:schemeClr val="lt1"/>
                </a:solidFill>
              </a:endParaRPr>
            </a:p>
            <a:p>
              <a:pPr indent="-348679" lvl="0" marL="457200" rtl="0" algn="l">
                <a:lnSpc>
                  <a:spcPct val="100000"/>
                </a:lnSpc>
                <a:spcBef>
                  <a:spcPts val="1200"/>
                </a:spcBef>
                <a:spcAft>
                  <a:spcPts val="0"/>
                </a:spcAft>
                <a:buClr>
                  <a:schemeClr val="lt1"/>
                </a:buClr>
                <a:buSzPts val="1891"/>
                <a:buChar char="●"/>
              </a:pPr>
              <a:r>
                <a:rPr lang="en-US" sz="1891">
                  <a:solidFill>
                    <a:schemeClr val="lt1"/>
                  </a:solidFill>
                </a:rPr>
                <a:t>Expected: 0.8% (Previous: 1.4%)</a:t>
              </a:r>
              <a:endParaRPr sz="1891">
                <a:solidFill>
                  <a:schemeClr val="lt1"/>
                </a:solidFill>
              </a:endParaRPr>
            </a:p>
            <a:p>
              <a:pPr indent="-348679" lvl="0" marL="457200" rtl="0" algn="l">
                <a:lnSpc>
                  <a:spcPct val="100000"/>
                </a:lnSpc>
                <a:spcBef>
                  <a:spcPts val="0"/>
                </a:spcBef>
                <a:spcAft>
                  <a:spcPts val="0"/>
                </a:spcAft>
                <a:buClr>
                  <a:schemeClr val="lt1"/>
                </a:buClr>
                <a:buSzPts val="1891"/>
                <a:buChar char="●"/>
              </a:pPr>
              <a:r>
                <a:rPr lang="en-US" sz="1891">
                  <a:solidFill>
                    <a:schemeClr val="lt1"/>
                  </a:solidFill>
                </a:rPr>
                <a:t>Provides more insights into inflation trends</a:t>
              </a:r>
              <a:endParaRPr sz="1891">
                <a:solidFill>
                  <a:schemeClr val="lt1"/>
                </a:solidFill>
              </a:endParaRPr>
            </a:p>
          </p:txBody>
        </p:sp>
        <p:sp>
          <p:nvSpPr>
            <p:cNvPr id="357" name="Google Shape;357;p32"/>
            <p:cNvSpPr txBox="1"/>
            <p:nvPr/>
          </p:nvSpPr>
          <p:spPr>
            <a:xfrm>
              <a:off x="85850" y="-2746441"/>
              <a:ext cx="6138600" cy="1085700"/>
            </a:xfrm>
            <a:prstGeom prst="rect">
              <a:avLst/>
            </a:prstGeom>
            <a:noFill/>
            <a:ln>
              <a:noFill/>
            </a:ln>
          </p:spPr>
          <p:txBody>
            <a:bodyPr anchorCtr="0" anchor="t" bIns="0" lIns="0" spcFirstLastPara="1" rIns="0" wrap="square" tIns="0">
              <a:spAutoFit/>
            </a:bodyPr>
            <a:lstStyle/>
            <a:p>
              <a:pPr indent="0" lvl="0" marL="0" rtl="0" algn="ctr">
                <a:lnSpc>
                  <a:spcPct val="130000"/>
                </a:lnSpc>
                <a:spcBef>
                  <a:spcPts val="2200"/>
                </a:spcBef>
                <a:spcAft>
                  <a:spcPts val="2200"/>
                </a:spcAft>
                <a:buSzPts val="1100"/>
                <a:buNone/>
              </a:pPr>
              <a:r>
                <a:rPr b="1" lang="en-US" sz="2300">
                  <a:solidFill>
                    <a:schemeClr val="lt1"/>
                  </a:solidFill>
                </a:rPr>
                <a:t>WEEK-AHEAD CALENDAR (TradingEconomics) </a:t>
              </a:r>
              <a:endParaRPr sz="1500">
                <a:solidFill>
                  <a:schemeClr val="lt1"/>
                </a:solidFill>
              </a:endParaRPr>
            </a:p>
          </p:txBody>
        </p:sp>
      </p:grpSp>
      <p:sp>
        <p:nvSpPr>
          <p:cNvPr id="358" name="Google Shape;358;p32"/>
          <p:cNvSpPr txBox="1"/>
          <p:nvPr/>
        </p:nvSpPr>
        <p:spPr>
          <a:xfrm>
            <a:off x="7978188" y="8609450"/>
            <a:ext cx="9146400" cy="431100"/>
          </a:xfrm>
          <a:prstGeom prst="rect">
            <a:avLst/>
          </a:prstGeom>
          <a:noFill/>
          <a:ln>
            <a:noFill/>
          </a:ln>
        </p:spPr>
        <p:txBody>
          <a:bodyPr anchorCtr="0" anchor="t" bIns="91425" lIns="91425" spcFirstLastPara="1" rIns="91425" wrap="square" tIns="91425">
            <a:spAutoFit/>
          </a:bodyPr>
          <a:lstStyle/>
          <a:p>
            <a:pPr indent="0" lvl="0" marL="0" rtl="0" algn="ctr">
              <a:lnSpc>
                <a:spcPct val="130000"/>
              </a:lnSpc>
              <a:spcBef>
                <a:spcPts val="2200"/>
              </a:spcBef>
              <a:spcAft>
                <a:spcPts val="2200"/>
              </a:spcAft>
              <a:buNone/>
            </a:pPr>
            <a:r>
              <a:rPr b="1" lang="en-US" sz="1600">
                <a:solidFill>
                  <a:schemeClr val="dk1"/>
                </a:solidFill>
              </a:rPr>
              <a:t>Image: Event calendar next week from tradingeconomics.com filtered to highest priorities</a:t>
            </a:r>
            <a:r>
              <a:rPr lang="en-US" sz="1600">
                <a:solidFill>
                  <a:schemeClr val="dk1"/>
                </a:solidFill>
              </a:rPr>
              <a:t> </a:t>
            </a:r>
            <a:endParaRPr b="1" sz="1800">
              <a:solidFill>
                <a:schemeClr val="dk1"/>
              </a:solidFill>
            </a:endParaRPr>
          </a:p>
        </p:txBody>
      </p:sp>
      <p:pic>
        <p:nvPicPr>
          <p:cNvPr id="359" name="Google Shape;359;p32" title="Screenshot (698).png"/>
          <p:cNvPicPr preferRelativeResize="0"/>
          <p:nvPr/>
        </p:nvPicPr>
        <p:blipFill rotWithShape="1">
          <a:blip r:embed="rId3">
            <a:alphaModFix/>
          </a:blip>
          <a:srcRect b="0" l="2539" r="8683" t="0"/>
          <a:stretch/>
        </p:blipFill>
        <p:spPr>
          <a:xfrm>
            <a:off x="7146125" y="653425"/>
            <a:ext cx="10810524" cy="6845775"/>
          </a:xfrm>
          <a:prstGeom prst="rect">
            <a:avLst/>
          </a:prstGeom>
          <a:noFill/>
          <a:ln>
            <a:noFill/>
          </a:ln>
        </p:spPr>
      </p:pic>
      <p:sp>
        <p:nvSpPr>
          <p:cNvPr id="360" name="Google Shape;360;p32"/>
          <p:cNvSpPr/>
          <p:nvPr/>
        </p:nvSpPr>
        <p:spPr>
          <a:xfrm>
            <a:off x="7146125" y="5826725"/>
            <a:ext cx="10726225" cy="218725"/>
          </a:xfrm>
          <a:prstGeom prst="flowChartProcess">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61" name="Google Shape;361;p32"/>
          <p:cNvSpPr/>
          <p:nvPr/>
        </p:nvSpPr>
        <p:spPr>
          <a:xfrm>
            <a:off x="7146125" y="6108075"/>
            <a:ext cx="10726225" cy="218725"/>
          </a:xfrm>
          <a:prstGeom prst="flowChartProcess">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62" name="Google Shape;362;p32"/>
          <p:cNvSpPr/>
          <p:nvPr/>
        </p:nvSpPr>
        <p:spPr>
          <a:xfrm>
            <a:off x="7104000" y="4393350"/>
            <a:ext cx="10810525" cy="218725"/>
          </a:xfrm>
          <a:prstGeom prst="flowChartProcess">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63" name="Google Shape;363;p32"/>
          <p:cNvSpPr/>
          <p:nvPr/>
        </p:nvSpPr>
        <p:spPr>
          <a:xfrm>
            <a:off x="7146125" y="4849300"/>
            <a:ext cx="10726225" cy="218725"/>
          </a:xfrm>
          <a:prstGeom prst="flowChartProcess">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64" name="Google Shape;364;p32"/>
          <p:cNvSpPr txBox="1"/>
          <p:nvPr/>
        </p:nvSpPr>
        <p:spPr>
          <a:xfrm>
            <a:off x="17645100" y="0"/>
            <a:ext cx="642900" cy="523200"/>
          </a:xfrm>
          <a:prstGeom prst="rect">
            <a:avLst/>
          </a:prstGeom>
          <a:noFill/>
          <a:ln>
            <a:noFill/>
          </a:ln>
        </p:spPr>
        <p:txBody>
          <a:bodyPr anchorCtr="0" anchor="t" bIns="91425" lIns="91425" spcFirstLastPara="1" rIns="91425" wrap="square" tIns="91425">
            <a:spAutoFit/>
          </a:bodyPr>
          <a:lstStyle/>
          <a:p>
            <a:pPr indent="0" lvl="0" marL="0" rtl="0" algn="ctr">
              <a:lnSpc>
                <a:spcPct val="130000"/>
              </a:lnSpc>
              <a:spcBef>
                <a:spcPts val="2200"/>
              </a:spcBef>
              <a:spcAft>
                <a:spcPts val="2200"/>
              </a:spcAft>
              <a:buNone/>
            </a:pPr>
            <a:r>
              <a:rPr b="1" lang="en-US" sz="2200">
                <a:solidFill>
                  <a:schemeClr val="dk1"/>
                </a:solidFill>
              </a:rPr>
              <a:t>R4</a:t>
            </a:r>
            <a:endParaRPr b="1" sz="220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E7DE"/>
        </a:solidFill>
      </p:bgPr>
    </p:bg>
    <p:spTree>
      <p:nvGrpSpPr>
        <p:cNvPr id="368" name="Shape 368"/>
        <p:cNvGrpSpPr/>
        <p:nvPr/>
      </p:nvGrpSpPr>
      <p:grpSpPr>
        <a:xfrm>
          <a:off x="0" y="0"/>
          <a:ext cx="0" cy="0"/>
          <a:chOff x="0" y="0"/>
          <a:chExt cx="0" cy="0"/>
        </a:xfrm>
      </p:grpSpPr>
      <p:sp>
        <p:nvSpPr>
          <p:cNvPr id="369" name="Google Shape;369;p33"/>
          <p:cNvSpPr/>
          <p:nvPr/>
        </p:nvSpPr>
        <p:spPr>
          <a:xfrm>
            <a:off x="400189" y="339824"/>
            <a:ext cx="6118496" cy="9603440"/>
          </a:xfrm>
          <a:custGeom>
            <a:rect b="b" l="l" r="r" t="t"/>
            <a:pathLst>
              <a:path extrusionOk="0" h="3249895" w="2070557">
                <a:moveTo>
                  <a:pt x="1946097" y="3249894"/>
                </a:moveTo>
                <a:lnTo>
                  <a:pt x="124460" y="3249894"/>
                </a:lnTo>
                <a:cubicBezTo>
                  <a:pt x="55880" y="3249894"/>
                  <a:pt x="0" y="3194015"/>
                  <a:pt x="0" y="3125434"/>
                </a:cubicBezTo>
                <a:lnTo>
                  <a:pt x="0" y="124460"/>
                </a:lnTo>
                <a:cubicBezTo>
                  <a:pt x="0" y="55880"/>
                  <a:pt x="55880" y="0"/>
                  <a:pt x="124460" y="0"/>
                </a:cubicBezTo>
                <a:lnTo>
                  <a:pt x="1946097" y="0"/>
                </a:lnTo>
                <a:cubicBezTo>
                  <a:pt x="2014677" y="0"/>
                  <a:pt x="2070557" y="55880"/>
                  <a:pt x="2070557" y="124460"/>
                </a:cubicBezTo>
                <a:lnTo>
                  <a:pt x="2070557" y="3125435"/>
                </a:lnTo>
                <a:cubicBezTo>
                  <a:pt x="2070557" y="3194015"/>
                  <a:pt x="2014677" y="3249895"/>
                  <a:pt x="1946097" y="3249895"/>
                </a:cubicBezTo>
                <a:close/>
              </a:path>
            </a:pathLst>
          </a:custGeom>
          <a:solidFill>
            <a:srgbClr val="0B11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33"/>
          <p:cNvSpPr/>
          <p:nvPr/>
        </p:nvSpPr>
        <p:spPr>
          <a:xfrm>
            <a:off x="6883570" y="381155"/>
            <a:ext cx="10988791" cy="9603440"/>
          </a:xfrm>
          <a:custGeom>
            <a:rect b="b" l="l" r="r" t="t"/>
            <a:pathLst>
              <a:path extrusionOk="0" h="3249895" w="3718711">
                <a:moveTo>
                  <a:pt x="3594251" y="3249894"/>
                </a:moveTo>
                <a:lnTo>
                  <a:pt x="124460" y="3249894"/>
                </a:lnTo>
                <a:cubicBezTo>
                  <a:pt x="55880" y="3249894"/>
                  <a:pt x="0" y="3194015"/>
                  <a:pt x="0" y="3125434"/>
                </a:cubicBezTo>
                <a:lnTo>
                  <a:pt x="0" y="124460"/>
                </a:lnTo>
                <a:cubicBezTo>
                  <a:pt x="0" y="55880"/>
                  <a:pt x="55880" y="0"/>
                  <a:pt x="124460" y="0"/>
                </a:cubicBezTo>
                <a:lnTo>
                  <a:pt x="3594251" y="0"/>
                </a:lnTo>
                <a:cubicBezTo>
                  <a:pt x="3662831" y="0"/>
                  <a:pt x="3718711" y="55880"/>
                  <a:pt x="3718711" y="124460"/>
                </a:cubicBezTo>
                <a:lnTo>
                  <a:pt x="3718711" y="3125435"/>
                </a:lnTo>
                <a:cubicBezTo>
                  <a:pt x="3718711" y="3194015"/>
                  <a:pt x="3662831" y="3249895"/>
                  <a:pt x="3594251" y="3249895"/>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1" name="Google Shape;371;p33"/>
          <p:cNvGrpSpPr/>
          <p:nvPr/>
        </p:nvGrpSpPr>
        <p:grpSpPr>
          <a:xfrm>
            <a:off x="824400" y="957875"/>
            <a:ext cx="5249773" cy="6490700"/>
            <a:chOff x="85850" y="-2746441"/>
            <a:chExt cx="6162429" cy="8654267"/>
          </a:xfrm>
        </p:grpSpPr>
        <p:sp>
          <p:nvSpPr>
            <p:cNvPr id="372" name="Google Shape;372;p33"/>
            <p:cNvSpPr txBox="1"/>
            <p:nvPr/>
          </p:nvSpPr>
          <p:spPr>
            <a:xfrm>
              <a:off x="109679" y="-1555575"/>
              <a:ext cx="6138600" cy="74634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1200"/>
                </a:spcBef>
                <a:spcAft>
                  <a:spcPts val="0"/>
                </a:spcAft>
                <a:buNone/>
              </a:pPr>
              <a:r>
                <a:rPr lang="en-US" sz="1891">
                  <a:solidFill>
                    <a:schemeClr val="lt1"/>
                  </a:solidFill>
                </a:rPr>
                <a:t>Oracle (ORCL) — June 10 (After Close)</a:t>
              </a:r>
              <a:endParaRPr sz="1891">
                <a:solidFill>
                  <a:schemeClr val="lt1"/>
                </a:solidFill>
              </a:endParaRPr>
            </a:p>
            <a:p>
              <a:pPr indent="-348679" lvl="0" marL="457200" rtl="0" algn="l">
                <a:lnSpc>
                  <a:spcPct val="100000"/>
                </a:lnSpc>
                <a:spcBef>
                  <a:spcPts val="1200"/>
                </a:spcBef>
                <a:spcAft>
                  <a:spcPts val="0"/>
                </a:spcAft>
                <a:buClr>
                  <a:schemeClr val="lt1"/>
                </a:buClr>
                <a:buSzPts val="1891"/>
                <a:buChar char="●"/>
              </a:pPr>
              <a:r>
                <a:rPr lang="en-US" sz="1891">
                  <a:solidFill>
                    <a:schemeClr val="lt1"/>
                  </a:solidFill>
                </a:rPr>
                <a:t>Sector: XLK (Technology / Cloud)</a:t>
              </a:r>
              <a:endParaRPr sz="1891">
                <a:solidFill>
                  <a:schemeClr val="lt1"/>
                </a:solidFill>
              </a:endParaRPr>
            </a:p>
            <a:p>
              <a:pPr indent="-348679" lvl="0" marL="457200" rtl="0" algn="l">
                <a:lnSpc>
                  <a:spcPct val="100000"/>
                </a:lnSpc>
                <a:spcBef>
                  <a:spcPts val="0"/>
                </a:spcBef>
                <a:spcAft>
                  <a:spcPts val="0"/>
                </a:spcAft>
                <a:buClr>
                  <a:schemeClr val="lt1"/>
                </a:buClr>
                <a:buSzPts val="1891"/>
                <a:buChar char="●"/>
              </a:pPr>
              <a:r>
                <a:rPr lang="en-US" sz="1891">
                  <a:solidFill>
                    <a:schemeClr val="lt1"/>
                  </a:solidFill>
                </a:rPr>
                <a:t>Watch: Cloud growth, AI demand, and enterprise spending outlook</a:t>
              </a:r>
              <a:endParaRPr sz="1891">
                <a:solidFill>
                  <a:schemeClr val="lt1"/>
                </a:solidFill>
              </a:endParaRPr>
            </a:p>
            <a:p>
              <a:pPr indent="0" lvl="0" marL="0" rtl="0" algn="l">
                <a:lnSpc>
                  <a:spcPct val="100000"/>
                </a:lnSpc>
                <a:spcBef>
                  <a:spcPts val="1200"/>
                </a:spcBef>
                <a:spcAft>
                  <a:spcPts val="0"/>
                </a:spcAft>
                <a:buNone/>
              </a:pPr>
              <a:r>
                <a:t/>
              </a:r>
              <a:endParaRPr sz="1891">
                <a:solidFill>
                  <a:schemeClr val="lt1"/>
                </a:solidFill>
              </a:endParaRPr>
            </a:p>
            <a:p>
              <a:pPr indent="0" lvl="0" marL="0" rtl="0" algn="l">
                <a:lnSpc>
                  <a:spcPct val="100000"/>
                </a:lnSpc>
                <a:spcBef>
                  <a:spcPts val="1200"/>
                </a:spcBef>
                <a:spcAft>
                  <a:spcPts val="0"/>
                </a:spcAft>
                <a:buNone/>
              </a:pPr>
              <a:r>
                <a:rPr lang="en-US" sz="1891">
                  <a:solidFill>
                    <a:schemeClr val="lt1"/>
                  </a:solidFill>
                </a:rPr>
                <a:t>Adobe (ADBE) — June 11 (After Close)</a:t>
              </a:r>
              <a:endParaRPr sz="1891">
                <a:solidFill>
                  <a:schemeClr val="lt1"/>
                </a:solidFill>
              </a:endParaRPr>
            </a:p>
            <a:p>
              <a:pPr indent="-348679" lvl="0" marL="457200" rtl="0" algn="l">
                <a:lnSpc>
                  <a:spcPct val="100000"/>
                </a:lnSpc>
                <a:spcBef>
                  <a:spcPts val="1200"/>
                </a:spcBef>
                <a:spcAft>
                  <a:spcPts val="0"/>
                </a:spcAft>
                <a:buClr>
                  <a:schemeClr val="lt1"/>
                </a:buClr>
                <a:buSzPts val="1891"/>
                <a:buChar char="●"/>
              </a:pPr>
              <a:r>
                <a:rPr lang="en-US" sz="1891">
                  <a:solidFill>
                    <a:schemeClr val="lt1"/>
                  </a:solidFill>
                </a:rPr>
                <a:t>Sector: XLK (Technology / Software)</a:t>
              </a:r>
              <a:endParaRPr sz="1891">
                <a:solidFill>
                  <a:schemeClr val="lt1"/>
                </a:solidFill>
              </a:endParaRPr>
            </a:p>
            <a:p>
              <a:pPr indent="-348679" lvl="0" marL="457200" rtl="0" algn="l">
                <a:lnSpc>
                  <a:spcPct val="100000"/>
                </a:lnSpc>
                <a:spcBef>
                  <a:spcPts val="0"/>
                </a:spcBef>
                <a:spcAft>
                  <a:spcPts val="0"/>
                </a:spcAft>
                <a:buClr>
                  <a:schemeClr val="lt1"/>
                </a:buClr>
                <a:buSzPts val="1891"/>
                <a:buChar char="●"/>
              </a:pPr>
              <a:r>
                <a:rPr lang="en-US" sz="1891">
                  <a:solidFill>
                    <a:schemeClr val="lt1"/>
                  </a:solidFill>
                </a:rPr>
                <a:t> Watch: AI monetization, Creative Cloud performance, and guidance</a:t>
              </a:r>
              <a:endParaRPr sz="1891">
                <a:solidFill>
                  <a:schemeClr val="lt1"/>
                </a:solidFill>
              </a:endParaRPr>
            </a:p>
            <a:p>
              <a:pPr indent="0" lvl="0" marL="0" rtl="0" algn="l">
                <a:lnSpc>
                  <a:spcPct val="100000"/>
                </a:lnSpc>
                <a:spcBef>
                  <a:spcPts val="1200"/>
                </a:spcBef>
                <a:spcAft>
                  <a:spcPts val="0"/>
                </a:spcAft>
                <a:buNone/>
              </a:pPr>
              <a:r>
                <a:t/>
              </a:r>
              <a:endParaRPr sz="1891">
                <a:solidFill>
                  <a:schemeClr val="lt1"/>
                </a:solidFill>
              </a:endParaRPr>
            </a:p>
            <a:p>
              <a:pPr indent="0" lvl="0" marL="0" rtl="0" algn="l">
                <a:lnSpc>
                  <a:spcPct val="100000"/>
                </a:lnSpc>
                <a:spcBef>
                  <a:spcPts val="1200"/>
                </a:spcBef>
                <a:spcAft>
                  <a:spcPts val="0"/>
                </a:spcAft>
                <a:buNone/>
              </a:pPr>
              <a:r>
                <a:rPr lang="en-US" sz="1891">
                  <a:solidFill>
                    <a:schemeClr val="lt1"/>
                  </a:solidFill>
                </a:rPr>
                <a:t>Lennar (LEN) — June 11 (After Close)</a:t>
              </a:r>
              <a:endParaRPr sz="1891">
                <a:solidFill>
                  <a:schemeClr val="lt1"/>
                </a:solidFill>
              </a:endParaRPr>
            </a:p>
            <a:p>
              <a:pPr indent="-348679" lvl="0" marL="457200" rtl="0" algn="l">
                <a:lnSpc>
                  <a:spcPct val="100000"/>
                </a:lnSpc>
                <a:spcBef>
                  <a:spcPts val="1200"/>
                </a:spcBef>
                <a:spcAft>
                  <a:spcPts val="0"/>
                </a:spcAft>
                <a:buClr>
                  <a:schemeClr val="lt1"/>
                </a:buClr>
                <a:buSzPts val="1891"/>
                <a:buChar char="●"/>
              </a:pPr>
              <a:r>
                <a:rPr lang="en-US" sz="1891">
                  <a:solidFill>
                    <a:schemeClr val="lt1"/>
                  </a:solidFill>
                </a:rPr>
                <a:t>Sector: XHB (Homebuilders)</a:t>
              </a:r>
              <a:endParaRPr sz="1891">
                <a:solidFill>
                  <a:schemeClr val="lt1"/>
                </a:solidFill>
              </a:endParaRPr>
            </a:p>
            <a:p>
              <a:pPr indent="-348679" lvl="0" marL="457200" rtl="0" algn="l">
                <a:lnSpc>
                  <a:spcPct val="100000"/>
                </a:lnSpc>
                <a:spcBef>
                  <a:spcPts val="0"/>
                </a:spcBef>
                <a:spcAft>
                  <a:spcPts val="0"/>
                </a:spcAft>
                <a:buClr>
                  <a:schemeClr val="lt1"/>
                </a:buClr>
                <a:buSzPts val="1891"/>
                <a:buChar char="●"/>
              </a:pPr>
              <a:r>
                <a:rPr lang="en-US" sz="1891">
                  <a:solidFill>
                    <a:schemeClr val="lt1"/>
                  </a:solidFill>
                </a:rPr>
                <a:t>Watch: Housing demand, new-home orders, and mortgage-rate impact</a:t>
              </a:r>
              <a:endParaRPr sz="1891">
                <a:solidFill>
                  <a:schemeClr val="lt1"/>
                </a:solidFill>
              </a:endParaRPr>
            </a:p>
            <a:p>
              <a:pPr indent="0" lvl="0" marL="0" rtl="0" algn="l">
                <a:lnSpc>
                  <a:spcPct val="100000"/>
                </a:lnSpc>
                <a:spcBef>
                  <a:spcPts val="1200"/>
                </a:spcBef>
                <a:spcAft>
                  <a:spcPts val="0"/>
                </a:spcAft>
                <a:buNone/>
              </a:pPr>
              <a:r>
                <a:t/>
              </a:r>
              <a:endParaRPr sz="1891">
                <a:solidFill>
                  <a:schemeClr val="lt1"/>
                </a:solidFill>
              </a:endParaRPr>
            </a:p>
          </p:txBody>
        </p:sp>
        <p:sp>
          <p:nvSpPr>
            <p:cNvPr id="373" name="Google Shape;373;p33"/>
            <p:cNvSpPr txBox="1"/>
            <p:nvPr/>
          </p:nvSpPr>
          <p:spPr>
            <a:xfrm>
              <a:off x="85850" y="-2746441"/>
              <a:ext cx="6138600" cy="1085700"/>
            </a:xfrm>
            <a:prstGeom prst="rect">
              <a:avLst/>
            </a:prstGeom>
            <a:noFill/>
            <a:ln>
              <a:noFill/>
            </a:ln>
          </p:spPr>
          <p:txBody>
            <a:bodyPr anchorCtr="0" anchor="t" bIns="0" lIns="0" spcFirstLastPara="1" rIns="0" wrap="square" tIns="0">
              <a:spAutoFit/>
            </a:bodyPr>
            <a:lstStyle/>
            <a:p>
              <a:pPr indent="0" lvl="0" marL="0" rtl="0" algn="ctr">
                <a:lnSpc>
                  <a:spcPct val="130000"/>
                </a:lnSpc>
                <a:spcBef>
                  <a:spcPts val="2200"/>
                </a:spcBef>
                <a:spcAft>
                  <a:spcPts val="2200"/>
                </a:spcAft>
                <a:buSzPts val="1100"/>
                <a:buNone/>
              </a:pPr>
              <a:r>
                <a:rPr b="1" lang="en-US" sz="2300">
                  <a:solidFill>
                    <a:schemeClr val="lt1"/>
                  </a:solidFill>
                </a:rPr>
                <a:t>KEY EARNINGS THIS WEEK (Earnings Whispers)</a:t>
              </a:r>
              <a:endParaRPr sz="1500">
                <a:solidFill>
                  <a:schemeClr val="lt1"/>
                </a:solidFill>
              </a:endParaRPr>
            </a:p>
          </p:txBody>
        </p:sp>
      </p:grpSp>
      <p:sp>
        <p:nvSpPr>
          <p:cNvPr id="374" name="Google Shape;374;p33"/>
          <p:cNvSpPr txBox="1"/>
          <p:nvPr/>
        </p:nvSpPr>
        <p:spPr>
          <a:xfrm>
            <a:off x="8379100" y="9018825"/>
            <a:ext cx="7997700" cy="431100"/>
          </a:xfrm>
          <a:prstGeom prst="rect">
            <a:avLst/>
          </a:prstGeom>
          <a:noFill/>
          <a:ln>
            <a:noFill/>
          </a:ln>
        </p:spPr>
        <p:txBody>
          <a:bodyPr anchorCtr="0" anchor="t" bIns="91425" lIns="91425" spcFirstLastPara="1" rIns="91425" wrap="square" tIns="91425">
            <a:spAutoFit/>
          </a:bodyPr>
          <a:lstStyle/>
          <a:p>
            <a:pPr indent="0" lvl="0" marL="0" rtl="0" algn="ctr">
              <a:lnSpc>
                <a:spcPct val="130000"/>
              </a:lnSpc>
              <a:spcBef>
                <a:spcPts val="2200"/>
              </a:spcBef>
              <a:spcAft>
                <a:spcPts val="2200"/>
              </a:spcAft>
              <a:buNone/>
            </a:pPr>
            <a:r>
              <a:rPr b="1" lang="en-US" sz="1600">
                <a:solidFill>
                  <a:schemeClr val="dk1"/>
                </a:solidFill>
              </a:rPr>
              <a:t>Image: Earning prediction calendar by earningwhispers.com for 10 &amp; 11 June</a:t>
            </a:r>
            <a:r>
              <a:rPr lang="en-US" sz="1600">
                <a:solidFill>
                  <a:schemeClr val="dk1"/>
                </a:solidFill>
              </a:rPr>
              <a:t> </a:t>
            </a:r>
            <a:endParaRPr b="1" sz="2900">
              <a:solidFill>
                <a:schemeClr val="dk1"/>
              </a:solidFill>
            </a:endParaRPr>
          </a:p>
        </p:txBody>
      </p:sp>
      <p:sp>
        <p:nvSpPr>
          <p:cNvPr id="375" name="Google Shape;375;p33"/>
          <p:cNvSpPr txBox="1"/>
          <p:nvPr/>
        </p:nvSpPr>
        <p:spPr>
          <a:xfrm>
            <a:off x="17645100" y="0"/>
            <a:ext cx="642900" cy="523200"/>
          </a:xfrm>
          <a:prstGeom prst="rect">
            <a:avLst/>
          </a:prstGeom>
          <a:noFill/>
          <a:ln>
            <a:noFill/>
          </a:ln>
        </p:spPr>
        <p:txBody>
          <a:bodyPr anchorCtr="0" anchor="t" bIns="91425" lIns="91425" spcFirstLastPara="1" rIns="91425" wrap="square" tIns="91425">
            <a:spAutoFit/>
          </a:bodyPr>
          <a:lstStyle/>
          <a:p>
            <a:pPr indent="0" lvl="0" marL="0" rtl="0" algn="ctr">
              <a:lnSpc>
                <a:spcPct val="130000"/>
              </a:lnSpc>
              <a:spcBef>
                <a:spcPts val="2200"/>
              </a:spcBef>
              <a:spcAft>
                <a:spcPts val="2200"/>
              </a:spcAft>
              <a:buNone/>
            </a:pPr>
            <a:r>
              <a:rPr b="1" lang="en-US" sz="2200">
                <a:solidFill>
                  <a:schemeClr val="dk1"/>
                </a:solidFill>
              </a:rPr>
              <a:t>R4</a:t>
            </a:r>
            <a:endParaRPr b="1" sz="2200">
              <a:solidFill>
                <a:schemeClr val="dk1"/>
              </a:solidFill>
            </a:endParaRPr>
          </a:p>
        </p:txBody>
      </p:sp>
      <p:grpSp>
        <p:nvGrpSpPr>
          <p:cNvPr id="376" name="Google Shape;376;p33"/>
          <p:cNvGrpSpPr/>
          <p:nvPr/>
        </p:nvGrpSpPr>
        <p:grpSpPr>
          <a:xfrm>
            <a:off x="6987028" y="694081"/>
            <a:ext cx="10781857" cy="7735189"/>
            <a:chOff x="7506588" y="723825"/>
            <a:chExt cx="9742348" cy="6989418"/>
          </a:xfrm>
        </p:grpSpPr>
        <p:pic>
          <p:nvPicPr>
            <p:cNvPr id="377" name="Google Shape;377;p33" title="Screenshot (704).png"/>
            <p:cNvPicPr preferRelativeResize="0"/>
            <p:nvPr/>
          </p:nvPicPr>
          <p:blipFill rotWithShape="1">
            <a:blip r:embed="rId3">
              <a:alphaModFix/>
            </a:blip>
            <a:srcRect b="20547" l="0" r="14281" t="52705"/>
            <a:stretch/>
          </p:blipFill>
          <p:spPr>
            <a:xfrm>
              <a:off x="7506904" y="2744779"/>
              <a:ext cx="9742032" cy="1709046"/>
            </a:xfrm>
            <a:prstGeom prst="rect">
              <a:avLst/>
            </a:prstGeom>
            <a:noFill/>
            <a:ln>
              <a:noFill/>
            </a:ln>
          </p:spPr>
        </p:pic>
        <p:grpSp>
          <p:nvGrpSpPr>
            <p:cNvPr id="378" name="Google Shape;378;p33"/>
            <p:cNvGrpSpPr/>
            <p:nvPr/>
          </p:nvGrpSpPr>
          <p:grpSpPr>
            <a:xfrm>
              <a:off x="7506588" y="723825"/>
              <a:ext cx="9742338" cy="6989418"/>
              <a:chOff x="7506588" y="723825"/>
              <a:chExt cx="9742338" cy="6989418"/>
            </a:xfrm>
          </p:grpSpPr>
          <p:pic>
            <p:nvPicPr>
              <p:cNvPr id="379" name="Google Shape;379;p33" title="Screenshot (703).png"/>
              <p:cNvPicPr preferRelativeResize="0"/>
              <p:nvPr/>
            </p:nvPicPr>
            <p:blipFill rotWithShape="1">
              <a:blip r:embed="rId4">
                <a:alphaModFix/>
              </a:blip>
              <a:srcRect b="69829" l="0" r="13652" t="12885"/>
              <a:stretch/>
            </p:blipFill>
            <p:spPr>
              <a:xfrm>
                <a:off x="7506900" y="4453825"/>
                <a:ext cx="9742025" cy="1096472"/>
              </a:xfrm>
              <a:prstGeom prst="rect">
                <a:avLst/>
              </a:prstGeom>
              <a:noFill/>
              <a:ln>
                <a:noFill/>
              </a:ln>
            </p:spPr>
          </p:pic>
          <p:pic>
            <p:nvPicPr>
              <p:cNvPr id="380" name="Google Shape;380;p33" title="Screenshot (704).png"/>
              <p:cNvPicPr preferRelativeResize="0"/>
              <p:nvPr/>
            </p:nvPicPr>
            <p:blipFill rotWithShape="1">
              <a:blip r:embed="rId3">
                <a:alphaModFix/>
              </a:blip>
              <a:srcRect b="68371" l="0" r="14281" t="0"/>
              <a:stretch/>
            </p:blipFill>
            <p:spPr>
              <a:xfrm>
                <a:off x="7506588" y="723825"/>
                <a:ext cx="9742032" cy="2020956"/>
              </a:xfrm>
              <a:prstGeom prst="rect">
                <a:avLst/>
              </a:prstGeom>
              <a:noFill/>
              <a:ln>
                <a:noFill/>
              </a:ln>
            </p:spPr>
          </p:pic>
          <p:sp>
            <p:nvSpPr>
              <p:cNvPr id="381" name="Google Shape;381;p33"/>
              <p:cNvSpPr/>
              <p:nvPr/>
            </p:nvSpPr>
            <p:spPr>
              <a:xfrm>
                <a:off x="7655776" y="3210279"/>
                <a:ext cx="9420325" cy="287875"/>
              </a:xfrm>
              <a:prstGeom prst="flowChartProcess">
                <a:avLst/>
              </a:prstGeom>
              <a:noFill/>
              <a:ln cap="flat" cmpd="sng" w="42175">
                <a:solidFill>
                  <a:schemeClr val="lt1"/>
                </a:solidFill>
                <a:prstDash val="solid"/>
                <a:round/>
                <a:headEnd len="sm" w="sm" type="none"/>
                <a:tailEnd len="sm" w="sm" type="none"/>
              </a:ln>
            </p:spPr>
            <p:txBody>
              <a:bodyPr anchorCtr="0" anchor="ctr" bIns="101175" lIns="101175" spcFirstLastPara="1" rIns="101175" wrap="square" tIns="101175">
                <a:noAutofit/>
              </a:bodyPr>
              <a:lstStyle/>
              <a:p>
                <a:pPr indent="0" lvl="0" marL="0" rtl="0" algn="ctr">
                  <a:spcBef>
                    <a:spcPts val="0"/>
                  </a:spcBef>
                  <a:spcAft>
                    <a:spcPts val="0"/>
                  </a:spcAft>
                  <a:buNone/>
                </a:pPr>
                <a:r>
                  <a:t/>
                </a:r>
                <a:endParaRPr sz="1549">
                  <a:latin typeface="Calibri"/>
                  <a:ea typeface="Calibri"/>
                  <a:cs typeface="Calibri"/>
                  <a:sym typeface="Calibri"/>
                </a:endParaRPr>
              </a:p>
            </p:txBody>
          </p:sp>
          <p:sp>
            <p:nvSpPr>
              <p:cNvPr id="382" name="Google Shape;382;p33"/>
              <p:cNvSpPr/>
              <p:nvPr/>
            </p:nvSpPr>
            <p:spPr>
              <a:xfrm>
                <a:off x="7655776" y="3748429"/>
                <a:ext cx="9420325" cy="287875"/>
              </a:xfrm>
              <a:prstGeom prst="flowChartProcess">
                <a:avLst/>
              </a:prstGeom>
              <a:noFill/>
              <a:ln cap="flat" cmpd="sng" w="42175">
                <a:solidFill>
                  <a:schemeClr val="lt1"/>
                </a:solidFill>
                <a:prstDash val="solid"/>
                <a:round/>
                <a:headEnd len="sm" w="sm" type="none"/>
                <a:tailEnd len="sm" w="sm" type="none"/>
              </a:ln>
            </p:spPr>
            <p:txBody>
              <a:bodyPr anchorCtr="0" anchor="ctr" bIns="101175" lIns="101175" spcFirstLastPara="1" rIns="101175" wrap="square" tIns="101175">
                <a:noAutofit/>
              </a:bodyPr>
              <a:lstStyle/>
              <a:p>
                <a:pPr indent="0" lvl="0" marL="0" rtl="0" algn="ctr">
                  <a:spcBef>
                    <a:spcPts val="0"/>
                  </a:spcBef>
                  <a:spcAft>
                    <a:spcPts val="0"/>
                  </a:spcAft>
                  <a:buNone/>
                </a:pPr>
                <a:r>
                  <a:t/>
                </a:r>
                <a:endParaRPr sz="1549">
                  <a:latin typeface="Calibri"/>
                  <a:ea typeface="Calibri"/>
                  <a:cs typeface="Calibri"/>
                  <a:sym typeface="Calibri"/>
                </a:endParaRPr>
              </a:p>
            </p:txBody>
          </p:sp>
          <p:pic>
            <p:nvPicPr>
              <p:cNvPr id="383" name="Google Shape;383;p33" title="Screenshot (703).png"/>
              <p:cNvPicPr preferRelativeResize="0"/>
              <p:nvPr/>
            </p:nvPicPr>
            <p:blipFill rotWithShape="1">
              <a:blip r:embed="rId4">
                <a:alphaModFix/>
              </a:blip>
              <a:srcRect b="11450" l="0" r="15082" t="54452"/>
              <a:stretch/>
            </p:blipFill>
            <p:spPr>
              <a:xfrm>
                <a:off x="7506900" y="5550296"/>
                <a:ext cx="9742025" cy="2162947"/>
              </a:xfrm>
              <a:prstGeom prst="rect">
                <a:avLst/>
              </a:prstGeom>
              <a:noFill/>
              <a:ln>
                <a:noFill/>
              </a:ln>
            </p:spPr>
          </p:pic>
          <p:sp>
            <p:nvSpPr>
              <p:cNvPr id="384" name="Google Shape;384;p33"/>
              <p:cNvSpPr/>
              <p:nvPr/>
            </p:nvSpPr>
            <p:spPr>
              <a:xfrm>
                <a:off x="7655775" y="5967825"/>
                <a:ext cx="9345375" cy="241250"/>
              </a:xfrm>
              <a:prstGeom prst="flowChartProcess">
                <a:avLst/>
              </a:prstGeom>
              <a:noFill/>
              <a:ln cap="flat" cmpd="sng" w="42175">
                <a:solidFill>
                  <a:schemeClr val="lt1"/>
                </a:solidFill>
                <a:prstDash val="solid"/>
                <a:round/>
                <a:headEnd len="sm" w="sm" type="none"/>
                <a:tailEnd len="sm" w="sm" type="none"/>
              </a:ln>
            </p:spPr>
            <p:txBody>
              <a:bodyPr anchorCtr="0" anchor="ctr" bIns="101175" lIns="101175" spcFirstLastPara="1" rIns="101175" wrap="square" tIns="101175">
                <a:noAutofit/>
              </a:bodyPr>
              <a:lstStyle/>
              <a:p>
                <a:pPr indent="0" lvl="0" marL="0" rtl="0" algn="ctr">
                  <a:spcBef>
                    <a:spcPts val="0"/>
                  </a:spcBef>
                  <a:spcAft>
                    <a:spcPts val="0"/>
                  </a:spcAft>
                  <a:buNone/>
                </a:pPr>
                <a:r>
                  <a:t/>
                </a:r>
                <a:endParaRPr sz="1549">
                  <a:latin typeface="Calibri"/>
                  <a:ea typeface="Calibri"/>
                  <a:cs typeface="Calibri"/>
                  <a:sym typeface="Calibri"/>
                </a:endParaRPr>
              </a:p>
            </p:txBody>
          </p:sp>
        </p:gr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E7DE"/>
        </a:solidFill>
      </p:bgPr>
    </p:bg>
    <p:spTree>
      <p:nvGrpSpPr>
        <p:cNvPr id="388" name="Shape 388"/>
        <p:cNvGrpSpPr/>
        <p:nvPr/>
      </p:nvGrpSpPr>
      <p:grpSpPr>
        <a:xfrm>
          <a:off x="0" y="0"/>
          <a:ext cx="0" cy="0"/>
          <a:chOff x="0" y="0"/>
          <a:chExt cx="0" cy="0"/>
        </a:xfrm>
      </p:grpSpPr>
      <p:sp>
        <p:nvSpPr>
          <p:cNvPr id="389" name="Google Shape;389;p34"/>
          <p:cNvSpPr/>
          <p:nvPr/>
        </p:nvSpPr>
        <p:spPr>
          <a:xfrm>
            <a:off x="400189" y="339824"/>
            <a:ext cx="6118496" cy="9603440"/>
          </a:xfrm>
          <a:custGeom>
            <a:rect b="b" l="l" r="r" t="t"/>
            <a:pathLst>
              <a:path extrusionOk="0" h="3249895" w="2070557">
                <a:moveTo>
                  <a:pt x="1946097" y="3249894"/>
                </a:moveTo>
                <a:lnTo>
                  <a:pt x="124460" y="3249894"/>
                </a:lnTo>
                <a:cubicBezTo>
                  <a:pt x="55880" y="3249894"/>
                  <a:pt x="0" y="3194015"/>
                  <a:pt x="0" y="3125434"/>
                </a:cubicBezTo>
                <a:lnTo>
                  <a:pt x="0" y="124460"/>
                </a:lnTo>
                <a:cubicBezTo>
                  <a:pt x="0" y="55880"/>
                  <a:pt x="55880" y="0"/>
                  <a:pt x="124460" y="0"/>
                </a:cubicBezTo>
                <a:lnTo>
                  <a:pt x="1946097" y="0"/>
                </a:lnTo>
                <a:cubicBezTo>
                  <a:pt x="2014677" y="0"/>
                  <a:pt x="2070557" y="55880"/>
                  <a:pt x="2070557" y="124460"/>
                </a:cubicBezTo>
                <a:lnTo>
                  <a:pt x="2070557" y="3125435"/>
                </a:lnTo>
                <a:cubicBezTo>
                  <a:pt x="2070557" y="3194015"/>
                  <a:pt x="2014677" y="3249895"/>
                  <a:pt x="1946097" y="3249895"/>
                </a:cubicBezTo>
                <a:close/>
              </a:path>
            </a:pathLst>
          </a:custGeom>
          <a:solidFill>
            <a:srgbClr val="0B1120"/>
          </a:solidFill>
          <a:ln cap="flat" cmpd="sng" w="9525">
            <a:solidFill>
              <a:srgbClr val="0C34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34"/>
          <p:cNvSpPr/>
          <p:nvPr/>
        </p:nvSpPr>
        <p:spPr>
          <a:xfrm>
            <a:off x="6883570" y="381155"/>
            <a:ext cx="10988791" cy="9603440"/>
          </a:xfrm>
          <a:custGeom>
            <a:rect b="b" l="l" r="r" t="t"/>
            <a:pathLst>
              <a:path extrusionOk="0" h="3249895" w="3718711">
                <a:moveTo>
                  <a:pt x="3594251" y="3249894"/>
                </a:moveTo>
                <a:lnTo>
                  <a:pt x="124460" y="3249894"/>
                </a:lnTo>
                <a:cubicBezTo>
                  <a:pt x="55880" y="3249894"/>
                  <a:pt x="0" y="3194015"/>
                  <a:pt x="0" y="3125434"/>
                </a:cubicBezTo>
                <a:lnTo>
                  <a:pt x="0" y="124460"/>
                </a:lnTo>
                <a:cubicBezTo>
                  <a:pt x="0" y="55880"/>
                  <a:pt x="55880" y="0"/>
                  <a:pt x="124460" y="0"/>
                </a:cubicBezTo>
                <a:lnTo>
                  <a:pt x="3594251" y="0"/>
                </a:lnTo>
                <a:cubicBezTo>
                  <a:pt x="3662831" y="0"/>
                  <a:pt x="3718711" y="55880"/>
                  <a:pt x="3718711" y="124460"/>
                </a:cubicBezTo>
                <a:lnTo>
                  <a:pt x="3718711" y="3125435"/>
                </a:lnTo>
                <a:cubicBezTo>
                  <a:pt x="3718711" y="3194015"/>
                  <a:pt x="3662831" y="3249895"/>
                  <a:pt x="3594251" y="3249895"/>
                </a:cubicBez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1" name="Google Shape;391;p34"/>
          <p:cNvGrpSpPr/>
          <p:nvPr/>
        </p:nvGrpSpPr>
        <p:grpSpPr>
          <a:xfrm>
            <a:off x="824400" y="957875"/>
            <a:ext cx="5249773" cy="6332300"/>
            <a:chOff x="85850" y="-2746441"/>
            <a:chExt cx="6162429" cy="8443067"/>
          </a:xfrm>
        </p:grpSpPr>
        <p:sp>
          <p:nvSpPr>
            <p:cNvPr id="392" name="Google Shape;392;p34"/>
            <p:cNvSpPr txBox="1"/>
            <p:nvPr/>
          </p:nvSpPr>
          <p:spPr>
            <a:xfrm>
              <a:off x="109679" y="-1555575"/>
              <a:ext cx="6138600" cy="72522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200"/>
                </a:spcBef>
                <a:spcAft>
                  <a:spcPts val="0"/>
                </a:spcAft>
                <a:buNone/>
              </a:pPr>
              <a:r>
                <a:rPr lang="en-US" sz="1891">
                  <a:solidFill>
                    <a:schemeClr val="lt1"/>
                  </a:solidFill>
                </a:rPr>
                <a:t>Middle East Tensions Escalate (Reuters/AP)</a:t>
              </a:r>
              <a:endParaRPr sz="1891">
                <a:solidFill>
                  <a:schemeClr val="lt1"/>
                </a:solidFill>
              </a:endParaRPr>
            </a:p>
            <a:p>
              <a:pPr indent="-348679" lvl="0" marL="457200" rtl="0" algn="l">
                <a:lnSpc>
                  <a:spcPct val="115000"/>
                </a:lnSpc>
                <a:spcBef>
                  <a:spcPts val="1200"/>
                </a:spcBef>
                <a:spcAft>
                  <a:spcPts val="0"/>
                </a:spcAft>
                <a:buClr>
                  <a:schemeClr val="lt1"/>
                </a:buClr>
                <a:buSzPts val="1891"/>
                <a:buChar char="●"/>
              </a:pPr>
              <a:r>
                <a:rPr lang="en-US" sz="1891">
                  <a:solidFill>
                    <a:schemeClr val="lt1"/>
                  </a:solidFill>
                </a:rPr>
                <a:t>US struck Iranian radar sites after drone activity near Gulf shipping routes</a:t>
              </a:r>
              <a:endParaRPr sz="1891">
                <a:solidFill>
                  <a:schemeClr val="lt1"/>
                </a:solidFill>
              </a:endParaRPr>
            </a:p>
            <a:p>
              <a:pPr indent="-348679" lvl="0" marL="457200" rtl="0" algn="l">
                <a:lnSpc>
                  <a:spcPct val="115000"/>
                </a:lnSpc>
                <a:spcBef>
                  <a:spcPts val="0"/>
                </a:spcBef>
                <a:spcAft>
                  <a:spcPts val="0"/>
                </a:spcAft>
                <a:buClr>
                  <a:schemeClr val="lt1"/>
                </a:buClr>
                <a:buSzPts val="1891"/>
                <a:buChar char="●"/>
              </a:pPr>
              <a:r>
                <a:rPr lang="en-US" sz="1891">
                  <a:solidFill>
                    <a:schemeClr val="lt1"/>
                  </a:solidFill>
                </a:rPr>
                <a:t>Potential support for oil prices and defense stocks</a:t>
              </a:r>
              <a:endParaRPr sz="1891">
                <a:solidFill>
                  <a:schemeClr val="lt1"/>
                </a:solidFill>
              </a:endParaRPr>
            </a:p>
            <a:p>
              <a:pPr indent="-348679" lvl="0" marL="457200" rtl="0" algn="l">
                <a:lnSpc>
                  <a:spcPct val="115000"/>
                </a:lnSpc>
                <a:spcBef>
                  <a:spcPts val="0"/>
                </a:spcBef>
                <a:spcAft>
                  <a:spcPts val="0"/>
                </a:spcAft>
                <a:buClr>
                  <a:schemeClr val="lt1"/>
                </a:buClr>
                <a:buSzPts val="1891"/>
                <a:buChar char="●"/>
              </a:pPr>
              <a:r>
                <a:rPr lang="en-US" sz="1891">
                  <a:solidFill>
                    <a:schemeClr val="lt1"/>
                  </a:solidFill>
                </a:rPr>
                <a:t>Increased geopolitical risk may weigh on market sentiment</a:t>
              </a:r>
              <a:endParaRPr sz="1891">
                <a:solidFill>
                  <a:schemeClr val="lt1"/>
                </a:solidFill>
              </a:endParaRPr>
            </a:p>
            <a:p>
              <a:pPr indent="0" lvl="0" marL="0" rtl="0" algn="l">
                <a:lnSpc>
                  <a:spcPct val="115000"/>
                </a:lnSpc>
                <a:spcBef>
                  <a:spcPts val="1200"/>
                </a:spcBef>
                <a:spcAft>
                  <a:spcPts val="0"/>
                </a:spcAft>
                <a:buNone/>
              </a:pPr>
              <a:r>
                <a:rPr lang="en-US" sz="1891">
                  <a:solidFill>
                    <a:schemeClr val="lt1"/>
                  </a:solidFill>
                </a:rPr>
                <a:t>Strong US Jobs Data Pressures Markets (Reuters)</a:t>
              </a:r>
              <a:endParaRPr sz="1891">
                <a:solidFill>
                  <a:schemeClr val="lt1"/>
                </a:solidFill>
              </a:endParaRPr>
            </a:p>
            <a:p>
              <a:pPr indent="-348679" lvl="0" marL="457200" rtl="0" algn="l">
                <a:lnSpc>
                  <a:spcPct val="115000"/>
                </a:lnSpc>
                <a:spcBef>
                  <a:spcPts val="1200"/>
                </a:spcBef>
                <a:spcAft>
                  <a:spcPts val="0"/>
                </a:spcAft>
                <a:buClr>
                  <a:schemeClr val="lt1"/>
                </a:buClr>
                <a:buSzPts val="1891"/>
                <a:buChar char="●"/>
              </a:pPr>
              <a:r>
                <a:rPr lang="en-US" sz="1891">
                  <a:solidFill>
                    <a:schemeClr val="lt1"/>
                  </a:solidFill>
                </a:rPr>
                <a:t>Wall Street fell after stronger-than-expected employment data</a:t>
              </a:r>
              <a:endParaRPr sz="1891">
                <a:solidFill>
                  <a:schemeClr val="lt1"/>
                </a:solidFill>
              </a:endParaRPr>
            </a:p>
            <a:p>
              <a:pPr indent="-348679" lvl="0" marL="457200" rtl="0" algn="l">
                <a:lnSpc>
                  <a:spcPct val="115000"/>
                </a:lnSpc>
                <a:spcBef>
                  <a:spcPts val="0"/>
                </a:spcBef>
                <a:spcAft>
                  <a:spcPts val="0"/>
                </a:spcAft>
                <a:buClr>
                  <a:schemeClr val="lt1"/>
                </a:buClr>
                <a:buSzPts val="1891"/>
                <a:buChar char="●"/>
              </a:pPr>
              <a:r>
                <a:rPr lang="en-US" sz="1891">
                  <a:solidFill>
                    <a:schemeClr val="lt1"/>
                  </a:solidFill>
                </a:rPr>
                <a:t>Markets reduced expectations for future Fed rate cuts</a:t>
              </a:r>
              <a:endParaRPr sz="1891">
                <a:solidFill>
                  <a:schemeClr val="lt1"/>
                </a:solidFill>
              </a:endParaRPr>
            </a:p>
            <a:p>
              <a:pPr indent="-348679" lvl="0" marL="457200" rtl="0" algn="l">
                <a:lnSpc>
                  <a:spcPct val="115000"/>
                </a:lnSpc>
                <a:spcBef>
                  <a:spcPts val="0"/>
                </a:spcBef>
                <a:spcAft>
                  <a:spcPts val="0"/>
                </a:spcAft>
                <a:buClr>
                  <a:schemeClr val="lt1"/>
                </a:buClr>
                <a:buSzPts val="1891"/>
                <a:buChar char="●"/>
              </a:pPr>
              <a:r>
                <a:rPr lang="en-US" sz="1891">
                  <a:solidFill>
                    <a:schemeClr val="lt1"/>
                  </a:solidFill>
                </a:rPr>
                <a:t>Higher-for-longer rates support Treasury yields but pressure growth stocks</a:t>
              </a:r>
              <a:endParaRPr sz="1891">
                <a:solidFill>
                  <a:schemeClr val="lt1"/>
                </a:solidFill>
              </a:endParaRPr>
            </a:p>
          </p:txBody>
        </p:sp>
        <p:sp>
          <p:nvSpPr>
            <p:cNvPr id="393" name="Google Shape;393;p34"/>
            <p:cNvSpPr txBox="1"/>
            <p:nvPr/>
          </p:nvSpPr>
          <p:spPr>
            <a:xfrm>
              <a:off x="85850" y="-2746441"/>
              <a:ext cx="6138600" cy="1085700"/>
            </a:xfrm>
            <a:prstGeom prst="rect">
              <a:avLst/>
            </a:prstGeom>
            <a:noFill/>
            <a:ln>
              <a:noFill/>
            </a:ln>
          </p:spPr>
          <p:txBody>
            <a:bodyPr anchorCtr="0" anchor="t" bIns="0" lIns="0" spcFirstLastPara="1" rIns="0" wrap="square" tIns="0">
              <a:spAutoFit/>
            </a:bodyPr>
            <a:lstStyle/>
            <a:p>
              <a:pPr indent="0" lvl="0" marL="0" rtl="0" algn="ctr">
                <a:lnSpc>
                  <a:spcPct val="130000"/>
                </a:lnSpc>
                <a:spcBef>
                  <a:spcPts val="2200"/>
                </a:spcBef>
                <a:spcAft>
                  <a:spcPts val="2200"/>
                </a:spcAft>
                <a:buSzPts val="1100"/>
                <a:buNone/>
              </a:pPr>
              <a:r>
                <a:rPr b="1" lang="en-US" sz="2300">
                  <a:solidFill>
                    <a:schemeClr val="lt1"/>
                  </a:solidFill>
                </a:rPr>
                <a:t>CONFIRMED NEWS EVENTS (Reuters / AP)</a:t>
              </a:r>
              <a:endParaRPr sz="1500">
                <a:solidFill>
                  <a:schemeClr val="lt1"/>
                </a:solidFill>
              </a:endParaRPr>
            </a:p>
          </p:txBody>
        </p:sp>
      </p:grpSp>
      <p:sp>
        <p:nvSpPr>
          <p:cNvPr id="394" name="Google Shape;394;p34"/>
          <p:cNvSpPr txBox="1"/>
          <p:nvPr/>
        </p:nvSpPr>
        <p:spPr>
          <a:xfrm>
            <a:off x="9082625" y="5748200"/>
            <a:ext cx="6590700" cy="477000"/>
          </a:xfrm>
          <a:prstGeom prst="rect">
            <a:avLst/>
          </a:prstGeom>
          <a:noFill/>
          <a:ln>
            <a:noFill/>
          </a:ln>
        </p:spPr>
        <p:txBody>
          <a:bodyPr anchorCtr="0" anchor="t" bIns="91425" lIns="91425" spcFirstLastPara="1" rIns="91425" wrap="square" tIns="91425">
            <a:spAutoFit/>
          </a:bodyPr>
          <a:lstStyle/>
          <a:p>
            <a:pPr indent="0" lvl="0" marL="0" rtl="0" algn="ctr">
              <a:lnSpc>
                <a:spcPct val="130000"/>
              </a:lnSpc>
              <a:spcBef>
                <a:spcPts val="2200"/>
              </a:spcBef>
              <a:spcAft>
                <a:spcPts val="2200"/>
              </a:spcAft>
              <a:buNone/>
            </a:pPr>
            <a:r>
              <a:rPr b="1" lang="en-US" sz="1900">
                <a:solidFill>
                  <a:schemeClr val="dk1"/>
                </a:solidFill>
              </a:rPr>
              <a:t>Image: News by Reuter.com</a:t>
            </a:r>
            <a:r>
              <a:rPr lang="en-US" sz="1900">
                <a:solidFill>
                  <a:schemeClr val="dk1"/>
                </a:solidFill>
              </a:rPr>
              <a:t> </a:t>
            </a:r>
            <a:endParaRPr b="1" sz="3700">
              <a:solidFill>
                <a:schemeClr val="dk1"/>
              </a:solidFill>
            </a:endParaRPr>
          </a:p>
        </p:txBody>
      </p:sp>
      <p:pic>
        <p:nvPicPr>
          <p:cNvPr id="395" name="Google Shape;395;p34" title="Screenshot (701).png"/>
          <p:cNvPicPr preferRelativeResize="0"/>
          <p:nvPr/>
        </p:nvPicPr>
        <p:blipFill rotWithShape="1">
          <a:blip r:embed="rId3">
            <a:alphaModFix/>
          </a:blip>
          <a:srcRect b="51896" l="0" r="37722" t="16837"/>
          <a:stretch/>
        </p:blipFill>
        <p:spPr>
          <a:xfrm>
            <a:off x="7294325" y="637400"/>
            <a:ext cx="10072051" cy="2869772"/>
          </a:xfrm>
          <a:prstGeom prst="rect">
            <a:avLst/>
          </a:prstGeom>
          <a:noFill/>
          <a:ln>
            <a:noFill/>
          </a:ln>
        </p:spPr>
      </p:pic>
      <p:pic>
        <p:nvPicPr>
          <p:cNvPr id="396" name="Google Shape;396;p34" title="Screenshot (708).png"/>
          <p:cNvPicPr preferRelativeResize="0"/>
          <p:nvPr/>
        </p:nvPicPr>
        <p:blipFill rotWithShape="1">
          <a:blip r:embed="rId4">
            <a:alphaModFix/>
          </a:blip>
          <a:srcRect b="14158" l="0" r="64907" t="39451"/>
          <a:stretch/>
        </p:blipFill>
        <p:spPr>
          <a:xfrm>
            <a:off x="9946313" y="6378025"/>
            <a:ext cx="4244975" cy="2651900"/>
          </a:xfrm>
          <a:prstGeom prst="rect">
            <a:avLst/>
          </a:prstGeom>
          <a:noFill/>
          <a:ln>
            <a:noFill/>
          </a:ln>
        </p:spPr>
      </p:pic>
      <p:pic>
        <p:nvPicPr>
          <p:cNvPr id="397" name="Google Shape;397;p34" title="Screenshot (707).png"/>
          <p:cNvPicPr preferRelativeResize="0"/>
          <p:nvPr/>
        </p:nvPicPr>
        <p:blipFill rotWithShape="1">
          <a:blip r:embed="rId5">
            <a:alphaModFix/>
          </a:blip>
          <a:srcRect b="58964" l="0" r="36330" t="13094"/>
          <a:stretch/>
        </p:blipFill>
        <p:spPr>
          <a:xfrm>
            <a:off x="7294337" y="3507176"/>
            <a:ext cx="10072027" cy="2241024"/>
          </a:xfrm>
          <a:prstGeom prst="rect">
            <a:avLst/>
          </a:prstGeom>
          <a:noFill/>
          <a:ln>
            <a:noFill/>
          </a:ln>
        </p:spPr>
      </p:pic>
      <p:sp>
        <p:nvSpPr>
          <p:cNvPr id="398" name="Google Shape;398;p34"/>
          <p:cNvSpPr txBox="1"/>
          <p:nvPr/>
        </p:nvSpPr>
        <p:spPr>
          <a:xfrm>
            <a:off x="9391764" y="9029925"/>
            <a:ext cx="5972400" cy="477000"/>
          </a:xfrm>
          <a:prstGeom prst="rect">
            <a:avLst/>
          </a:prstGeom>
          <a:noFill/>
          <a:ln>
            <a:noFill/>
          </a:ln>
        </p:spPr>
        <p:txBody>
          <a:bodyPr anchorCtr="0" anchor="t" bIns="91425" lIns="91425" spcFirstLastPara="1" rIns="91425" wrap="square" tIns="91425">
            <a:spAutoFit/>
          </a:bodyPr>
          <a:lstStyle/>
          <a:p>
            <a:pPr indent="0" lvl="0" marL="0" rtl="0" algn="ctr">
              <a:lnSpc>
                <a:spcPct val="130000"/>
              </a:lnSpc>
              <a:spcBef>
                <a:spcPts val="2200"/>
              </a:spcBef>
              <a:spcAft>
                <a:spcPts val="2200"/>
              </a:spcAft>
              <a:buNone/>
            </a:pPr>
            <a:r>
              <a:rPr b="1" lang="en-US" sz="1900">
                <a:solidFill>
                  <a:schemeClr val="dk1"/>
                </a:solidFill>
              </a:rPr>
              <a:t>Image: News about Iran war by Apnews.com</a:t>
            </a:r>
            <a:r>
              <a:rPr lang="en-US" sz="1900">
                <a:solidFill>
                  <a:schemeClr val="dk1"/>
                </a:solidFill>
              </a:rPr>
              <a:t> </a:t>
            </a:r>
            <a:endParaRPr b="1" sz="3700">
              <a:solidFill>
                <a:schemeClr val="dk1"/>
              </a:solidFill>
            </a:endParaRPr>
          </a:p>
        </p:txBody>
      </p:sp>
      <p:sp>
        <p:nvSpPr>
          <p:cNvPr id="399" name="Google Shape;399;p34"/>
          <p:cNvSpPr txBox="1"/>
          <p:nvPr/>
        </p:nvSpPr>
        <p:spPr>
          <a:xfrm>
            <a:off x="17645100" y="0"/>
            <a:ext cx="642900" cy="523200"/>
          </a:xfrm>
          <a:prstGeom prst="rect">
            <a:avLst/>
          </a:prstGeom>
          <a:noFill/>
          <a:ln>
            <a:noFill/>
          </a:ln>
        </p:spPr>
        <p:txBody>
          <a:bodyPr anchorCtr="0" anchor="t" bIns="91425" lIns="91425" spcFirstLastPara="1" rIns="91425" wrap="square" tIns="91425">
            <a:spAutoFit/>
          </a:bodyPr>
          <a:lstStyle/>
          <a:p>
            <a:pPr indent="0" lvl="0" marL="0" rtl="0" algn="ctr">
              <a:lnSpc>
                <a:spcPct val="130000"/>
              </a:lnSpc>
              <a:spcBef>
                <a:spcPts val="2200"/>
              </a:spcBef>
              <a:spcAft>
                <a:spcPts val="2200"/>
              </a:spcAft>
              <a:buNone/>
            </a:pPr>
            <a:r>
              <a:rPr b="1" lang="en-US" sz="2200">
                <a:solidFill>
                  <a:schemeClr val="dk1"/>
                </a:solidFill>
              </a:rPr>
              <a:t>R4</a:t>
            </a:r>
            <a:endParaRPr b="1" sz="2200">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pic>
        <p:nvPicPr>
          <p:cNvPr id="404" name="Google Shape;404;p35"/>
          <p:cNvPicPr preferRelativeResize="0"/>
          <p:nvPr/>
        </p:nvPicPr>
        <p:blipFill>
          <a:blip r:embed="rId3">
            <a:alphaModFix/>
          </a:blip>
          <a:stretch>
            <a:fillRect/>
          </a:stretch>
        </p:blipFill>
        <p:spPr>
          <a:xfrm>
            <a:off x="152400" y="152400"/>
            <a:ext cx="18135600" cy="10201275"/>
          </a:xfrm>
          <a:prstGeom prst="rect">
            <a:avLst/>
          </a:prstGeom>
          <a:noFill/>
          <a:ln cap="flat" cmpd="sng" w="9525">
            <a:solidFill>
              <a:srgbClr val="0B1120"/>
            </a:solidFill>
            <a:prstDash val="solid"/>
            <a:round/>
            <a:headEnd len="sm" w="sm" type="none"/>
            <a:tailEnd len="sm" w="sm" type="none"/>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pic>
        <p:nvPicPr>
          <p:cNvPr id="409" name="Google Shape;409;p36"/>
          <p:cNvPicPr preferRelativeResize="0"/>
          <p:nvPr/>
        </p:nvPicPr>
        <p:blipFill>
          <a:blip r:embed="rId3">
            <a:alphaModFix/>
          </a:blip>
          <a:stretch>
            <a:fillRect/>
          </a:stretch>
        </p:blipFill>
        <p:spPr>
          <a:xfrm>
            <a:off x="152400" y="152400"/>
            <a:ext cx="18135600" cy="101346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pic>
        <p:nvPicPr>
          <p:cNvPr descr="preencoded.png" id="415" name="Google Shape;415;p37"/>
          <p:cNvPicPr preferRelativeResize="0"/>
          <p:nvPr/>
        </p:nvPicPr>
        <p:blipFill rotWithShape="1">
          <a:blip r:embed="rId3">
            <a:alphaModFix/>
          </a:blip>
          <a:srcRect b="0" l="0" r="0" t="0"/>
          <a:stretch/>
        </p:blipFill>
        <p:spPr>
          <a:xfrm>
            <a:off x="0" y="0"/>
            <a:ext cx="7543800" cy="10287000"/>
          </a:xfrm>
          <a:prstGeom prst="rect">
            <a:avLst/>
          </a:prstGeom>
          <a:noFill/>
          <a:ln>
            <a:noFill/>
          </a:ln>
        </p:spPr>
      </p:pic>
      <p:sp>
        <p:nvSpPr>
          <p:cNvPr id="416" name="Google Shape;416;p37"/>
          <p:cNvSpPr/>
          <p:nvPr/>
        </p:nvSpPr>
        <p:spPr>
          <a:xfrm>
            <a:off x="7850238" y="3601640"/>
            <a:ext cx="9445526" cy="1550194"/>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4B6981"/>
              </a:buClr>
              <a:buSzPts val="4800"/>
              <a:buFont typeface="Playfair Display SemiBold"/>
              <a:buNone/>
            </a:pPr>
            <a:r>
              <a:rPr b="0" i="0" lang="en-US" sz="4800" u="none" cap="none" strike="noStrike">
                <a:solidFill>
                  <a:srgbClr val="4B6981"/>
                </a:solidFill>
                <a:latin typeface="Playfair Display SemiBold"/>
                <a:ea typeface="Playfair Display SemiBold"/>
                <a:cs typeface="Playfair Display SemiBold"/>
                <a:sym typeface="Playfair Display SemiBold"/>
              </a:rPr>
              <a:t>Week 3 Sprint Review: Market Intelligence Synthesis</a:t>
            </a:r>
            <a:endParaRPr b="0" i="0" sz="4800" u="none" cap="none" strike="noStrike"/>
          </a:p>
        </p:txBody>
      </p:sp>
      <p:sp>
        <p:nvSpPr>
          <p:cNvPr id="417" name="Google Shape;417;p37"/>
          <p:cNvSpPr/>
          <p:nvPr/>
        </p:nvSpPr>
        <p:spPr>
          <a:xfrm>
            <a:off x="7850238" y="5523904"/>
            <a:ext cx="10359926" cy="396924"/>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6F655D"/>
              </a:buClr>
              <a:buSzPts val="1900"/>
              <a:buFont typeface="Public Sans"/>
              <a:buNone/>
            </a:pPr>
            <a:r>
              <a:rPr b="0" i="0" lang="en-US" sz="1900" u="none" cap="none" strike="noStrike">
                <a:solidFill>
                  <a:srgbClr val="6F655D"/>
                </a:solidFill>
                <a:latin typeface="Public Sans"/>
                <a:ea typeface="Public Sans"/>
                <a:cs typeface="Public Sans"/>
                <a:sym typeface="Public Sans"/>
              </a:rPr>
              <a:t>CP3405 DT3 — R6 (LLM Synthesis) &amp; R7 (Human Score) Report</a:t>
            </a:r>
            <a:endParaRPr b="0" i="0" sz="1900" u="none" cap="none" strike="noStrike"/>
          </a:p>
        </p:txBody>
      </p:sp>
      <p:sp>
        <p:nvSpPr>
          <p:cNvPr id="418" name="Google Shape;418;p37"/>
          <p:cNvSpPr/>
          <p:nvPr/>
        </p:nvSpPr>
        <p:spPr>
          <a:xfrm>
            <a:off x="7850238" y="6209408"/>
            <a:ext cx="1822698" cy="466428"/>
          </a:xfrm>
          <a:prstGeom prst="roundRect">
            <a:avLst>
              <a:gd fmla="val 17872" name="adj"/>
            </a:avLst>
          </a:prstGeom>
          <a:solidFill>
            <a:srgbClr val="EEDDDD"/>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419" name="Google Shape;419;p37"/>
          <p:cNvSpPr/>
          <p:nvPr/>
        </p:nvSpPr>
        <p:spPr>
          <a:xfrm>
            <a:off x="7999066" y="6283822"/>
            <a:ext cx="2439442" cy="317600"/>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6F655D"/>
              </a:buClr>
              <a:buSzPts val="1500"/>
              <a:buFont typeface="Public Sans"/>
              <a:buNone/>
            </a:pPr>
            <a:r>
              <a:rPr b="0" i="0" lang="en-US" sz="1500" u="none" cap="none" strike="noStrike">
                <a:solidFill>
                  <a:srgbClr val="6F655D"/>
                </a:solidFill>
                <a:latin typeface="Public Sans"/>
                <a:ea typeface="Public Sans"/>
                <a:cs typeface="Public Sans"/>
                <a:sym typeface="Public Sans"/>
              </a:rPr>
              <a:t>SPRINT REVIEW</a:t>
            </a:r>
            <a:endParaRPr b="0" i="0" sz="1500" u="none" cap="none" strike="noStrike"/>
          </a:p>
        </p:txBody>
      </p:sp>
      <p:sp>
        <p:nvSpPr>
          <p:cNvPr id="420" name="Google Shape;420;p37"/>
          <p:cNvSpPr/>
          <p:nvPr/>
        </p:nvSpPr>
        <p:spPr>
          <a:xfrm>
            <a:off x="9796908" y="6199882"/>
            <a:ext cx="1063228" cy="485478"/>
          </a:xfrm>
          <a:prstGeom prst="roundRect">
            <a:avLst>
              <a:gd fmla="val 17171" name="adj"/>
            </a:avLst>
          </a:prstGeom>
          <a:noFill/>
          <a:ln cap="flat" cmpd="sng" w="9525">
            <a:solidFill>
              <a:srgbClr val="E1C2C2"/>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421" name="Google Shape;421;p37"/>
          <p:cNvSpPr/>
          <p:nvPr/>
        </p:nvSpPr>
        <p:spPr>
          <a:xfrm>
            <a:off x="9955262" y="6283822"/>
            <a:ext cx="1660922" cy="317600"/>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E1C2C2"/>
              </a:buClr>
              <a:buSzPts val="1500"/>
              <a:buFont typeface="Public Sans"/>
              <a:buNone/>
            </a:pPr>
            <a:r>
              <a:rPr b="0" i="0" lang="en-US" sz="1500" u="none" cap="none" strike="noStrike">
                <a:solidFill>
                  <a:srgbClr val="E1C2C2"/>
                </a:solidFill>
                <a:latin typeface="Public Sans"/>
                <a:ea typeface="Public Sans"/>
                <a:cs typeface="Public Sans"/>
                <a:sym typeface="Public Sans"/>
              </a:rPr>
              <a:t>WEEK 3</a:t>
            </a:r>
            <a:endParaRPr b="0" i="0" sz="1500" u="none" cap="none" strike="noStrike"/>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38"/>
          <p:cNvSpPr/>
          <p:nvPr/>
        </p:nvSpPr>
        <p:spPr>
          <a:xfrm>
            <a:off x="868264" y="602754"/>
            <a:ext cx="2133154" cy="390526"/>
          </a:xfrm>
          <a:prstGeom prst="roundRect">
            <a:avLst>
              <a:gd fmla="val 18677" name="adj"/>
            </a:avLst>
          </a:prstGeom>
          <a:solidFill>
            <a:srgbClr val="EEDDDD"/>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428" name="Google Shape;428;p38"/>
          <p:cNvSpPr/>
          <p:nvPr/>
        </p:nvSpPr>
        <p:spPr>
          <a:xfrm>
            <a:off x="998488" y="667792"/>
            <a:ext cx="2787104" cy="26045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6F655D"/>
              </a:buClr>
              <a:buSzPts val="1300"/>
              <a:buFont typeface="Public Sans"/>
              <a:buNone/>
            </a:pPr>
            <a:r>
              <a:rPr b="0" i="0" lang="en-US" sz="1300" u="none" cap="none" strike="noStrike">
                <a:solidFill>
                  <a:srgbClr val="6F655D"/>
                </a:solidFill>
                <a:latin typeface="Public Sans"/>
                <a:ea typeface="Public Sans"/>
                <a:cs typeface="Public Sans"/>
                <a:sym typeface="Public Sans"/>
              </a:rPr>
              <a:t>R6 — LLM SYNTHESIS</a:t>
            </a:r>
            <a:endParaRPr b="0" i="0" sz="1300" u="none" cap="none" strike="noStrike"/>
          </a:p>
        </p:txBody>
      </p:sp>
      <p:sp>
        <p:nvSpPr>
          <p:cNvPr id="429" name="Google Shape;429;p38"/>
          <p:cNvSpPr/>
          <p:nvPr/>
        </p:nvSpPr>
        <p:spPr>
          <a:xfrm>
            <a:off x="868264" y="1069182"/>
            <a:ext cx="7691884" cy="67835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4B6981"/>
              </a:buClr>
              <a:buSzPts val="4200"/>
              <a:buFont typeface="Playfair Display SemiBold"/>
              <a:buNone/>
            </a:pPr>
            <a:r>
              <a:rPr b="0" i="0" lang="en-US" sz="4200" u="none" cap="none" strike="noStrike">
                <a:solidFill>
                  <a:srgbClr val="4B6981"/>
                </a:solidFill>
                <a:latin typeface="Playfair Display SemiBold"/>
                <a:ea typeface="Playfair Display SemiBold"/>
                <a:cs typeface="Playfair Display SemiBold"/>
                <a:sym typeface="Playfair Display SemiBold"/>
              </a:rPr>
              <a:t>The LLM Synthesis Process</a:t>
            </a:r>
            <a:endParaRPr b="0" i="0" sz="4200" u="none" cap="none" strike="noStrike"/>
          </a:p>
        </p:txBody>
      </p:sp>
      <p:sp>
        <p:nvSpPr>
          <p:cNvPr id="430" name="Google Shape;430;p38"/>
          <p:cNvSpPr/>
          <p:nvPr/>
        </p:nvSpPr>
        <p:spPr>
          <a:xfrm>
            <a:off x="868264" y="1823442"/>
            <a:ext cx="6035426" cy="33903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4B6981"/>
              </a:buClr>
              <a:buSzPts val="2100"/>
              <a:buFont typeface="Playfair Display SemiBold"/>
              <a:buNone/>
            </a:pPr>
            <a:r>
              <a:rPr b="0" i="0" lang="en-US" sz="2100" u="none" cap="none" strike="noStrike">
                <a:solidFill>
                  <a:srgbClr val="4B6981"/>
                </a:solidFill>
                <a:latin typeface="Playfair Display SemiBold"/>
                <a:ea typeface="Playfair Display SemiBold"/>
                <a:cs typeface="Playfair Display SemiBold"/>
                <a:sym typeface="Playfair Display SemiBold"/>
              </a:rPr>
              <a:t>Ensuring Fair and Rigorous AI Evaluation</a:t>
            </a:r>
            <a:endParaRPr b="0" i="0" sz="2100" u="none" cap="none" strike="noStrike"/>
          </a:p>
        </p:txBody>
      </p:sp>
      <p:sp>
        <p:nvSpPr>
          <p:cNvPr id="431" name="Google Shape;431;p38"/>
          <p:cNvSpPr/>
          <p:nvPr/>
        </p:nvSpPr>
        <p:spPr>
          <a:xfrm>
            <a:off x="868264" y="2447330"/>
            <a:ext cx="16551474" cy="97690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6F655D"/>
              </a:buClr>
              <a:buSzPts val="1700"/>
              <a:buFont typeface="Public Sans"/>
              <a:buNone/>
            </a:pPr>
            <a:r>
              <a:rPr b="0" i="0" lang="en-US" sz="1700" u="none" cap="none" strike="noStrike">
                <a:solidFill>
                  <a:srgbClr val="6F655D"/>
                </a:solidFill>
                <a:latin typeface="Public Sans"/>
                <a:ea typeface="Public Sans"/>
                <a:cs typeface="Public Sans"/>
                <a:sym typeface="Public Sans"/>
              </a:rPr>
              <a:t>The core objective of the R6 role this sprint was to aggregate, sanitize, and stress-test data across four distinct AI models — Claude, ChatGPT, Gemini, and DeepSeek — without introducing bias at any stage of the pipeline. Achieving comparability required strict procedural discipline: all models received the same locked input data, executed at the same time, under the same prompt structure.</a:t>
            </a:r>
            <a:endParaRPr b="0" i="0" sz="1700" u="none" cap="none" strike="noStrike"/>
          </a:p>
        </p:txBody>
      </p:sp>
      <p:sp>
        <p:nvSpPr>
          <p:cNvPr id="432" name="Google Shape;432;p38"/>
          <p:cNvSpPr/>
          <p:nvPr/>
        </p:nvSpPr>
        <p:spPr>
          <a:xfrm>
            <a:off x="711994" y="3637806"/>
            <a:ext cx="8323510" cy="3523060"/>
          </a:xfrm>
          <a:prstGeom prst="roundRect">
            <a:avLst>
              <a:gd fmla="val 4436" name="adj"/>
            </a:avLst>
          </a:prstGeom>
          <a:solidFill>
            <a:srgbClr val="B05B5C"/>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433" name="Google Shape;433;p38"/>
          <p:cNvSpPr/>
          <p:nvPr/>
        </p:nvSpPr>
        <p:spPr>
          <a:xfrm>
            <a:off x="928986" y="3827710"/>
            <a:ext cx="3627834" cy="33903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2100"/>
              <a:buFont typeface="Playfair Display SemiBold"/>
              <a:buNone/>
            </a:pPr>
            <a:r>
              <a:rPr b="0" i="0" lang="en-US" sz="2100" u="none" cap="none" strike="noStrike">
                <a:solidFill>
                  <a:srgbClr val="FFFFFF"/>
                </a:solidFill>
                <a:latin typeface="Playfair Display SemiBold"/>
                <a:ea typeface="Playfair Display SemiBold"/>
                <a:cs typeface="Playfair Display SemiBold"/>
                <a:sym typeface="Playfair Display SemiBold"/>
              </a:rPr>
              <a:t>The Goal</a:t>
            </a:r>
            <a:endParaRPr b="0" i="0" sz="2100" u="none" cap="none" strike="noStrike"/>
          </a:p>
        </p:txBody>
      </p:sp>
      <p:sp>
        <p:nvSpPr>
          <p:cNvPr id="434" name="Google Shape;434;p38"/>
          <p:cNvSpPr/>
          <p:nvPr/>
        </p:nvSpPr>
        <p:spPr>
          <a:xfrm>
            <a:off x="928986" y="4356646"/>
            <a:ext cx="7889528" cy="97690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FFFFF"/>
              </a:buClr>
              <a:buSzPts val="1700"/>
              <a:buFont typeface="Public Sans"/>
              <a:buNone/>
            </a:pPr>
            <a:r>
              <a:rPr b="0" i="0" lang="en-US" sz="1700" u="none" cap="none" strike="noStrike">
                <a:solidFill>
                  <a:srgbClr val="FFFFFF"/>
                </a:solidFill>
                <a:latin typeface="Public Sans"/>
                <a:ea typeface="Public Sans"/>
                <a:cs typeface="Public Sans"/>
                <a:sym typeface="Public Sans"/>
              </a:rPr>
              <a:t>Build a rigorous "AI Stress Test" to evaluate model reasoning under conflicting macroeconomic, technical, and seasonal data — without contaminating any model's context prior to output extraction.</a:t>
            </a:r>
            <a:endParaRPr b="0" i="0" sz="1700" u="none" cap="none" strike="noStrike"/>
          </a:p>
        </p:txBody>
      </p:sp>
      <p:sp>
        <p:nvSpPr>
          <p:cNvPr id="435" name="Google Shape;435;p38"/>
          <p:cNvSpPr/>
          <p:nvPr/>
        </p:nvSpPr>
        <p:spPr>
          <a:xfrm>
            <a:off x="928986" y="5504408"/>
            <a:ext cx="7889528" cy="1109662"/>
          </a:xfrm>
          <a:prstGeom prst="rect">
            <a:avLst/>
          </a:prstGeom>
          <a:noFill/>
          <a:ln>
            <a:noFill/>
          </a:ln>
        </p:spPr>
        <p:txBody>
          <a:bodyPr anchorCtr="0" anchor="t" bIns="0" lIns="0" spcFirstLastPara="1" rIns="0" wrap="square" tIns="0">
            <a:noAutofit/>
          </a:bodyPr>
          <a:lstStyle/>
          <a:p>
            <a:pPr indent="-679450" lvl="0" marL="685800" marR="0" rtl="0" algn="l">
              <a:lnSpc>
                <a:spcPct val="125000"/>
              </a:lnSpc>
              <a:spcBef>
                <a:spcPts val="0"/>
              </a:spcBef>
              <a:spcAft>
                <a:spcPts val="0"/>
              </a:spcAft>
              <a:buClr>
                <a:srgbClr val="FFFFFF"/>
              </a:buClr>
              <a:buSzPts val="1700"/>
              <a:buFont typeface="Public Sans"/>
              <a:buChar char="•"/>
            </a:pPr>
            <a:r>
              <a:rPr b="0" i="0" lang="en-US" sz="1700" u="none" cap="none" strike="noStrike">
                <a:solidFill>
                  <a:srgbClr val="FFFFFF"/>
                </a:solidFill>
                <a:latin typeface="Public Sans"/>
                <a:ea typeface="Public Sans"/>
                <a:cs typeface="Public Sans"/>
                <a:sym typeface="Public Sans"/>
              </a:rPr>
              <a:t>Four models evaluated in parallel: Claude, ChatGPT, Gemini, DeepSeek</a:t>
            </a:r>
            <a:endParaRPr b="0" i="0" sz="1700" u="none" cap="none" strike="noStrike"/>
          </a:p>
          <a:p>
            <a:pPr indent="-679450" lvl="0" marL="685800" marR="0" rtl="0" algn="l">
              <a:lnSpc>
                <a:spcPct val="125000"/>
              </a:lnSpc>
              <a:spcBef>
                <a:spcPts val="0"/>
              </a:spcBef>
              <a:spcAft>
                <a:spcPts val="0"/>
              </a:spcAft>
              <a:buClr>
                <a:srgbClr val="FFFFFF"/>
              </a:buClr>
              <a:buSzPts val="1700"/>
              <a:buFont typeface="Public Sans"/>
              <a:buChar char="•"/>
            </a:pPr>
            <a:r>
              <a:rPr b="0" i="0" lang="en-US" sz="1700" u="none" cap="none" strike="noStrike">
                <a:solidFill>
                  <a:srgbClr val="FFFFFF"/>
                </a:solidFill>
                <a:latin typeface="Public Sans"/>
                <a:ea typeface="Public Sans"/>
                <a:cs typeface="Public Sans"/>
                <a:sym typeface="Public Sans"/>
              </a:rPr>
              <a:t>Identical Master Prompt administered simultaneously to all models</a:t>
            </a:r>
            <a:endParaRPr b="0" i="0" sz="1700" u="none" cap="none" strike="noStrike"/>
          </a:p>
          <a:p>
            <a:pPr indent="-679450" lvl="0" marL="685800" marR="0" rtl="0" algn="l">
              <a:lnSpc>
                <a:spcPct val="125000"/>
              </a:lnSpc>
              <a:spcBef>
                <a:spcPts val="0"/>
              </a:spcBef>
              <a:spcAft>
                <a:spcPts val="0"/>
              </a:spcAft>
              <a:buClr>
                <a:srgbClr val="FFFFFF"/>
              </a:buClr>
              <a:buSzPts val="1700"/>
              <a:buFont typeface="Public Sans"/>
              <a:buChar char="•"/>
            </a:pPr>
            <a:r>
              <a:rPr b="0" i="0" lang="en-US" sz="1700" u="none" cap="none" strike="noStrike">
                <a:solidFill>
                  <a:srgbClr val="FFFFFF"/>
                </a:solidFill>
                <a:latin typeface="Public Sans"/>
                <a:ea typeface="Public Sans"/>
                <a:cs typeface="Public Sans"/>
                <a:sym typeface="Public Sans"/>
              </a:rPr>
              <a:t>No cross-model outputs shared prior to comparison</a:t>
            </a:r>
            <a:endParaRPr b="0" i="0" sz="1700" u="none" cap="none" strike="noStrike"/>
          </a:p>
        </p:txBody>
      </p:sp>
      <p:sp>
        <p:nvSpPr>
          <p:cNvPr id="436" name="Google Shape;436;p38"/>
          <p:cNvSpPr/>
          <p:nvPr/>
        </p:nvSpPr>
        <p:spPr>
          <a:xfrm>
            <a:off x="9418290" y="3827710"/>
            <a:ext cx="3627834" cy="33903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4B6981"/>
              </a:buClr>
              <a:buSzPts val="2100"/>
              <a:buFont typeface="Playfair Display SemiBold"/>
              <a:buNone/>
            </a:pPr>
            <a:r>
              <a:rPr b="0" i="0" lang="en-US" sz="2100" u="none" cap="none" strike="noStrike">
                <a:solidFill>
                  <a:srgbClr val="4B6981"/>
                </a:solidFill>
                <a:latin typeface="Playfair Display SemiBold"/>
                <a:ea typeface="Playfair Display SemiBold"/>
                <a:cs typeface="Playfair Display SemiBold"/>
                <a:sym typeface="Playfair Display SemiBold"/>
              </a:rPr>
              <a:t>The Process</a:t>
            </a:r>
            <a:endParaRPr b="0" i="0" sz="2100" u="none" cap="none" strike="noStrike"/>
          </a:p>
        </p:txBody>
      </p:sp>
      <p:sp>
        <p:nvSpPr>
          <p:cNvPr id="437" name="Google Shape;437;p38"/>
          <p:cNvSpPr/>
          <p:nvPr/>
        </p:nvSpPr>
        <p:spPr>
          <a:xfrm>
            <a:off x="9418290" y="4356646"/>
            <a:ext cx="8010972" cy="2737842"/>
          </a:xfrm>
          <a:prstGeom prst="rect">
            <a:avLst/>
          </a:prstGeom>
          <a:noFill/>
          <a:ln>
            <a:noFill/>
          </a:ln>
        </p:spPr>
        <p:txBody>
          <a:bodyPr anchorCtr="0" anchor="t" bIns="0" lIns="0" spcFirstLastPara="1" rIns="0" wrap="square" tIns="0">
            <a:noAutofit/>
          </a:bodyPr>
          <a:lstStyle/>
          <a:p>
            <a:pPr indent="-679450" lvl="0" marL="685800" marR="0" rtl="0" algn="l">
              <a:lnSpc>
                <a:spcPct val="125000"/>
              </a:lnSpc>
              <a:spcBef>
                <a:spcPts val="0"/>
              </a:spcBef>
              <a:spcAft>
                <a:spcPts val="0"/>
              </a:spcAft>
              <a:buClr>
                <a:srgbClr val="6F655D"/>
              </a:buClr>
              <a:buSzPts val="1700"/>
              <a:buFont typeface="Calibri"/>
              <a:buAutoNum type="arabicPeriod"/>
            </a:pPr>
            <a:r>
              <a:rPr b="1" i="0" lang="en-US" sz="1700" u="none" cap="none" strike="noStrike">
                <a:solidFill>
                  <a:srgbClr val="6F655D"/>
                </a:solidFill>
                <a:latin typeface="Public Sans"/>
                <a:ea typeface="Public Sans"/>
                <a:cs typeface="Public Sans"/>
                <a:sym typeface="Public Sans"/>
              </a:rPr>
              <a:t>Data Extraction</a:t>
            </a:r>
            <a:r>
              <a:rPr b="0" i="0" lang="en-US" sz="1700" u="none" cap="none" strike="noStrike">
                <a:solidFill>
                  <a:srgbClr val="6F655D"/>
                </a:solidFill>
                <a:latin typeface="Public Sans"/>
                <a:ea typeface="Public Sans"/>
                <a:cs typeface="Public Sans"/>
                <a:sym typeface="Public Sans"/>
              </a:rPr>
              <a:t>: Pulled locked evidence from R3 (Almanac), R4 (Macro), and R5 (Technical) — no new data sources introduced.</a:t>
            </a:r>
            <a:endParaRPr b="0" i="0" sz="1700" u="none" cap="none" strike="noStrike"/>
          </a:p>
          <a:p>
            <a:pPr indent="-679450" lvl="0" marL="685800" marR="0" rtl="0" algn="l">
              <a:lnSpc>
                <a:spcPct val="125000"/>
              </a:lnSpc>
              <a:spcBef>
                <a:spcPts val="0"/>
              </a:spcBef>
              <a:spcAft>
                <a:spcPts val="0"/>
              </a:spcAft>
              <a:buClr>
                <a:srgbClr val="6F655D"/>
              </a:buClr>
              <a:buSzPts val="1700"/>
              <a:buFont typeface="Calibri"/>
              <a:buAutoNum type="arabicPeriod"/>
            </a:pPr>
            <a:r>
              <a:rPr b="1" i="0" lang="en-US" sz="1700" u="none" cap="none" strike="noStrike">
                <a:solidFill>
                  <a:srgbClr val="6F655D"/>
                </a:solidFill>
                <a:latin typeface="Public Sans"/>
                <a:ea typeface="Public Sans"/>
                <a:cs typeface="Public Sans"/>
                <a:sym typeface="Public Sans"/>
              </a:rPr>
              <a:t>Simultaneous Execution</a:t>
            </a:r>
            <a:r>
              <a:rPr b="0" i="0" lang="en-US" sz="1700" u="none" cap="none" strike="noStrike">
                <a:solidFill>
                  <a:srgbClr val="6F655D"/>
                </a:solidFill>
                <a:latin typeface="Public Sans"/>
                <a:ea typeface="Public Sans"/>
                <a:cs typeface="Public Sans"/>
                <a:sym typeface="Public Sans"/>
              </a:rPr>
              <a:t>: The identical Master Prompt was run across all four LLMs at the same time to prevent context contamination and ensure output independence.</a:t>
            </a:r>
            <a:endParaRPr b="0" i="0" sz="1700" u="none" cap="none" strike="noStrike"/>
          </a:p>
          <a:p>
            <a:pPr indent="-679450" lvl="0" marL="685800" marR="0" rtl="0" algn="l">
              <a:lnSpc>
                <a:spcPct val="125000"/>
              </a:lnSpc>
              <a:spcBef>
                <a:spcPts val="0"/>
              </a:spcBef>
              <a:spcAft>
                <a:spcPts val="0"/>
              </a:spcAft>
              <a:buClr>
                <a:srgbClr val="6F655D"/>
              </a:buClr>
              <a:buSzPts val="1700"/>
              <a:buFont typeface="Calibri"/>
              <a:buAutoNum type="arabicPeriod"/>
            </a:pPr>
            <a:r>
              <a:rPr b="1" i="0" lang="en-US" sz="1700" u="none" cap="none" strike="noStrike">
                <a:solidFill>
                  <a:srgbClr val="6F655D"/>
                </a:solidFill>
                <a:latin typeface="Public Sans"/>
                <a:ea typeface="Public Sans"/>
                <a:cs typeface="Public Sans"/>
                <a:sym typeface="Public Sans"/>
              </a:rPr>
              <a:t>Structured Output Capture</a:t>
            </a:r>
            <a:r>
              <a:rPr b="0" i="0" lang="en-US" sz="1700" u="none" cap="none" strike="noStrike">
                <a:solidFill>
                  <a:srgbClr val="6F655D"/>
                </a:solidFill>
                <a:latin typeface="Public Sans"/>
                <a:ea typeface="Public Sans"/>
                <a:cs typeface="Public Sans"/>
                <a:sym typeface="Public Sans"/>
              </a:rPr>
              <a:t>: Extracted the 8-point required output structure from each model's raw response to form the Multi-LLM Comparison Table.</a:t>
            </a:r>
            <a:endParaRPr b="0" i="0" sz="1700" u="none" cap="none" strike="noStrike"/>
          </a:p>
        </p:txBody>
      </p:sp>
      <p:sp>
        <p:nvSpPr>
          <p:cNvPr id="438" name="Google Shape;438;p38"/>
          <p:cNvSpPr/>
          <p:nvPr/>
        </p:nvSpPr>
        <p:spPr>
          <a:xfrm>
            <a:off x="868264" y="7374434"/>
            <a:ext cx="16551474" cy="1101328"/>
          </a:xfrm>
          <a:prstGeom prst="roundRect">
            <a:avLst>
              <a:gd fmla="val 8279" name="adj"/>
            </a:avLst>
          </a:prstGeom>
          <a:solidFill>
            <a:srgbClr val="B6D6FC"/>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pic>
        <p:nvPicPr>
          <p:cNvPr descr="preencoded.png" id="439" name="Google Shape;439;p38"/>
          <p:cNvPicPr preferRelativeResize="0"/>
          <p:nvPr/>
        </p:nvPicPr>
        <p:blipFill rotWithShape="1">
          <a:blip r:embed="rId3">
            <a:alphaModFix/>
          </a:blip>
          <a:srcRect b="0" l="0" r="0" t="0"/>
          <a:stretch/>
        </p:blipFill>
        <p:spPr>
          <a:xfrm>
            <a:off x="1085254" y="7674768"/>
            <a:ext cx="271314" cy="216992"/>
          </a:xfrm>
          <a:prstGeom prst="rect">
            <a:avLst/>
          </a:prstGeom>
          <a:noFill/>
          <a:ln>
            <a:noFill/>
          </a:ln>
        </p:spPr>
      </p:pic>
      <p:sp>
        <p:nvSpPr>
          <p:cNvPr id="440" name="Google Shape;440;p38"/>
          <p:cNvSpPr/>
          <p:nvPr/>
        </p:nvSpPr>
        <p:spPr>
          <a:xfrm>
            <a:off x="1573560" y="7599462"/>
            <a:ext cx="15629186" cy="651272"/>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00000"/>
              </a:buClr>
              <a:buSzPts val="1700"/>
              <a:buFont typeface="Public Sans"/>
              <a:buNone/>
            </a:pPr>
            <a:r>
              <a:rPr b="0" i="0" lang="en-US" sz="1700" u="none" cap="none" strike="noStrike">
                <a:solidFill>
                  <a:srgbClr val="000000"/>
                </a:solidFill>
                <a:latin typeface="Public Sans"/>
                <a:ea typeface="Public Sans"/>
                <a:cs typeface="Public Sans"/>
                <a:sym typeface="Public Sans"/>
              </a:rPr>
              <a:t>Speaker context: "My primary responsibility was to build a rigorous 'AI Stress Test.' The goal wasn't just to get an answer, but to force the AIs to deal with conflicting data so we could evaluate their reasoning quality under pressure."</a:t>
            </a:r>
            <a:endParaRPr b="0" i="0" sz="1700" u="none" cap="none" strike="noStrike"/>
          </a:p>
        </p:txBody>
      </p:sp>
      <p:sp>
        <p:nvSpPr>
          <p:cNvPr id="441" name="Google Shape;441;p38"/>
          <p:cNvSpPr/>
          <p:nvPr/>
        </p:nvSpPr>
        <p:spPr>
          <a:xfrm>
            <a:off x="1193750" y="8689330"/>
            <a:ext cx="16225986" cy="78134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00000"/>
              </a:buClr>
              <a:buSzPts val="1300"/>
              <a:buFont typeface="Public Sans"/>
              <a:buNone/>
            </a:pPr>
            <a:r>
              <a:rPr b="0" i="1" lang="en-US" sz="1300" u="none" cap="none" strike="noStrike">
                <a:solidFill>
                  <a:srgbClr val="000000"/>
                </a:solidFill>
                <a:latin typeface="Public Sans"/>
                <a:ea typeface="Public Sans"/>
                <a:cs typeface="Public Sans"/>
                <a:sym typeface="Public Sans"/>
              </a:rPr>
              <a:t>🎙️</a:t>
            </a:r>
            <a:r>
              <a:rPr b="0" i="1" lang="en-US" sz="1300" u="none" cap="none" strike="noStrike">
                <a:solidFill>
                  <a:srgbClr val="6F655D"/>
                </a:solidFill>
                <a:latin typeface="Public Sans"/>
                <a:ea typeface="Public Sans"/>
                <a:cs typeface="Public Sans"/>
                <a:sym typeface="Public Sans"/>
              </a:rPr>
              <a:t> </a:t>
            </a:r>
            <a:r>
              <a:rPr b="1" i="1" lang="en-US" sz="1300" u="none" cap="none" strike="noStrike">
                <a:solidFill>
                  <a:srgbClr val="6F655D"/>
                </a:solidFill>
                <a:latin typeface="Public Sans"/>
                <a:ea typeface="Public Sans"/>
                <a:cs typeface="Public Sans"/>
                <a:sym typeface="Public Sans"/>
              </a:rPr>
              <a:t>SPEAKER NOTES:</a:t>
            </a:r>
            <a:r>
              <a:rPr b="0" i="1" lang="en-US" sz="1300" u="none" cap="none" strike="noStrike">
                <a:solidFill>
                  <a:srgbClr val="6F655D"/>
                </a:solidFill>
                <a:latin typeface="Public Sans"/>
                <a:ea typeface="Public Sans"/>
                <a:cs typeface="Public Sans"/>
                <a:sym typeface="Public Sans"/>
              </a:rPr>
              <a:t> "Good morning everyone. I am the R6 LLM Synthesis Operator for this week. My primary responsibility was to build a rigorous 'AI Stress Test.' To ensure absolute fairness and comparability, I gathered the locked data from R3, R4, and R5, and fed it into four different LLMs simultaneously. The goal wasn't just to get an answer, but to force the AIs to deal with conflicting data so we could evaluate their reasoning."</a:t>
            </a:r>
            <a:endParaRPr b="0" i="0" sz="1300" u="none" cap="none" strike="noStrike"/>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39"/>
          <p:cNvSpPr/>
          <p:nvPr/>
        </p:nvSpPr>
        <p:spPr>
          <a:xfrm>
            <a:off x="3030290" y="519410"/>
            <a:ext cx="2098476" cy="253900"/>
          </a:xfrm>
          <a:prstGeom prst="roundRect">
            <a:avLst>
              <a:gd fmla="val 20520" name="adj"/>
            </a:avLst>
          </a:prstGeom>
          <a:solidFill>
            <a:srgbClr val="EEDDDD"/>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448" name="Google Shape;448;p39"/>
          <p:cNvSpPr/>
          <p:nvPr/>
        </p:nvSpPr>
        <p:spPr>
          <a:xfrm>
            <a:off x="3123308" y="565844"/>
            <a:ext cx="2826842" cy="16103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6F655D"/>
              </a:buClr>
              <a:buSzPts val="900"/>
              <a:buFont typeface="Public Sans"/>
              <a:buNone/>
            </a:pPr>
            <a:r>
              <a:rPr b="0" i="0" lang="en-US" sz="900" u="none" cap="none" strike="noStrike">
                <a:solidFill>
                  <a:srgbClr val="6F655D"/>
                </a:solidFill>
                <a:latin typeface="Public Sans"/>
                <a:ea typeface="Public Sans"/>
                <a:cs typeface="Public Sans"/>
                <a:sym typeface="Public Sans"/>
              </a:rPr>
              <a:t>R6 — MASTER PROMPT DESIGN</a:t>
            </a:r>
            <a:endParaRPr b="0" i="0" sz="900" u="none" cap="none" strike="noStrike"/>
          </a:p>
        </p:txBody>
      </p:sp>
      <p:sp>
        <p:nvSpPr>
          <p:cNvPr id="449" name="Google Shape;449;p39"/>
          <p:cNvSpPr/>
          <p:nvPr/>
        </p:nvSpPr>
        <p:spPr>
          <a:xfrm>
            <a:off x="3030290" y="812006"/>
            <a:ext cx="5669310" cy="484584"/>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4B6981"/>
              </a:buClr>
              <a:buSzPts val="3000"/>
              <a:buFont typeface="Playfair Display SemiBold"/>
              <a:buNone/>
            </a:pPr>
            <a:r>
              <a:rPr b="0" i="0" lang="en-US" sz="3000" u="none" cap="none" strike="noStrike">
                <a:solidFill>
                  <a:srgbClr val="4B6981"/>
                </a:solidFill>
                <a:latin typeface="Playfair Display SemiBold"/>
                <a:ea typeface="Playfair Display SemiBold"/>
                <a:cs typeface="Playfair Display SemiBold"/>
                <a:sym typeface="Playfair Display SemiBold"/>
              </a:rPr>
              <a:t>The Master Prompt Design</a:t>
            </a:r>
            <a:endParaRPr b="0" i="0" sz="3000" u="none" cap="none" strike="noStrike"/>
          </a:p>
        </p:txBody>
      </p:sp>
      <p:sp>
        <p:nvSpPr>
          <p:cNvPr id="450" name="Google Shape;450;p39"/>
          <p:cNvSpPr/>
          <p:nvPr/>
        </p:nvSpPr>
        <p:spPr>
          <a:xfrm>
            <a:off x="3030290" y="1335286"/>
            <a:ext cx="4895998" cy="242144"/>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4B6981"/>
              </a:buClr>
              <a:buSzPts val="1500"/>
              <a:buFont typeface="Playfair Display SemiBold"/>
              <a:buNone/>
            </a:pPr>
            <a:r>
              <a:rPr b="0" i="0" lang="en-US" sz="1500" u="none" cap="none" strike="noStrike">
                <a:solidFill>
                  <a:srgbClr val="4B6981"/>
                </a:solidFill>
                <a:latin typeface="Playfair Display SemiBold"/>
                <a:ea typeface="Playfair Display SemiBold"/>
                <a:cs typeface="Playfair Display SemiBold"/>
                <a:sym typeface="Playfair Display SemiBold"/>
              </a:rPr>
              <a:t>Forcing Hard Choices with Strict Constraints</a:t>
            </a:r>
            <a:endParaRPr b="0" i="0" sz="1500" u="none" cap="none" strike="noStrike"/>
          </a:p>
        </p:txBody>
      </p:sp>
      <p:sp>
        <p:nvSpPr>
          <p:cNvPr id="451" name="Google Shape;451;p39"/>
          <p:cNvSpPr/>
          <p:nvPr/>
        </p:nvSpPr>
        <p:spPr>
          <a:xfrm>
            <a:off x="3030290" y="1722686"/>
            <a:ext cx="12227422" cy="60454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6F655D"/>
              </a:buClr>
              <a:buSzPts val="1200"/>
              <a:buFont typeface="Public Sans"/>
              <a:buNone/>
            </a:pPr>
            <a:r>
              <a:rPr b="0" i="0" lang="en-US" sz="1200" u="none" cap="none" strike="noStrike">
                <a:solidFill>
                  <a:srgbClr val="6F655D"/>
                </a:solidFill>
                <a:latin typeface="Public Sans"/>
                <a:ea typeface="Public Sans"/>
                <a:cs typeface="Public Sans"/>
                <a:sym typeface="Public Sans"/>
              </a:rPr>
              <a:t>To achieve consistent, comparable outputs across all four LLMs, a strictly formatted Master Prompt was designed and executed. Rather than asking open-ended questions, the prompt injected raw locked data and mandated a precise 8-point output structure. Critically, the conflicts embedded in the data were left intentionally unresolved — forcing each model to synthesize across contradictions rather than avoid them.</a:t>
            </a:r>
            <a:endParaRPr b="0" i="0" sz="1200" u="none" cap="none" strike="noStrike"/>
          </a:p>
        </p:txBody>
      </p:sp>
      <p:sp>
        <p:nvSpPr>
          <p:cNvPr id="452" name="Google Shape;452;p39"/>
          <p:cNvSpPr/>
          <p:nvPr/>
        </p:nvSpPr>
        <p:spPr>
          <a:xfrm>
            <a:off x="3030290" y="2533054"/>
            <a:ext cx="4193084" cy="242144"/>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4B6981"/>
              </a:buClr>
              <a:buSzPts val="1500"/>
              <a:buFont typeface="Playfair Display SemiBold"/>
              <a:buNone/>
            </a:pPr>
            <a:r>
              <a:rPr b="0" i="0" lang="en-US" sz="1500" u="none" cap="none" strike="noStrike">
                <a:solidFill>
                  <a:srgbClr val="4B6981"/>
                </a:solidFill>
                <a:latin typeface="Playfair Display SemiBold"/>
                <a:ea typeface="Playfair Display SemiBold"/>
                <a:cs typeface="Playfair Display SemiBold"/>
                <a:sym typeface="Playfair Display SemiBold"/>
              </a:rPr>
              <a:t>Context Injection — Locked Evidence</a:t>
            </a:r>
            <a:endParaRPr b="0" i="0" sz="1500" u="none" cap="none" strike="noStrike"/>
          </a:p>
        </p:txBody>
      </p:sp>
      <p:pic>
        <p:nvPicPr>
          <p:cNvPr descr="preencoded.png" id="453" name="Google Shape;453;p39"/>
          <p:cNvPicPr preferRelativeResize="0"/>
          <p:nvPr/>
        </p:nvPicPr>
        <p:blipFill rotWithShape="1">
          <a:blip r:embed="rId3">
            <a:alphaModFix/>
          </a:blip>
          <a:srcRect b="0" l="0" r="0" t="0"/>
          <a:stretch/>
        </p:blipFill>
        <p:spPr>
          <a:xfrm>
            <a:off x="3011240" y="2884140"/>
            <a:ext cx="5691486" cy="1291530"/>
          </a:xfrm>
          <a:prstGeom prst="rect">
            <a:avLst/>
          </a:prstGeom>
          <a:noFill/>
          <a:ln>
            <a:noFill/>
          </a:ln>
        </p:spPr>
      </p:pic>
      <p:sp>
        <p:nvSpPr>
          <p:cNvPr id="454" name="Google Shape;454;p39"/>
          <p:cNvSpPr/>
          <p:nvPr/>
        </p:nvSpPr>
        <p:spPr>
          <a:xfrm>
            <a:off x="3261420" y="3058120"/>
            <a:ext cx="1938188" cy="242144"/>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6F655D"/>
              </a:buClr>
              <a:buSzPts val="1500"/>
              <a:buFont typeface="Playfair Display SemiBold"/>
              <a:buNone/>
            </a:pPr>
            <a:r>
              <a:rPr b="0" i="0" lang="en-US" sz="1500" u="none" cap="none" strike="noStrike">
                <a:solidFill>
                  <a:srgbClr val="6F655D"/>
                </a:solidFill>
                <a:latin typeface="Playfair Display SemiBold"/>
                <a:ea typeface="Playfair Display SemiBold"/>
                <a:cs typeface="Playfair Display SemiBold"/>
                <a:sym typeface="Playfair Display SemiBold"/>
              </a:rPr>
              <a:t>R3 — Almanac</a:t>
            </a:r>
            <a:endParaRPr b="0" i="0" sz="1500" u="none" cap="none" strike="noStrike"/>
          </a:p>
        </p:txBody>
      </p:sp>
      <p:sp>
        <p:nvSpPr>
          <p:cNvPr id="455" name="Google Shape;455;p39"/>
          <p:cNvSpPr/>
          <p:nvPr/>
        </p:nvSpPr>
        <p:spPr>
          <a:xfrm>
            <a:off x="3261420" y="3397150"/>
            <a:ext cx="5267326" cy="60454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6F655D"/>
              </a:buClr>
              <a:buSzPts val="1200"/>
              <a:buFont typeface="Public Sans"/>
              <a:buNone/>
            </a:pPr>
            <a:r>
              <a:rPr b="0" i="0" lang="en-US" sz="1200" u="none" cap="none" strike="noStrike">
                <a:solidFill>
                  <a:srgbClr val="6F655D"/>
                </a:solidFill>
                <a:latin typeface="Public Sans"/>
                <a:ea typeface="Public Sans"/>
                <a:cs typeface="Public Sans"/>
                <a:sym typeface="Public Sans"/>
              </a:rPr>
              <a:t>June midterm average return: </a:t>
            </a:r>
            <a:r>
              <a:rPr b="1" i="0" lang="en-US" sz="1200" u="none" cap="none" strike="noStrike">
                <a:solidFill>
                  <a:srgbClr val="6F655D"/>
                </a:solidFill>
                <a:latin typeface="Public Sans"/>
                <a:ea typeface="Public Sans"/>
                <a:cs typeface="Public Sans"/>
                <a:sym typeface="Public Sans"/>
              </a:rPr>
              <a:t>-2.1%</a:t>
            </a:r>
            <a:r>
              <a:rPr b="0" i="0" lang="en-US" sz="1200" u="none" cap="none" strike="noStrike">
                <a:solidFill>
                  <a:srgbClr val="6F655D"/>
                </a:solidFill>
                <a:latin typeface="Public Sans"/>
                <a:ea typeface="Public Sans"/>
                <a:cs typeface="Public Sans"/>
                <a:sym typeface="Public Sans"/>
              </a:rPr>
              <a:t>. Signal classification: </a:t>
            </a:r>
            <a:r>
              <a:rPr b="1" i="0" lang="en-US" sz="1200" u="none" cap="none" strike="noStrike">
                <a:solidFill>
                  <a:srgbClr val="6F655D"/>
                </a:solidFill>
                <a:latin typeface="Public Sans"/>
                <a:ea typeface="Public Sans"/>
                <a:cs typeface="Public Sans"/>
                <a:sym typeface="Public Sans"/>
              </a:rPr>
              <a:t>Bearish</a:t>
            </a:r>
            <a:r>
              <a:rPr b="0" i="0" lang="en-US" sz="1200" u="none" cap="none" strike="noStrike">
                <a:solidFill>
                  <a:srgbClr val="6F655D"/>
                </a:solidFill>
                <a:latin typeface="Public Sans"/>
                <a:ea typeface="Public Sans"/>
                <a:cs typeface="Public Sans"/>
                <a:sym typeface="Public Sans"/>
              </a:rPr>
              <a:t>. Historical seasonal weakness confirmed across multiple midterm June cycles.</a:t>
            </a:r>
            <a:endParaRPr b="0" i="0" sz="1200" u="none" cap="none" strike="noStrike"/>
          </a:p>
        </p:txBody>
      </p:sp>
      <p:pic>
        <p:nvPicPr>
          <p:cNvPr descr="preencoded.png" id="456" name="Google Shape;456;p39"/>
          <p:cNvPicPr preferRelativeResize="0"/>
          <p:nvPr/>
        </p:nvPicPr>
        <p:blipFill rotWithShape="1">
          <a:blip r:embed="rId3">
            <a:alphaModFix/>
          </a:blip>
          <a:srcRect b="0" l="0" r="0" t="0"/>
          <a:stretch/>
        </p:blipFill>
        <p:spPr>
          <a:xfrm>
            <a:off x="3011240" y="4272558"/>
            <a:ext cx="5691486" cy="1090018"/>
          </a:xfrm>
          <a:prstGeom prst="rect">
            <a:avLst/>
          </a:prstGeom>
          <a:noFill/>
          <a:ln>
            <a:noFill/>
          </a:ln>
        </p:spPr>
      </p:pic>
      <p:sp>
        <p:nvSpPr>
          <p:cNvPr id="457" name="Google Shape;457;p39"/>
          <p:cNvSpPr/>
          <p:nvPr/>
        </p:nvSpPr>
        <p:spPr>
          <a:xfrm>
            <a:off x="3261420" y="4446538"/>
            <a:ext cx="1938188" cy="242144"/>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6F655D"/>
              </a:buClr>
              <a:buSzPts val="1500"/>
              <a:buFont typeface="Playfair Display SemiBold"/>
              <a:buNone/>
            </a:pPr>
            <a:r>
              <a:rPr b="0" i="0" lang="en-US" sz="1500" u="none" cap="none" strike="noStrike">
                <a:solidFill>
                  <a:srgbClr val="6F655D"/>
                </a:solidFill>
                <a:latin typeface="Playfair Display SemiBold"/>
                <a:ea typeface="Playfair Display SemiBold"/>
                <a:cs typeface="Playfair Display SemiBold"/>
                <a:sym typeface="Playfair Display SemiBold"/>
              </a:rPr>
              <a:t>R4 — Macro</a:t>
            </a:r>
            <a:endParaRPr b="0" i="0" sz="1500" u="none" cap="none" strike="noStrike"/>
          </a:p>
        </p:txBody>
      </p:sp>
      <p:sp>
        <p:nvSpPr>
          <p:cNvPr id="458" name="Google Shape;458;p39"/>
          <p:cNvSpPr/>
          <p:nvPr/>
        </p:nvSpPr>
        <p:spPr>
          <a:xfrm>
            <a:off x="3261420" y="4785568"/>
            <a:ext cx="5267326" cy="403026"/>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6F655D"/>
              </a:buClr>
              <a:buSzPts val="1200"/>
              <a:buFont typeface="Public Sans"/>
              <a:buNone/>
            </a:pPr>
            <a:r>
              <a:rPr b="0" i="0" lang="en-US" sz="1200" u="none" cap="none" strike="noStrike">
                <a:solidFill>
                  <a:srgbClr val="6F655D"/>
                </a:solidFill>
                <a:latin typeface="Public Sans"/>
                <a:ea typeface="Public Sans"/>
                <a:cs typeface="Public Sans"/>
                <a:sym typeface="Public Sans"/>
              </a:rPr>
              <a:t>10Y Treasury Yield: </a:t>
            </a:r>
            <a:r>
              <a:rPr b="1" i="0" lang="en-US" sz="1200" u="none" cap="none" strike="noStrike">
                <a:solidFill>
                  <a:srgbClr val="6F655D"/>
                </a:solidFill>
                <a:latin typeface="Public Sans"/>
                <a:ea typeface="Public Sans"/>
                <a:cs typeface="Public Sans"/>
                <a:sym typeface="Public Sans"/>
              </a:rPr>
              <a:t>4.534%</a:t>
            </a:r>
            <a:r>
              <a:rPr b="0" i="0" lang="en-US" sz="1200" u="none" cap="none" strike="noStrike">
                <a:solidFill>
                  <a:srgbClr val="6F655D"/>
                </a:solidFill>
                <a:latin typeface="Public Sans"/>
                <a:ea typeface="Public Sans"/>
                <a:cs typeface="Public Sans"/>
                <a:sym typeface="Public Sans"/>
              </a:rPr>
              <a:t> (rising). WTI Crude: </a:t>
            </a:r>
            <a:r>
              <a:rPr b="1" i="0" lang="en-US" sz="1200" u="none" cap="none" strike="noStrike">
                <a:solidFill>
                  <a:srgbClr val="6F655D"/>
                </a:solidFill>
                <a:latin typeface="Public Sans"/>
                <a:ea typeface="Public Sans"/>
                <a:cs typeface="Public Sans"/>
                <a:sym typeface="Public Sans"/>
              </a:rPr>
              <a:t>+3.64%</a:t>
            </a:r>
            <a:r>
              <a:rPr b="0" i="0" lang="en-US" sz="1200" u="none" cap="none" strike="noStrike">
                <a:solidFill>
                  <a:srgbClr val="6F655D"/>
                </a:solidFill>
                <a:latin typeface="Public Sans"/>
                <a:ea typeface="Public Sans"/>
                <a:cs typeface="Public Sans"/>
                <a:sym typeface="Public Sans"/>
              </a:rPr>
              <a:t>. DXY Dollar Index: </a:t>
            </a:r>
            <a:r>
              <a:rPr b="1" i="0" lang="en-US" sz="1200" u="none" cap="none" strike="noStrike">
                <a:solidFill>
                  <a:srgbClr val="6F655D"/>
                </a:solidFill>
                <a:latin typeface="Public Sans"/>
                <a:ea typeface="Public Sans"/>
                <a:cs typeface="Public Sans"/>
                <a:sym typeface="Public Sans"/>
              </a:rPr>
              <a:t>+1.21%</a:t>
            </a:r>
            <a:r>
              <a:rPr b="0" i="0" lang="en-US" sz="1200" u="none" cap="none" strike="noStrike">
                <a:solidFill>
                  <a:srgbClr val="6F655D"/>
                </a:solidFill>
                <a:latin typeface="Public Sans"/>
                <a:ea typeface="Public Sans"/>
                <a:cs typeface="Public Sans"/>
                <a:sym typeface="Public Sans"/>
              </a:rPr>
              <a:t>. Combined signal: monetary tightening environment.</a:t>
            </a:r>
            <a:endParaRPr b="0" i="0" sz="1200" u="none" cap="none" strike="noStrike"/>
          </a:p>
        </p:txBody>
      </p:sp>
      <p:pic>
        <p:nvPicPr>
          <p:cNvPr descr="preencoded.png" id="459" name="Google Shape;459;p39"/>
          <p:cNvPicPr preferRelativeResize="0"/>
          <p:nvPr/>
        </p:nvPicPr>
        <p:blipFill rotWithShape="1">
          <a:blip r:embed="rId3">
            <a:alphaModFix/>
          </a:blip>
          <a:srcRect b="0" l="0" r="0" t="0"/>
          <a:stretch/>
        </p:blipFill>
        <p:spPr>
          <a:xfrm>
            <a:off x="3011240" y="5459462"/>
            <a:ext cx="5691486" cy="1090018"/>
          </a:xfrm>
          <a:prstGeom prst="rect">
            <a:avLst/>
          </a:prstGeom>
          <a:noFill/>
          <a:ln>
            <a:noFill/>
          </a:ln>
        </p:spPr>
      </p:pic>
      <p:sp>
        <p:nvSpPr>
          <p:cNvPr id="460" name="Google Shape;460;p39"/>
          <p:cNvSpPr/>
          <p:nvPr/>
        </p:nvSpPr>
        <p:spPr>
          <a:xfrm>
            <a:off x="3261420" y="5633442"/>
            <a:ext cx="1938188" cy="242144"/>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6F655D"/>
              </a:buClr>
              <a:buSzPts val="1500"/>
              <a:buFont typeface="Playfair Display SemiBold"/>
              <a:buNone/>
            </a:pPr>
            <a:r>
              <a:rPr b="0" i="0" lang="en-US" sz="1500" u="none" cap="none" strike="noStrike">
                <a:solidFill>
                  <a:srgbClr val="6F655D"/>
                </a:solidFill>
                <a:latin typeface="Playfair Display SemiBold"/>
                <a:ea typeface="Playfair Display SemiBold"/>
                <a:cs typeface="Playfair Display SemiBold"/>
                <a:sym typeface="Playfair Display SemiBold"/>
              </a:rPr>
              <a:t>R5 — Technical</a:t>
            </a:r>
            <a:endParaRPr b="0" i="0" sz="1500" u="none" cap="none" strike="noStrike"/>
          </a:p>
        </p:txBody>
      </p:sp>
      <p:sp>
        <p:nvSpPr>
          <p:cNvPr id="461" name="Google Shape;461;p39"/>
          <p:cNvSpPr/>
          <p:nvPr/>
        </p:nvSpPr>
        <p:spPr>
          <a:xfrm>
            <a:off x="3261420" y="5972472"/>
            <a:ext cx="5267326" cy="403026"/>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6F655D"/>
              </a:buClr>
              <a:buSzPts val="1200"/>
              <a:buFont typeface="Public Sans"/>
              <a:buNone/>
            </a:pPr>
            <a:r>
              <a:rPr b="0" i="0" lang="en-US" sz="1200" u="none" cap="none" strike="noStrike">
                <a:solidFill>
                  <a:srgbClr val="6F655D"/>
                </a:solidFill>
                <a:latin typeface="Public Sans"/>
                <a:ea typeface="Public Sans"/>
                <a:cs typeface="Public Sans"/>
                <a:sym typeface="Public Sans"/>
              </a:rPr>
              <a:t>SPX, NDX, and IWM all trading </a:t>
            </a:r>
            <a:r>
              <a:rPr b="1" i="0" lang="en-US" sz="1200" u="none" cap="none" strike="noStrike">
                <a:solidFill>
                  <a:srgbClr val="6F655D"/>
                </a:solidFill>
                <a:latin typeface="Public Sans"/>
                <a:ea typeface="Public Sans"/>
                <a:cs typeface="Public Sans"/>
                <a:sym typeface="Public Sans"/>
              </a:rPr>
              <a:t>below their 8 EMA</a:t>
            </a:r>
            <a:r>
              <a:rPr b="0" i="0" lang="en-US" sz="1200" u="none" cap="none" strike="noStrike">
                <a:solidFill>
                  <a:srgbClr val="6F655D"/>
                </a:solidFill>
                <a:latin typeface="Public Sans"/>
                <a:ea typeface="Public Sans"/>
                <a:cs typeface="Public Sans"/>
                <a:sym typeface="Public Sans"/>
              </a:rPr>
              <a:t>. Across-the-board breakdown signal. No index holding support.</a:t>
            </a:r>
            <a:endParaRPr b="0" i="0" sz="1200" u="none" cap="none" strike="noStrike"/>
          </a:p>
        </p:txBody>
      </p:sp>
      <p:sp>
        <p:nvSpPr>
          <p:cNvPr id="462" name="Google Shape;462;p39"/>
          <p:cNvSpPr/>
          <p:nvPr/>
        </p:nvSpPr>
        <p:spPr>
          <a:xfrm>
            <a:off x="9090570" y="2533054"/>
            <a:ext cx="5315992" cy="242144"/>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4B6981"/>
              </a:buClr>
              <a:buSzPts val="1500"/>
              <a:buFont typeface="Playfair Display SemiBold"/>
              <a:buNone/>
            </a:pPr>
            <a:r>
              <a:rPr b="0" i="0" lang="en-US" sz="1500" u="none" cap="none" strike="noStrike">
                <a:solidFill>
                  <a:srgbClr val="4B6981"/>
                </a:solidFill>
                <a:latin typeface="Playfair Display SemiBold"/>
                <a:ea typeface="Playfair Display SemiBold"/>
                <a:cs typeface="Playfair Display SemiBold"/>
                <a:sym typeface="Playfair Display SemiBold"/>
              </a:rPr>
              <a:t>Required Output Constraints — 8-Point Structure</a:t>
            </a:r>
            <a:endParaRPr b="0" i="0" sz="1500" u="none" cap="none" strike="noStrike"/>
          </a:p>
        </p:txBody>
      </p:sp>
      <p:sp>
        <p:nvSpPr>
          <p:cNvPr id="463" name="Google Shape;463;p39"/>
          <p:cNvSpPr/>
          <p:nvPr/>
        </p:nvSpPr>
        <p:spPr>
          <a:xfrm>
            <a:off x="9090570" y="2884140"/>
            <a:ext cx="310008" cy="19377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F655D"/>
              </a:buClr>
              <a:buSzPts val="1200"/>
              <a:buFont typeface="Playfair Display"/>
              <a:buNone/>
            </a:pPr>
            <a:r>
              <a:rPr b="0" i="0" lang="en-US" sz="1200" u="none" cap="none" strike="noStrike">
                <a:solidFill>
                  <a:srgbClr val="6F655D"/>
                </a:solidFill>
                <a:latin typeface="Playfair Display"/>
                <a:ea typeface="Playfair Display"/>
                <a:cs typeface="Playfair Display"/>
                <a:sym typeface="Playfair Display"/>
              </a:rPr>
              <a:t>01</a:t>
            </a:r>
            <a:endParaRPr b="0" i="0" sz="1200" u="none" cap="none" strike="noStrike"/>
          </a:p>
        </p:txBody>
      </p:sp>
      <p:sp>
        <p:nvSpPr>
          <p:cNvPr id="464" name="Google Shape;464;p39"/>
          <p:cNvSpPr/>
          <p:nvPr/>
        </p:nvSpPr>
        <p:spPr>
          <a:xfrm>
            <a:off x="9090570" y="3128516"/>
            <a:ext cx="6176664" cy="19050"/>
          </a:xfrm>
          <a:prstGeom prst="rect">
            <a:avLst/>
          </a:prstGeom>
          <a:solidFill>
            <a:srgbClr val="E1C2C2"/>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465" name="Google Shape;465;p39"/>
          <p:cNvSpPr/>
          <p:nvPr/>
        </p:nvSpPr>
        <p:spPr>
          <a:xfrm>
            <a:off x="9090570" y="3244006"/>
            <a:ext cx="1938188" cy="242144"/>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6F655D"/>
              </a:buClr>
              <a:buSzPts val="1500"/>
              <a:buFont typeface="Playfair Display SemiBold"/>
              <a:buNone/>
            </a:pPr>
            <a:r>
              <a:rPr b="0" i="0" lang="en-US" sz="1500" u="none" cap="none" strike="noStrike">
                <a:solidFill>
                  <a:srgbClr val="6F655D"/>
                </a:solidFill>
                <a:latin typeface="Playfair Display SemiBold"/>
                <a:ea typeface="Playfair Display SemiBold"/>
                <a:cs typeface="Playfair Display SemiBold"/>
                <a:sym typeface="Playfair Display SemiBold"/>
              </a:rPr>
              <a:t>Weekly Regime</a:t>
            </a:r>
            <a:endParaRPr b="0" i="0" sz="1500" u="none" cap="none" strike="noStrike"/>
          </a:p>
        </p:txBody>
      </p:sp>
      <p:sp>
        <p:nvSpPr>
          <p:cNvPr id="466" name="Google Shape;466;p39"/>
          <p:cNvSpPr/>
          <p:nvPr/>
        </p:nvSpPr>
        <p:spPr>
          <a:xfrm>
            <a:off x="9090570" y="3583038"/>
            <a:ext cx="6176664" cy="201514"/>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6F655D"/>
              </a:buClr>
              <a:buSzPts val="1200"/>
              <a:buFont typeface="Public Sans"/>
              <a:buNone/>
            </a:pPr>
            <a:r>
              <a:rPr b="0" i="0" lang="en-US" sz="1200" u="none" cap="none" strike="noStrike">
                <a:solidFill>
                  <a:srgbClr val="6F655D"/>
                </a:solidFill>
                <a:latin typeface="Public Sans"/>
                <a:ea typeface="Public Sans"/>
                <a:cs typeface="Public Sans"/>
                <a:sym typeface="Public Sans"/>
              </a:rPr>
              <a:t>Single-word classification (e.g., Bearish, Bullish, Neutral)</a:t>
            </a:r>
            <a:endParaRPr b="0" i="0" sz="1200" u="none" cap="none" strike="noStrike"/>
          </a:p>
        </p:txBody>
      </p:sp>
      <p:sp>
        <p:nvSpPr>
          <p:cNvPr id="467" name="Google Shape;467;p39"/>
          <p:cNvSpPr/>
          <p:nvPr/>
        </p:nvSpPr>
        <p:spPr>
          <a:xfrm>
            <a:off x="9090570" y="3997672"/>
            <a:ext cx="310008" cy="19377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F655D"/>
              </a:buClr>
              <a:buSzPts val="1200"/>
              <a:buFont typeface="Playfair Display"/>
              <a:buNone/>
            </a:pPr>
            <a:r>
              <a:rPr b="0" i="0" lang="en-US" sz="1200" u="none" cap="none" strike="noStrike">
                <a:solidFill>
                  <a:srgbClr val="6F655D"/>
                </a:solidFill>
                <a:latin typeface="Playfair Display"/>
                <a:ea typeface="Playfair Display"/>
                <a:cs typeface="Playfair Display"/>
                <a:sym typeface="Playfair Display"/>
              </a:rPr>
              <a:t>02</a:t>
            </a:r>
            <a:endParaRPr b="0" i="0" sz="1200" u="none" cap="none" strike="noStrike"/>
          </a:p>
        </p:txBody>
      </p:sp>
      <p:sp>
        <p:nvSpPr>
          <p:cNvPr id="468" name="Google Shape;468;p39"/>
          <p:cNvSpPr/>
          <p:nvPr/>
        </p:nvSpPr>
        <p:spPr>
          <a:xfrm>
            <a:off x="9090570" y="4242048"/>
            <a:ext cx="6176664" cy="19050"/>
          </a:xfrm>
          <a:prstGeom prst="rect">
            <a:avLst/>
          </a:prstGeom>
          <a:solidFill>
            <a:srgbClr val="CCC4EC"/>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469" name="Google Shape;469;p39"/>
          <p:cNvSpPr/>
          <p:nvPr/>
        </p:nvSpPr>
        <p:spPr>
          <a:xfrm>
            <a:off x="9090570" y="4357538"/>
            <a:ext cx="1938188" cy="242144"/>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6F655D"/>
              </a:buClr>
              <a:buSzPts val="1500"/>
              <a:buFont typeface="Playfair Display SemiBold"/>
              <a:buNone/>
            </a:pPr>
            <a:r>
              <a:rPr b="0" i="0" lang="en-US" sz="1500" u="none" cap="none" strike="noStrike">
                <a:solidFill>
                  <a:srgbClr val="6F655D"/>
                </a:solidFill>
                <a:latin typeface="Playfair Display SemiBold"/>
                <a:ea typeface="Playfair Display SemiBold"/>
                <a:cs typeface="Playfair Display SemiBold"/>
                <a:sym typeface="Playfair Display SemiBold"/>
              </a:rPr>
              <a:t>Confidence Score</a:t>
            </a:r>
            <a:endParaRPr b="0" i="0" sz="1500" u="none" cap="none" strike="noStrike"/>
          </a:p>
        </p:txBody>
      </p:sp>
      <p:sp>
        <p:nvSpPr>
          <p:cNvPr id="470" name="Google Shape;470;p39"/>
          <p:cNvSpPr/>
          <p:nvPr/>
        </p:nvSpPr>
        <p:spPr>
          <a:xfrm>
            <a:off x="9090570" y="4696570"/>
            <a:ext cx="6176664" cy="201514"/>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6F655D"/>
              </a:buClr>
              <a:buSzPts val="1200"/>
              <a:buFont typeface="Public Sans"/>
              <a:buNone/>
            </a:pPr>
            <a:r>
              <a:rPr b="0" i="0" lang="en-US" sz="1200" u="none" cap="none" strike="noStrike">
                <a:solidFill>
                  <a:srgbClr val="6F655D"/>
                </a:solidFill>
                <a:latin typeface="Public Sans"/>
                <a:ea typeface="Public Sans"/>
                <a:cs typeface="Public Sans"/>
                <a:sym typeface="Public Sans"/>
              </a:rPr>
              <a:t>Qualitative confidence assessment: Low / Medium / High</a:t>
            </a:r>
            <a:endParaRPr b="0" i="0" sz="1200" u="none" cap="none" strike="noStrike"/>
          </a:p>
        </p:txBody>
      </p:sp>
      <p:sp>
        <p:nvSpPr>
          <p:cNvPr id="471" name="Google Shape;471;p39"/>
          <p:cNvSpPr/>
          <p:nvPr/>
        </p:nvSpPr>
        <p:spPr>
          <a:xfrm>
            <a:off x="9090570" y="5111204"/>
            <a:ext cx="310008" cy="19377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F655D"/>
              </a:buClr>
              <a:buSzPts val="1200"/>
              <a:buFont typeface="Playfair Display"/>
              <a:buNone/>
            </a:pPr>
            <a:r>
              <a:rPr b="0" i="0" lang="en-US" sz="1200" u="none" cap="none" strike="noStrike">
                <a:solidFill>
                  <a:srgbClr val="6F655D"/>
                </a:solidFill>
                <a:latin typeface="Playfair Display"/>
                <a:ea typeface="Playfair Display"/>
                <a:cs typeface="Playfair Display"/>
                <a:sym typeface="Playfair Display"/>
              </a:rPr>
              <a:t>03</a:t>
            </a:r>
            <a:endParaRPr b="0" i="0" sz="1200" u="none" cap="none" strike="noStrike"/>
          </a:p>
        </p:txBody>
      </p:sp>
      <p:sp>
        <p:nvSpPr>
          <p:cNvPr id="472" name="Google Shape;472;p39"/>
          <p:cNvSpPr/>
          <p:nvPr/>
        </p:nvSpPr>
        <p:spPr>
          <a:xfrm>
            <a:off x="9090570" y="5355580"/>
            <a:ext cx="6176664" cy="19050"/>
          </a:xfrm>
          <a:prstGeom prst="rect">
            <a:avLst/>
          </a:prstGeom>
          <a:solidFill>
            <a:srgbClr val="B4DAE4"/>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473" name="Google Shape;473;p39"/>
          <p:cNvSpPr/>
          <p:nvPr/>
        </p:nvSpPr>
        <p:spPr>
          <a:xfrm>
            <a:off x="9090570" y="5471070"/>
            <a:ext cx="3808066" cy="242144"/>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6F655D"/>
              </a:buClr>
              <a:buSzPts val="1500"/>
              <a:buFont typeface="Playfair Display SemiBold"/>
              <a:buNone/>
            </a:pPr>
            <a:r>
              <a:rPr b="0" i="0" lang="en-US" sz="1500" u="none" cap="none" strike="noStrike">
                <a:solidFill>
                  <a:srgbClr val="6F655D"/>
                </a:solidFill>
                <a:latin typeface="Playfair Display SemiBold"/>
                <a:ea typeface="Playfair Display SemiBold"/>
                <a:cs typeface="Playfair Display SemiBold"/>
                <a:sym typeface="Playfair Display SemiBold"/>
              </a:rPr>
              <a:t>Key Supporting Evidence &amp; Contradictions</a:t>
            </a:r>
            <a:endParaRPr b="0" i="0" sz="1500" u="none" cap="none" strike="noStrike"/>
          </a:p>
        </p:txBody>
      </p:sp>
      <p:sp>
        <p:nvSpPr>
          <p:cNvPr id="474" name="Google Shape;474;p39"/>
          <p:cNvSpPr/>
          <p:nvPr/>
        </p:nvSpPr>
        <p:spPr>
          <a:xfrm>
            <a:off x="9090570" y="5810102"/>
            <a:ext cx="6176664" cy="201514"/>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6F655D"/>
              </a:buClr>
              <a:buSzPts val="1200"/>
              <a:buFont typeface="Public Sans"/>
              <a:buNone/>
            </a:pPr>
            <a:r>
              <a:rPr b="0" i="0" lang="en-US" sz="1200" u="none" cap="none" strike="noStrike">
                <a:solidFill>
                  <a:srgbClr val="6F655D"/>
                </a:solidFill>
                <a:latin typeface="Public Sans"/>
                <a:ea typeface="Public Sans"/>
                <a:cs typeface="Public Sans"/>
                <a:sym typeface="Public Sans"/>
              </a:rPr>
              <a:t>Primary bullish and bearish drivers identified by the model</a:t>
            </a:r>
            <a:endParaRPr b="0" i="0" sz="1200" u="none" cap="none" strike="noStrike"/>
          </a:p>
        </p:txBody>
      </p:sp>
      <p:sp>
        <p:nvSpPr>
          <p:cNvPr id="475" name="Google Shape;475;p39"/>
          <p:cNvSpPr/>
          <p:nvPr/>
        </p:nvSpPr>
        <p:spPr>
          <a:xfrm>
            <a:off x="9090570" y="6224736"/>
            <a:ext cx="310008" cy="19377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F655D"/>
              </a:buClr>
              <a:buSzPts val="1200"/>
              <a:buFont typeface="Playfair Display"/>
              <a:buNone/>
            </a:pPr>
            <a:r>
              <a:rPr b="0" i="0" lang="en-US" sz="1200" u="none" cap="none" strike="noStrike">
                <a:solidFill>
                  <a:srgbClr val="6F655D"/>
                </a:solidFill>
                <a:latin typeface="Playfair Display"/>
                <a:ea typeface="Playfair Display"/>
                <a:cs typeface="Playfair Display"/>
                <a:sym typeface="Playfair Display"/>
              </a:rPr>
              <a:t>04</a:t>
            </a:r>
            <a:endParaRPr b="0" i="0" sz="1200" u="none" cap="none" strike="noStrike"/>
          </a:p>
        </p:txBody>
      </p:sp>
      <p:sp>
        <p:nvSpPr>
          <p:cNvPr id="476" name="Google Shape;476;p39"/>
          <p:cNvSpPr/>
          <p:nvPr/>
        </p:nvSpPr>
        <p:spPr>
          <a:xfrm>
            <a:off x="9090570" y="6469112"/>
            <a:ext cx="6176664" cy="19050"/>
          </a:xfrm>
          <a:prstGeom prst="rect">
            <a:avLst/>
          </a:prstGeom>
          <a:solidFill>
            <a:srgbClr val="E1C2C2"/>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477" name="Google Shape;477;p39"/>
          <p:cNvSpPr/>
          <p:nvPr/>
        </p:nvSpPr>
        <p:spPr>
          <a:xfrm>
            <a:off x="9090570" y="6584602"/>
            <a:ext cx="2089994" cy="242144"/>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6F655D"/>
              </a:buClr>
              <a:buSzPts val="1500"/>
              <a:buFont typeface="Playfair Display SemiBold"/>
              <a:buNone/>
            </a:pPr>
            <a:r>
              <a:rPr b="0" i="0" lang="en-US" sz="1500" u="none" cap="none" strike="noStrike">
                <a:solidFill>
                  <a:srgbClr val="6F655D"/>
                </a:solidFill>
                <a:latin typeface="Playfair Display SemiBold"/>
                <a:ea typeface="Playfair Display SemiBold"/>
                <a:cs typeface="Playfair Display SemiBold"/>
                <a:sym typeface="Playfair Display SemiBold"/>
              </a:rPr>
              <a:t>Invalidation Conditions</a:t>
            </a:r>
            <a:endParaRPr b="0" i="0" sz="1500" u="none" cap="none" strike="noStrike"/>
          </a:p>
        </p:txBody>
      </p:sp>
      <p:sp>
        <p:nvSpPr>
          <p:cNvPr id="478" name="Google Shape;478;p39"/>
          <p:cNvSpPr/>
          <p:nvPr/>
        </p:nvSpPr>
        <p:spPr>
          <a:xfrm>
            <a:off x="9090570" y="6923634"/>
            <a:ext cx="6176664" cy="201514"/>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6F655D"/>
              </a:buClr>
              <a:buSzPts val="1200"/>
              <a:buFont typeface="Public Sans"/>
              <a:buNone/>
            </a:pPr>
            <a:r>
              <a:rPr b="0" i="0" lang="en-US" sz="1200" u="none" cap="none" strike="noStrike">
                <a:solidFill>
                  <a:srgbClr val="6F655D"/>
                </a:solidFill>
                <a:latin typeface="Public Sans"/>
                <a:ea typeface="Public Sans"/>
                <a:cs typeface="Public Sans"/>
                <a:sym typeface="Public Sans"/>
              </a:rPr>
              <a:t>Scenario that would negate the model's primary thesis</a:t>
            </a:r>
            <a:endParaRPr b="0" i="0" sz="1200" u="none" cap="none" strike="noStrike"/>
          </a:p>
        </p:txBody>
      </p:sp>
      <p:sp>
        <p:nvSpPr>
          <p:cNvPr id="479" name="Google Shape;479;p39"/>
          <p:cNvSpPr/>
          <p:nvPr/>
        </p:nvSpPr>
        <p:spPr>
          <a:xfrm>
            <a:off x="9090570" y="7338268"/>
            <a:ext cx="310008" cy="19377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F655D"/>
              </a:buClr>
              <a:buSzPts val="1200"/>
              <a:buFont typeface="Playfair Display"/>
              <a:buNone/>
            </a:pPr>
            <a:r>
              <a:rPr b="0" i="0" lang="en-US" sz="1200" u="none" cap="none" strike="noStrike">
                <a:solidFill>
                  <a:srgbClr val="6F655D"/>
                </a:solidFill>
                <a:latin typeface="Playfair Display"/>
                <a:ea typeface="Playfair Display"/>
                <a:cs typeface="Playfair Display"/>
                <a:sym typeface="Playfair Display"/>
              </a:rPr>
              <a:t>05</a:t>
            </a:r>
            <a:endParaRPr b="0" i="0" sz="1200" u="none" cap="none" strike="noStrike"/>
          </a:p>
        </p:txBody>
      </p:sp>
      <p:sp>
        <p:nvSpPr>
          <p:cNvPr id="480" name="Google Shape;480;p39"/>
          <p:cNvSpPr/>
          <p:nvPr/>
        </p:nvSpPr>
        <p:spPr>
          <a:xfrm>
            <a:off x="9090570" y="7582644"/>
            <a:ext cx="6176664" cy="19050"/>
          </a:xfrm>
          <a:prstGeom prst="rect">
            <a:avLst/>
          </a:prstGeom>
          <a:solidFill>
            <a:srgbClr val="CCC4EC"/>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481" name="Google Shape;481;p39"/>
          <p:cNvSpPr/>
          <p:nvPr/>
        </p:nvSpPr>
        <p:spPr>
          <a:xfrm>
            <a:off x="9090570" y="7698134"/>
            <a:ext cx="2801988" cy="242144"/>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6F655D"/>
              </a:buClr>
              <a:buSzPts val="1500"/>
              <a:buFont typeface="Playfair Display SemiBold"/>
              <a:buNone/>
            </a:pPr>
            <a:r>
              <a:rPr b="0" i="0" lang="en-US" sz="1500" u="none" cap="none" strike="noStrike">
                <a:solidFill>
                  <a:srgbClr val="6F655D"/>
                </a:solidFill>
                <a:latin typeface="Playfair Display SemiBold"/>
                <a:ea typeface="Playfair Display SemiBold"/>
                <a:cs typeface="Playfair Display SemiBold"/>
                <a:sym typeface="Playfair Display SemiBold"/>
              </a:rPr>
              <a:t>SPX, NDX &amp; IWM % Predictions</a:t>
            </a:r>
            <a:endParaRPr b="0" i="0" sz="1500" u="none" cap="none" strike="noStrike"/>
          </a:p>
        </p:txBody>
      </p:sp>
      <p:sp>
        <p:nvSpPr>
          <p:cNvPr id="482" name="Google Shape;482;p39"/>
          <p:cNvSpPr/>
          <p:nvPr/>
        </p:nvSpPr>
        <p:spPr>
          <a:xfrm>
            <a:off x="9090570" y="8037166"/>
            <a:ext cx="6176664" cy="201514"/>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6F655D"/>
              </a:buClr>
              <a:buSzPts val="1200"/>
              <a:buFont typeface="Public Sans"/>
              <a:buNone/>
            </a:pPr>
            <a:r>
              <a:rPr b="0" i="0" lang="en-US" sz="1200" u="none" cap="none" strike="noStrike">
                <a:solidFill>
                  <a:srgbClr val="6F655D"/>
                </a:solidFill>
                <a:latin typeface="Public Sans"/>
                <a:ea typeface="Public Sans"/>
                <a:cs typeface="Public Sans"/>
                <a:sym typeface="Public Sans"/>
              </a:rPr>
              <a:t>Week-ahead directional percentage range estimates per index</a:t>
            </a:r>
            <a:endParaRPr b="0" i="0" sz="1200" u="none" cap="none" strike="noStrike"/>
          </a:p>
        </p:txBody>
      </p:sp>
      <p:sp>
        <p:nvSpPr>
          <p:cNvPr id="483" name="Google Shape;483;p39"/>
          <p:cNvSpPr/>
          <p:nvPr/>
        </p:nvSpPr>
        <p:spPr>
          <a:xfrm>
            <a:off x="3030290" y="8572798"/>
            <a:ext cx="12227422" cy="654844"/>
          </a:xfrm>
          <a:prstGeom prst="roundRect">
            <a:avLst>
              <a:gd fmla="val 9945" name="adj"/>
            </a:avLst>
          </a:prstGeom>
          <a:solidFill>
            <a:srgbClr val="FCF2B5"/>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pic>
        <p:nvPicPr>
          <p:cNvPr descr="preencoded.png" id="484" name="Google Shape;484;p39"/>
          <p:cNvPicPr preferRelativeResize="0"/>
          <p:nvPr/>
        </p:nvPicPr>
        <p:blipFill rotWithShape="1">
          <a:blip r:embed="rId4">
            <a:alphaModFix/>
          </a:blip>
          <a:srcRect b="0" l="0" r="0" t="0"/>
          <a:stretch/>
        </p:blipFill>
        <p:spPr>
          <a:xfrm>
            <a:off x="3185220" y="8773716"/>
            <a:ext cx="193774" cy="154930"/>
          </a:xfrm>
          <a:prstGeom prst="rect">
            <a:avLst/>
          </a:prstGeom>
          <a:noFill/>
          <a:ln>
            <a:noFill/>
          </a:ln>
        </p:spPr>
      </p:pic>
      <p:sp>
        <p:nvSpPr>
          <p:cNvPr id="485" name="Google Shape;485;p39"/>
          <p:cNvSpPr/>
          <p:nvPr/>
        </p:nvSpPr>
        <p:spPr>
          <a:xfrm>
            <a:off x="3533924" y="8698706"/>
            <a:ext cx="11568856" cy="403026"/>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000000"/>
              </a:buClr>
              <a:buSzPts val="1200"/>
              <a:buFont typeface="Public Sans"/>
              <a:buNone/>
            </a:pPr>
            <a:r>
              <a:rPr b="0" i="0" lang="en-US" sz="1200" u="none" cap="none" strike="noStrike">
                <a:solidFill>
                  <a:srgbClr val="000000"/>
                </a:solidFill>
                <a:latin typeface="Public Sans"/>
                <a:ea typeface="Public Sans"/>
                <a:cs typeface="Public Sans"/>
                <a:sym typeface="Public Sans"/>
              </a:rPr>
              <a:t>Key design decision: Conflicts were deliberately left unresolved in the prompt (e.g., XLK seasonal long bias vs. 4.5% yield headwind) to expose each model's capacity to synthesize across contradictory signals rather than default to the dominant data stream.</a:t>
            </a:r>
            <a:endParaRPr b="0" i="0" sz="1200" u="none" cap="none" strike="noStrike"/>
          </a:p>
        </p:txBody>
      </p:sp>
      <p:sp>
        <p:nvSpPr>
          <p:cNvPr id="486" name="Google Shape;486;p39"/>
          <p:cNvSpPr/>
          <p:nvPr/>
        </p:nvSpPr>
        <p:spPr>
          <a:xfrm>
            <a:off x="3262758" y="9336584"/>
            <a:ext cx="11994952" cy="322064"/>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000000"/>
              </a:buClr>
              <a:buSzPts val="900"/>
              <a:buFont typeface="Public Sans"/>
              <a:buNone/>
            </a:pPr>
            <a:r>
              <a:rPr b="0" i="1" lang="en-US" sz="900" u="none" cap="none" strike="noStrike">
                <a:solidFill>
                  <a:srgbClr val="000000"/>
                </a:solidFill>
                <a:latin typeface="Public Sans"/>
                <a:ea typeface="Public Sans"/>
                <a:cs typeface="Public Sans"/>
                <a:sym typeface="Public Sans"/>
              </a:rPr>
              <a:t>🎙️</a:t>
            </a:r>
            <a:r>
              <a:rPr b="0" i="1" lang="en-US" sz="900" u="none" cap="none" strike="noStrike">
                <a:solidFill>
                  <a:srgbClr val="6F655D"/>
                </a:solidFill>
                <a:latin typeface="Public Sans"/>
                <a:ea typeface="Public Sans"/>
                <a:cs typeface="Public Sans"/>
                <a:sym typeface="Public Sans"/>
              </a:rPr>
              <a:t> </a:t>
            </a:r>
            <a:r>
              <a:rPr b="1" i="1" lang="en-US" sz="900" u="none" cap="none" strike="noStrike">
                <a:solidFill>
                  <a:srgbClr val="6F655D"/>
                </a:solidFill>
                <a:latin typeface="Public Sans"/>
                <a:ea typeface="Public Sans"/>
                <a:cs typeface="Public Sans"/>
                <a:sym typeface="Public Sans"/>
              </a:rPr>
              <a:t>SPEAKER NOTES:</a:t>
            </a:r>
            <a:r>
              <a:rPr b="0" i="1" lang="en-US" sz="900" u="none" cap="none" strike="noStrike">
                <a:solidFill>
                  <a:srgbClr val="6F655D"/>
                </a:solidFill>
                <a:latin typeface="Public Sans"/>
                <a:ea typeface="Public Sans"/>
                <a:cs typeface="Public Sans"/>
                <a:sym typeface="Public Sans"/>
              </a:rPr>
              <a:t> "This is the exact Master Prompt framework I used. Notice that we didn't ask open-ended questions. We injected our raw data and forced the models to strictly output an 8-point structure. We deliberately left the conflicts in the prompt—like Tech being a seasonal 'Long' but facing a 4.5% yield headwind—to see which AI could connect the dots."</a:t>
            </a:r>
            <a:endParaRPr b="0" i="0" sz="900" u="none" cap="none" strike="noStrike"/>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40"/>
          <p:cNvSpPr/>
          <p:nvPr/>
        </p:nvSpPr>
        <p:spPr>
          <a:xfrm>
            <a:off x="1348978" y="656332"/>
            <a:ext cx="2281832" cy="345876"/>
          </a:xfrm>
          <a:prstGeom prst="roundRect">
            <a:avLst>
              <a:gd fmla="val 19205" name="adj"/>
            </a:avLst>
          </a:prstGeom>
          <a:solidFill>
            <a:srgbClr val="EEDDDD"/>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493" name="Google Shape;493;p40"/>
          <p:cNvSpPr/>
          <p:nvPr/>
        </p:nvSpPr>
        <p:spPr>
          <a:xfrm>
            <a:off x="1467594" y="715566"/>
            <a:ext cx="2959000" cy="22741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6F655D"/>
              </a:buClr>
              <a:buSzPts val="1200"/>
              <a:buFont typeface="Public Sans"/>
              <a:buNone/>
            </a:pPr>
            <a:r>
              <a:rPr b="0" i="0" lang="en-US" sz="1200" u="none" cap="none" strike="noStrike">
                <a:solidFill>
                  <a:srgbClr val="6F655D"/>
                </a:solidFill>
                <a:latin typeface="Public Sans"/>
                <a:ea typeface="Public Sans"/>
                <a:cs typeface="Public Sans"/>
                <a:sym typeface="Public Sans"/>
              </a:rPr>
              <a:t>R6 — COMPARISON TABLE</a:t>
            </a:r>
            <a:endParaRPr b="0" i="0" sz="1200" u="none" cap="none" strike="noStrike"/>
          </a:p>
        </p:txBody>
      </p:sp>
      <p:sp>
        <p:nvSpPr>
          <p:cNvPr id="494" name="Google Shape;494;p40"/>
          <p:cNvSpPr/>
          <p:nvPr/>
        </p:nvSpPr>
        <p:spPr>
          <a:xfrm>
            <a:off x="1348978" y="1065162"/>
            <a:ext cx="7664054" cy="61778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4B6981"/>
              </a:buClr>
              <a:buSzPts val="3800"/>
              <a:buFont typeface="Playfair Display SemiBold"/>
              <a:buNone/>
            </a:pPr>
            <a:r>
              <a:rPr b="0" i="0" lang="en-US" sz="3800" u="none" cap="none" strike="noStrike">
                <a:solidFill>
                  <a:srgbClr val="4B6981"/>
                </a:solidFill>
                <a:latin typeface="Playfair Display SemiBold"/>
                <a:ea typeface="Playfair Display SemiBold"/>
                <a:cs typeface="Playfair Display SemiBold"/>
                <a:sym typeface="Playfair Display SemiBold"/>
              </a:rPr>
              <a:t>Multi-LLM Comparison Table</a:t>
            </a:r>
            <a:endParaRPr b="0" i="0" sz="3800" u="none" cap="none" strike="noStrike"/>
          </a:p>
        </p:txBody>
      </p:sp>
      <p:sp>
        <p:nvSpPr>
          <p:cNvPr id="495" name="Google Shape;495;p40"/>
          <p:cNvSpPr/>
          <p:nvPr/>
        </p:nvSpPr>
        <p:spPr>
          <a:xfrm>
            <a:off x="1348978" y="1745902"/>
            <a:ext cx="6627912" cy="30881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4B6981"/>
              </a:buClr>
              <a:buSzPts val="1900"/>
              <a:buFont typeface="Playfair Display SemiBold"/>
              <a:buNone/>
            </a:pPr>
            <a:r>
              <a:rPr b="0" i="0" lang="en-US" sz="1900" u="none" cap="none" strike="noStrike">
                <a:solidFill>
                  <a:srgbClr val="4B6981"/>
                </a:solidFill>
                <a:latin typeface="Playfair Display SemiBold"/>
                <a:ea typeface="Playfair Display SemiBold"/>
                <a:cs typeface="Playfair Display SemiBold"/>
                <a:sym typeface="Playfair Display SemiBold"/>
              </a:rPr>
              <a:t>Week 3 (June 8–12, 2026) — 4-Model Output Matrix</a:t>
            </a:r>
            <a:endParaRPr b="0" i="0" sz="1900" u="none" cap="none" strike="noStrike"/>
          </a:p>
        </p:txBody>
      </p:sp>
      <p:sp>
        <p:nvSpPr>
          <p:cNvPr id="496" name="Google Shape;496;p40"/>
          <p:cNvSpPr/>
          <p:nvPr/>
        </p:nvSpPr>
        <p:spPr>
          <a:xfrm>
            <a:off x="1348978" y="2290912"/>
            <a:ext cx="15589894" cy="568226"/>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6F655D"/>
              </a:buClr>
              <a:buSzPts val="1500"/>
              <a:buFont typeface="Public Sans"/>
              <a:buNone/>
            </a:pPr>
            <a:r>
              <a:rPr b="0" i="0" lang="en-US" sz="1500" u="none" cap="none" strike="noStrike">
                <a:solidFill>
                  <a:srgbClr val="6F655D"/>
                </a:solidFill>
                <a:latin typeface="Public Sans"/>
                <a:ea typeface="Public Sans"/>
                <a:cs typeface="Public Sans"/>
                <a:sym typeface="Public Sans"/>
              </a:rPr>
              <a:t>The following table captures the full structured output extracted from each of the four LLMs following execution of the identical Master Prompt. All outputs were captured independently and parsed into the 8-point required structure before comparison was performed.</a:t>
            </a:r>
            <a:endParaRPr b="0" i="0" sz="1500" u="none" cap="none" strike="noStrike"/>
          </a:p>
        </p:txBody>
      </p:sp>
      <p:sp>
        <p:nvSpPr>
          <p:cNvPr id="497" name="Google Shape;497;p40"/>
          <p:cNvSpPr/>
          <p:nvPr/>
        </p:nvSpPr>
        <p:spPr>
          <a:xfrm>
            <a:off x="1348978" y="3036242"/>
            <a:ext cx="15589894" cy="4657874"/>
          </a:xfrm>
          <a:prstGeom prst="roundRect">
            <a:avLst>
              <a:gd fmla="val 1783" name="adj"/>
            </a:avLst>
          </a:prstGeom>
          <a:noFill/>
          <a:ln cap="flat" cmpd="sng" w="9525">
            <a:solidFill>
              <a:srgbClr val="000000">
                <a:alpha val="7843"/>
              </a:srgbClr>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498" name="Google Shape;498;p40"/>
          <p:cNvSpPr/>
          <p:nvPr/>
        </p:nvSpPr>
        <p:spPr>
          <a:xfrm>
            <a:off x="1556594" y="3149798"/>
            <a:ext cx="3317082" cy="284112"/>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6F655D"/>
              </a:buClr>
              <a:buSzPts val="1500"/>
              <a:buFont typeface="Public Sans"/>
              <a:buNone/>
            </a:pPr>
            <a:r>
              <a:rPr b="1" i="0" lang="en-US" sz="1500" u="none" cap="none" strike="noStrike">
                <a:solidFill>
                  <a:srgbClr val="6F655D"/>
                </a:solidFill>
                <a:latin typeface="Public Sans"/>
                <a:ea typeface="Public Sans"/>
                <a:cs typeface="Public Sans"/>
                <a:sym typeface="Public Sans"/>
              </a:rPr>
              <a:t>Dimension</a:t>
            </a:r>
            <a:endParaRPr b="0" i="0" sz="1500" u="none" cap="none" strike="noStrike"/>
          </a:p>
        </p:txBody>
      </p:sp>
      <p:sp>
        <p:nvSpPr>
          <p:cNvPr id="499" name="Google Shape;499;p40"/>
          <p:cNvSpPr/>
          <p:nvPr/>
        </p:nvSpPr>
        <p:spPr>
          <a:xfrm>
            <a:off x="4364088" y="3149798"/>
            <a:ext cx="2864942" cy="568226"/>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6F655D"/>
              </a:buClr>
              <a:buSzPts val="1500"/>
              <a:buFont typeface="Public Sans"/>
              <a:buNone/>
            </a:pPr>
            <a:r>
              <a:rPr b="1" i="0" lang="en-US" sz="1500" u="none" cap="none" strike="noStrike">
                <a:solidFill>
                  <a:srgbClr val="6F655D"/>
                </a:solidFill>
                <a:latin typeface="Public Sans"/>
                <a:ea typeface="Public Sans"/>
                <a:cs typeface="Public Sans"/>
                <a:sym typeface="Public Sans"/>
              </a:rPr>
              <a:t>Claude</a:t>
            </a:r>
            <a:endParaRPr b="0" i="0" sz="1500" u="none" cap="none" strike="noStrike"/>
          </a:p>
          <a:p>
            <a:pPr indent="0" lvl="0" marL="0" marR="0" rtl="0" algn="l">
              <a:lnSpc>
                <a:spcPct val="120000"/>
              </a:lnSpc>
              <a:spcBef>
                <a:spcPts val="0"/>
              </a:spcBef>
              <a:spcAft>
                <a:spcPts val="0"/>
              </a:spcAft>
              <a:buClr>
                <a:srgbClr val="6F655D"/>
              </a:buClr>
              <a:buSzPts val="1500"/>
              <a:buFont typeface="Public Sans"/>
              <a:buNone/>
            </a:pPr>
            <a:r>
              <a:rPr b="0" i="0" lang="en-US" sz="1500" u="none" cap="none" strike="noStrike">
                <a:solidFill>
                  <a:srgbClr val="6F655D"/>
                </a:solidFill>
                <a:latin typeface="Public Sans"/>
                <a:ea typeface="Public Sans"/>
                <a:cs typeface="Public Sans"/>
                <a:sym typeface="Public Sans"/>
              </a:rPr>
              <a:t>Opus 4.8 Max "Thinking"</a:t>
            </a:r>
            <a:endParaRPr b="0" i="0" sz="1500" u="none" cap="none" strike="noStrike"/>
          </a:p>
        </p:txBody>
      </p:sp>
      <p:sp>
        <p:nvSpPr>
          <p:cNvPr id="500" name="Google Shape;500;p40"/>
          <p:cNvSpPr/>
          <p:nvPr/>
        </p:nvSpPr>
        <p:spPr>
          <a:xfrm>
            <a:off x="7633842" y="3149798"/>
            <a:ext cx="2864942" cy="568226"/>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6F655D"/>
              </a:buClr>
              <a:buSzPts val="1500"/>
              <a:buFont typeface="Public Sans"/>
              <a:buNone/>
            </a:pPr>
            <a:r>
              <a:rPr b="1" i="0" lang="en-US" sz="1500" u="none" cap="none" strike="noStrike">
                <a:solidFill>
                  <a:srgbClr val="6F655D"/>
                </a:solidFill>
                <a:latin typeface="Public Sans"/>
                <a:ea typeface="Public Sans"/>
                <a:cs typeface="Public Sans"/>
                <a:sym typeface="Public Sans"/>
              </a:rPr>
              <a:t>ChatGPT</a:t>
            </a:r>
            <a:endParaRPr b="0" i="0" sz="1500" u="none" cap="none" strike="noStrike"/>
          </a:p>
          <a:p>
            <a:pPr indent="0" lvl="0" marL="0" marR="0" rtl="0" algn="l">
              <a:lnSpc>
                <a:spcPct val="120000"/>
              </a:lnSpc>
              <a:spcBef>
                <a:spcPts val="0"/>
              </a:spcBef>
              <a:spcAft>
                <a:spcPts val="0"/>
              </a:spcAft>
              <a:buClr>
                <a:srgbClr val="6F655D"/>
              </a:buClr>
              <a:buSzPts val="1500"/>
              <a:buFont typeface="Public Sans"/>
              <a:buNone/>
            </a:pPr>
            <a:r>
              <a:rPr b="0" i="0" lang="en-US" sz="1500" u="none" cap="none" strike="noStrike">
                <a:solidFill>
                  <a:srgbClr val="6F655D"/>
                </a:solidFill>
                <a:latin typeface="Public Sans"/>
                <a:ea typeface="Public Sans"/>
                <a:cs typeface="Public Sans"/>
                <a:sym typeface="Public Sans"/>
              </a:rPr>
              <a:t>5.5 Instant</a:t>
            </a:r>
            <a:endParaRPr b="0" i="0" sz="1500" u="none" cap="none" strike="noStrike"/>
          </a:p>
        </p:txBody>
      </p:sp>
      <p:sp>
        <p:nvSpPr>
          <p:cNvPr id="501" name="Google Shape;501;p40"/>
          <p:cNvSpPr/>
          <p:nvPr/>
        </p:nvSpPr>
        <p:spPr>
          <a:xfrm>
            <a:off x="10903594" y="3149798"/>
            <a:ext cx="2709268" cy="568226"/>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6F655D"/>
              </a:buClr>
              <a:buSzPts val="1500"/>
              <a:buFont typeface="Public Sans"/>
              <a:buNone/>
            </a:pPr>
            <a:r>
              <a:rPr b="1" i="0" lang="en-US" sz="1500" u="none" cap="none" strike="noStrike">
                <a:solidFill>
                  <a:srgbClr val="6F655D"/>
                </a:solidFill>
                <a:latin typeface="Public Sans"/>
                <a:ea typeface="Public Sans"/>
                <a:cs typeface="Public Sans"/>
                <a:sym typeface="Public Sans"/>
              </a:rPr>
              <a:t>Gemini</a:t>
            </a:r>
            <a:endParaRPr b="0" i="0" sz="1500" u="none" cap="none" strike="noStrike"/>
          </a:p>
          <a:p>
            <a:pPr indent="0" lvl="0" marL="0" marR="0" rtl="0" algn="l">
              <a:lnSpc>
                <a:spcPct val="120000"/>
              </a:lnSpc>
              <a:spcBef>
                <a:spcPts val="0"/>
              </a:spcBef>
              <a:spcAft>
                <a:spcPts val="0"/>
              </a:spcAft>
              <a:buClr>
                <a:srgbClr val="6F655D"/>
              </a:buClr>
              <a:buSzPts val="1500"/>
              <a:buFont typeface="Public Sans"/>
              <a:buNone/>
            </a:pPr>
            <a:r>
              <a:rPr b="0" i="0" lang="en-US" sz="1500" u="none" cap="none" strike="noStrike">
                <a:solidFill>
                  <a:srgbClr val="6F655D"/>
                </a:solidFill>
                <a:latin typeface="Public Sans"/>
                <a:ea typeface="Public Sans"/>
                <a:cs typeface="Public Sans"/>
                <a:sym typeface="Public Sans"/>
              </a:rPr>
              <a:t>3.1 Pro "Extended"</a:t>
            </a:r>
            <a:endParaRPr b="0" i="0" sz="1500" u="none" cap="none" strike="noStrike"/>
          </a:p>
        </p:txBody>
      </p:sp>
      <p:sp>
        <p:nvSpPr>
          <p:cNvPr id="502" name="Google Shape;502;p40"/>
          <p:cNvSpPr/>
          <p:nvPr/>
        </p:nvSpPr>
        <p:spPr>
          <a:xfrm>
            <a:off x="14017674" y="3149798"/>
            <a:ext cx="2714030" cy="568226"/>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6F655D"/>
              </a:buClr>
              <a:buSzPts val="1500"/>
              <a:buFont typeface="Public Sans"/>
              <a:buNone/>
            </a:pPr>
            <a:r>
              <a:rPr b="1" i="0" lang="en-US" sz="1500" u="none" cap="none" strike="noStrike">
                <a:solidFill>
                  <a:srgbClr val="6F655D"/>
                </a:solidFill>
                <a:latin typeface="Public Sans"/>
                <a:ea typeface="Public Sans"/>
                <a:cs typeface="Public Sans"/>
                <a:sym typeface="Public Sans"/>
              </a:rPr>
              <a:t>DeepSeek</a:t>
            </a:r>
            <a:endParaRPr b="0" i="0" sz="1500" u="none" cap="none" strike="noStrike"/>
          </a:p>
          <a:p>
            <a:pPr indent="0" lvl="0" marL="0" marR="0" rtl="0" algn="l">
              <a:lnSpc>
                <a:spcPct val="120000"/>
              </a:lnSpc>
              <a:spcBef>
                <a:spcPts val="0"/>
              </a:spcBef>
              <a:spcAft>
                <a:spcPts val="0"/>
              </a:spcAft>
              <a:buClr>
                <a:srgbClr val="6F655D"/>
              </a:buClr>
              <a:buSzPts val="1500"/>
              <a:buFont typeface="Public Sans"/>
              <a:buNone/>
            </a:pPr>
            <a:r>
              <a:rPr b="0" i="0" lang="en-US" sz="1500" u="none" cap="none" strike="noStrike">
                <a:solidFill>
                  <a:srgbClr val="6F655D"/>
                </a:solidFill>
                <a:latin typeface="Public Sans"/>
                <a:ea typeface="Public Sans"/>
                <a:cs typeface="Public Sans"/>
                <a:sym typeface="Public Sans"/>
              </a:rPr>
              <a:t>V4 Flash "Expert Mode"</a:t>
            </a:r>
            <a:endParaRPr b="0" i="0" sz="1500" u="none" cap="none" strike="noStrike"/>
          </a:p>
        </p:txBody>
      </p:sp>
      <p:sp>
        <p:nvSpPr>
          <p:cNvPr id="503" name="Google Shape;503;p40"/>
          <p:cNvSpPr/>
          <p:nvPr/>
        </p:nvSpPr>
        <p:spPr>
          <a:xfrm>
            <a:off x="1556594" y="3935610"/>
            <a:ext cx="3317082" cy="284112"/>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6F655D"/>
              </a:buClr>
              <a:buSzPts val="1500"/>
              <a:buFont typeface="Public Sans"/>
              <a:buNone/>
            </a:pPr>
            <a:r>
              <a:rPr b="1" i="0" lang="en-US" sz="1500" u="none" cap="none" strike="noStrike">
                <a:solidFill>
                  <a:srgbClr val="6F655D"/>
                </a:solidFill>
                <a:latin typeface="Public Sans"/>
                <a:ea typeface="Public Sans"/>
                <a:cs typeface="Public Sans"/>
                <a:sym typeface="Public Sans"/>
              </a:rPr>
              <a:t>Weekly Regime</a:t>
            </a:r>
            <a:endParaRPr b="0" i="0" sz="1500" u="none" cap="none" strike="noStrike"/>
          </a:p>
        </p:txBody>
      </p:sp>
      <p:sp>
        <p:nvSpPr>
          <p:cNvPr id="504" name="Google Shape;504;p40"/>
          <p:cNvSpPr/>
          <p:nvPr/>
        </p:nvSpPr>
        <p:spPr>
          <a:xfrm>
            <a:off x="4364088" y="3935610"/>
            <a:ext cx="3779342" cy="284112"/>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6F655D"/>
              </a:buClr>
              <a:buSzPts val="1500"/>
              <a:buFont typeface="Public Sans"/>
              <a:buNone/>
            </a:pPr>
            <a:r>
              <a:rPr b="0" i="0" lang="en-US" sz="1500" u="none" cap="none" strike="noStrike">
                <a:solidFill>
                  <a:srgbClr val="6F655D"/>
                </a:solidFill>
                <a:latin typeface="Public Sans"/>
                <a:ea typeface="Public Sans"/>
                <a:cs typeface="Public Sans"/>
                <a:sym typeface="Public Sans"/>
              </a:rPr>
              <a:t>Bearish</a:t>
            </a:r>
            <a:endParaRPr b="0" i="0" sz="1500" u="none" cap="none" strike="noStrike"/>
          </a:p>
        </p:txBody>
      </p:sp>
      <p:sp>
        <p:nvSpPr>
          <p:cNvPr id="505" name="Google Shape;505;p40"/>
          <p:cNvSpPr/>
          <p:nvPr/>
        </p:nvSpPr>
        <p:spPr>
          <a:xfrm>
            <a:off x="7633842" y="3935610"/>
            <a:ext cx="3779342" cy="284112"/>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6F655D"/>
              </a:buClr>
              <a:buSzPts val="1500"/>
              <a:buFont typeface="Public Sans"/>
              <a:buNone/>
            </a:pPr>
            <a:r>
              <a:rPr b="0" i="0" lang="en-US" sz="1500" u="none" cap="none" strike="noStrike">
                <a:solidFill>
                  <a:srgbClr val="6F655D"/>
                </a:solidFill>
                <a:latin typeface="Public Sans"/>
                <a:ea typeface="Public Sans"/>
                <a:cs typeface="Public Sans"/>
                <a:sym typeface="Public Sans"/>
              </a:rPr>
              <a:t>Bearish</a:t>
            </a:r>
            <a:endParaRPr b="0" i="0" sz="1500" u="none" cap="none" strike="noStrike"/>
          </a:p>
        </p:txBody>
      </p:sp>
      <p:sp>
        <p:nvSpPr>
          <p:cNvPr id="506" name="Google Shape;506;p40"/>
          <p:cNvSpPr/>
          <p:nvPr/>
        </p:nvSpPr>
        <p:spPr>
          <a:xfrm>
            <a:off x="10903594" y="3935610"/>
            <a:ext cx="3623668" cy="284112"/>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6F655D"/>
              </a:buClr>
              <a:buSzPts val="1500"/>
              <a:buFont typeface="Public Sans"/>
              <a:buNone/>
            </a:pPr>
            <a:r>
              <a:rPr b="0" i="0" lang="en-US" sz="1500" u="none" cap="none" strike="noStrike">
                <a:solidFill>
                  <a:srgbClr val="6F655D"/>
                </a:solidFill>
                <a:latin typeface="Public Sans"/>
                <a:ea typeface="Public Sans"/>
                <a:cs typeface="Public Sans"/>
                <a:sym typeface="Public Sans"/>
              </a:rPr>
              <a:t>Bearish</a:t>
            </a:r>
            <a:endParaRPr b="0" i="0" sz="1500" u="none" cap="none" strike="noStrike"/>
          </a:p>
        </p:txBody>
      </p:sp>
      <p:sp>
        <p:nvSpPr>
          <p:cNvPr id="507" name="Google Shape;507;p40"/>
          <p:cNvSpPr/>
          <p:nvPr/>
        </p:nvSpPr>
        <p:spPr>
          <a:xfrm>
            <a:off x="14017674" y="3935610"/>
            <a:ext cx="3628430" cy="284112"/>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6F655D"/>
              </a:buClr>
              <a:buSzPts val="1500"/>
              <a:buFont typeface="Public Sans"/>
              <a:buNone/>
            </a:pPr>
            <a:r>
              <a:rPr b="0" i="0" lang="en-US" sz="1500" u="none" cap="none" strike="noStrike">
                <a:solidFill>
                  <a:srgbClr val="6F655D"/>
                </a:solidFill>
                <a:latin typeface="Public Sans"/>
                <a:ea typeface="Public Sans"/>
                <a:cs typeface="Public Sans"/>
                <a:sym typeface="Public Sans"/>
              </a:rPr>
              <a:t>Bearish</a:t>
            </a:r>
            <a:endParaRPr b="0" i="0" sz="1500" u="none" cap="none" strike="noStrike"/>
          </a:p>
        </p:txBody>
      </p:sp>
      <p:sp>
        <p:nvSpPr>
          <p:cNvPr id="508" name="Google Shape;508;p40"/>
          <p:cNvSpPr/>
          <p:nvPr/>
        </p:nvSpPr>
        <p:spPr>
          <a:xfrm>
            <a:off x="1556594" y="4437310"/>
            <a:ext cx="3317082" cy="284112"/>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6F655D"/>
              </a:buClr>
              <a:buSzPts val="1500"/>
              <a:buFont typeface="Public Sans"/>
              <a:buNone/>
            </a:pPr>
            <a:r>
              <a:rPr b="1" i="0" lang="en-US" sz="1500" u="none" cap="none" strike="noStrike">
                <a:solidFill>
                  <a:srgbClr val="6F655D"/>
                </a:solidFill>
                <a:latin typeface="Public Sans"/>
                <a:ea typeface="Public Sans"/>
                <a:cs typeface="Public Sans"/>
                <a:sym typeface="Public Sans"/>
              </a:rPr>
              <a:t>Confidence Score</a:t>
            </a:r>
            <a:endParaRPr b="0" i="0" sz="1500" u="none" cap="none" strike="noStrike"/>
          </a:p>
        </p:txBody>
      </p:sp>
      <p:sp>
        <p:nvSpPr>
          <p:cNvPr id="509" name="Google Shape;509;p40"/>
          <p:cNvSpPr/>
          <p:nvPr/>
        </p:nvSpPr>
        <p:spPr>
          <a:xfrm>
            <a:off x="4364088" y="4437310"/>
            <a:ext cx="3779342" cy="284112"/>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6F655D"/>
              </a:buClr>
              <a:buSzPts val="1500"/>
              <a:buFont typeface="Public Sans"/>
              <a:buNone/>
            </a:pPr>
            <a:r>
              <a:rPr b="0" i="0" lang="en-US" sz="1500" u="none" cap="none" strike="noStrike">
                <a:solidFill>
                  <a:srgbClr val="6F655D"/>
                </a:solidFill>
                <a:latin typeface="Public Sans"/>
                <a:ea typeface="Public Sans"/>
                <a:cs typeface="Public Sans"/>
                <a:sym typeface="Public Sans"/>
              </a:rPr>
              <a:t>Medium</a:t>
            </a:r>
            <a:endParaRPr b="0" i="0" sz="1500" u="none" cap="none" strike="noStrike"/>
          </a:p>
        </p:txBody>
      </p:sp>
      <p:sp>
        <p:nvSpPr>
          <p:cNvPr id="510" name="Google Shape;510;p40"/>
          <p:cNvSpPr/>
          <p:nvPr/>
        </p:nvSpPr>
        <p:spPr>
          <a:xfrm>
            <a:off x="7633842" y="4437310"/>
            <a:ext cx="3779342" cy="284112"/>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6F655D"/>
              </a:buClr>
              <a:buSzPts val="1500"/>
              <a:buFont typeface="Public Sans"/>
              <a:buNone/>
            </a:pPr>
            <a:r>
              <a:rPr b="1" i="0" lang="en-US" sz="1500" u="none" cap="none" strike="noStrike">
                <a:solidFill>
                  <a:srgbClr val="6F655D"/>
                </a:solidFill>
                <a:latin typeface="Public Sans"/>
                <a:ea typeface="Public Sans"/>
                <a:cs typeface="Public Sans"/>
                <a:sym typeface="Public Sans"/>
              </a:rPr>
              <a:t>High</a:t>
            </a:r>
            <a:endParaRPr b="0" i="0" sz="1500" u="none" cap="none" strike="noStrike"/>
          </a:p>
        </p:txBody>
      </p:sp>
      <p:sp>
        <p:nvSpPr>
          <p:cNvPr id="511" name="Google Shape;511;p40"/>
          <p:cNvSpPr/>
          <p:nvPr/>
        </p:nvSpPr>
        <p:spPr>
          <a:xfrm>
            <a:off x="10903594" y="4437310"/>
            <a:ext cx="3623668" cy="284112"/>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6F655D"/>
              </a:buClr>
              <a:buSzPts val="1500"/>
              <a:buFont typeface="Public Sans"/>
              <a:buNone/>
            </a:pPr>
            <a:r>
              <a:rPr b="0" i="0" lang="en-US" sz="1500" u="none" cap="none" strike="noStrike">
                <a:solidFill>
                  <a:srgbClr val="6F655D"/>
                </a:solidFill>
                <a:latin typeface="Public Sans"/>
                <a:ea typeface="Public Sans"/>
                <a:cs typeface="Public Sans"/>
                <a:sym typeface="Public Sans"/>
              </a:rPr>
              <a:t>Medium</a:t>
            </a:r>
            <a:endParaRPr b="0" i="0" sz="1500" u="none" cap="none" strike="noStrike"/>
          </a:p>
        </p:txBody>
      </p:sp>
      <p:sp>
        <p:nvSpPr>
          <p:cNvPr id="512" name="Google Shape;512;p40"/>
          <p:cNvSpPr/>
          <p:nvPr/>
        </p:nvSpPr>
        <p:spPr>
          <a:xfrm>
            <a:off x="14017674" y="4437310"/>
            <a:ext cx="3628430" cy="284112"/>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6F655D"/>
              </a:buClr>
              <a:buSzPts val="1500"/>
              <a:buFont typeface="Public Sans"/>
              <a:buNone/>
            </a:pPr>
            <a:r>
              <a:rPr b="0" i="0" lang="en-US" sz="1500" u="none" cap="none" strike="noStrike">
                <a:solidFill>
                  <a:srgbClr val="6F655D"/>
                </a:solidFill>
                <a:latin typeface="Public Sans"/>
                <a:ea typeface="Public Sans"/>
                <a:cs typeface="Public Sans"/>
                <a:sym typeface="Public Sans"/>
              </a:rPr>
              <a:t>Medium</a:t>
            </a:r>
            <a:endParaRPr b="0" i="0" sz="1500" u="none" cap="none" strike="noStrike"/>
          </a:p>
        </p:txBody>
      </p:sp>
      <p:sp>
        <p:nvSpPr>
          <p:cNvPr id="513" name="Google Shape;513;p40"/>
          <p:cNvSpPr/>
          <p:nvPr/>
        </p:nvSpPr>
        <p:spPr>
          <a:xfrm>
            <a:off x="1556594" y="4939010"/>
            <a:ext cx="3317082" cy="284112"/>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6F655D"/>
              </a:buClr>
              <a:buSzPts val="1500"/>
              <a:buFont typeface="Public Sans"/>
              <a:buNone/>
            </a:pPr>
            <a:r>
              <a:rPr b="1" i="0" lang="en-US" sz="1500" u="none" cap="none" strike="noStrike">
                <a:solidFill>
                  <a:srgbClr val="6F655D"/>
                </a:solidFill>
                <a:latin typeface="Public Sans"/>
                <a:ea typeface="Public Sans"/>
                <a:cs typeface="Public Sans"/>
                <a:sym typeface="Public Sans"/>
              </a:rPr>
              <a:t>SPX % Estimate</a:t>
            </a:r>
            <a:endParaRPr b="0" i="0" sz="1500" u="none" cap="none" strike="noStrike"/>
          </a:p>
        </p:txBody>
      </p:sp>
      <p:sp>
        <p:nvSpPr>
          <p:cNvPr id="514" name="Google Shape;514;p40"/>
          <p:cNvSpPr/>
          <p:nvPr/>
        </p:nvSpPr>
        <p:spPr>
          <a:xfrm>
            <a:off x="4364088" y="4939010"/>
            <a:ext cx="3779342" cy="284112"/>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6F655D"/>
              </a:buClr>
              <a:buSzPts val="1500"/>
              <a:buFont typeface="Public Sans"/>
              <a:buNone/>
            </a:pPr>
            <a:r>
              <a:rPr b="0" i="0" lang="en-US" sz="1500" u="none" cap="none" strike="noStrike">
                <a:solidFill>
                  <a:srgbClr val="6F655D"/>
                </a:solidFill>
                <a:latin typeface="Public Sans"/>
                <a:ea typeface="Public Sans"/>
                <a:cs typeface="Public Sans"/>
                <a:sym typeface="Public Sans"/>
              </a:rPr>
              <a:t>-3.5% to +1.5%</a:t>
            </a:r>
            <a:endParaRPr b="0" i="0" sz="1500" u="none" cap="none" strike="noStrike"/>
          </a:p>
        </p:txBody>
      </p:sp>
      <p:sp>
        <p:nvSpPr>
          <p:cNvPr id="515" name="Google Shape;515;p40"/>
          <p:cNvSpPr/>
          <p:nvPr/>
        </p:nvSpPr>
        <p:spPr>
          <a:xfrm>
            <a:off x="7633842" y="4939010"/>
            <a:ext cx="3779342" cy="284112"/>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6F655D"/>
              </a:buClr>
              <a:buSzPts val="1500"/>
              <a:buFont typeface="Public Sans"/>
              <a:buNone/>
            </a:pPr>
            <a:r>
              <a:rPr b="0" i="0" lang="en-US" sz="1500" u="none" cap="none" strike="noStrike">
                <a:solidFill>
                  <a:srgbClr val="6F655D"/>
                </a:solidFill>
                <a:latin typeface="Public Sans"/>
                <a:ea typeface="Public Sans"/>
                <a:cs typeface="Public Sans"/>
                <a:sym typeface="Public Sans"/>
              </a:rPr>
              <a:t>-0.8% to -3.0%</a:t>
            </a:r>
            <a:endParaRPr b="0" i="0" sz="1500" u="none" cap="none" strike="noStrike"/>
          </a:p>
        </p:txBody>
      </p:sp>
      <p:sp>
        <p:nvSpPr>
          <p:cNvPr id="516" name="Google Shape;516;p40"/>
          <p:cNvSpPr/>
          <p:nvPr/>
        </p:nvSpPr>
        <p:spPr>
          <a:xfrm>
            <a:off x="10903594" y="4939010"/>
            <a:ext cx="3623668" cy="284112"/>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6F655D"/>
              </a:buClr>
              <a:buSzPts val="1500"/>
              <a:buFont typeface="Public Sans"/>
              <a:buNone/>
            </a:pPr>
            <a:r>
              <a:rPr b="0" i="0" lang="en-US" sz="1500" u="none" cap="none" strike="noStrike">
                <a:solidFill>
                  <a:srgbClr val="6F655D"/>
                </a:solidFill>
                <a:latin typeface="Public Sans"/>
                <a:ea typeface="Public Sans"/>
                <a:cs typeface="Public Sans"/>
                <a:sym typeface="Public Sans"/>
              </a:rPr>
              <a:t>-1.0% to -3.0%</a:t>
            </a:r>
            <a:endParaRPr b="0" i="0" sz="1500" u="none" cap="none" strike="noStrike"/>
          </a:p>
        </p:txBody>
      </p:sp>
      <p:sp>
        <p:nvSpPr>
          <p:cNvPr id="517" name="Google Shape;517;p40"/>
          <p:cNvSpPr/>
          <p:nvPr/>
        </p:nvSpPr>
        <p:spPr>
          <a:xfrm>
            <a:off x="14017674" y="4939010"/>
            <a:ext cx="3628430" cy="284112"/>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6F655D"/>
              </a:buClr>
              <a:buSzPts val="1500"/>
              <a:buFont typeface="Public Sans"/>
              <a:buNone/>
            </a:pPr>
            <a:r>
              <a:rPr b="0" i="0" lang="en-US" sz="1500" u="none" cap="none" strike="noStrike">
                <a:solidFill>
                  <a:srgbClr val="6F655D"/>
                </a:solidFill>
                <a:latin typeface="Public Sans"/>
                <a:ea typeface="Public Sans"/>
                <a:cs typeface="Public Sans"/>
                <a:sym typeface="Public Sans"/>
              </a:rPr>
              <a:t>-3.0% to +1.5%</a:t>
            </a:r>
            <a:endParaRPr b="0" i="0" sz="1500" u="none" cap="none" strike="noStrike"/>
          </a:p>
        </p:txBody>
      </p:sp>
      <p:sp>
        <p:nvSpPr>
          <p:cNvPr id="518" name="Google Shape;518;p40"/>
          <p:cNvSpPr/>
          <p:nvPr/>
        </p:nvSpPr>
        <p:spPr>
          <a:xfrm>
            <a:off x="1556594" y="5440710"/>
            <a:ext cx="3317082" cy="284112"/>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6F655D"/>
              </a:buClr>
              <a:buSzPts val="1500"/>
              <a:buFont typeface="Public Sans"/>
              <a:buNone/>
            </a:pPr>
            <a:r>
              <a:rPr b="1" i="0" lang="en-US" sz="1500" u="none" cap="none" strike="noStrike">
                <a:solidFill>
                  <a:srgbClr val="6F655D"/>
                </a:solidFill>
                <a:latin typeface="Public Sans"/>
                <a:ea typeface="Public Sans"/>
                <a:cs typeface="Public Sans"/>
                <a:sym typeface="Public Sans"/>
              </a:rPr>
              <a:t>NDX % Estimate</a:t>
            </a:r>
            <a:endParaRPr b="0" i="0" sz="1500" u="none" cap="none" strike="noStrike"/>
          </a:p>
        </p:txBody>
      </p:sp>
      <p:sp>
        <p:nvSpPr>
          <p:cNvPr id="519" name="Google Shape;519;p40"/>
          <p:cNvSpPr/>
          <p:nvPr/>
        </p:nvSpPr>
        <p:spPr>
          <a:xfrm>
            <a:off x="4364088" y="5440710"/>
            <a:ext cx="3779342" cy="284112"/>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6F655D"/>
              </a:buClr>
              <a:buSzPts val="1500"/>
              <a:buFont typeface="Public Sans"/>
              <a:buNone/>
            </a:pPr>
            <a:r>
              <a:rPr b="0" i="0" lang="en-US" sz="1500" u="none" cap="none" strike="noStrike">
                <a:solidFill>
                  <a:srgbClr val="6F655D"/>
                </a:solidFill>
                <a:latin typeface="Public Sans"/>
                <a:ea typeface="Public Sans"/>
                <a:cs typeface="Public Sans"/>
                <a:sym typeface="Public Sans"/>
              </a:rPr>
              <a:t>-4.5% to +2.0%</a:t>
            </a:r>
            <a:endParaRPr b="0" i="0" sz="1500" u="none" cap="none" strike="noStrike"/>
          </a:p>
        </p:txBody>
      </p:sp>
      <p:sp>
        <p:nvSpPr>
          <p:cNvPr id="520" name="Google Shape;520;p40"/>
          <p:cNvSpPr/>
          <p:nvPr/>
        </p:nvSpPr>
        <p:spPr>
          <a:xfrm>
            <a:off x="7633842" y="5440710"/>
            <a:ext cx="3779342" cy="284112"/>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6F655D"/>
              </a:buClr>
              <a:buSzPts val="1500"/>
              <a:buFont typeface="Public Sans"/>
              <a:buNone/>
            </a:pPr>
            <a:r>
              <a:rPr b="0" i="0" lang="en-US" sz="1500" u="none" cap="none" strike="noStrike">
                <a:solidFill>
                  <a:srgbClr val="6F655D"/>
                </a:solidFill>
                <a:latin typeface="Public Sans"/>
                <a:ea typeface="Public Sans"/>
                <a:cs typeface="Public Sans"/>
                <a:sym typeface="Public Sans"/>
              </a:rPr>
              <a:t>-1.0% to -4.0%</a:t>
            </a:r>
            <a:endParaRPr b="0" i="0" sz="1500" u="none" cap="none" strike="noStrike"/>
          </a:p>
        </p:txBody>
      </p:sp>
      <p:sp>
        <p:nvSpPr>
          <p:cNvPr id="521" name="Google Shape;521;p40"/>
          <p:cNvSpPr/>
          <p:nvPr/>
        </p:nvSpPr>
        <p:spPr>
          <a:xfrm>
            <a:off x="10903594" y="5440710"/>
            <a:ext cx="3623668" cy="284112"/>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6F655D"/>
              </a:buClr>
              <a:buSzPts val="1500"/>
              <a:buFont typeface="Public Sans"/>
              <a:buNone/>
            </a:pPr>
            <a:r>
              <a:rPr b="0" i="0" lang="en-US" sz="1500" u="none" cap="none" strike="noStrike">
                <a:solidFill>
                  <a:srgbClr val="6F655D"/>
                </a:solidFill>
                <a:latin typeface="Public Sans"/>
                <a:ea typeface="Public Sans"/>
                <a:cs typeface="Public Sans"/>
                <a:sym typeface="Public Sans"/>
              </a:rPr>
              <a:t>-1.5% to -4.0%</a:t>
            </a:r>
            <a:endParaRPr b="0" i="0" sz="1500" u="none" cap="none" strike="noStrike"/>
          </a:p>
        </p:txBody>
      </p:sp>
      <p:sp>
        <p:nvSpPr>
          <p:cNvPr id="522" name="Google Shape;522;p40"/>
          <p:cNvSpPr/>
          <p:nvPr/>
        </p:nvSpPr>
        <p:spPr>
          <a:xfrm>
            <a:off x="14017674" y="5440710"/>
            <a:ext cx="3628430" cy="284112"/>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6F655D"/>
              </a:buClr>
              <a:buSzPts val="1500"/>
              <a:buFont typeface="Public Sans"/>
              <a:buNone/>
            </a:pPr>
            <a:r>
              <a:rPr b="0" i="0" lang="en-US" sz="1500" u="none" cap="none" strike="noStrike">
                <a:solidFill>
                  <a:srgbClr val="6F655D"/>
                </a:solidFill>
                <a:latin typeface="Public Sans"/>
                <a:ea typeface="Public Sans"/>
                <a:cs typeface="Public Sans"/>
                <a:sym typeface="Public Sans"/>
              </a:rPr>
              <a:t>-4.0% to +2.0%</a:t>
            </a:r>
            <a:endParaRPr b="0" i="0" sz="1500" u="none" cap="none" strike="noStrike"/>
          </a:p>
        </p:txBody>
      </p:sp>
      <p:sp>
        <p:nvSpPr>
          <p:cNvPr id="523" name="Google Shape;523;p40"/>
          <p:cNvSpPr/>
          <p:nvPr/>
        </p:nvSpPr>
        <p:spPr>
          <a:xfrm>
            <a:off x="1556594" y="5942410"/>
            <a:ext cx="3317082" cy="284112"/>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6F655D"/>
              </a:buClr>
              <a:buSzPts val="1500"/>
              <a:buFont typeface="Public Sans"/>
              <a:buNone/>
            </a:pPr>
            <a:r>
              <a:rPr b="1" i="0" lang="en-US" sz="1500" u="none" cap="none" strike="noStrike">
                <a:solidFill>
                  <a:srgbClr val="6F655D"/>
                </a:solidFill>
                <a:latin typeface="Public Sans"/>
                <a:ea typeface="Public Sans"/>
                <a:cs typeface="Public Sans"/>
                <a:sym typeface="Public Sans"/>
              </a:rPr>
              <a:t>Top Supporting Reason</a:t>
            </a:r>
            <a:endParaRPr b="0" i="0" sz="1500" u="none" cap="none" strike="noStrike"/>
          </a:p>
        </p:txBody>
      </p:sp>
      <p:sp>
        <p:nvSpPr>
          <p:cNvPr id="524" name="Google Shape;524;p40"/>
          <p:cNvSpPr/>
          <p:nvPr/>
        </p:nvSpPr>
        <p:spPr>
          <a:xfrm>
            <a:off x="4364088" y="5942410"/>
            <a:ext cx="2864942" cy="85233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6F655D"/>
              </a:buClr>
              <a:buSzPts val="1500"/>
              <a:buFont typeface="Public Sans"/>
              <a:buNone/>
            </a:pPr>
            <a:r>
              <a:rPr b="0" i="0" lang="en-US" sz="1500" u="none" cap="none" strike="noStrike">
                <a:solidFill>
                  <a:srgbClr val="6F655D"/>
                </a:solidFill>
                <a:latin typeface="Public Sans"/>
                <a:ea typeface="Public Sans"/>
                <a:cs typeface="Public Sans"/>
                <a:sym typeface="Public Sans"/>
              </a:rPr>
              <a:t>Seasonality (midterm June), bearish macro (NFP), Tech breakdown</a:t>
            </a:r>
            <a:endParaRPr b="0" i="0" sz="1500" u="none" cap="none" strike="noStrike"/>
          </a:p>
        </p:txBody>
      </p:sp>
      <p:sp>
        <p:nvSpPr>
          <p:cNvPr id="525" name="Google Shape;525;p40"/>
          <p:cNvSpPr/>
          <p:nvPr/>
        </p:nvSpPr>
        <p:spPr>
          <a:xfrm>
            <a:off x="7633842" y="5942410"/>
            <a:ext cx="2864942" cy="568226"/>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6F655D"/>
              </a:buClr>
              <a:buSzPts val="1500"/>
              <a:buFont typeface="Public Sans"/>
              <a:buNone/>
            </a:pPr>
            <a:r>
              <a:rPr b="0" i="0" lang="en-US" sz="1500" u="none" cap="none" strike="noStrike">
                <a:solidFill>
                  <a:srgbClr val="6F655D"/>
                </a:solidFill>
                <a:latin typeface="Public Sans"/>
                <a:ea typeface="Public Sans"/>
                <a:cs typeface="Public Sans"/>
                <a:sym typeface="Public Sans"/>
              </a:rPr>
              <a:t>Midterm June weakest month, macro deterioration</a:t>
            </a:r>
            <a:endParaRPr b="0" i="0" sz="1500" u="none" cap="none" strike="noStrike"/>
          </a:p>
        </p:txBody>
      </p:sp>
      <p:sp>
        <p:nvSpPr>
          <p:cNvPr id="526" name="Google Shape;526;p40"/>
          <p:cNvSpPr/>
          <p:nvPr/>
        </p:nvSpPr>
        <p:spPr>
          <a:xfrm>
            <a:off x="10903594" y="5942410"/>
            <a:ext cx="2709268" cy="85233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6F655D"/>
              </a:buClr>
              <a:buSzPts val="1500"/>
              <a:buFont typeface="Public Sans"/>
              <a:buNone/>
            </a:pPr>
            <a:r>
              <a:rPr b="0" i="0" lang="en-US" sz="1500" u="none" cap="none" strike="noStrike">
                <a:solidFill>
                  <a:srgbClr val="6F655D"/>
                </a:solidFill>
                <a:latin typeface="Public Sans"/>
                <a:ea typeface="Public Sans"/>
                <a:cs typeface="Public Sans"/>
                <a:sym typeface="Public Sans"/>
              </a:rPr>
              <a:t>Almanac midterm June data, widespread technical damage</a:t>
            </a:r>
            <a:endParaRPr b="0" i="0" sz="1500" u="none" cap="none" strike="noStrike"/>
          </a:p>
        </p:txBody>
      </p:sp>
      <p:sp>
        <p:nvSpPr>
          <p:cNvPr id="527" name="Google Shape;527;p40"/>
          <p:cNvSpPr/>
          <p:nvPr/>
        </p:nvSpPr>
        <p:spPr>
          <a:xfrm>
            <a:off x="14017674" y="5942410"/>
            <a:ext cx="2714030" cy="568226"/>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6F655D"/>
              </a:buClr>
              <a:buSzPts val="1500"/>
              <a:buFont typeface="Public Sans"/>
              <a:buNone/>
            </a:pPr>
            <a:r>
              <a:rPr b="0" i="0" lang="en-US" sz="1500" u="none" cap="none" strike="noStrike">
                <a:solidFill>
                  <a:srgbClr val="6F655D"/>
                </a:solidFill>
                <a:latin typeface="Public Sans"/>
                <a:ea typeface="Public Sans"/>
                <a:cs typeface="Public Sans"/>
                <a:sym typeface="Public Sans"/>
              </a:rPr>
              <a:t>Midterm June seasonality, macro tightening</a:t>
            </a:r>
            <a:endParaRPr b="0" i="0" sz="1500" u="none" cap="none" strike="noStrike"/>
          </a:p>
        </p:txBody>
      </p:sp>
      <p:sp>
        <p:nvSpPr>
          <p:cNvPr id="528" name="Google Shape;528;p40"/>
          <p:cNvSpPr/>
          <p:nvPr/>
        </p:nvSpPr>
        <p:spPr>
          <a:xfrm>
            <a:off x="1556594" y="7012334"/>
            <a:ext cx="3317082" cy="284112"/>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6F655D"/>
              </a:buClr>
              <a:buSzPts val="1500"/>
              <a:buFont typeface="Public Sans"/>
              <a:buNone/>
            </a:pPr>
            <a:r>
              <a:rPr b="1" i="0" lang="en-US" sz="1500" u="none" cap="none" strike="noStrike">
                <a:solidFill>
                  <a:srgbClr val="6F655D"/>
                </a:solidFill>
                <a:latin typeface="Public Sans"/>
                <a:ea typeface="Public Sans"/>
                <a:cs typeface="Public Sans"/>
                <a:sym typeface="Public Sans"/>
              </a:rPr>
              <a:t>Top Contradiction</a:t>
            </a:r>
            <a:endParaRPr b="0" i="0" sz="1500" u="none" cap="none" strike="noStrike"/>
          </a:p>
        </p:txBody>
      </p:sp>
      <p:sp>
        <p:nvSpPr>
          <p:cNvPr id="529" name="Google Shape;529;p40"/>
          <p:cNvSpPr/>
          <p:nvPr/>
        </p:nvSpPr>
        <p:spPr>
          <a:xfrm>
            <a:off x="4364088" y="7012334"/>
            <a:ext cx="2864942" cy="568226"/>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6F655D"/>
              </a:buClr>
              <a:buSzPts val="1500"/>
              <a:buFont typeface="Public Sans"/>
              <a:buNone/>
            </a:pPr>
            <a:r>
              <a:rPr b="0" i="0" lang="en-US" sz="1500" u="none" cap="none" strike="noStrike">
                <a:solidFill>
                  <a:srgbClr val="6F655D"/>
                </a:solidFill>
                <a:latin typeface="Public Sans"/>
                <a:ea typeface="Public Sans"/>
                <a:cs typeface="Public Sans"/>
                <a:sym typeface="Public Sans"/>
              </a:rPr>
              <a:t>CPI is 2-way wildcard, Tech bias only Neutral</a:t>
            </a:r>
            <a:endParaRPr b="0" i="0" sz="1500" u="none" cap="none" strike="noStrike"/>
          </a:p>
        </p:txBody>
      </p:sp>
      <p:sp>
        <p:nvSpPr>
          <p:cNvPr id="530" name="Google Shape;530;p40"/>
          <p:cNvSpPr/>
          <p:nvPr/>
        </p:nvSpPr>
        <p:spPr>
          <a:xfrm>
            <a:off x="7633842" y="7012334"/>
            <a:ext cx="2864942" cy="568226"/>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6F655D"/>
              </a:buClr>
              <a:buSzPts val="1500"/>
              <a:buFont typeface="Public Sans"/>
              <a:buNone/>
            </a:pPr>
            <a:r>
              <a:rPr b="0" i="0" lang="en-US" sz="1500" u="none" cap="none" strike="noStrike">
                <a:solidFill>
                  <a:srgbClr val="6F655D"/>
                </a:solidFill>
                <a:latin typeface="Public Sans"/>
                <a:ea typeface="Public Sans"/>
                <a:cs typeface="Public Sans"/>
                <a:sym typeface="Public Sans"/>
              </a:rPr>
              <a:t>Neutral Tech seasonality; geopolitical support for energy</a:t>
            </a:r>
            <a:endParaRPr b="0" i="0" sz="1500" u="none" cap="none" strike="noStrike"/>
          </a:p>
        </p:txBody>
      </p:sp>
      <p:sp>
        <p:nvSpPr>
          <p:cNvPr id="531" name="Google Shape;531;p40"/>
          <p:cNvSpPr/>
          <p:nvPr/>
        </p:nvSpPr>
        <p:spPr>
          <a:xfrm>
            <a:off x="10903594" y="7012334"/>
            <a:ext cx="2709268" cy="568226"/>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6F655D"/>
              </a:buClr>
              <a:buSzPts val="1500"/>
              <a:buFont typeface="Public Sans"/>
              <a:buNone/>
            </a:pPr>
            <a:r>
              <a:rPr b="0" i="0" lang="en-US" sz="1500" u="none" cap="none" strike="noStrike">
                <a:solidFill>
                  <a:srgbClr val="6F655D"/>
                </a:solidFill>
                <a:latin typeface="Public Sans"/>
                <a:ea typeface="Public Sans"/>
                <a:cs typeface="Public Sans"/>
                <a:sym typeface="Public Sans"/>
              </a:rPr>
              <a:t>XLK seasonal long, SPX technical bias still "Neutral"</a:t>
            </a:r>
            <a:endParaRPr b="0" i="0" sz="1500" u="none" cap="none" strike="noStrike"/>
          </a:p>
        </p:txBody>
      </p:sp>
      <p:sp>
        <p:nvSpPr>
          <p:cNvPr id="532" name="Google Shape;532;p40"/>
          <p:cNvSpPr/>
          <p:nvPr/>
        </p:nvSpPr>
        <p:spPr>
          <a:xfrm>
            <a:off x="14017674" y="7012334"/>
            <a:ext cx="2714030" cy="568226"/>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6F655D"/>
              </a:buClr>
              <a:buSzPts val="1500"/>
              <a:buFont typeface="Public Sans"/>
              <a:buNone/>
            </a:pPr>
            <a:r>
              <a:rPr b="0" i="0" lang="en-US" sz="1500" u="none" cap="none" strike="noStrike">
                <a:solidFill>
                  <a:srgbClr val="6F655D"/>
                </a:solidFill>
                <a:latin typeface="Public Sans"/>
                <a:ea typeface="Public Sans"/>
                <a:cs typeface="Public Sans"/>
                <a:sym typeface="Public Sans"/>
              </a:rPr>
              <a:t>XLK seasonal long window; CPI binary wildcard</a:t>
            </a:r>
            <a:endParaRPr b="0" i="0" sz="1500" u="none" cap="none" strike="noStrike"/>
          </a:p>
        </p:txBody>
      </p:sp>
      <p:sp>
        <p:nvSpPr>
          <p:cNvPr id="533" name="Google Shape;533;p40"/>
          <p:cNvSpPr/>
          <p:nvPr/>
        </p:nvSpPr>
        <p:spPr>
          <a:xfrm>
            <a:off x="1348978" y="7871222"/>
            <a:ext cx="15589894" cy="950416"/>
          </a:xfrm>
          <a:prstGeom prst="roundRect">
            <a:avLst>
              <a:gd fmla="val 8737" name="adj"/>
            </a:avLst>
          </a:prstGeom>
          <a:solidFill>
            <a:srgbClr val="B6FCB8"/>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pic>
        <p:nvPicPr>
          <p:cNvPr descr="preencoded.png" id="534" name="Google Shape;534;p40"/>
          <p:cNvPicPr preferRelativeResize="0"/>
          <p:nvPr/>
        </p:nvPicPr>
        <p:blipFill rotWithShape="1">
          <a:blip r:embed="rId3">
            <a:alphaModFix/>
          </a:blip>
          <a:srcRect b="0" l="0" r="0" t="0"/>
          <a:stretch/>
        </p:blipFill>
        <p:spPr>
          <a:xfrm>
            <a:off x="1546622" y="8135838"/>
            <a:ext cx="247054" cy="197644"/>
          </a:xfrm>
          <a:prstGeom prst="rect">
            <a:avLst/>
          </a:prstGeom>
          <a:noFill/>
          <a:ln>
            <a:noFill/>
          </a:ln>
        </p:spPr>
      </p:pic>
      <p:sp>
        <p:nvSpPr>
          <p:cNvPr id="535" name="Google Shape;535;p40"/>
          <p:cNvSpPr/>
          <p:nvPr/>
        </p:nvSpPr>
        <p:spPr>
          <a:xfrm>
            <a:off x="1991320" y="8062318"/>
            <a:ext cx="14749908" cy="568226"/>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1500"/>
              <a:buFont typeface="Public Sans"/>
              <a:buNone/>
            </a:pPr>
            <a:r>
              <a:rPr b="0" i="0" lang="en-US" sz="1500" u="none" cap="none" strike="noStrike">
                <a:solidFill>
                  <a:srgbClr val="000000"/>
                </a:solidFill>
                <a:latin typeface="Public Sans"/>
                <a:ea typeface="Public Sans"/>
                <a:cs typeface="Public Sans"/>
                <a:sym typeface="Public Sans"/>
              </a:rPr>
              <a:t>Result: A rare 4/4 absolute consensus — all models independently classified the weekly regime as </a:t>
            </a:r>
            <a:r>
              <a:rPr b="1" i="0" lang="en-US" sz="1500" u="none" cap="none" strike="noStrike">
                <a:solidFill>
                  <a:srgbClr val="000000"/>
                </a:solidFill>
                <a:latin typeface="Public Sans"/>
                <a:ea typeface="Public Sans"/>
                <a:cs typeface="Public Sans"/>
                <a:sym typeface="Public Sans"/>
              </a:rPr>
              <a:t>Bearish</a:t>
            </a:r>
            <a:r>
              <a:rPr b="0" i="0" lang="en-US" sz="1500" u="none" cap="none" strike="noStrike">
                <a:solidFill>
                  <a:srgbClr val="000000"/>
                </a:solidFill>
                <a:latin typeface="Public Sans"/>
                <a:ea typeface="Public Sans"/>
                <a:cs typeface="Public Sans"/>
                <a:sym typeface="Public Sans"/>
              </a:rPr>
              <a:t>, converging on Midterm June Almanac weakness and NFP macro tightening as primary bearish drivers.</a:t>
            </a:r>
            <a:endParaRPr b="0" i="0" sz="1500" u="none" cap="none" strike="noStrike"/>
          </a:p>
        </p:txBody>
      </p:sp>
      <p:sp>
        <p:nvSpPr>
          <p:cNvPr id="536" name="Google Shape;536;p40"/>
          <p:cNvSpPr/>
          <p:nvPr/>
        </p:nvSpPr>
        <p:spPr>
          <a:xfrm>
            <a:off x="1645444" y="8998744"/>
            <a:ext cx="15293430" cy="45481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1200"/>
              <a:buFont typeface="Public Sans"/>
              <a:buNone/>
            </a:pPr>
            <a:r>
              <a:rPr b="0" i="1" lang="en-US" sz="1200" u="none" cap="none" strike="noStrike">
                <a:solidFill>
                  <a:srgbClr val="000000"/>
                </a:solidFill>
                <a:latin typeface="Public Sans"/>
                <a:ea typeface="Public Sans"/>
                <a:cs typeface="Public Sans"/>
                <a:sym typeface="Public Sans"/>
              </a:rPr>
              <a:t>🎙️</a:t>
            </a:r>
            <a:r>
              <a:rPr b="0" i="1" lang="en-US" sz="1200" u="none" cap="none" strike="noStrike">
                <a:solidFill>
                  <a:srgbClr val="6F655D"/>
                </a:solidFill>
                <a:latin typeface="Public Sans"/>
                <a:ea typeface="Public Sans"/>
                <a:cs typeface="Public Sans"/>
                <a:sym typeface="Public Sans"/>
              </a:rPr>
              <a:t> </a:t>
            </a:r>
            <a:r>
              <a:rPr b="1" i="1" lang="en-US" sz="1200" u="none" cap="none" strike="noStrike">
                <a:solidFill>
                  <a:srgbClr val="6F655D"/>
                </a:solidFill>
                <a:latin typeface="Public Sans"/>
                <a:ea typeface="Public Sans"/>
                <a:cs typeface="Public Sans"/>
                <a:sym typeface="Public Sans"/>
              </a:rPr>
              <a:t>SPEAKER NOTES:</a:t>
            </a:r>
            <a:r>
              <a:rPr b="0" i="1" lang="en-US" sz="1200" u="none" cap="none" strike="noStrike">
                <a:solidFill>
                  <a:srgbClr val="6F655D"/>
                </a:solidFill>
                <a:latin typeface="Public Sans"/>
                <a:ea typeface="Public Sans"/>
                <a:cs typeface="Public Sans"/>
                <a:sym typeface="Public Sans"/>
              </a:rPr>
              <a:t> "Here is our Multi-LLM Comparison Table. As you can see, we achieved a rare 4 out of 4 absolute 'Bearish' consensus. All models correctly identified the midterm June Almanac weakness and the macroeconomic tightening from Friday's NFP data as the primary bearish drivers."</a:t>
            </a:r>
            <a:endParaRPr b="0" i="0" sz="1200" u="none" cap="none" strike="noStrike"/>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sp>
        <p:nvSpPr>
          <p:cNvPr id="542" name="Google Shape;542;p41"/>
          <p:cNvSpPr/>
          <p:nvPr/>
        </p:nvSpPr>
        <p:spPr>
          <a:xfrm>
            <a:off x="1501824" y="540098"/>
            <a:ext cx="2928342" cy="336946"/>
          </a:xfrm>
          <a:prstGeom prst="roundRect">
            <a:avLst>
              <a:gd fmla="val 19328" name="adj"/>
            </a:avLst>
          </a:prstGeom>
          <a:solidFill>
            <a:srgbClr val="EEDDDD"/>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543" name="Google Shape;543;p41"/>
          <p:cNvSpPr/>
          <p:nvPr/>
        </p:nvSpPr>
        <p:spPr>
          <a:xfrm>
            <a:off x="1618060" y="598140"/>
            <a:ext cx="3610272" cy="220860"/>
          </a:xfrm>
          <a:prstGeom prst="rect">
            <a:avLst/>
          </a:prstGeom>
          <a:noFill/>
          <a:ln>
            <a:noFill/>
          </a:ln>
        </p:spPr>
        <p:txBody>
          <a:bodyPr anchorCtr="0" anchor="t" bIns="0" lIns="0" spcFirstLastPara="1" rIns="0" wrap="square" tIns="0">
            <a:noAutofit/>
          </a:bodyPr>
          <a:lstStyle/>
          <a:p>
            <a:pPr indent="0" lvl="0" marL="0" marR="0" rtl="0" algn="l">
              <a:lnSpc>
                <a:spcPct val="119000"/>
              </a:lnSpc>
              <a:spcBef>
                <a:spcPts val="0"/>
              </a:spcBef>
              <a:spcAft>
                <a:spcPts val="0"/>
              </a:spcAft>
              <a:buClr>
                <a:srgbClr val="6F655D"/>
              </a:buClr>
              <a:buSzPts val="1200"/>
              <a:buFont typeface="Public Sans"/>
              <a:buNone/>
            </a:pPr>
            <a:r>
              <a:rPr b="0" i="0" lang="en-US" sz="1200" u="none" cap="none" strike="noStrike">
                <a:solidFill>
                  <a:srgbClr val="6F655D"/>
                </a:solidFill>
                <a:latin typeface="Public Sans"/>
                <a:ea typeface="Public Sans"/>
                <a:cs typeface="Public Sans"/>
                <a:sym typeface="Public Sans"/>
              </a:rPr>
              <a:t>R6 — CONSENSUS &amp; DIVERGENCES</a:t>
            </a:r>
            <a:endParaRPr b="0" i="0" sz="1200" u="none" cap="none" strike="noStrike"/>
          </a:p>
        </p:txBody>
      </p:sp>
      <p:sp>
        <p:nvSpPr>
          <p:cNvPr id="544" name="Google Shape;544;p41"/>
          <p:cNvSpPr/>
          <p:nvPr/>
        </p:nvSpPr>
        <p:spPr>
          <a:xfrm>
            <a:off x="1501824" y="937468"/>
            <a:ext cx="7281862" cy="60573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4B6981"/>
              </a:buClr>
              <a:buSzPts val="3800"/>
              <a:buFont typeface="Playfair Display SemiBold"/>
              <a:buNone/>
            </a:pPr>
            <a:r>
              <a:rPr b="0" i="0" lang="en-US" sz="3800" u="none" cap="none" strike="noStrike">
                <a:solidFill>
                  <a:srgbClr val="4B6981"/>
                </a:solidFill>
                <a:latin typeface="Playfair Display SemiBold"/>
                <a:ea typeface="Playfair Display SemiBold"/>
                <a:cs typeface="Playfair Display SemiBold"/>
                <a:sym typeface="Playfair Display SemiBold"/>
              </a:rPr>
              <a:t>AI Consensus &amp; Divergences</a:t>
            </a:r>
            <a:endParaRPr b="0" i="0" sz="3800" u="none" cap="none" strike="noStrike"/>
          </a:p>
        </p:txBody>
      </p:sp>
      <p:sp>
        <p:nvSpPr>
          <p:cNvPr id="545" name="Google Shape;545;p41"/>
          <p:cNvSpPr/>
          <p:nvPr/>
        </p:nvSpPr>
        <p:spPr>
          <a:xfrm>
            <a:off x="1501824" y="1603624"/>
            <a:ext cx="6316860" cy="30286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4B6981"/>
              </a:buClr>
              <a:buSzPts val="1900"/>
              <a:buFont typeface="Playfair Display SemiBold"/>
              <a:buNone/>
            </a:pPr>
            <a:r>
              <a:rPr b="0" i="0" lang="en-US" sz="1900" u="none" cap="none" strike="noStrike">
                <a:solidFill>
                  <a:srgbClr val="4B6981"/>
                </a:solidFill>
                <a:latin typeface="Playfair Display SemiBold"/>
                <a:ea typeface="Playfair Display SemiBold"/>
                <a:cs typeface="Playfair Display SemiBold"/>
                <a:sym typeface="Playfair Display SemiBold"/>
              </a:rPr>
              <a:t>4/4 Bearish Consensus, but Cracks in Confidence</a:t>
            </a:r>
            <a:endParaRPr b="0" i="0" sz="1900" u="none" cap="none" strike="noStrike"/>
          </a:p>
        </p:txBody>
      </p:sp>
      <p:sp>
        <p:nvSpPr>
          <p:cNvPr id="546" name="Google Shape;546;p41"/>
          <p:cNvSpPr/>
          <p:nvPr/>
        </p:nvSpPr>
        <p:spPr>
          <a:xfrm>
            <a:off x="1362372" y="2133600"/>
            <a:ext cx="6896696" cy="6831062"/>
          </a:xfrm>
          <a:prstGeom prst="roundRect">
            <a:avLst>
              <a:gd fmla="val 2043" name="adj"/>
            </a:avLst>
          </a:prstGeom>
          <a:solidFill>
            <a:srgbClr val="B05B5C"/>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547" name="Google Shape;547;p41"/>
          <p:cNvSpPr/>
          <p:nvPr/>
        </p:nvSpPr>
        <p:spPr>
          <a:xfrm>
            <a:off x="1556146" y="2284958"/>
            <a:ext cx="3337174" cy="30286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1900"/>
              <a:buFont typeface="Playfair Display SemiBold"/>
              <a:buNone/>
            </a:pPr>
            <a:r>
              <a:rPr b="0" i="0" lang="en-US" sz="1900" u="none" cap="none" strike="noStrike">
                <a:solidFill>
                  <a:srgbClr val="FFFFFF"/>
                </a:solidFill>
                <a:latin typeface="Playfair Display SemiBold"/>
                <a:ea typeface="Playfair Display SemiBold"/>
                <a:cs typeface="Playfair Display SemiBold"/>
                <a:sym typeface="Playfair Display SemiBold"/>
              </a:rPr>
              <a:t>The Consensus</a:t>
            </a:r>
            <a:endParaRPr b="0" i="0" sz="1900" u="none" cap="none" strike="noStrike"/>
          </a:p>
        </p:txBody>
      </p:sp>
      <p:sp>
        <p:nvSpPr>
          <p:cNvPr id="548" name="Google Shape;548;p41"/>
          <p:cNvSpPr/>
          <p:nvPr/>
        </p:nvSpPr>
        <p:spPr>
          <a:xfrm>
            <a:off x="1556146" y="2739182"/>
            <a:ext cx="6509146" cy="828228"/>
          </a:xfrm>
          <a:prstGeom prst="rect">
            <a:avLst/>
          </a:prstGeom>
          <a:noFill/>
          <a:ln>
            <a:noFill/>
          </a:ln>
        </p:spPr>
        <p:txBody>
          <a:bodyPr anchorCtr="0" anchor="t" bIns="0" lIns="0" spcFirstLastPara="1" rIns="0" wrap="square" tIns="0">
            <a:noAutofit/>
          </a:bodyPr>
          <a:lstStyle/>
          <a:p>
            <a:pPr indent="0" lvl="0" marL="0" marR="0" rtl="0" algn="l">
              <a:lnSpc>
                <a:spcPct val="119000"/>
              </a:lnSpc>
              <a:spcBef>
                <a:spcPts val="0"/>
              </a:spcBef>
              <a:spcAft>
                <a:spcPts val="0"/>
              </a:spcAft>
              <a:buClr>
                <a:srgbClr val="FFFFFF"/>
              </a:buClr>
              <a:buSzPts val="1500"/>
              <a:buFont typeface="Public Sans"/>
              <a:buNone/>
            </a:pPr>
            <a:r>
              <a:rPr b="0" i="0" lang="en-US" sz="1500" u="none" cap="none" strike="noStrike">
                <a:solidFill>
                  <a:srgbClr val="FFFFFF"/>
                </a:solidFill>
                <a:latin typeface="Public Sans"/>
                <a:ea typeface="Public Sans"/>
                <a:cs typeface="Public Sans"/>
                <a:sym typeface="Public Sans"/>
              </a:rPr>
              <a:t>A rare 4/4 absolute agreement: </a:t>
            </a:r>
            <a:r>
              <a:rPr b="1" i="0" lang="en-US" sz="1500" u="none" cap="none" strike="noStrike">
                <a:solidFill>
                  <a:srgbClr val="FFFFFF"/>
                </a:solidFill>
                <a:latin typeface="Public Sans"/>
                <a:ea typeface="Public Sans"/>
                <a:cs typeface="Public Sans"/>
                <a:sym typeface="Public Sans"/>
              </a:rPr>
              <a:t>Bearish</a:t>
            </a:r>
            <a:r>
              <a:rPr b="0" i="0" lang="en-US" sz="1500" u="none" cap="none" strike="noStrike">
                <a:solidFill>
                  <a:srgbClr val="FFFFFF"/>
                </a:solidFill>
                <a:latin typeface="Public Sans"/>
                <a:ea typeface="Public Sans"/>
                <a:cs typeface="Public Sans"/>
                <a:sym typeface="Public Sans"/>
              </a:rPr>
              <a:t>. All four models independently identified the same two primary bearish drivers without cross-contamination:</a:t>
            </a:r>
            <a:endParaRPr b="0" i="0" sz="1500" u="none" cap="none" strike="noStrike"/>
          </a:p>
        </p:txBody>
      </p:sp>
      <p:sp>
        <p:nvSpPr>
          <p:cNvPr id="549" name="Google Shape;549;p41"/>
          <p:cNvSpPr/>
          <p:nvPr/>
        </p:nvSpPr>
        <p:spPr>
          <a:xfrm>
            <a:off x="1556146" y="3703588"/>
            <a:ext cx="6509146" cy="934194"/>
          </a:xfrm>
          <a:prstGeom prst="rect">
            <a:avLst/>
          </a:prstGeom>
          <a:noFill/>
          <a:ln>
            <a:noFill/>
          </a:ln>
        </p:spPr>
        <p:txBody>
          <a:bodyPr anchorCtr="0" anchor="t" bIns="0" lIns="0" spcFirstLastPara="1" rIns="0" wrap="square" tIns="0">
            <a:noAutofit/>
          </a:bodyPr>
          <a:lstStyle/>
          <a:p>
            <a:pPr indent="-679450" lvl="0" marL="685800" marR="0" rtl="0" algn="l">
              <a:lnSpc>
                <a:spcPct val="119000"/>
              </a:lnSpc>
              <a:spcBef>
                <a:spcPts val="0"/>
              </a:spcBef>
              <a:spcAft>
                <a:spcPts val="0"/>
              </a:spcAft>
              <a:buClr>
                <a:srgbClr val="FFFFFF"/>
              </a:buClr>
              <a:buSzPts val="1500"/>
              <a:buFont typeface="Public Sans"/>
              <a:buChar char="•"/>
            </a:pPr>
            <a:r>
              <a:rPr b="0" i="0" lang="en-US" sz="1500" u="none" cap="none" strike="noStrike">
                <a:solidFill>
                  <a:srgbClr val="FFFFFF"/>
                </a:solidFill>
                <a:latin typeface="Public Sans"/>
                <a:ea typeface="Public Sans"/>
                <a:cs typeface="Public Sans"/>
                <a:sym typeface="Public Sans"/>
              </a:rPr>
              <a:t>Midterm June Almanac seasonal weakness (-2.1% historical avg)</a:t>
            </a:r>
            <a:endParaRPr b="0" i="0" sz="1500" u="none" cap="none" strike="noStrike"/>
          </a:p>
          <a:p>
            <a:pPr indent="-679450" lvl="0" marL="685800" marR="0" rtl="0" algn="l">
              <a:lnSpc>
                <a:spcPct val="119000"/>
              </a:lnSpc>
              <a:spcBef>
                <a:spcPts val="0"/>
              </a:spcBef>
              <a:spcAft>
                <a:spcPts val="0"/>
              </a:spcAft>
              <a:buClr>
                <a:srgbClr val="FFFFFF"/>
              </a:buClr>
              <a:buSzPts val="1500"/>
              <a:buFont typeface="Public Sans"/>
              <a:buChar char="•"/>
            </a:pPr>
            <a:r>
              <a:rPr b="0" i="0" lang="en-US" sz="1500" u="none" cap="none" strike="noStrike">
                <a:solidFill>
                  <a:srgbClr val="FFFFFF"/>
                </a:solidFill>
                <a:latin typeface="Public Sans"/>
                <a:ea typeface="Public Sans"/>
                <a:cs typeface="Public Sans"/>
                <a:sym typeface="Public Sans"/>
              </a:rPr>
              <a:t>Friday's NFP macro data confirming tightening conditions</a:t>
            </a:r>
            <a:endParaRPr b="0" i="0" sz="1500" u="none" cap="none" strike="noStrike"/>
          </a:p>
          <a:p>
            <a:pPr indent="-679450" lvl="0" marL="685800" marR="0" rtl="0" algn="l">
              <a:lnSpc>
                <a:spcPct val="119000"/>
              </a:lnSpc>
              <a:spcBef>
                <a:spcPts val="0"/>
              </a:spcBef>
              <a:spcAft>
                <a:spcPts val="0"/>
              </a:spcAft>
              <a:buClr>
                <a:srgbClr val="FFFFFF"/>
              </a:buClr>
              <a:buSzPts val="1500"/>
              <a:buFont typeface="Public Sans"/>
              <a:buChar char="•"/>
            </a:pPr>
            <a:r>
              <a:rPr b="0" i="0" lang="en-US" sz="1500" u="none" cap="none" strike="noStrike">
                <a:solidFill>
                  <a:srgbClr val="FFFFFF"/>
                </a:solidFill>
                <a:latin typeface="Public Sans"/>
                <a:ea typeface="Public Sans"/>
                <a:cs typeface="Public Sans"/>
                <a:sym typeface="Public Sans"/>
              </a:rPr>
              <a:t>Across-the-board sub-8 EMA technical breakdown in SPX, NDX, IWM</a:t>
            </a:r>
            <a:endParaRPr b="0" i="0" sz="1500" u="none" cap="none" strike="noStrike"/>
          </a:p>
        </p:txBody>
      </p:sp>
      <p:sp>
        <p:nvSpPr>
          <p:cNvPr id="550" name="Google Shape;550;p41"/>
          <p:cNvSpPr/>
          <p:nvPr/>
        </p:nvSpPr>
        <p:spPr>
          <a:xfrm>
            <a:off x="8601820" y="2284958"/>
            <a:ext cx="6504086" cy="30286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4B6981"/>
              </a:buClr>
              <a:buSzPts val="1900"/>
              <a:buFont typeface="Playfair Display SemiBold"/>
              <a:buNone/>
            </a:pPr>
            <a:r>
              <a:rPr b="0" i="0" lang="en-US" sz="1900" u="none" cap="none" strike="noStrike">
                <a:solidFill>
                  <a:srgbClr val="4B6981"/>
                </a:solidFill>
                <a:latin typeface="Playfair Display SemiBold"/>
                <a:ea typeface="Playfair Display SemiBold"/>
                <a:cs typeface="Playfair Display SemiBold"/>
                <a:sym typeface="Playfair Display SemiBold"/>
              </a:rPr>
              <a:t>Critical Divergences — Blind Spots Detected for R7</a:t>
            </a:r>
            <a:endParaRPr b="0" i="0" sz="1900" u="none" cap="none" strike="noStrike"/>
          </a:p>
        </p:txBody>
      </p:sp>
      <p:pic>
        <p:nvPicPr>
          <p:cNvPr descr="preencoded.png" id="551" name="Google Shape;551;p41"/>
          <p:cNvPicPr preferRelativeResize="0"/>
          <p:nvPr/>
        </p:nvPicPr>
        <p:blipFill rotWithShape="1">
          <a:blip r:embed="rId3">
            <a:alphaModFix/>
          </a:blip>
          <a:srcRect b="0" l="0" r="0" t="0"/>
          <a:stretch/>
        </p:blipFill>
        <p:spPr>
          <a:xfrm>
            <a:off x="8573244" y="2758082"/>
            <a:ext cx="8222158" cy="2003226"/>
          </a:xfrm>
          <a:prstGeom prst="rect">
            <a:avLst/>
          </a:prstGeom>
          <a:noFill/>
          <a:ln>
            <a:noFill/>
          </a:ln>
        </p:spPr>
      </p:pic>
      <p:sp>
        <p:nvSpPr>
          <p:cNvPr id="552" name="Google Shape;552;p41"/>
          <p:cNvSpPr/>
          <p:nvPr/>
        </p:nvSpPr>
        <p:spPr>
          <a:xfrm>
            <a:off x="8909894" y="2980432"/>
            <a:ext cx="3190130" cy="30286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6F655D"/>
              </a:buClr>
              <a:buSzPts val="1900"/>
              <a:buFont typeface="Playfair Display SemiBold"/>
              <a:buNone/>
            </a:pPr>
            <a:r>
              <a:rPr b="0" i="0" lang="en-US" sz="1900" u="none" cap="none" strike="noStrike">
                <a:solidFill>
                  <a:srgbClr val="6F655D"/>
                </a:solidFill>
                <a:latin typeface="Playfair Display SemiBold"/>
                <a:ea typeface="Playfair Display SemiBold"/>
                <a:cs typeface="Playfair Display SemiBold"/>
                <a:sym typeface="Playfair Display SemiBold"/>
              </a:rPr>
              <a:t>Confidence Trap — ChatGPT</a:t>
            </a:r>
            <a:endParaRPr b="0" i="0" sz="1900" u="none" cap="none" strike="noStrike"/>
          </a:p>
        </p:txBody>
      </p:sp>
      <p:sp>
        <p:nvSpPr>
          <p:cNvPr id="553" name="Google Shape;553;p41"/>
          <p:cNvSpPr/>
          <p:nvPr/>
        </p:nvSpPr>
        <p:spPr>
          <a:xfrm>
            <a:off x="8909894" y="3434656"/>
            <a:ext cx="7663160" cy="1104304"/>
          </a:xfrm>
          <a:prstGeom prst="rect">
            <a:avLst/>
          </a:prstGeom>
          <a:noFill/>
          <a:ln>
            <a:noFill/>
          </a:ln>
        </p:spPr>
        <p:txBody>
          <a:bodyPr anchorCtr="0" anchor="t" bIns="0" lIns="0" spcFirstLastPara="1" rIns="0" wrap="square" tIns="0">
            <a:noAutofit/>
          </a:bodyPr>
          <a:lstStyle/>
          <a:p>
            <a:pPr indent="0" lvl="0" marL="0" marR="0" rtl="0" algn="l">
              <a:lnSpc>
                <a:spcPct val="119000"/>
              </a:lnSpc>
              <a:spcBef>
                <a:spcPts val="0"/>
              </a:spcBef>
              <a:spcAft>
                <a:spcPts val="0"/>
              </a:spcAft>
              <a:buClr>
                <a:srgbClr val="6F655D"/>
              </a:buClr>
              <a:buSzPts val="1500"/>
              <a:buFont typeface="Public Sans"/>
              <a:buNone/>
            </a:pPr>
            <a:r>
              <a:rPr b="0" i="0" lang="en-US" sz="1500" u="none" cap="none" strike="noStrike">
                <a:solidFill>
                  <a:srgbClr val="6F655D"/>
                </a:solidFill>
                <a:latin typeface="Public Sans"/>
                <a:ea typeface="Public Sans"/>
                <a:cs typeface="Public Sans"/>
                <a:sym typeface="Public Sans"/>
              </a:rPr>
              <a:t>ChatGPT registered a "High" confidence score despite the massive binary risk posed by Wednesday's CPI report. A binary catalyst of this magnitude warrants, at minimum, a "Medium" confidence ceiling. This represents an overconfidence hallucination in the face of unresolved event risk.</a:t>
            </a:r>
            <a:endParaRPr b="0" i="0" sz="1500" u="none" cap="none" strike="noStrike"/>
          </a:p>
        </p:txBody>
      </p:sp>
      <p:pic>
        <p:nvPicPr>
          <p:cNvPr descr="preencoded.png" id="554" name="Google Shape;554;p41"/>
          <p:cNvPicPr preferRelativeResize="0"/>
          <p:nvPr/>
        </p:nvPicPr>
        <p:blipFill rotWithShape="1">
          <a:blip r:embed="rId3">
            <a:alphaModFix/>
          </a:blip>
          <a:srcRect b="0" l="0" r="0" t="0"/>
          <a:stretch/>
        </p:blipFill>
        <p:spPr>
          <a:xfrm>
            <a:off x="8573244" y="4912668"/>
            <a:ext cx="8222158" cy="1727150"/>
          </a:xfrm>
          <a:prstGeom prst="rect">
            <a:avLst/>
          </a:prstGeom>
          <a:noFill/>
          <a:ln>
            <a:noFill/>
          </a:ln>
        </p:spPr>
      </p:pic>
      <p:sp>
        <p:nvSpPr>
          <p:cNvPr id="555" name="Google Shape;555;p41"/>
          <p:cNvSpPr/>
          <p:nvPr/>
        </p:nvSpPr>
        <p:spPr>
          <a:xfrm>
            <a:off x="8909894" y="5135016"/>
            <a:ext cx="6765726" cy="30286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6F655D"/>
              </a:buClr>
              <a:buSzPts val="1900"/>
              <a:buFont typeface="Playfair Display SemiBold"/>
              <a:buNone/>
            </a:pPr>
            <a:r>
              <a:rPr b="0" i="0" lang="en-US" sz="1900" u="none" cap="none" strike="noStrike">
                <a:solidFill>
                  <a:srgbClr val="6F655D"/>
                </a:solidFill>
                <a:latin typeface="Playfair Display SemiBold"/>
                <a:ea typeface="Playfair Display SemiBold"/>
                <a:cs typeface="Playfair Display SemiBold"/>
                <a:sym typeface="Playfair Display SemiBold"/>
              </a:rPr>
              <a:t>Range Variance — Claude &amp; DeepSeek vs. ChatGPT &amp; Gemini</a:t>
            </a:r>
            <a:endParaRPr b="0" i="0" sz="1900" u="none" cap="none" strike="noStrike"/>
          </a:p>
        </p:txBody>
      </p:sp>
      <p:sp>
        <p:nvSpPr>
          <p:cNvPr id="556" name="Google Shape;556;p41"/>
          <p:cNvSpPr/>
          <p:nvPr/>
        </p:nvSpPr>
        <p:spPr>
          <a:xfrm>
            <a:off x="8909894" y="5589240"/>
            <a:ext cx="7663160" cy="828228"/>
          </a:xfrm>
          <a:prstGeom prst="rect">
            <a:avLst/>
          </a:prstGeom>
          <a:noFill/>
          <a:ln>
            <a:noFill/>
          </a:ln>
        </p:spPr>
        <p:txBody>
          <a:bodyPr anchorCtr="0" anchor="t" bIns="0" lIns="0" spcFirstLastPara="1" rIns="0" wrap="square" tIns="0">
            <a:noAutofit/>
          </a:bodyPr>
          <a:lstStyle/>
          <a:p>
            <a:pPr indent="0" lvl="0" marL="0" marR="0" rtl="0" algn="l">
              <a:lnSpc>
                <a:spcPct val="119000"/>
              </a:lnSpc>
              <a:spcBef>
                <a:spcPts val="0"/>
              </a:spcBef>
              <a:spcAft>
                <a:spcPts val="0"/>
              </a:spcAft>
              <a:buClr>
                <a:srgbClr val="6F655D"/>
              </a:buClr>
              <a:buSzPts val="1500"/>
              <a:buFont typeface="Public Sans"/>
              <a:buNone/>
            </a:pPr>
            <a:r>
              <a:rPr b="0" i="0" lang="en-US" sz="1500" u="none" cap="none" strike="noStrike">
                <a:solidFill>
                  <a:srgbClr val="6F655D"/>
                </a:solidFill>
                <a:latin typeface="Public Sans"/>
                <a:ea typeface="Public Sans"/>
                <a:cs typeface="Public Sans"/>
                <a:sym typeface="Public Sans"/>
              </a:rPr>
              <a:t>Claude and DeepSeek widened their SPX estimates to include a positive tail (up to +1.5% to +2.0%) to account for a potential CPI relief rally. ChatGPT and Gemini remained entirely in negative territory, implicitly dismissing the upside CPI scenario.</a:t>
            </a:r>
            <a:endParaRPr b="0" i="0" sz="1500" u="none" cap="none" strike="noStrike"/>
          </a:p>
        </p:txBody>
      </p:sp>
      <p:pic>
        <p:nvPicPr>
          <p:cNvPr descr="preencoded.png" id="557" name="Google Shape;557;p41"/>
          <p:cNvPicPr preferRelativeResize="0"/>
          <p:nvPr/>
        </p:nvPicPr>
        <p:blipFill rotWithShape="1">
          <a:blip r:embed="rId3">
            <a:alphaModFix/>
          </a:blip>
          <a:srcRect b="0" l="0" r="0" t="0"/>
          <a:stretch/>
        </p:blipFill>
        <p:spPr>
          <a:xfrm>
            <a:off x="8573244" y="6791176"/>
            <a:ext cx="8222158" cy="2003226"/>
          </a:xfrm>
          <a:prstGeom prst="rect">
            <a:avLst/>
          </a:prstGeom>
          <a:noFill/>
          <a:ln>
            <a:noFill/>
          </a:ln>
        </p:spPr>
      </p:pic>
      <p:sp>
        <p:nvSpPr>
          <p:cNvPr id="558" name="Google Shape;558;p41"/>
          <p:cNvSpPr/>
          <p:nvPr/>
        </p:nvSpPr>
        <p:spPr>
          <a:xfrm>
            <a:off x="8909894" y="7013526"/>
            <a:ext cx="3972966" cy="30286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6F655D"/>
              </a:buClr>
              <a:buSzPts val="1900"/>
              <a:buFont typeface="Playfair Display SemiBold"/>
              <a:buNone/>
            </a:pPr>
            <a:r>
              <a:rPr b="0" i="0" lang="en-US" sz="1900" u="none" cap="none" strike="noStrike">
                <a:solidFill>
                  <a:srgbClr val="6F655D"/>
                </a:solidFill>
                <a:latin typeface="Playfair Display SemiBold"/>
                <a:ea typeface="Playfair Display SemiBold"/>
                <a:cs typeface="Playfair Display SemiBold"/>
                <a:sym typeface="Playfair Display SemiBold"/>
              </a:rPr>
              <a:t>Geopolitical Miss — All Four Models</a:t>
            </a:r>
            <a:endParaRPr b="0" i="0" sz="1900" u="none" cap="none" strike="noStrike"/>
          </a:p>
        </p:txBody>
      </p:sp>
      <p:sp>
        <p:nvSpPr>
          <p:cNvPr id="559" name="Google Shape;559;p41"/>
          <p:cNvSpPr/>
          <p:nvPr/>
        </p:nvSpPr>
        <p:spPr>
          <a:xfrm>
            <a:off x="8909894" y="7467748"/>
            <a:ext cx="7663160" cy="1104304"/>
          </a:xfrm>
          <a:prstGeom prst="rect">
            <a:avLst/>
          </a:prstGeom>
          <a:noFill/>
          <a:ln>
            <a:noFill/>
          </a:ln>
        </p:spPr>
        <p:txBody>
          <a:bodyPr anchorCtr="0" anchor="t" bIns="0" lIns="0" spcFirstLastPara="1" rIns="0" wrap="square" tIns="0">
            <a:noAutofit/>
          </a:bodyPr>
          <a:lstStyle/>
          <a:p>
            <a:pPr indent="0" lvl="0" marL="0" marR="0" rtl="0" algn="l">
              <a:lnSpc>
                <a:spcPct val="119000"/>
              </a:lnSpc>
              <a:spcBef>
                <a:spcPts val="0"/>
              </a:spcBef>
              <a:spcAft>
                <a:spcPts val="0"/>
              </a:spcAft>
              <a:buClr>
                <a:srgbClr val="6F655D"/>
              </a:buClr>
              <a:buSzPts val="1500"/>
              <a:buFont typeface="Public Sans"/>
              <a:buNone/>
            </a:pPr>
            <a:r>
              <a:rPr b="0" i="0" lang="en-US" sz="1500" u="none" cap="none" strike="noStrike">
                <a:solidFill>
                  <a:srgbClr val="6F655D"/>
                </a:solidFill>
                <a:latin typeface="Public Sans"/>
                <a:ea typeface="Public Sans"/>
                <a:cs typeface="Public Sans"/>
                <a:sym typeface="Public Sans"/>
              </a:rPr>
              <a:t>All models fixated on inflation and technical signals but materially under-weighted the US-Iran geopolitical premium impacting Energy (XLE). This sector-level blind spot was flagged and escalated to the R7 Human Scorer for manual override consideration.</a:t>
            </a:r>
            <a:endParaRPr b="0" i="0" sz="1500" u="none" cap="none" strike="noStrike"/>
          </a:p>
        </p:txBody>
      </p:sp>
      <p:sp>
        <p:nvSpPr>
          <p:cNvPr id="560" name="Google Shape;560;p41"/>
          <p:cNvSpPr/>
          <p:nvPr/>
        </p:nvSpPr>
        <p:spPr>
          <a:xfrm>
            <a:off x="1792486" y="9134922"/>
            <a:ext cx="14993540" cy="441722"/>
          </a:xfrm>
          <a:prstGeom prst="rect">
            <a:avLst/>
          </a:prstGeom>
          <a:noFill/>
          <a:ln>
            <a:noFill/>
          </a:ln>
        </p:spPr>
        <p:txBody>
          <a:bodyPr anchorCtr="0" anchor="t" bIns="0" lIns="0" spcFirstLastPara="1" rIns="0" wrap="square" tIns="0">
            <a:noAutofit/>
          </a:bodyPr>
          <a:lstStyle/>
          <a:p>
            <a:pPr indent="0" lvl="0" marL="0" marR="0" rtl="0" algn="l">
              <a:lnSpc>
                <a:spcPct val="119000"/>
              </a:lnSpc>
              <a:spcBef>
                <a:spcPts val="0"/>
              </a:spcBef>
              <a:spcAft>
                <a:spcPts val="0"/>
              </a:spcAft>
              <a:buClr>
                <a:srgbClr val="000000"/>
              </a:buClr>
              <a:buSzPts val="1200"/>
              <a:buFont typeface="Public Sans"/>
              <a:buNone/>
            </a:pPr>
            <a:r>
              <a:rPr b="0" i="1" lang="en-US" sz="1200" u="none" cap="none" strike="noStrike">
                <a:solidFill>
                  <a:srgbClr val="000000"/>
                </a:solidFill>
                <a:latin typeface="Public Sans"/>
                <a:ea typeface="Public Sans"/>
                <a:cs typeface="Public Sans"/>
                <a:sym typeface="Public Sans"/>
              </a:rPr>
              <a:t>🎙️</a:t>
            </a:r>
            <a:r>
              <a:rPr b="0" i="1" lang="en-US" sz="1200" u="none" cap="none" strike="noStrike">
                <a:solidFill>
                  <a:srgbClr val="6F655D"/>
                </a:solidFill>
                <a:latin typeface="Public Sans"/>
                <a:ea typeface="Public Sans"/>
                <a:cs typeface="Public Sans"/>
                <a:sym typeface="Public Sans"/>
              </a:rPr>
              <a:t> </a:t>
            </a:r>
            <a:r>
              <a:rPr b="1" i="1" lang="en-US" sz="1200" u="none" cap="none" strike="noStrike">
                <a:solidFill>
                  <a:srgbClr val="6F655D"/>
                </a:solidFill>
                <a:latin typeface="Public Sans"/>
                <a:ea typeface="Public Sans"/>
                <a:cs typeface="Public Sans"/>
                <a:sym typeface="Public Sans"/>
              </a:rPr>
              <a:t>SPEAKER NOTES:</a:t>
            </a:r>
            <a:r>
              <a:rPr b="0" i="1" lang="en-US" sz="1200" u="none" cap="none" strike="noStrike">
                <a:solidFill>
                  <a:srgbClr val="6F655D"/>
                </a:solidFill>
                <a:latin typeface="Public Sans"/>
                <a:ea typeface="Public Sans"/>
                <a:cs typeface="Public Sans"/>
                <a:sym typeface="Public Sans"/>
              </a:rPr>
              <a:t> "However, as the Human-in-the-loop, I flagged critical divergences. ChatGPT hallucinated a 'High' confidence despite the upcoming CPI binary event. Claude and DeepSeek were smarter, widening their percentage estimates to account for a potential CPI relief rally. Furthermore, the models missed the defensive geopolitical premium on Energy. I passed these blind spots to R7."</a:t>
            </a:r>
            <a:endParaRPr b="0" i="0" sz="1200" u="none" cap="none" strike="noStrike"/>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 name="Shape 565"/>
        <p:cNvGrpSpPr/>
        <p:nvPr/>
      </p:nvGrpSpPr>
      <p:grpSpPr>
        <a:xfrm>
          <a:off x="0" y="0"/>
          <a:ext cx="0" cy="0"/>
          <a:chOff x="0" y="0"/>
          <a:chExt cx="0" cy="0"/>
        </a:xfrm>
      </p:grpSpPr>
      <p:sp>
        <p:nvSpPr>
          <p:cNvPr id="566" name="Google Shape;566;p42"/>
          <p:cNvSpPr/>
          <p:nvPr/>
        </p:nvSpPr>
        <p:spPr>
          <a:xfrm>
            <a:off x="868264" y="755452"/>
            <a:ext cx="2049660" cy="390526"/>
          </a:xfrm>
          <a:prstGeom prst="roundRect">
            <a:avLst>
              <a:gd fmla="val 18677" name="adj"/>
            </a:avLst>
          </a:prstGeom>
          <a:solidFill>
            <a:srgbClr val="EEDDDD"/>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567" name="Google Shape;567;p42"/>
          <p:cNvSpPr/>
          <p:nvPr/>
        </p:nvSpPr>
        <p:spPr>
          <a:xfrm>
            <a:off x="998488" y="820490"/>
            <a:ext cx="2703612" cy="26045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6F655D"/>
              </a:buClr>
              <a:buSzPts val="1300"/>
              <a:buFont typeface="Public Sans"/>
              <a:buNone/>
            </a:pPr>
            <a:r>
              <a:rPr b="0" i="0" lang="en-US" sz="1300" u="none" cap="none" strike="noStrike">
                <a:solidFill>
                  <a:srgbClr val="6F655D"/>
                </a:solidFill>
                <a:latin typeface="Public Sans"/>
                <a:ea typeface="Public Sans"/>
                <a:cs typeface="Public Sans"/>
                <a:sym typeface="Public Sans"/>
              </a:rPr>
              <a:t>R7 — HUMAN SCORE</a:t>
            </a:r>
            <a:endParaRPr b="0" i="0" sz="1300" u="none" cap="none" strike="noStrike"/>
          </a:p>
        </p:txBody>
      </p:sp>
      <p:sp>
        <p:nvSpPr>
          <p:cNvPr id="568" name="Google Shape;568;p42"/>
          <p:cNvSpPr/>
          <p:nvPr/>
        </p:nvSpPr>
        <p:spPr>
          <a:xfrm>
            <a:off x="868264" y="1221878"/>
            <a:ext cx="8556278" cy="67835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4B6981"/>
              </a:buClr>
              <a:buSzPts val="4200"/>
              <a:buFont typeface="Playfair Display SemiBold"/>
              <a:buNone/>
            </a:pPr>
            <a:r>
              <a:rPr b="0" i="0" lang="en-US" sz="4200" u="none" cap="none" strike="noStrike">
                <a:solidFill>
                  <a:srgbClr val="4B6981"/>
                </a:solidFill>
                <a:latin typeface="Playfair Display SemiBold"/>
                <a:ea typeface="Playfair Display SemiBold"/>
                <a:cs typeface="Playfair Display SemiBold"/>
                <a:sym typeface="Playfair Display SemiBold"/>
              </a:rPr>
              <a:t>Human Score &amp; The Wild Card</a:t>
            </a:r>
            <a:endParaRPr b="0" i="0" sz="4200" u="none" cap="none" strike="noStrike"/>
          </a:p>
        </p:txBody>
      </p:sp>
      <p:sp>
        <p:nvSpPr>
          <p:cNvPr id="569" name="Google Shape;569;p42"/>
          <p:cNvSpPr/>
          <p:nvPr/>
        </p:nvSpPr>
        <p:spPr>
          <a:xfrm>
            <a:off x="868264" y="1976140"/>
            <a:ext cx="5936010" cy="33903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4B6981"/>
              </a:buClr>
              <a:buSzPts val="2100"/>
              <a:buFont typeface="Playfair Display SemiBold"/>
              <a:buNone/>
            </a:pPr>
            <a:r>
              <a:rPr b="0" i="0" lang="en-US" sz="2100" u="none" cap="none" strike="noStrike">
                <a:solidFill>
                  <a:srgbClr val="4B6981"/>
                </a:solidFill>
                <a:latin typeface="Playfair Display SemiBold"/>
                <a:ea typeface="Playfair Display SemiBold"/>
                <a:cs typeface="Playfair Display SemiBold"/>
                <a:sym typeface="Playfair Display SemiBold"/>
              </a:rPr>
              <a:t>Human Score Total: </a:t>
            </a:r>
            <a:r>
              <a:rPr b="0" i="0" lang="en-US" sz="2100" u="none" cap="none" strike="noStrike">
                <a:solidFill>
                  <a:srgbClr val="B05B5C"/>
                </a:solidFill>
                <a:latin typeface="Playfair Display SemiBold"/>
                <a:ea typeface="Playfair Display SemiBold"/>
                <a:cs typeface="Playfair Display SemiBold"/>
                <a:sym typeface="Playfair Display SemiBold"/>
              </a:rPr>
              <a:t>-2 (Neutral-Bearish)</a:t>
            </a:r>
            <a:endParaRPr b="0" i="0" sz="2100" u="none" cap="none" strike="noStrike"/>
          </a:p>
        </p:txBody>
      </p:sp>
      <p:sp>
        <p:nvSpPr>
          <p:cNvPr id="570" name="Google Shape;570;p42"/>
          <p:cNvSpPr/>
          <p:nvPr/>
        </p:nvSpPr>
        <p:spPr>
          <a:xfrm>
            <a:off x="868264" y="2770882"/>
            <a:ext cx="8010972" cy="1302544"/>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6F655D"/>
              </a:buClr>
              <a:buSzPts val="1700"/>
              <a:buFont typeface="Public Sans"/>
              <a:buNone/>
            </a:pPr>
            <a:r>
              <a:rPr b="0" i="0" lang="en-US" sz="1700" u="none" cap="none" strike="noStrike">
                <a:solidFill>
                  <a:srgbClr val="6F655D"/>
                </a:solidFill>
                <a:latin typeface="Public Sans"/>
                <a:ea typeface="Public Sans"/>
                <a:cs typeface="Public Sans"/>
                <a:sym typeface="Public Sans"/>
              </a:rPr>
              <a:t>The R7 Human Score evaluates the AI's multi-dimensional analysis and applies human-in-the-loop judgment to validate, adjust, or override where model reasoning is insufficient. The scoring rubric below reflects where the team agreed with the AI, and where the critical Wild Card divergence was applied.</a:t>
            </a:r>
            <a:endParaRPr b="0" i="0" sz="1700" u="none" cap="none" strike="noStrike"/>
          </a:p>
        </p:txBody>
      </p:sp>
      <p:sp>
        <p:nvSpPr>
          <p:cNvPr id="571" name="Google Shape;571;p42"/>
          <p:cNvSpPr/>
          <p:nvPr/>
        </p:nvSpPr>
        <p:spPr>
          <a:xfrm>
            <a:off x="868264" y="4286994"/>
            <a:ext cx="8010972" cy="4082950"/>
          </a:xfrm>
          <a:prstGeom prst="roundRect">
            <a:avLst>
              <a:gd fmla="val 2233" name="adj"/>
            </a:avLst>
          </a:prstGeom>
          <a:noFill/>
          <a:ln cap="flat" cmpd="sng" w="9525">
            <a:solidFill>
              <a:srgbClr val="000000">
                <a:alpha val="7843"/>
              </a:srgbClr>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572" name="Google Shape;572;p42"/>
          <p:cNvSpPr/>
          <p:nvPr/>
        </p:nvSpPr>
        <p:spPr>
          <a:xfrm>
            <a:off x="1095970" y="4419898"/>
            <a:ext cx="3138934" cy="325636"/>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6F655D"/>
              </a:buClr>
              <a:buSzPts val="1700"/>
              <a:buFont typeface="Public Sans"/>
              <a:buNone/>
            </a:pPr>
            <a:r>
              <a:rPr b="1" i="0" lang="en-US" sz="1700" u="none" cap="none" strike="noStrike">
                <a:solidFill>
                  <a:srgbClr val="6F655D"/>
                </a:solidFill>
                <a:latin typeface="Public Sans"/>
                <a:ea typeface="Public Sans"/>
                <a:cs typeface="Public Sans"/>
                <a:sym typeface="Public Sans"/>
              </a:rPr>
              <a:t>Dimension</a:t>
            </a:r>
            <a:endParaRPr b="0" i="0" sz="1700" u="none" cap="none" strike="noStrike"/>
          </a:p>
        </p:txBody>
      </p:sp>
      <p:sp>
        <p:nvSpPr>
          <p:cNvPr id="573" name="Google Shape;573;p42"/>
          <p:cNvSpPr/>
          <p:nvPr/>
        </p:nvSpPr>
        <p:spPr>
          <a:xfrm>
            <a:off x="3764012" y="4419898"/>
            <a:ext cx="3134172" cy="325636"/>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6F655D"/>
              </a:buClr>
              <a:buSzPts val="1700"/>
              <a:buFont typeface="Public Sans"/>
              <a:buNone/>
            </a:pPr>
            <a:r>
              <a:rPr b="1" i="0" lang="en-US" sz="1700" u="none" cap="none" strike="noStrike">
                <a:solidFill>
                  <a:srgbClr val="6F655D"/>
                </a:solidFill>
                <a:latin typeface="Public Sans"/>
                <a:ea typeface="Public Sans"/>
                <a:cs typeface="Public Sans"/>
                <a:sym typeface="Public Sans"/>
              </a:rPr>
              <a:t>AI Said</a:t>
            </a:r>
            <a:endParaRPr b="0" i="0" sz="1700" u="none" cap="none" strike="noStrike"/>
          </a:p>
        </p:txBody>
      </p:sp>
      <p:sp>
        <p:nvSpPr>
          <p:cNvPr id="574" name="Google Shape;574;p42"/>
          <p:cNvSpPr/>
          <p:nvPr/>
        </p:nvSpPr>
        <p:spPr>
          <a:xfrm>
            <a:off x="6427292" y="4419898"/>
            <a:ext cx="3138934" cy="325636"/>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6F655D"/>
              </a:buClr>
              <a:buSzPts val="1700"/>
              <a:buFont typeface="Public Sans"/>
              <a:buNone/>
            </a:pPr>
            <a:r>
              <a:rPr b="1" i="0" lang="en-US" sz="1700" u="none" cap="none" strike="noStrike">
                <a:solidFill>
                  <a:srgbClr val="6F655D"/>
                </a:solidFill>
                <a:latin typeface="Public Sans"/>
                <a:ea typeface="Public Sans"/>
                <a:cs typeface="Public Sans"/>
                <a:sym typeface="Public Sans"/>
              </a:rPr>
              <a:t>Team Score</a:t>
            </a:r>
            <a:endParaRPr b="0" i="0" sz="1700" u="none" cap="none" strike="noStrike"/>
          </a:p>
        </p:txBody>
      </p:sp>
      <p:sp>
        <p:nvSpPr>
          <p:cNvPr id="575" name="Google Shape;575;p42"/>
          <p:cNvSpPr/>
          <p:nvPr/>
        </p:nvSpPr>
        <p:spPr>
          <a:xfrm>
            <a:off x="1095970" y="5001816"/>
            <a:ext cx="3138934" cy="325636"/>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6F655D"/>
              </a:buClr>
              <a:buSzPts val="1700"/>
              <a:buFont typeface="Public Sans"/>
              <a:buNone/>
            </a:pPr>
            <a:r>
              <a:rPr b="0" i="0" lang="en-US" sz="1700" u="none" cap="none" strike="noStrike">
                <a:solidFill>
                  <a:srgbClr val="6F655D"/>
                </a:solidFill>
                <a:latin typeface="Public Sans"/>
                <a:ea typeface="Public Sans"/>
                <a:cs typeface="Public Sans"/>
                <a:sym typeface="Public Sans"/>
              </a:rPr>
              <a:t>Macro Weight</a:t>
            </a:r>
            <a:endParaRPr b="0" i="0" sz="1700" u="none" cap="none" strike="noStrike"/>
          </a:p>
        </p:txBody>
      </p:sp>
      <p:sp>
        <p:nvSpPr>
          <p:cNvPr id="576" name="Google Shape;576;p42"/>
          <p:cNvSpPr/>
          <p:nvPr/>
        </p:nvSpPr>
        <p:spPr>
          <a:xfrm>
            <a:off x="3764012" y="5001816"/>
            <a:ext cx="3134172" cy="325636"/>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6F655D"/>
              </a:buClr>
              <a:buSzPts val="1700"/>
              <a:buFont typeface="Public Sans"/>
              <a:buNone/>
            </a:pPr>
            <a:r>
              <a:rPr b="0" i="0" lang="en-US" sz="1700" u="none" cap="none" strike="noStrike">
                <a:solidFill>
                  <a:srgbClr val="6F655D"/>
                </a:solidFill>
                <a:latin typeface="Public Sans"/>
                <a:ea typeface="Public Sans"/>
                <a:cs typeface="Public Sans"/>
                <a:sym typeface="Public Sans"/>
              </a:rPr>
              <a:t>-1</a:t>
            </a:r>
            <a:endParaRPr b="0" i="0" sz="1700" u="none" cap="none" strike="noStrike"/>
          </a:p>
        </p:txBody>
      </p:sp>
      <p:sp>
        <p:nvSpPr>
          <p:cNvPr id="577" name="Google Shape;577;p42"/>
          <p:cNvSpPr/>
          <p:nvPr/>
        </p:nvSpPr>
        <p:spPr>
          <a:xfrm>
            <a:off x="6427292" y="5001816"/>
            <a:ext cx="3138934" cy="325636"/>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6F655D"/>
              </a:buClr>
              <a:buSzPts val="1700"/>
              <a:buFont typeface="Public Sans"/>
              <a:buNone/>
            </a:pPr>
            <a:r>
              <a:rPr b="0" i="0" lang="en-US" sz="1700" u="none" cap="none" strike="noStrike">
                <a:solidFill>
                  <a:srgbClr val="6F655D"/>
                </a:solidFill>
                <a:latin typeface="Public Sans"/>
                <a:ea typeface="Public Sans"/>
                <a:cs typeface="Public Sans"/>
                <a:sym typeface="Public Sans"/>
              </a:rPr>
              <a:t>-1</a:t>
            </a:r>
            <a:endParaRPr b="0" i="0" sz="1700" u="none" cap="none" strike="noStrike"/>
          </a:p>
        </p:txBody>
      </p:sp>
      <p:sp>
        <p:nvSpPr>
          <p:cNvPr id="578" name="Google Shape;578;p42"/>
          <p:cNvSpPr/>
          <p:nvPr/>
        </p:nvSpPr>
        <p:spPr>
          <a:xfrm>
            <a:off x="1095970" y="5583734"/>
            <a:ext cx="3138934" cy="325636"/>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6F655D"/>
              </a:buClr>
              <a:buSzPts val="1700"/>
              <a:buFont typeface="Public Sans"/>
              <a:buNone/>
            </a:pPr>
            <a:r>
              <a:rPr b="0" i="0" lang="en-US" sz="1700" u="none" cap="none" strike="noStrike">
                <a:solidFill>
                  <a:srgbClr val="6F655D"/>
                </a:solidFill>
                <a:latin typeface="Public Sans"/>
                <a:ea typeface="Public Sans"/>
                <a:cs typeface="Public Sans"/>
                <a:sym typeface="Public Sans"/>
              </a:rPr>
              <a:t>Technical Structure</a:t>
            </a:r>
            <a:endParaRPr b="0" i="0" sz="1700" u="none" cap="none" strike="noStrike"/>
          </a:p>
        </p:txBody>
      </p:sp>
      <p:sp>
        <p:nvSpPr>
          <p:cNvPr id="579" name="Google Shape;579;p42"/>
          <p:cNvSpPr/>
          <p:nvPr/>
        </p:nvSpPr>
        <p:spPr>
          <a:xfrm>
            <a:off x="3764012" y="5583734"/>
            <a:ext cx="3134172" cy="325636"/>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6F655D"/>
              </a:buClr>
              <a:buSzPts val="1700"/>
              <a:buFont typeface="Public Sans"/>
              <a:buNone/>
            </a:pPr>
            <a:r>
              <a:rPr b="0" i="0" lang="en-US" sz="1700" u="none" cap="none" strike="noStrike">
                <a:solidFill>
                  <a:srgbClr val="6F655D"/>
                </a:solidFill>
                <a:latin typeface="Public Sans"/>
                <a:ea typeface="Public Sans"/>
                <a:cs typeface="Public Sans"/>
                <a:sym typeface="Public Sans"/>
              </a:rPr>
              <a:t>-1</a:t>
            </a:r>
            <a:endParaRPr b="0" i="0" sz="1700" u="none" cap="none" strike="noStrike"/>
          </a:p>
        </p:txBody>
      </p:sp>
      <p:sp>
        <p:nvSpPr>
          <p:cNvPr id="580" name="Google Shape;580;p42"/>
          <p:cNvSpPr/>
          <p:nvPr/>
        </p:nvSpPr>
        <p:spPr>
          <a:xfrm>
            <a:off x="6427292" y="5583734"/>
            <a:ext cx="3138934" cy="325636"/>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6F655D"/>
              </a:buClr>
              <a:buSzPts val="1700"/>
              <a:buFont typeface="Public Sans"/>
              <a:buNone/>
            </a:pPr>
            <a:r>
              <a:rPr b="0" i="0" lang="en-US" sz="1700" u="none" cap="none" strike="noStrike">
                <a:solidFill>
                  <a:srgbClr val="6F655D"/>
                </a:solidFill>
                <a:latin typeface="Public Sans"/>
                <a:ea typeface="Public Sans"/>
                <a:cs typeface="Public Sans"/>
                <a:sym typeface="Public Sans"/>
              </a:rPr>
              <a:t>-1</a:t>
            </a:r>
            <a:endParaRPr b="0" i="0" sz="1700" u="none" cap="none" strike="noStrike"/>
          </a:p>
        </p:txBody>
      </p:sp>
      <p:sp>
        <p:nvSpPr>
          <p:cNvPr id="581" name="Google Shape;581;p42"/>
          <p:cNvSpPr/>
          <p:nvPr/>
        </p:nvSpPr>
        <p:spPr>
          <a:xfrm>
            <a:off x="1095970" y="6165652"/>
            <a:ext cx="3138934" cy="325636"/>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6F655D"/>
              </a:buClr>
              <a:buSzPts val="1700"/>
              <a:buFont typeface="Public Sans"/>
              <a:buNone/>
            </a:pPr>
            <a:r>
              <a:rPr b="0" i="0" lang="en-US" sz="1700" u="none" cap="none" strike="noStrike">
                <a:solidFill>
                  <a:srgbClr val="6F655D"/>
                </a:solidFill>
                <a:latin typeface="Public Sans"/>
                <a:ea typeface="Public Sans"/>
                <a:cs typeface="Public Sans"/>
                <a:sym typeface="Public Sans"/>
              </a:rPr>
              <a:t>Almanac Seasonal</a:t>
            </a:r>
            <a:endParaRPr b="0" i="0" sz="1700" u="none" cap="none" strike="noStrike"/>
          </a:p>
        </p:txBody>
      </p:sp>
      <p:sp>
        <p:nvSpPr>
          <p:cNvPr id="582" name="Google Shape;582;p42"/>
          <p:cNvSpPr/>
          <p:nvPr/>
        </p:nvSpPr>
        <p:spPr>
          <a:xfrm>
            <a:off x="3764012" y="6165652"/>
            <a:ext cx="3134172" cy="325636"/>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6F655D"/>
              </a:buClr>
              <a:buSzPts val="1700"/>
              <a:buFont typeface="Public Sans"/>
              <a:buNone/>
            </a:pPr>
            <a:r>
              <a:rPr b="0" i="0" lang="en-US" sz="1700" u="none" cap="none" strike="noStrike">
                <a:solidFill>
                  <a:srgbClr val="6F655D"/>
                </a:solidFill>
                <a:latin typeface="Public Sans"/>
                <a:ea typeface="Public Sans"/>
                <a:cs typeface="Public Sans"/>
                <a:sym typeface="Public Sans"/>
              </a:rPr>
              <a:t>-1</a:t>
            </a:r>
            <a:endParaRPr b="0" i="0" sz="1700" u="none" cap="none" strike="noStrike"/>
          </a:p>
        </p:txBody>
      </p:sp>
      <p:sp>
        <p:nvSpPr>
          <p:cNvPr id="583" name="Google Shape;583;p42"/>
          <p:cNvSpPr/>
          <p:nvPr/>
        </p:nvSpPr>
        <p:spPr>
          <a:xfrm>
            <a:off x="6427292" y="6165652"/>
            <a:ext cx="3138934" cy="325636"/>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6F655D"/>
              </a:buClr>
              <a:buSzPts val="1700"/>
              <a:buFont typeface="Public Sans"/>
              <a:buNone/>
            </a:pPr>
            <a:r>
              <a:rPr b="0" i="0" lang="en-US" sz="1700" u="none" cap="none" strike="noStrike">
                <a:solidFill>
                  <a:srgbClr val="6F655D"/>
                </a:solidFill>
                <a:latin typeface="Public Sans"/>
                <a:ea typeface="Public Sans"/>
                <a:cs typeface="Public Sans"/>
                <a:sym typeface="Public Sans"/>
              </a:rPr>
              <a:t>-1</a:t>
            </a:r>
            <a:endParaRPr b="0" i="0" sz="1700" u="none" cap="none" strike="noStrike"/>
          </a:p>
        </p:txBody>
      </p:sp>
      <p:sp>
        <p:nvSpPr>
          <p:cNvPr id="584" name="Google Shape;584;p42"/>
          <p:cNvSpPr/>
          <p:nvPr/>
        </p:nvSpPr>
        <p:spPr>
          <a:xfrm>
            <a:off x="1095970" y="6747570"/>
            <a:ext cx="3138934" cy="325636"/>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6F655D"/>
              </a:buClr>
              <a:buSzPts val="1700"/>
              <a:buFont typeface="Public Sans"/>
              <a:buNone/>
            </a:pPr>
            <a:r>
              <a:rPr b="0" i="0" lang="en-US" sz="1700" u="none" cap="none" strike="noStrike">
                <a:solidFill>
                  <a:srgbClr val="6F655D"/>
                </a:solidFill>
                <a:latin typeface="Public Sans"/>
                <a:ea typeface="Public Sans"/>
                <a:cs typeface="Public Sans"/>
                <a:sym typeface="Public Sans"/>
              </a:rPr>
              <a:t>AI Agreement Quality</a:t>
            </a:r>
            <a:endParaRPr b="0" i="0" sz="1700" u="none" cap="none" strike="noStrike"/>
          </a:p>
        </p:txBody>
      </p:sp>
      <p:sp>
        <p:nvSpPr>
          <p:cNvPr id="585" name="Google Shape;585;p42"/>
          <p:cNvSpPr/>
          <p:nvPr/>
        </p:nvSpPr>
        <p:spPr>
          <a:xfrm>
            <a:off x="3764012" y="6747570"/>
            <a:ext cx="3134172" cy="325636"/>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6F655D"/>
              </a:buClr>
              <a:buSzPts val="1700"/>
              <a:buFont typeface="Public Sans"/>
              <a:buNone/>
            </a:pPr>
            <a:r>
              <a:rPr b="0" i="0" lang="en-US" sz="1700" u="none" cap="none" strike="noStrike">
                <a:solidFill>
                  <a:srgbClr val="6F655D"/>
                </a:solidFill>
                <a:latin typeface="Public Sans"/>
                <a:ea typeface="Public Sans"/>
                <a:cs typeface="Public Sans"/>
                <a:sym typeface="Public Sans"/>
              </a:rPr>
              <a:t>+2 (4/4 Bearish)</a:t>
            </a:r>
            <a:endParaRPr b="0" i="0" sz="1700" u="none" cap="none" strike="noStrike"/>
          </a:p>
        </p:txBody>
      </p:sp>
      <p:sp>
        <p:nvSpPr>
          <p:cNvPr id="586" name="Google Shape;586;p42"/>
          <p:cNvSpPr/>
          <p:nvPr/>
        </p:nvSpPr>
        <p:spPr>
          <a:xfrm>
            <a:off x="6427292" y="6747570"/>
            <a:ext cx="3138934" cy="325636"/>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6F655D"/>
              </a:buClr>
              <a:buSzPts val="1700"/>
              <a:buFont typeface="Public Sans"/>
              <a:buNone/>
            </a:pPr>
            <a:r>
              <a:rPr b="0" i="0" lang="en-US" sz="1700" u="none" cap="none" strike="noStrike">
                <a:solidFill>
                  <a:srgbClr val="6F655D"/>
                </a:solidFill>
                <a:latin typeface="Public Sans"/>
                <a:ea typeface="Public Sans"/>
                <a:cs typeface="Public Sans"/>
                <a:sym typeface="Public Sans"/>
              </a:rPr>
              <a:t>+2</a:t>
            </a:r>
            <a:endParaRPr b="0" i="0" sz="1700" u="none" cap="none" strike="noStrike"/>
          </a:p>
        </p:txBody>
      </p:sp>
      <p:sp>
        <p:nvSpPr>
          <p:cNvPr id="587" name="Google Shape;587;p42"/>
          <p:cNvSpPr/>
          <p:nvPr/>
        </p:nvSpPr>
        <p:spPr>
          <a:xfrm>
            <a:off x="1095970" y="7329488"/>
            <a:ext cx="3138934" cy="325636"/>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6F655D"/>
              </a:buClr>
              <a:buSzPts val="1700"/>
              <a:buFont typeface="Public Sans"/>
              <a:buNone/>
            </a:pPr>
            <a:r>
              <a:rPr b="1" i="0" lang="en-US" sz="1700" u="none" cap="none" strike="noStrike">
                <a:solidFill>
                  <a:srgbClr val="6F655D"/>
                </a:solidFill>
                <a:latin typeface="Public Sans"/>
                <a:ea typeface="Public Sans"/>
                <a:cs typeface="Public Sans"/>
                <a:sym typeface="Public Sans"/>
              </a:rPr>
              <a:t>Wild Card</a:t>
            </a:r>
            <a:endParaRPr b="0" i="0" sz="1700" u="none" cap="none" strike="noStrike"/>
          </a:p>
        </p:txBody>
      </p:sp>
      <p:sp>
        <p:nvSpPr>
          <p:cNvPr id="588" name="Google Shape;588;p42"/>
          <p:cNvSpPr/>
          <p:nvPr/>
        </p:nvSpPr>
        <p:spPr>
          <a:xfrm>
            <a:off x="3764012" y="7329488"/>
            <a:ext cx="3134172" cy="325636"/>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6F655D"/>
              </a:buClr>
              <a:buSzPts val="1700"/>
              <a:buFont typeface="Public Sans"/>
              <a:buNone/>
            </a:pPr>
            <a:r>
              <a:rPr b="0" i="0" lang="en-US" sz="1700" u="none" cap="none" strike="noStrike">
                <a:solidFill>
                  <a:srgbClr val="6F655D"/>
                </a:solidFill>
                <a:latin typeface="Public Sans"/>
                <a:ea typeface="Public Sans"/>
                <a:cs typeface="Public Sans"/>
                <a:sym typeface="Public Sans"/>
              </a:rPr>
              <a:t>0</a:t>
            </a:r>
            <a:endParaRPr b="0" i="0" sz="1700" u="none" cap="none" strike="noStrike"/>
          </a:p>
        </p:txBody>
      </p:sp>
      <p:sp>
        <p:nvSpPr>
          <p:cNvPr id="589" name="Google Shape;589;p42"/>
          <p:cNvSpPr/>
          <p:nvPr/>
        </p:nvSpPr>
        <p:spPr>
          <a:xfrm>
            <a:off x="6427292" y="7329488"/>
            <a:ext cx="3138934" cy="325636"/>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B05B5C"/>
              </a:buClr>
              <a:buSzPts val="1700"/>
              <a:buFont typeface="Public Sans"/>
              <a:buNone/>
            </a:pPr>
            <a:r>
              <a:rPr b="1" i="0" lang="en-US" sz="1700" u="none" cap="none" strike="noStrike">
                <a:solidFill>
                  <a:srgbClr val="B05B5C"/>
                </a:solidFill>
                <a:latin typeface="Public Sans"/>
                <a:ea typeface="Public Sans"/>
                <a:cs typeface="Public Sans"/>
                <a:sym typeface="Public Sans"/>
              </a:rPr>
              <a:t>-1</a:t>
            </a:r>
            <a:endParaRPr b="0" i="0" sz="1700" u="none" cap="none" strike="noStrike"/>
          </a:p>
        </p:txBody>
      </p:sp>
      <p:sp>
        <p:nvSpPr>
          <p:cNvPr id="590" name="Google Shape;590;p42"/>
          <p:cNvSpPr/>
          <p:nvPr/>
        </p:nvSpPr>
        <p:spPr>
          <a:xfrm>
            <a:off x="1095970" y="7911406"/>
            <a:ext cx="3138934" cy="325636"/>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6F655D"/>
              </a:buClr>
              <a:buSzPts val="1700"/>
              <a:buFont typeface="Public Sans"/>
              <a:buNone/>
            </a:pPr>
            <a:r>
              <a:rPr b="1" i="0" lang="en-US" sz="1700" u="none" cap="none" strike="noStrike">
                <a:solidFill>
                  <a:srgbClr val="6F655D"/>
                </a:solidFill>
                <a:latin typeface="Public Sans"/>
                <a:ea typeface="Public Sans"/>
                <a:cs typeface="Public Sans"/>
                <a:sym typeface="Public Sans"/>
              </a:rPr>
              <a:t>Total</a:t>
            </a:r>
            <a:endParaRPr b="0" i="0" sz="1700" u="none" cap="none" strike="noStrike"/>
          </a:p>
        </p:txBody>
      </p:sp>
      <p:sp>
        <p:nvSpPr>
          <p:cNvPr id="591" name="Google Shape;591;p42"/>
          <p:cNvSpPr/>
          <p:nvPr/>
        </p:nvSpPr>
        <p:spPr>
          <a:xfrm>
            <a:off x="3764012" y="7911406"/>
            <a:ext cx="3134172" cy="325636"/>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6F655D"/>
              </a:buClr>
              <a:buSzPts val="1700"/>
              <a:buFont typeface="Public Sans"/>
              <a:buNone/>
            </a:pPr>
            <a:r>
              <a:rPr b="0" i="0" lang="en-US" sz="1700" u="none" cap="none" strike="noStrike">
                <a:solidFill>
                  <a:srgbClr val="6F655D"/>
                </a:solidFill>
                <a:latin typeface="Public Sans"/>
                <a:ea typeface="Public Sans"/>
                <a:cs typeface="Public Sans"/>
                <a:sym typeface="Public Sans"/>
              </a:rPr>
              <a:t>-1</a:t>
            </a:r>
            <a:endParaRPr b="0" i="0" sz="1700" u="none" cap="none" strike="noStrike"/>
          </a:p>
        </p:txBody>
      </p:sp>
      <p:sp>
        <p:nvSpPr>
          <p:cNvPr id="592" name="Google Shape;592;p42"/>
          <p:cNvSpPr/>
          <p:nvPr/>
        </p:nvSpPr>
        <p:spPr>
          <a:xfrm>
            <a:off x="6427292" y="7911406"/>
            <a:ext cx="3138934" cy="325636"/>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6F655D"/>
              </a:buClr>
              <a:buSzPts val="1700"/>
              <a:buFont typeface="Public Sans"/>
              <a:buNone/>
            </a:pPr>
            <a:r>
              <a:rPr b="1" i="0" lang="en-US" sz="1700" u="none" cap="none" strike="noStrike">
                <a:solidFill>
                  <a:srgbClr val="6F655D"/>
                </a:solidFill>
                <a:latin typeface="Public Sans"/>
                <a:ea typeface="Public Sans"/>
                <a:cs typeface="Public Sans"/>
                <a:sym typeface="Public Sans"/>
              </a:rPr>
              <a:t>-2</a:t>
            </a:r>
            <a:endParaRPr b="0" i="0" sz="1700" u="none" cap="none" strike="noStrike"/>
          </a:p>
        </p:txBody>
      </p:sp>
      <p:sp>
        <p:nvSpPr>
          <p:cNvPr id="593" name="Google Shape;593;p42"/>
          <p:cNvSpPr/>
          <p:nvPr/>
        </p:nvSpPr>
        <p:spPr>
          <a:xfrm>
            <a:off x="9262020" y="2600028"/>
            <a:ext cx="8323510" cy="5983486"/>
          </a:xfrm>
          <a:prstGeom prst="roundRect">
            <a:avLst>
              <a:gd fmla="val 2612" name="adj"/>
            </a:avLst>
          </a:prstGeom>
          <a:solidFill>
            <a:srgbClr val="B05B5C"/>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594" name="Google Shape;594;p42"/>
          <p:cNvSpPr/>
          <p:nvPr/>
        </p:nvSpPr>
        <p:spPr>
          <a:xfrm>
            <a:off x="9479012" y="2789932"/>
            <a:ext cx="6627316" cy="33903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2100"/>
              <a:buFont typeface="Playfair Display SemiBold"/>
              <a:buNone/>
            </a:pPr>
            <a:r>
              <a:rPr b="0" i="0" lang="en-US" sz="2100" u="none" cap="none" strike="noStrike">
                <a:solidFill>
                  <a:srgbClr val="FFFFFF"/>
                </a:solidFill>
                <a:latin typeface="Playfair Display SemiBold"/>
                <a:ea typeface="Playfair Display SemiBold"/>
                <a:cs typeface="Playfair Display SemiBold"/>
                <a:sym typeface="Playfair Display SemiBold"/>
              </a:rPr>
              <a:t>The "Triple-Tightening" Wild Card — Score: -1</a:t>
            </a:r>
            <a:endParaRPr b="0" i="0" sz="2100" u="none" cap="none" strike="noStrike"/>
          </a:p>
        </p:txBody>
      </p:sp>
      <p:sp>
        <p:nvSpPr>
          <p:cNvPr id="595" name="Google Shape;595;p42"/>
          <p:cNvSpPr/>
          <p:nvPr/>
        </p:nvSpPr>
        <p:spPr>
          <a:xfrm>
            <a:off x="9479012" y="3318868"/>
            <a:ext cx="7889528" cy="1799034"/>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FFFFF"/>
              </a:buClr>
              <a:buSzPts val="1700"/>
              <a:buFont typeface="Public Sans"/>
              <a:buNone/>
            </a:pPr>
            <a:r>
              <a:rPr b="0" i="0" lang="en-US" sz="1700" u="none" cap="none" strike="noStrike">
                <a:solidFill>
                  <a:srgbClr val="FFFFFF"/>
                </a:solidFill>
                <a:latin typeface="Public Sans"/>
                <a:ea typeface="Public Sans"/>
                <a:cs typeface="Public Sans"/>
                <a:sym typeface="Public Sans"/>
              </a:rPr>
              <a:t>The decisive differentiator between the AI score and the Human Score is the identification of a </a:t>
            </a:r>
            <a:r>
              <a:rPr b="1" i="0" lang="en-US" sz="1700" u="none" cap="none" strike="noStrike">
                <a:solidFill>
                  <a:srgbClr val="FFFFFF"/>
                </a:solidFill>
                <a:latin typeface="Public Sans"/>
                <a:ea typeface="Public Sans"/>
                <a:cs typeface="Public Sans"/>
                <a:sym typeface="Public Sans"/>
              </a:rPr>
              <a:t>triple-tightening environment</a:t>
            </a:r>
            <a:r>
              <a:rPr b="0" i="0" lang="en-US" sz="1700" u="none" cap="none" strike="noStrike">
                <a:solidFill>
                  <a:srgbClr val="FFFFFF"/>
                </a:solidFill>
                <a:latin typeface="Public Sans"/>
                <a:ea typeface="Public Sans"/>
                <a:cs typeface="Public Sans"/>
                <a:sym typeface="Public Sans"/>
              </a:rPr>
              <a:t> — a compound macro condition the AI models discussed in isolation but failed to synthesize as a unified systemic risk.</a:t>
            </a:r>
            <a:endParaRPr b="0" i="0" sz="1700" u="none" cap="none" strike="noStrike"/>
          </a:p>
          <a:p>
            <a:pPr indent="0" lvl="0" marL="0" marR="0" rtl="0" algn="l">
              <a:lnSpc>
                <a:spcPct val="125000"/>
              </a:lnSpc>
              <a:spcBef>
                <a:spcPts val="1300"/>
              </a:spcBef>
              <a:spcAft>
                <a:spcPts val="0"/>
              </a:spcAft>
              <a:buClr>
                <a:srgbClr val="FFFFFF"/>
              </a:buClr>
              <a:buSzPts val="1700"/>
              <a:buFont typeface="Public Sans"/>
              <a:buNone/>
            </a:pPr>
            <a:r>
              <a:rPr b="0" i="0" lang="en-US" sz="1700" u="none" cap="none" strike="noStrike">
                <a:solidFill>
                  <a:srgbClr val="FFFFFF"/>
                </a:solidFill>
                <a:latin typeface="Public Sans"/>
                <a:ea typeface="Public Sans"/>
                <a:cs typeface="Public Sans"/>
                <a:sym typeface="Public Sans"/>
              </a:rPr>
              <a:t>All three of the following moved higher simultaneously:</a:t>
            </a:r>
            <a:endParaRPr b="0" i="0" sz="1700" u="none" cap="none" strike="noStrike"/>
          </a:p>
        </p:txBody>
      </p:sp>
      <p:sp>
        <p:nvSpPr>
          <p:cNvPr id="596" name="Google Shape;596;p42"/>
          <p:cNvSpPr/>
          <p:nvPr/>
        </p:nvSpPr>
        <p:spPr>
          <a:xfrm>
            <a:off x="9479012" y="5288756"/>
            <a:ext cx="7889528" cy="1435298"/>
          </a:xfrm>
          <a:prstGeom prst="rect">
            <a:avLst/>
          </a:prstGeom>
          <a:noFill/>
          <a:ln>
            <a:noFill/>
          </a:ln>
        </p:spPr>
        <p:txBody>
          <a:bodyPr anchorCtr="0" anchor="t" bIns="0" lIns="0" spcFirstLastPara="1" rIns="0" wrap="square" tIns="0">
            <a:noAutofit/>
          </a:bodyPr>
          <a:lstStyle/>
          <a:p>
            <a:pPr indent="-679450" lvl="0" marL="685800" marR="0" rtl="0" algn="l">
              <a:lnSpc>
                <a:spcPct val="125000"/>
              </a:lnSpc>
              <a:spcBef>
                <a:spcPts val="0"/>
              </a:spcBef>
              <a:spcAft>
                <a:spcPts val="0"/>
              </a:spcAft>
              <a:buClr>
                <a:srgbClr val="FFFFFF"/>
              </a:buClr>
              <a:buSzPts val="1700"/>
              <a:buFont typeface="Public Sans"/>
              <a:buChar char="•"/>
            </a:pPr>
            <a:r>
              <a:rPr b="1" i="0" lang="en-US" sz="1700" u="none" cap="none" strike="noStrike">
                <a:solidFill>
                  <a:srgbClr val="FFFFFF"/>
                </a:solidFill>
                <a:latin typeface="Public Sans"/>
                <a:ea typeface="Public Sans"/>
                <a:cs typeface="Public Sans"/>
                <a:sym typeface="Public Sans"/>
              </a:rPr>
              <a:t>Treasury Yields (10Y)</a:t>
            </a:r>
            <a:r>
              <a:rPr b="0" i="0" lang="en-US" sz="1700" u="none" cap="none" strike="noStrike">
                <a:solidFill>
                  <a:srgbClr val="FFFFFF"/>
                </a:solidFill>
                <a:latin typeface="Public Sans"/>
                <a:ea typeface="Public Sans"/>
                <a:cs typeface="Public Sans"/>
                <a:sym typeface="Public Sans"/>
              </a:rPr>
              <a:t>: Rising to 4.534%, tightening credit conditions</a:t>
            </a:r>
            <a:endParaRPr b="0" i="0" sz="1700" u="none" cap="none" strike="noStrike"/>
          </a:p>
          <a:p>
            <a:pPr indent="-679450" lvl="0" marL="685800" marR="0" rtl="0" algn="l">
              <a:lnSpc>
                <a:spcPct val="125000"/>
              </a:lnSpc>
              <a:spcBef>
                <a:spcPts val="0"/>
              </a:spcBef>
              <a:spcAft>
                <a:spcPts val="0"/>
              </a:spcAft>
              <a:buClr>
                <a:srgbClr val="FFFFFF"/>
              </a:buClr>
              <a:buSzPts val="1700"/>
              <a:buFont typeface="Public Sans"/>
              <a:buChar char="•"/>
            </a:pPr>
            <a:r>
              <a:rPr b="1" i="0" lang="en-US" sz="1700" u="none" cap="none" strike="noStrike">
                <a:solidFill>
                  <a:srgbClr val="FFFFFF"/>
                </a:solidFill>
                <a:latin typeface="Public Sans"/>
                <a:ea typeface="Public Sans"/>
                <a:cs typeface="Public Sans"/>
                <a:sym typeface="Public Sans"/>
              </a:rPr>
              <a:t>Crude Oil (WTI)</a:t>
            </a:r>
            <a:r>
              <a:rPr b="0" i="0" lang="en-US" sz="1700" u="none" cap="none" strike="noStrike">
                <a:solidFill>
                  <a:srgbClr val="FFFFFF"/>
                </a:solidFill>
                <a:latin typeface="Public Sans"/>
                <a:ea typeface="Public Sans"/>
                <a:cs typeface="Public Sans"/>
                <a:sym typeface="Public Sans"/>
              </a:rPr>
              <a:t>: +3.64%, increasing input cost pressure across the economy</a:t>
            </a:r>
            <a:endParaRPr b="0" i="0" sz="1700" u="none" cap="none" strike="noStrike"/>
          </a:p>
          <a:p>
            <a:pPr indent="-679450" lvl="0" marL="685800" marR="0" rtl="0" algn="l">
              <a:lnSpc>
                <a:spcPct val="125000"/>
              </a:lnSpc>
              <a:spcBef>
                <a:spcPts val="0"/>
              </a:spcBef>
              <a:spcAft>
                <a:spcPts val="0"/>
              </a:spcAft>
              <a:buClr>
                <a:srgbClr val="FFFFFF"/>
              </a:buClr>
              <a:buSzPts val="1700"/>
              <a:buFont typeface="Public Sans"/>
              <a:buChar char="•"/>
            </a:pPr>
            <a:r>
              <a:rPr b="1" i="0" lang="en-US" sz="1700" u="none" cap="none" strike="noStrike">
                <a:solidFill>
                  <a:srgbClr val="FFFFFF"/>
                </a:solidFill>
                <a:latin typeface="Public Sans"/>
                <a:ea typeface="Public Sans"/>
                <a:cs typeface="Public Sans"/>
                <a:sym typeface="Public Sans"/>
              </a:rPr>
              <a:t>US Dollar (DXY)</a:t>
            </a:r>
            <a:r>
              <a:rPr b="0" i="0" lang="en-US" sz="1700" u="none" cap="none" strike="noStrike">
                <a:solidFill>
                  <a:srgbClr val="FFFFFF"/>
                </a:solidFill>
                <a:latin typeface="Public Sans"/>
                <a:ea typeface="Public Sans"/>
                <a:cs typeface="Public Sans"/>
                <a:sym typeface="Public Sans"/>
              </a:rPr>
              <a:t>: +1.21%, compressing multinational earnings expectations</a:t>
            </a:r>
            <a:endParaRPr b="0" i="0" sz="1700" u="none" cap="none" strike="noStrike"/>
          </a:p>
        </p:txBody>
      </p:sp>
      <p:sp>
        <p:nvSpPr>
          <p:cNvPr id="597" name="Google Shape;597;p42"/>
          <p:cNvSpPr/>
          <p:nvPr/>
        </p:nvSpPr>
        <p:spPr>
          <a:xfrm>
            <a:off x="9479012" y="6894910"/>
            <a:ext cx="7889528" cy="1302544"/>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FFFFF"/>
              </a:buClr>
              <a:buSzPts val="1700"/>
              <a:buFont typeface="Public Sans"/>
              <a:buNone/>
            </a:pPr>
            <a:r>
              <a:rPr b="0" i="0" lang="en-US" sz="1700" u="none" cap="none" strike="noStrike">
                <a:solidFill>
                  <a:srgbClr val="FFFFFF"/>
                </a:solidFill>
                <a:latin typeface="Public Sans"/>
                <a:ea typeface="Public Sans"/>
                <a:cs typeface="Public Sans"/>
                <a:sym typeface="Public Sans"/>
              </a:rPr>
              <a:t>When all three tighten in unison, the </a:t>
            </a:r>
            <a:r>
              <a:rPr b="1" i="0" lang="en-US" sz="1700" u="none" cap="none" strike="noStrike">
                <a:solidFill>
                  <a:srgbClr val="FFFFFF"/>
                </a:solidFill>
                <a:latin typeface="Public Sans"/>
                <a:ea typeface="Public Sans"/>
                <a:cs typeface="Public Sans"/>
                <a:sym typeface="Public Sans"/>
              </a:rPr>
              <a:t>compounded, synergistic restriction</a:t>
            </a:r>
            <a:r>
              <a:rPr b="0" i="0" lang="en-US" sz="1700" u="none" cap="none" strike="noStrike">
                <a:solidFill>
                  <a:srgbClr val="FFFFFF"/>
                </a:solidFill>
                <a:latin typeface="Public Sans"/>
                <a:ea typeface="Public Sans"/>
                <a:cs typeface="Public Sans"/>
                <a:sym typeface="Public Sans"/>
              </a:rPr>
              <a:t> on equity markets is exponentially greater than the sum of individual headwinds. This emergent condition was not captured by any of the four LLMs and drove the Wild Card deduction of -1.</a:t>
            </a:r>
            <a:endParaRPr b="0" i="0" sz="1700" u="none" cap="none" strike="noStrike"/>
          </a:p>
        </p:txBody>
      </p:sp>
      <p:sp>
        <p:nvSpPr>
          <p:cNvPr id="598" name="Google Shape;598;p42"/>
          <p:cNvSpPr/>
          <p:nvPr/>
        </p:nvSpPr>
        <p:spPr>
          <a:xfrm>
            <a:off x="1193750" y="8797082"/>
            <a:ext cx="16225986" cy="52089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00000"/>
              </a:buClr>
              <a:buSzPts val="1300"/>
              <a:buFont typeface="Public Sans"/>
              <a:buNone/>
            </a:pPr>
            <a:r>
              <a:rPr b="0" i="1" lang="en-US" sz="1300" u="none" cap="none" strike="noStrike">
                <a:solidFill>
                  <a:srgbClr val="000000"/>
                </a:solidFill>
                <a:latin typeface="Public Sans"/>
                <a:ea typeface="Public Sans"/>
                <a:cs typeface="Public Sans"/>
                <a:sym typeface="Public Sans"/>
              </a:rPr>
              <a:t>🎙️</a:t>
            </a:r>
            <a:r>
              <a:rPr b="0" i="1" lang="en-US" sz="1300" u="none" cap="none" strike="noStrike">
                <a:solidFill>
                  <a:srgbClr val="6F655D"/>
                </a:solidFill>
                <a:latin typeface="Public Sans"/>
                <a:ea typeface="Public Sans"/>
                <a:cs typeface="Public Sans"/>
                <a:sym typeface="Public Sans"/>
              </a:rPr>
              <a:t> </a:t>
            </a:r>
            <a:r>
              <a:rPr b="1" i="1" lang="en-US" sz="1300" u="none" cap="none" strike="noStrike">
                <a:solidFill>
                  <a:srgbClr val="6F655D"/>
                </a:solidFill>
                <a:latin typeface="Public Sans"/>
                <a:ea typeface="Public Sans"/>
                <a:cs typeface="Public Sans"/>
                <a:sym typeface="Public Sans"/>
              </a:rPr>
              <a:t>SPEAKER NOTES:</a:t>
            </a:r>
            <a:r>
              <a:rPr b="0" i="1" lang="en-US" sz="1300" u="none" cap="none" strike="noStrike">
                <a:solidFill>
                  <a:srgbClr val="6F655D"/>
                </a:solidFill>
                <a:latin typeface="Public Sans"/>
                <a:ea typeface="Public Sans"/>
                <a:cs typeface="Public Sans"/>
                <a:sym typeface="Public Sans"/>
              </a:rPr>
              <a:t> "Passing over to R7 for the Human Score. We scored a -2 overall. While we agreed with the AI's bearish macro and technical reads, our differentiator is the Wild Card score of -1. The AI failed to synthesize the 'Triple-Tightening' effect: Yields, Oil, and the Dollar rising simultaneously. This synergy creates exponential pressure on equities that the AI missed."</a:t>
            </a:r>
            <a:endParaRPr b="0" i="0" sz="1300" u="none" cap="none" strike="noStrike"/>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3" name="Shape 603"/>
        <p:cNvGrpSpPr/>
        <p:nvPr/>
      </p:nvGrpSpPr>
      <p:grpSpPr>
        <a:xfrm>
          <a:off x="0" y="0"/>
          <a:ext cx="0" cy="0"/>
          <a:chOff x="0" y="0"/>
          <a:chExt cx="0" cy="0"/>
        </a:xfrm>
      </p:grpSpPr>
      <p:sp>
        <p:nvSpPr>
          <p:cNvPr id="604" name="Google Shape;604;p43"/>
          <p:cNvSpPr/>
          <p:nvPr/>
        </p:nvSpPr>
        <p:spPr>
          <a:xfrm>
            <a:off x="3947368" y="463004"/>
            <a:ext cx="1453008" cy="207912"/>
          </a:xfrm>
          <a:prstGeom prst="roundRect">
            <a:avLst>
              <a:gd fmla="val 21300" name="adj"/>
            </a:avLst>
          </a:prstGeom>
          <a:solidFill>
            <a:srgbClr val="EEDDDD"/>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605" name="Google Shape;605;p43"/>
          <p:cNvSpPr/>
          <p:nvPr/>
        </p:nvSpPr>
        <p:spPr>
          <a:xfrm>
            <a:off x="4026396" y="502444"/>
            <a:ext cx="2209354" cy="129034"/>
          </a:xfrm>
          <a:prstGeom prst="rect">
            <a:avLst/>
          </a:prstGeom>
          <a:noFill/>
          <a:ln>
            <a:noFill/>
          </a:ln>
        </p:spPr>
        <p:txBody>
          <a:bodyPr anchorCtr="0" anchor="t" bIns="0" lIns="0" spcFirstLastPara="1" rIns="0" wrap="square" tIns="0">
            <a:noAutofit/>
          </a:bodyPr>
          <a:lstStyle/>
          <a:p>
            <a:pPr indent="0" lvl="0" marL="0" marR="0" rtl="0" algn="l">
              <a:lnSpc>
                <a:spcPct val="102000"/>
              </a:lnSpc>
              <a:spcBef>
                <a:spcPts val="0"/>
              </a:spcBef>
              <a:spcAft>
                <a:spcPts val="0"/>
              </a:spcAft>
              <a:buClr>
                <a:srgbClr val="6F655D"/>
              </a:buClr>
              <a:buSzPts val="800"/>
              <a:buFont typeface="Public Sans"/>
              <a:buNone/>
            </a:pPr>
            <a:r>
              <a:rPr b="0" i="0" lang="en-US" sz="800" u="none" cap="none" strike="noStrike">
                <a:solidFill>
                  <a:srgbClr val="6F655D"/>
                </a:solidFill>
                <a:latin typeface="Public Sans"/>
                <a:ea typeface="Public Sans"/>
                <a:cs typeface="Public Sans"/>
                <a:sym typeface="Public Sans"/>
              </a:rPr>
              <a:t>R7 — FINAL CONSENSUS</a:t>
            </a:r>
            <a:endParaRPr b="0" i="0" sz="800" u="none" cap="none" strike="noStrike"/>
          </a:p>
        </p:txBody>
      </p:sp>
      <p:sp>
        <p:nvSpPr>
          <p:cNvPr id="606" name="Google Shape;606;p43"/>
          <p:cNvSpPr/>
          <p:nvPr/>
        </p:nvSpPr>
        <p:spPr>
          <a:xfrm>
            <a:off x="3947368" y="698896"/>
            <a:ext cx="6117580" cy="41180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4B6981"/>
              </a:buClr>
              <a:buSzPts val="2500"/>
              <a:buFont typeface="Playfair Display SemiBold"/>
              <a:buNone/>
            </a:pPr>
            <a:r>
              <a:rPr b="0" i="0" lang="en-US" sz="2500" u="none" cap="none" strike="noStrike">
                <a:solidFill>
                  <a:srgbClr val="4B6981"/>
                </a:solidFill>
                <a:latin typeface="Playfair Display SemiBold"/>
                <a:ea typeface="Playfair Display SemiBold"/>
                <a:cs typeface="Playfair Display SemiBold"/>
                <a:sym typeface="Playfair Display SemiBold"/>
              </a:rPr>
              <a:t>Final Consensus &amp; Sector Strategy</a:t>
            </a:r>
            <a:endParaRPr b="0" i="0" sz="2500" u="none" cap="none" strike="noStrike"/>
          </a:p>
        </p:txBody>
      </p:sp>
      <p:sp>
        <p:nvSpPr>
          <p:cNvPr id="607" name="Google Shape;607;p43"/>
          <p:cNvSpPr/>
          <p:nvPr/>
        </p:nvSpPr>
        <p:spPr>
          <a:xfrm>
            <a:off x="3947368" y="1138684"/>
            <a:ext cx="6695182" cy="20583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4B6981"/>
              </a:buClr>
              <a:buSzPts val="1200"/>
              <a:buFont typeface="Playfair Display SemiBold"/>
              <a:buNone/>
            </a:pPr>
            <a:r>
              <a:rPr b="0" i="0" lang="en-US" sz="1200" u="none" cap="none" strike="noStrike">
                <a:solidFill>
                  <a:srgbClr val="4B6981"/>
                </a:solidFill>
                <a:latin typeface="Playfair Display SemiBold"/>
                <a:ea typeface="Playfair Display SemiBold"/>
                <a:cs typeface="Playfair Display SemiBold"/>
                <a:sym typeface="Playfair Display SemiBold"/>
              </a:rPr>
              <a:t>Navigating CPI Binary Risk — Regime: </a:t>
            </a:r>
            <a:r>
              <a:rPr b="0" i="0" lang="en-US" sz="1200" u="none" cap="none" strike="noStrike">
                <a:solidFill>
                  <a:srgbClr val="B05B5C"/>
                </a:solidFill>
                <a:latin typeface="Playfair Display SemiBold"/>
                <a:ea typeface="Playfair Display SemiBold"/>
                <a:cs typeface="Playfair Display SemiBold"/>
                <a:sym typeface="Playfair Display SemiBold"/>
              </a:rPr>
              <a:t>Neutral-Bearish (Medium Confidence)</a:t>
            </a:r>
            <a:endParaRPr b="0" i="0" sz="1200" u="none" cap="none" strike="noStrike"/>
          </a:p>
        </p:txBody>
      </p:sp>
      <p:sp>
        <p:nvSpPr>
          <p:cNvPr id="608" name="Google Shape;608;p43"/>
          <p:cNvSpPr/>
          <p:nvPr/>
        </p:nvSpPr>
        <p:spPr>
          <a:xfrm>
            <a:off x="3947368" y="1449438"/>
            <a:ext cx="3417690" cy="1499146"/>
          </a:xfrm>
          <a:prstGeom prst="roundRect">
            <a:avLst>
              <a:gd fmla="val 3692" name="adj"/>
            </a:avLst>
          </a:prstGeom>
          <a:solidFill>
            <a:srgbClr val="E1C2C2">
              <a:alpha val="50196"/>
            </a:srgbClr>
          </a:solidFill>
          <a:ln cap="flat" cmpd="sng" w="9525">
            <a:solidFill>
              <a:srgbClr val="C7A8A8"/>
            </a:solidFill>
            <a:prstDash val="solid"/>
            <a:round/>
            <a:headEnd len="sm" w="sm" type="none"/>
            <a:tailEnd len="sm" w="sm" type="none"/>
          </a:ln>
          <a:effectLst>
            <a:outerShdw rotWithShape="0" algn="bl" dir="2700000" dist="7620">
              <a:srgbClr val="C7A8A8"/>
            </a:outerShdw>
          </a:effectLst>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609" name="Google Shape;609;p43"/>
          <p:cNvSpPr/>
          <p:nvPr/>
        </p:nvSpPr>
        <p:spPr>
          <a:xfrm>
            <a:off x="4088606" y="1590676"/>
            <a:ext cx="1647378" cy="20583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1200"/>
              <a:buFont typeface="Playfair Display SemiBold"/>
              <a:buNone/>
            </a:pPr>
            <a:r>
              <a:rPr b="0" i="0" lang="en-US" sz="1200" u="none" cap="none" strike="noStrike">
                <a:solidFill>
                  <a:srgbClr val="000000"/>
                </a:solidFill>
                <a:latin typeface="Playfair Display SemiBold"/>
                <a:ea typeface="Playfair Display SemiBold"/>
                <a:cs typeface="Playfair Display SemiBold"/>
                <a:sym typeface="Playfair Display SemiBold"/>
              </a:rPr>
              <a:t>Regime</a:t>
            </a:r>
            <a:endParaRPr b="0" i="0" sz="1200" u="none" cap="none" strike="noStrike"/>
          </a:p>
        </p:txBody>
      </p:sp>
      <p:sp>
        <p:nvSpPr>
          <p:cNvPr id="610" name="Google Shape;610;p43"/>
          <p:cNvSpPr/>
          <p:nvPr/>
        </p:nvSpPr>
        <p:spPr>
          <a:xfrm>
            <a:off x="4088606" y="1838474"/>
            <a:ext cx="3135214" cy="968872"/>
          </a:xfrm>
          <a:prstGeom prst="rect">
            <a:avLst/>
          </a:prstGeom>
          <a:noFill/>
          <a:ln>
            <a:noFill/>
          </a:ln>
        </p:spPr>
        <p:txBody>
          <a:bodyPr anchorCtr="0" anchor="t" bIns="0" lIns="0" spcFirstLastPara="1" rIns="0" wrap="square" tIns="0">
            <a:noAutofit/>
          </a:bodyPr>
          <a:lstStyle/>
          <a:p>
            <a:pPr indent="0" lvl="0" marL="0" marR="0" rtl="0" algn="l">
              <a:lnSpc>
                <a:spcPct val="102000"/>
              </a:lnSpc>
              <a:spcBef>
                <a:spcPts val="0"/>
              </a:spcBef>
              <a:spcAft>
                <a:spcPts val="0"/>
              </a:spcAft>
              <a:buClr>
                <a:srgbClr val="000000"/>
              </a:buClr>
              <a:buSzPts val="1000"/>
              <a:buFont typeface="Public Sans"/>
              <a:buNone/>
            </a:pPr>
            <a:r>
              <a:rPr b="1" i="0" lang="en-US" sz="1000" u="none" cap="none" strike="noStrike">
                <a:solidFill>
                  <a:srgbClr val="000000"/>
                </a:solidFill>
                <a:latin typeface="Public Sans"/>
                <a:ea typeface="Public Sans"/>
                <a:cs typeface="Public Sans"/>
                <a:sym typeface="Public Sans"/>
              </a:rPr>
              <a:t>Neutral-Bearish</a:t>
            </a:r>
            <a:r>
              <a:rPr b="0" i="0" lang="en-US" sz="1000" u="none" cap="none" strike="noStrike">
                <a:solidFill>
                  <a:srgbClr val="000000"/>
                </a:solidFill>
                <a:latin typeface="Public Sans"/>
                <a:ea typeface="Public Sans"/>
                <a:cs typeface="Public Sans"/>
                <a:sym typeface="Public Sans"/>
              </a:rPr>
              <a:t> — Medium Confidence. The 4/4 AI Bearish consensus, combined with the Human Wild Card deduction, yields a final directional bias of Neutral-Bearish. Medium confidence reflects the unresolved binary nature of Wednesday's CPI report.</a:t>
            </a:r>
            <a:endParaRPr b="0" i="0" sz="1000" u="none" cap="none" strike="noStrike"/>
          </a:p>
        </p:txBody>
      </p:sp>
      <p:sp>
        <p:nvSpPr>
          <p:cNvPr id="611" name="Google Shape;611;p43"/>
          <p:cNvSpPr/>
          <p:nvPr/>
        </p:nvSpPr>
        <p:spPr>
          <a:xfrm>
            <a:off x="7435006" y="1449438"/>
            <a:ext cx="3417838" cy="1499146"/>
          </a:xfrm>
          <a:prstGeom prst="roundRect">
            <a:avLst>
              <a:gd fmla="val 3692" name="adj"/>
            </a:avLst>
          </a:prstGeom>
          <a:solidFill>
            <a:srgbClr val="CCC4EC">
              <a:alpha val="50196"/>
            </a:srgbClr>
          </a:solidFill>
          <a:ln cap="flat" cmpd="sng" w="9525">
            <a:solidFill>
              <a:srgbClr val="B2AAD2"/>
            </a:solidFill>
            <a:prstDash val="solid"/>
            <a:round/>
            <a:headEnd len="sm" w="sm" type="none"/>
            <a:tailEnd len="sm" w="sm" type="none"/>
          </a:ln>
          <a:effectLst>
            <a:outerShdw rotWithShape="0" algn="bl" dir="2700000" dist="7620">
              <a:srgbClr val="B2AAD2"/>
            </a:outerShdw>
          </a:effectLst>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612" name="Google Shape;612;p43"/>
          <p:cNvSpPr/>
          <p:nvPr/>
        </p:nvSpPr>
        <p:spPr>
          <a:xfrm>
            <a:off x="7576244" y="1590676"/>
            <a:ext cx="1647378" cy="20583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1200"/>
              <a:buFont typeface="Playfair Display SemiBold"/>
              <a:buNone/>
            </a:pPr>
            <a:r>
              <a:rPr b="0" i="0" lang="en-US" sz="1200" u="none" cap="none" strike="noStrike">
                <a:solidFill>
                  <a:srgbClr val="000000"/>
                </a:solidFill>
                <a:latin typeface="Playfair Display SemiBold"/>
                <a:ea typeface="Playfair Display SemiBold"/>
                <a:cs typeface="Playfair Display SemiBold"/>
                <a:sym typeface="Playfair Display SemiBold"/>
              </a:rPr>
              <a:t>SPX Prediction</a:t>
            </a:r>
            <a:endParaRPr b="0" i="0" sz="1200" u="none" cap="none" strike="noStrike"/>
          </a:p>
        </p:txBody>
      </p:sp>
      <p:sp>
        <p:nvSpPr>
          <p:cNvPr id="613" name="Google Shape;613;p43"/>
          <p:cNvSpPr/>
          <p:nvPr/>
        </p:nvSpPr>
        <p:spPr>
          <a:xfrm>
            <a:off x="7576244" y="1838474"/>
            <a:ext cx="3135362" cy="645914"/>
          </a:xfrm>
          <a:prstGeom prst="rect">
            <a:avLst/>
          </a:prstGeom>
          <a:noFill/>
          <a:ln>
            <a:noFill/>
          </a:ln>
        </p:spPr>
        <p:txBody>
          <a:bodyPr anchorCtr="0" anchor="t" bIns="0" lIns="0" spcFirstLastPara="1" rIns="0" wrap="square" tIns="0">
            <a:noAutofit/>
          </a:bodyPr>
          <a:lstStyle/>
          <a:p>
            <a:pPr indent="0" lvl="0" marL="0" marR="0" rtl="0" algn="l">
              <a:lnSpc>
                <a:spcPct val="102000"/>
              </a:lnSpc>
              <a:spcBef>
                <a:spcPts val="0"/>
              </a:spcBef>
              <a:spcAft>
                <a:spcPts val="0"/>
              </a:spcAft>
              <a:buClr>
                <a:srgbClr val="000000"/>
              </a:buClr>
              <a:buSzPts val="1000"/>
              <a:buFont typeface="Public Sans"/>
              <a:buNone/>
            </a:pPr>
            <a:r>
              <a:rPr b="1" i="0" lang="en-US" sz="1000" u="none" cap="none" strike="noStrike">
                <a:solidFill>
                  <a:srgbClr val="000000"/>
                </a:solidFill>
                <a:latin typeface="Public Sans"/>
                <a:ea typeface="Public Sans"/>
                <a:cs typeface="Public Sans"/>
                <a:sym typeface="Public Sans"/>
              </a:rPr>
              <a:t>DOWN: -1.0% to -3.0%</a:t>
            </a:r>
            <a:r>
              <a:rPr b="0" i="0" lang="en-US" sz="1000" u="none" cap="none" strike="noStrike">
                <a:solidFill>
                  <a:srgbClr val="000000"/>
                </a:solidFill>
                <a:latin typeface="Public Sans"/>
                <a:ea typeface="Public Sans"/>
                <a:cs typeface="Public Sans"/>
                <a:sym typeface="Public Sans"/>
              </a:rPr>
              <a:t>. This range aligns with the ChatGPT and Gemini estimates but widens slightly to preserve a tail buffer for CPI-driven volatility in either direction.</a:t>
            </a:r>
            <a:endParaRPr b="0" i="0" sz="1000" u="none" cap="none" strike="noStrike"/>
          </a:p>
        </p:txBody>
      </p:sp>
      <p:sp>
        <p:nvSpPr>
          <p:cNvPr id="614" name="Google Shape;614;p43"/>
          <p:cNvSpPr/>
          <p:nvPr/>
        </p:nvSpPr>
        <p:spPr>
          <a:xfrm>
            <a:off x="10922794" y="1449438"/>
            <a:ext cx="3417838" cy="1499146"/>
          </a:xfrm>
          <a:prstGeom prst="roundRect">
            <a:avLst>
              <a:gd fmla="val 3692" name="adj"/>
            </a:avLst>
          </a:prstGeom>
          <a:solidFill>
            <a:srgbClr val="B4DAE4">
              <a:alpha val="50196"/>
            </a:srgbClr>
          </a:solidFill>
          <a:ln cap="flat" cmpd="sng" w="9525">
            <a:solidFill>
              <a:srgbClr val="9AC0CA"/>
            </a:solidFill>
            <a:prstDash val="solid"/>
            <a:round/>
            <a:headEnd len="sm" w="sm" type="none"/>
            <a:tailEnd len="sm" w="sm" type="none"/>
          </a:ln>
          <a:effectLst>
            <a:outerShdw rotWithShape="0" algn="bl" dir="2700000" dist="7620">
              <a:srgbClr val="9AC0CA"/>
            </a:outerShdw>
          </a:effectLst>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615" name="Google Shape;615;p43"/>
          <p:cNvSpPr/>
          <p:nvPr/>
        </p:nvSpPr>
        <p:spPr>
          <a:xfrm>
            <a:off x="11064032" y="1590676"/>
            <a:ext cx="1701552" cy="20583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1200"/>
              <a:buFont typeface="Playfair Display SemiBold"/>
              <a:buNone/>
            </a:pPr>
            <a:r>
              <a:rPr b="0" i="0" lang="en-US" sz="1200" u="none" cap="none" strike="noStrike">
                <a:solidFill>
                  <a:srgbClr val="000000"/>
                </a:solidFill>
                <a:latin typeface="Playfair Display SemiBold"/>
                <a:ea typeface="Playfair Display SemiBold"/>
                <a:cs typeface="Playfair Display SemiBold"/>
                <a:sym typeface="Playfair Display SemiBold"/>
              </a:rPr>
              <a:t>Invalidation Condition</a:t>
            </a:r>
            <a:endParaRPr b="0" i="0" sz="1200" u="none" cap="none" strike="noStrike"/>
          </a:p>
        </p:txBody>
      </p:sp>
      <p:sp>
        <p:nvSpPr>
          <p:cNvPr id="616" name="Google Shape;616;p43"/>
          <p:cNvSpPr/>
          <p:nvPr/>
        </p:nvSpPr>
        <p:spPr>
          <a:xfrm>
            <a:off x="11064032" y="1838474"/>
            <a:ext cx="3135362" cy="807392"/>
          </a:xfrm>
          <a:prstGeom prst="rect">
            <a:avLst/>
          </a:prstGeom>
          <a:noFill/>
          <a:ln>
            <a:noFill/>
          </a:ln>
        </p:spPr>
        <p:txBody>
          <a:bodyPr anchorCtr="0" anchor="t" bIns="0" lIns="0" spcFirstLastPara="1" rIns="0" wrap="square" tIns="0">
            <a:noAutofit/>
          </a:bodyPr>
          <a:lstStyle/>
          <a:p>
            <a:pPr indent="0" lvl="0" marL="0" marR="0" rtl="0" algn="l">
              <a:lnSpc>
                <a:spcPct val="102000"/>
              </a:lnSpc>
              <a:spcBef>
                <a:spcPts val="0"/>
              </a:spcBef>
              <a:spcAft>
                <a:spcPts val="0"/>
              </a:spcAft>
              <a:buClr>
                <a:srgbClr val="000000"/>
              </a:buClr>
              <a:buSzPts val="1000"/>
              <a:buFont typeface="Public Sans"/>
              <a:buNone/>
            </a:pPr>
            <a:r>
              <a:rPr b="0" i="0" lang="en-US" sz="1000" u="none" cap="none" strike="noStrike">
                <a:solidFill>
                  <a:srgbClr val="000000"/>
                </a:solidFill>
                <a:latin typeface="Public Sans"/>
                <a:ea typeface="Public Sans"/>
                <a:cs typeface="Public Sans"/>
                <a:sym typeface="Public Sans"/>
              </a:rPr>
              <a:t>A significantly cooler-than-expected CPI print causing SPX to </a:t>
            </a:r>
            <a:r>
              <a:rPr b="1" i="0" lang="en-US" sz="1000" u="none" cap="none" strike="noStrike">
                <a:solidFill>
                  <a:srgbClr val="000000"/>
                </a:solidFill>
                <a:latin typeface="Public Sans"/>
                <a:ea typeface="Public Sans"/>
                <a:cs typeface="Public Sans"/>
                <a:sym typeface="Public Sans"/>
              </a:rPr>
              <a:t>reclaim the 8 EMA</a:t>
            </a:r>
            <a:r>
              <a:rPr b="0" i="0" lang="en-US" sz="1000" u="none" cap="none" strike="noStrike">
                <a:solidFill>
                  <a:srgbClr val="000000"/>
                </a:solidFill>
                <a:latin typeface="Public Sans"/>
                <a:ea typeface="Public Sans"/>
                <a:cs typeface="Public Sans"/>
                <a:sym typeface="Public Sans"/>
              </a:rPr>
              <a:t> on strong volume. This single catalyst has the capacity to neutralize every bearish signal in our model and trigger a broad relief rally.</a:t>
            </a:r>
            <a:endParaRPr b="0" i="0" sz="1000" u="none" cap="none" strike="noStrike"/>
          </a:p>
        </p:txBody>
      </p:sp>
      <p:sp>
        <p:nvSpPr>
          <p:cNvPr id="617" name="Google Shape;617;p43"/>
          <p:cNvSpPr/>
          <p:nvPr/>
        </p:nvSpPr>
        <p:spPr>
          <a:xfrm>
            <a:off x="3852416" y="3027312"/>
            <a:ext cx="5225802" cy="1869876"/>
          </a:xfrm>
          <a:prstGeom prst="roundRect">
            <a:avLst>
              <a:gd fmla="val 5075" name="adj"/>
            </a:avLst>
          </a:prstGeom>
          <a:solidFill>
            <a:srgbClr val="B05B5C"/>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618" name="Google Shape;618;p43"/>
          <p:cNvSpPr/>
          <p:nvPr/>
        </p:nvSpPr>
        <p:spPr>
          <a:xfrm>
            <a:off x="3984128" y="3097262"/>
            <a:ext cx="3610570" cy="22488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1200"/>
              <a:buFont typeface="Playfair Display SemiBold"/>
              <a:buNone/>
            </a:pPr>
            <a:r>
              <a:rPr b="0" i="0" lang="en-US" sz="1200" u="none" cap="none" strike="noStrike">
                <a:solidFill>
                  <a:srgbClr val="000000"/>
                </a:solidFill>
                <a:latin typeface="Playfair Display SemiBold"/>
                <a:ea typeface="Playfair Display SemiBold"/>
                <a:cs typeface="Playfair Display SemiBold"/>
                <a:sym typeface="Playfair Display SemiBold"/>
              </a:rPr>
              <a:t>🟢</a:t>
            </a:r>
            <a:r>
              <a:rPr b="0" i="0" lang="en-US" sz="1200" u="none" cap="none" strike="noStrike">
                <a:solidFill>
                  <a:srgbClr val="FFFFFF"/>
                </a:solidFill>
                <a:latin typeface="Playfair Display SemiBold"/>
                <a:ea typeface="Playfair Display SemiBold"/>
                <a:cs typeface="Playfair Display SemiBold"/>
                <a:sym typeface="Playfair Display SemiBold"/>
              </a:rPr>
              <a:t> LEADING Sector — Energy (XLE)</a:t>
            </a:r>
            <a:endParaRPr b="0" i="0" sz="1200" u="none" cap="none" strike="noStrike"/>
          </a:p>
        </p:txBody>
      </p:sp>
      <p:sp>
        <p:nvSpPr>
          <p:cNvPr id="619" name="Google Shape;619;p43"/>
          <p:cNvSpPr/>
          <p:nvPr/>
        </p:nvSpPr>
        <p:spPr>
          <a:xfrm>
            <a:off x="3984128" y="3392090"/>
            <a:ext cx="4962376" cy="968872"/>
          </a:xfrm>
          <a:prstGeom prst="rect">
            <a:avLst/>
          </a:prstGeom>
          <a:noFill/>
          <a:ln>
            <a:noFill/>
          </a:ln>
        </p:spPr>
        <p:txBody>
          <a:bodyPr anchorCtr="0" anchor="t" bIns="0" lIns="0" spcFirstLastPara="1" rIns="0" wrap="square" tIns="0">
            <a:noAutofit/>
          </a:bodyPr>
          <a:lstStyle/>
          <a:p>
            <a:pPr indent="0" lvl="0" marL="0" marR="0" rtl="0" algn="l">
              <a:lnSpc>
                <a:spcPct val="102000"/>
              </a:lnSpc>
              <a:spcBef>
                <a:spcPts val="0"/>
              </a:spcBef>
              <a:spcAft>
                <a:spcPts val="0"/>
              </a:spcAft>
              <a:buClr>
                <a:srgbClr val="FFFFFF"/>
              </a:buClr>
              <a:buSzPts val="1000"/>
              <a:buFont typeface="Public Sans"/>
              <a:buNone/>
            </a:pPr>
            <a:r>
              <a:rPr b="1" i="0" lang="en-US" sz="1000" u="none" cap="none" strike="noStrike">
                <a:solidFill>
                  <a:srgbClr val="FFFFFF"/>
                </a:solidFill>
                <a:latin typeface="Public Sans"/>
                <a:ea typeface="Public Sans"/>
                <a:cs typeface="Public Sans"/>
                <a:sym typeface="Public Sans"/>
              </a:rPr>
              <a:t>Manual Human Override:</a:t>
            </a:r>
            <a:r>
              <a:rPr b="0" i="0" lang="en-US" sz="1000" u="none" cap="none" strike="noStrike">
                <a:solidFill>
                  <a:srgbClr val="FFFFFF"/>
                </a:solidFill>
                <a:latin typeface="Public Sans"/>
                <a:ea typeface="Public Sans"/>
                <a:cs typeface="Public Sans"/>
                <a:sym typeface="Public Sans"/>
              </a:rPr>
              <a:t> Despite the AI models flagging XLE as a seasonal short, the R7 team is overriding this classification. The US-Iran geopolitical tension is injecting a persistent risk premium into crude oil prices that the seasonal model does not account for. WTI's +3.64% weekly move corroborates this thesis. Energy is designated the </a:t>
            </a:r>
            <a:r>
              <a:rPr b="1" i="0" lang="en-US" sz="1000" u="none" cap="none" strike="noStrike">
                <a:solidFill>
                  <a:srgbClr val="FFFFFF"/>
                </a:solidFill>
                <a:latin typeface="Public Sans"/>
                <a:ea typeface="Public Sans"/>
                <a:cs typeface="Public Sans"/>
                <a:sym typeface="Public Sans"/>
              </a:rPr>
              <a:t>Leading Sector</a:t>
            </a:r>
            <a:r>
              <a:rPr b="0" i="0" lang="en-US" sz="1000" u="none" cap="none" strike="noStrike">
                <a:solidFill>
                  <a:srgbClr val="FFFFFF"/>
                </a:solidFill>
                <a:latin typeface="Public Sans"/>
                <a:ea typeface="Public Sans"/>
                <a:cs typeface="Public Sans"/>
                <a:sym typeface="Public Sans"/>
              </a:rPr>
              <a:t> as a geopolitical hedge and inflation-linked asset in a tightening environment.</a:t>
            </a:r>
            <a:endParaRPr b="0" i="0" sz="1000" u="none" cap="none" strike="noStrike"/>
          </a:p>
        </p:txBody>
      </p:sp>
      <p:sp>
        <p:nvSpPr>
          <p:cNvPr id="620" name="Google Shape;620;p43"/>
          <p:cNvSpPr/>
          <p:nvPr/>
        </p:nvSpPr>
        <p:spPr>
          <a:xfrm>
            <a:off x="9314260" y="3097262"/>
            <a:ext cx="3965376" cy="22488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1200"/>
              <a:buFont typeface="Playfair Display SemiBold"/>
              <a:buNone/>
            </a:pPr>
            <a:r>
              <a:rPr b="0" i="0" lang="en-US" sz="1200" u="none" cap="none" strike="noStrike">
                <a:solidFill>
                  <a:srgbClr val="000000"/>
                </a:solidFill>
                <a:latin typeface="Playfair Display SemiBold"/>
                <a:ea typeface="Playfair Display SemiBold"/>
                <a:cs typeface="Playfair Display SemiBold"/>
                <a:sym typeface="Playfair Display SemiBold"/>
              </a:rPr>
              <a:t>🔴</a:t>
            </a:r>
            <a:r>
              <a:rPr b="0" i="0" lang="en-US" sz="1200" u="none" cap="none" strike="noStrike">
                <a:solidFill>
                  <a:srgbClr val="4B6981"/>
                </a:solidFill>
                <a:latin typeface="Playfair Display SemiBold"/>
                <a:ea typeface="Playfair Display SemiBold"/>
                <a:cs typeface="Playfair Display SemiBold"/>
                <a:sym typeface="Playfair Display SemiBold"/>
              </a:rPr>
              <a:t> LAGGING Sector — Technology (XLK)</a:t>
            </a:r>
            <a:endParaRPr b="0" i="0" sz="1200" u="none" cap="none" strike="noStrike"/>
          </a:p>
        </p:txBody>
      </p:sp>
      <p:sp>
        <p:nvSpPr>
          <p:cNvPr id="621" name="Google Shape;621;p43"/>
          <p:cNvSpPr/>
          <p:nvPr/>
        </p:nvSpPr>
        <p:spPr>
          <a:xfrm>
            <a:off x="9314260" y="3392090"/>
            <a:ext cx="5035898" cy="322958"/>
          </a:xfrm>
          <a:prstGeom prst="rect">
            <a:avLst/>
          </a:prstGeom>
          <a:noFill/>
          <a:ln>
            <a:noFill/>
          </a:ln>
        </p:spPr>
        <p:txBody>
          <a:bodyPr anchorCtr="0" anchor="t" bIns="0" lIns="0" spcFirstLastPara="1" rIns="0" wrap="square" tIns="0">
            <a:noAutofit/>
          </a:bodyPr>
          <a:lstStyle/>
          <a:p>
            <a:pPr indent="0" lvl="0" marL="0" marR="0" rtl="0" algn="l">
              <a:lnSpc>
                <a:spcPct val="102000"/>
              </a:lnSpc>
              <a:spcBef>
                <a:spcPts val="0"/>
              </a:spcBef>
              <a:spcAft>
                <a:spcPts val="0"/>
              </a:spcAft>
              <a:buClr>
                <a:srgbClr val="6F655D"/>
              </a:buClr>
              <a:buSzPts val="1000"/>
              <a:buFont typeface="Public Sans"/>
              <a:buNone/>
            </a:pPr>
            <a:r>
              <a:rPr b="0" i="0" lang="en-US" sz="1000" u="none" cap="none" strike="noStrike">
                <a:solidFill>
                  <a:srgbClr val="6F655D"/>
                </a:solidFill>
                <a:latin typeface="Public Sans"/>
                <a:ea typeface="Public Sans"/>
                <a:cs typeface="Public Sans"/>
                <a:sym typeface="Public Sans"/>
              </a:rPr>
              <a:t>The seasonal long window for Technology — typically a tailwind in early June — has been structurally negated by two compounding pressures:</a:t>
            </a:r>
            <a:endParaRPr b="0" i="0" sz="1000" u="none" cap="none" strike="noStrike"/>
          </a:p>
        </p:txBody>
      </p:sp>
      <p:sp>
        <p:nvSpPr>
          <p:cNvPr id="622" name="Google Shape;622;p43"/>
          <p:cNvSpPr/>
          <p:nvPr/>
        </p:nvSpPr>
        <p:spPr>
          <a:xfrm>
            <a:off x="9314260" y="3778002"/>
            <a:ext cx="5035898" cy="670322"/>
          </a:xfrm>
          <a:prstGeom prst="rect">
            <a:avLst/>
          </a:prstGeom>
          <a:noFill/>
          <a:ln>
            <a:noFill/>
          </a:ln>
        </p:spPr>
        <p:txBody>
          <a:bodyPr anchorCtr="0" anchor="t" bIns="0" lIns="0" spcFirstLastPara="1" rIns="0" wrap="square" tIns="0">
            <a:noAutofit/>
          </a:bodyPr>
          <a:lstStyle/>
          <a:p>
            <a:pPr indent="-685800" lvl="0" marL="685800" marR="0" rtl="0" algn="l">
              <a:lnSpc>
                <a:spcPct val="102000"/>
              </a:lnSpc>
              <a:spcBef>
                <a:spcPts val="0"/>
              </a:spcBef>
              <a:spcAft>
                <a:spcPts val="0"/>
              </a:spcAft>
              <a:buClr>
                <a:srgbClr val="6F655D"/>
              </a:buClr>
              <a:buSzPts val="1000"/>
              <a:buFont typeface="Public Sans"/>
              <a:buChar char="•"/>
            </a:pPr>
            <a:r>
              <a:rPr b="1" i="0" lang="en-US" sz="1000" u="none" cap="none" strike="noStrike">
                <a:solidFill>
                  <a:srgbClr val="6F655D"/>
                </a:solidFill>
                <a:latin typeface="Public Sans"/>
                <a:ea typeface="Public Sans"/>
                <a:cs typeface="Public Sans"/>
                <a:sym typeface="Public Sans"/>
              </a:rPr>
              <a:t>Treasury Yield Headwind</a:t>
            </a:r>
            <a:r>
              <a:rPr b="0" i="0" lang="en-US" sz="1000" u="none" cap="none" strike="noStrike">
                <a:solidFill>
                  <a:srgbClr val="6F655D"/>
                </a:solidFill>
                <a:latin typeface="Public Sans"/>
                <a:ea typeface="Public Sans"/>
                <a:cs typeface="Public Sans"/>
                <a:sym typeface="Public Sans"/>
              </a:rPr>
              <a:t>: The 10Y at 4.534% materially compresses growth-multiple valuations in rate-sensitive tech equities</a:t>
            </a:r>
            <a:endParaRPr b="0" i="0" sz="1000" u="none" cap="none" strike="noStrike"/>
          </a:p>
          <a:p>
            <a:pPr indent="-685800" lvl="0" marL="685800" marR="0" rtl="0" algn="l">
              <a:lnSpc>
                <a:spcPct val="102000"/>
              </a:lnSpc>
              <a:spcBef>
                <a:spcPts val="0"/>
              </a:spcBef>
              <a:spcAft>
                <a:spcPts val="0"/>
              </a:spcAft>
              <a:buClr>
                <a:srgbClr val="6F655D"/>
              </a:buClr>
              <a:buSzPts val="1000"/>
              <a:buFont typeface="Public Sans"/>
              <a:buChar char="•"/>
            </a:pPr>
            <a:r>
              <a:rPr b="1" i="0" lang="en-US" sz="1000" u="none" cap="none" strike="noStrike">
                <a:solidFill>
                  <a:srgbClr val="6F655D"/>
                </a:solidFill>
                <a:latin typeface="Public Sans"/>
                <a:ea typeface="Public Sans"/>
                <a:cs typeface="Public Sans"/>
                <a:sym typeface="Public Sans"/>
              </a:rPr>
              <a:t>Technical Breakdown</a:t>
            </a:r>
            <a:r>
              <a:rPr b="0" i="0" lang="en-US" sz="1000" u="none" cap="none" strike="noStrike">
                <a:solidFill>
                  <a:srgbClr val="6F655D"/>
                </a:solidFill>
                <a:latin typeface="Public Sans"/>
                <a:ea typeface="Public Sans"/>
                <a:cs typeface="Public Sans"/>
                <a:sym typeface="Public Sans"/>
              </a:rPr>
              <a:t>: NDX's sharp Friday decline and sub-8 EMA positioning eliminates the seasonal long case on a technical basis</a:t>
            </a:r>
            <a:endParaRPr b="0" i="0" sz="1000" u="none" cap="none" strike="noStrike"/>
          </a:p>
        </p:txBody>
      </p:sp>
      <p:sp>
        <p:nvSpPr>
          <p:cNvPr id="623" name="Google Shape;623;p43"/>
          <p:cNvSpPr/>
          <p:nvPr/>
        </p:nvSpPr>
        <p:spPr>
          <a:xfrm>
            <a:off x="9314260" y="4511278"/>
            <a:ext cx="5035898" cy="322958"/>
          </a:xfrm>
          <a:prstGeom prst="rect">
            <a:avLst/>
          </a:prstGeom>
          <a:noFill/>
          <a:ln>
            <a:noFill/>
          </a:ln>
        </p:spPr>
        <p:txBody>
          <a:bodyPr anchorCtr="0" anchor="t" bIns="0" lIns="0" spcFirstLastPara="1" rIns="0" wrap="square" tIns="0">
            <a:noAutofit/>
          </a:bodyPr>
          <a:lstStyle/>
          <a:p>
            <a:pPr indent="0" lvl="0" marL="0" marR="0" rtl="0" algn="l">
              <a:lnSpc>
                <a:spcPct val="102000"/>
              </a:lnSpc>
              <a:spcBef>
                <a:spcPts val="0"/>
              </a:spcBef>
              <a:spcAft>
                <a:spcPts val="0"/>
              </a:spcAft>
              <a:buClr>
                <a:srgbClr val="6F655D"/>
              </a:buClr>
              <a:buSzPts val="1000"/>
              <a:buFont typeface="Public Sans"/>
              <a:buNone/>
            </a:pPr>
            <a:r>
              <a:rPr b="0" i="0" lang="en-US" sz="1000" u="none" cap="none" strike="noStrike">
                <a:solidFill>
                  <a:srgbClr val="6F655D"/>
                </a:solidFill>
                <a:latin typeface="Public Sans"/>
                <a:ea typeface="Public Sans"/>
                <a:cs typeface="Public Sans"/>
                <a:sym typeface="Public Sans"/>
              </a:rPr>
              <a:t>XLK is designated </a:t>
            </a:r>
            <a:r>
              <a:rPr b="1" i="0" lang="en-US" sz="1000" u="none" cap="none" strike="noStrike">
                <a:solidFill>
                  <a:srgbClr val="6F655D"/>
                </a:solidFill>
                <a:latin typeface="Public Sans"/>
                <a:ea typeface="Public Sans"/>
                <a:cs typeface="Public Sans"/>
                <a:sym typeface="Public Sans"/>
              </a:rPr>
              <a:t>Lagging Sector</a:t>
            </a:r>
            <a:r>
              <a:rPr b="0" i="0" lang="en-US" sz="1000" u="none" cap="none" strike="noStrike">
                <a:solidFill>
                  <a:srgbClr val="6F655D"/>
                </a:solidFill>
                <a:latin typeface="Public Sans"/>
                <a:ea typeface="Public Sans"/>
                <a:cs typeface="Public Sans"/>
                <a:sym typeface="Public Sans"/>
              </a:rPr>
              <a:t> for the week ahead. The seasonal long thesis is tabled pending CPI resolution and EMA reclaim.</a:t>
            </a:r>
            <a:endParaRPr b="0" i="0" sz="1000" u="none" cap="none" strike="noStrike"/>
          </a:p>
        </p:txBody>
      </p:sp>
      <p:pic>
        <p:nvPicPr>
          <p:cNvPr descr="preencoded.png" id="624" name="Google Shape;624;p43"/>
          <p:cNvPicPr preferRelativeResize="0"/>
          <p:nvPr/>
        </p:nvPicPr>
        <p:blipFill rotWithShape="1">
          <a:blip r:embed="rId3">
            <a:alphaModFix/>
          </a:blip>
          <a:srcRect b="0" l="0" r="0" t="0"/>
          <a:stretch/>
        </p:blipFill>
        <p:spPr>
          <a:xfrm>
            <a:off x="3947368" y="4975920"/>
            <a:ext cx="10393264" cy="4100066"/>
          </a:xfrm>
          <a:prstGeom prst="rect">
            <a:avLst/>
          </a:prstGeom>
          <a:noFill/>
          <a:ln>
            <a:noFill/>
          </a:ln>
        </p:spPr>
      </p:pic>
      <p:sp>
        <p:nvSpPr>
          <p:cNvPr id="625" name="Google Shape;625;p43"/>
          <p:cNvSpPr/>
          <p:nvPr/>
        </p:nvSpPr>
        <p:spPr>
          <a:xfrm>
            <a:off x="5564248" y="6395890"/>
            <a:ext cx="2067502" cy="281292"/>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4B6981"/>
              </a:buClr>
              <a:buSzPts val="1700"/>
              <a:buFont typeface="Playfair Display SemiBold"/>
              <a:buNone/>
            </a:pPr>
            <a:r>
              <a:rPr b="0" i="0" lang="en-US" sz="1700" u="none" cap="none" strike="noStrike">
                <a:solidFill>
                  <a:srgbClr val="4B6981"/>
                </a:solidFill>
                <a:latin typeface="Playfair Display SemiBold"/>
                <a:ea typeface="Playfair Display SemiBold"/>
                <a:cs typeface="Playfair Display SemiBold"/>
                <a:sym typeface="Playfair Display SemiBold"/>
              </a:rPr>
              <a:t>R6 Stress Test</a:t>
            </a:r>
            <a:endParaRPr b="0" i="0" sz="1700" u="none" cap="none" strike="noStrike"/>
          </a:p>
        </p:txBody>
      </p:sp>
      <p:sp>
        <p:nvSpPr>
          <p:cNvPr id="626" name="Google Shape;626;p43"/>
          <p:cNvSpPr/>
          <p:nvPr/>
        </p:nvSpPr>
        <p:spPr>
          <a:xfrm>
            <a:off x="5564248" y="6757196"/>
            <a:ext cx="2067502" cy="344428"/>
          </a:xfrm>
          <a:prstGeom prst="rect">
            <a:avLst/>
          </a:prstGeom>
          <a:noFill/>
          <a:ln>
            <a:noFill/>
          </a:ln>
        </p:spPr>
        <p:txBody>
          <a:bodyPr anchorCtr="0" anchor="t" bIns="0" lIns="0" spcFirstLastPara="1" rIns="0" wrap="square" tIns="0">
            <a:noAutofit/>
          </a:bodyPr>
          <a:lstStyle/>
          <a:p>
            <a:pPr indent="0" lvl="0" marL="0" marR="0" rtl="0" algn="ctr">
              <a:lnSpc>
                <a:spcPct val="80000"/>
              </a:lnSpc>
              <a:spcBef>
                <a:spcPts val="0"/>
              </a:spcBef>
              <a:spcAft>
                <a:spcPts val="0"/>
              </a:spcAft>
              <a:buClr>
                <a:srgbClr val="6F655D"/>
              </a:buClr>
              <a:buSzPts val="1400"/>
              <a:buFont typeface="Public Sans"/>
              <a:buNone/>
            </a:pPr>
            <a:r>
              <a:rPr b="0" i="0" lang="en-US" sz="1400" u="none" cap="none" strike="noStrike">
                <a:solidFill>
                  <a:srgbClr val="6F655D"/>
                </a:solidFill>
                <a:latin typeface="Public Sans"/>
                <a:ea typeface="Public Sans"/>
                <a:cs typeface="Public Sans"/>
                <a:sym typeface="Public Sans"/>
              </a:rPr>
              <a:t>LLM-driven regime stress scenarios</a:t>
            </a:r>
            <a:endParaRPr b="0" i="0" sz="1400" u="none" cap="none" strike="noStrike"/>
          </a:p>
        </p:txBody>
      </p:sp>
      <p:sp>
        <p:nvSpPr>
          <p:cNvPr id="627" name="Google Shape;627;p43"/>
          <p:cNvSpPr/>
          <p:nvPr/>
        </p:nvSpPr>
        <p:spPr>
          <a:xfrm>
            <a:off x="8134638" y="6950036"/>
            <a:ext cx="2067502" cy="281292"/>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4B6981"/>
              </a:buClr>
              <a:buSzPts val="1700"/>
              <a:buFont typeface="Playfair Display SemiBold"/>
              <a:buNone/>
            </a:pPr>
            <a:r>
              <a:rPr b="0" i="0" lang="en-US" sz="1700" u="none" cap="none" strike="noStrike">
                <a:solidFill>
                  <a:srgbClr val="4B6981"/>
                </a:solidFill>
                <a:latin typeface="Playfair Display SemiBold"/>
                <a:ea typeface="Playfair Display SemiBold"/>
                <a:cs typeface="Playfair Display SemiBold"/>
                <a:sym typeface="Playfair Display SemiBold"/>
              </a:rPr>
              <a:t>R7 Human Review</a:t>
            </a:r>
            <a:endParaRPr b="0" i="0" sz="1700" u="none" cap="none" strike="noStrike"/>
          </a:p>
        </p:txBody>
      </p:sp>
      <p:sp>
        <p:nvSpPr>
          <p:cNvPr id="628" name="Google Shape;628;p43"/>
          <p:cNvSpPr/>
          <p:nvPr/>
        </p:nvSpPr>
        <p:spPr>
          <a:xfrm>
            <a:off x="8134638" y="7311342"/>
            <a:ext cx="2067502" cy="344426"/>
          </a:xfrm>
          <a:prstGeom prst="rect">
            <a:avLst/>
          </a:prstGeom>
          <a:noFill/>
          <a:ln>
            <a:noFill/>
          </a:ln>
        </p:spPr>
        <p:txBody>
          <a:bodyPr anchorCtr="0" anchor="t" bIns="0" lIns="0" spcFirstLastPara="1" rIns="0" wrap="square" tIns="0">
            <a:noAutofit/>
          </a:bodyPr>
          <a:lstStyle/>
          <a:p>
            <a:pPr indent="0" lvl="0" marL="0" marR="0" rtl="0" algn="ctr">
              <a:lnSpc>
                <a:spcPct val="80000"/>
              </a:lnSpc>
              <a:spcBef>
                <a:spcPts val="0"/>
              </a:spcBef>
              <a:spcAft>
                <a:spcPts val="0"/>
              </a:spcAft>
              <a:buClr>
                <a:srgbClr val="6F655D"/>
              </a:buClr>
              <a:buSzPts val="1400"/>
              <a:buFont typeface="Public Sans"/>
              <a:buNone/>
            </a:pPr>
            <a:r>
              <a:rPr b="0" i="0" lang="en-US" sz="1400" u="none" cap="none" strike="noStrike">
                <a:solidFill>
                  <a:srgbClr val="6F655D"/>
                </a:solidFill>
                <a:latin typeface="Public Sans"/>
                <a:ea typeface="Public Sans"/>
                <a:cs typeface="Public Sans"/>
                <a:sym typeface="Public Sans"/>
              </a:rPr>
              <a:t>Human scoring, adjustments, overrides</a:t>
            </a:r>
            <a:endParaRPr b="0" i="0" sz="1400" u="none" cap="none" strike="noStrike"/>
          </a:p>
        </p:txBody>
      </p:sp>
      <p:sp>
        <p:nvSpPr>
          <p:cNvPr id="629" name="Google Shape;629;p43"/>
          <p:cNvSpPr/>
          <p:nvPr/>
        </p:nvSpPr>
        <p:spPr>
          <a:xfrm>
            <a:off x="10735034" y="6395890"/>
            <a:ext cx="2067502" cy="281292"/>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4B6981"/>
              </a:buClr>
              <a:buSzPts val="1700"/>
              <a:buFont typeface="Playfair Display SemiBold"/>
              <a:buNone/>
            </a:pPr>
            <a:r>
              <a:rPr b="0" i="0" lang="en-US" sz="1700" u="none" cap="none" strike="noStrike">
                <a:solidFill>
                  <a:srgbClr val="4B6981"/>
                </a:solidFill>
                <a:latin typeface="Playfair Display SemiBold"/>
                <a:ea typeface="Playfair Display SemiBold"/>
                <a:cs typeface="Playfair Display SemiBold"/>
                <a:sym typeface="Playfair Display SemiBold"/>
              </a:rPr>
              <a:t>Final Allocation</a:t>
            </a:r>
            <a:endParaRPr b="0" i="0" sz="1700" u="none" cap="none" strike="noStrike"/>
          </a:p>
        </p:txBody>
      </p:sp>
      <p:sp>
        <p:nvSpPr>
          <p:cNvPr id="630" name="Google Shape;630;p43"/>
          <p:cNvSpPr/>
          <p:nvPr/>
        </p:nvSpPr>
        <p:spPr>
          <a:xfrm>
            <a:off x="10735034" y="6757196"/>
            <a:ext cx="2067502" cy="344428"/>
          </a:xfrm>
          <a:prstGeom prst="rect">
            <a:avLst/>
          </a:prstGeom>
          <a:noFill/>
          <a:ln>
            <a:noFill/>
          </a:ln>
        </p:spPr>
        <p:txBody>
          <a:bodyPr anchorCtr="0" anchor="t" bIns="0" lIns="0" spcFirstLastPara="1" rIns="0" wrap="square" tIns="0">
            <a:noAutofit/>
          </a:bodyPr>
          <a:lstStyle/>
          <a:p>
            <a:pPr indent="0" lvl="0" marL="0" marR="0" rtl="0" algn="ctr">
              <a:lnSpc>
                <a:spcPct val="80000"/>
              </a:lnSpc>
              <a:spcBef>
                <a:spcPts val="0"/>
              </a:spcBef>
              <a:spcAft>
                <a:spcPts val="0"/>
              </a:spcAft>
              <a:buClr>
                <a:srgbClr val="6F655D"/>
              </a:buClr>
              <a:buSzPts val="1400"/>
              <a:buFont typeface="Public Sans"/>
              <a:buNone/>
            </a:pPr>
            <a:r>
              <a:rPr b="0" i="0" lang="en-US" sz="1400" u="none" cap="none" strike="noStrike">
                <a:solidFill>
                  <a:srgbClr val="6F655D"/>
                </a:solidFill>
                <a:latin typeface="Public Sans"/>
                <a:ea typeface="Public Sans"/>
                <a:cs typeface="Public Sans"/>
                <a:sym typeface="Public Sans"/>
              </a:rPr>
              <a:t>Regime decision and sector weights</a:t>
            </a:r>
            <a:endParaRPr b="0" i="0" sz="1400" u="none" cap="none" strike="noStrike"/>
          </a:p>
        </p:txBody>
      </p:sp>
      <p:sp>
        <p:nvSpPr>
          <p:cNvPr id="631" name="Google Shape;631;p43"/>
          <p:cNvSpPr/>
          <p:nvPr/>
        </p:nvSpPr>
        <p:spPr>
          <a:xfrm>
            <a:off x="3947368" y="9154716"/>
            <a:ext cx="10393264" cy="322958"/>
          </a:xfrm>
          <a:prstGeom prst="rect">
            <a:avLst/>
          </a:prstGeom>
          <a:noFill/>
          <a:ln>
            <a:noFill/>
          </a:ln>
        </p:spPr>
        <p:txBody>
          <a:bodyPr anchorCtr="0" anchor="t" bIns="0" lIns="0" spcFirstLastPara="1" rIns="0" wrap="square" tIns="0">
            <a:noAutofit/>
          </a:bodyPr>
          <a:lstStyle/>
          <a:p>
            <a:pPr indent="0" lvl="0" marL="0" marR="0" rtl="0" algn="l">
              <a:lnSpc>
                <a:spcPct val="102000"/>
              </a:lnSpc>
              <a:spcBef>
                <a:spcPts val="0"/>
              </a:spcBef>
              <a:spcAft>
                <a:spcPts val="0"/>
              </a:spcAft>
              <a:buClr>
                <a:srgbClr val="6F655D"/>
              </a:buClr>
              <a:buSzPts val="1000"/>
              <a:buFont typeface="Public Sans"/>
              <a:buNone/>
            </a:pPr>
            <a:r>
              <a:rPr b="0" i="0" lang="en-US" sz="1000" u="none" cap="none" strike="noStrike">
                <a:solidFill>
                  <a:srgbClr val="6F655D"/>
                </a:solidFill>
                <a:latin typeface="Public Sans"/>
                <a:ea typeface="Public Sans"/>
                <a:cs typeface="Public Sans"/>
                <a:sym typeface="Public Sans"/>
              </a:rPr>
              <a:t>The R6 → R7 synthesis pipeline is the methodological backbone of the CP3405 Market Intelligence framework. R6 enforces procedural rigor and structural comparability across AI models; R7 applies domain expertise and human judgment to identify emergent risks that no single model captured independently.</a:t>
            </a:r>
            <a:endParaRPr b="0" i="0" sz="1000" u="none" cap="none" strike="noStrike"/>
          </a:p>
        </p:txBody>
      </p:sp>
      <p:sp>
        <p:nvSpPr>
          <p:cNvPr id="632" name="Google Shape;632;p43"/>
          <p:cNvSpPr/>
          <p:nvPr/>
        </p:nvSpPr>
        <p:spPr>
          <a:xfrm>
            <a:off x="3947368" y="9556402"/>
            <a:ext cx="10393264" cy="267592"/>
          </a:xfrm>
          <a:prstGeom prst="rect">
            <a:avLst/>
          </a:prstGeom>
          <a:noFill/>
          <a:ln>
            <a:noFill/>
          </a:ln>
        </p:spPr>
        <p:txBody>
          <a:bodyPr anchorCtr="0" anchor="t" bIns="0" lIns="0" spcFirstLastPara="1" rIns="0" wrap="square" tIns="0">
            <a:noAutofit/>
          </a:bodyPr>
          <a:lstStyle/>
          <a:p>
            <a:pPr indent="0" lvl="0" marL="0" marR="0" rtl="0" algn="l">
              <a:lnSpc>
                <a:spcPct val="102000"/>
              </a:lnSpc>
              <a:spcBef>
                <a:spcPts val="0"/>
              </a:spcBef>
              <a:spcAft>
                <a:spcPts val="0"/>
              </a:spcAft>
              <a:buClr>
                <a:srgbClr val="6F655D"/>
              </a:buClr>
              <a:buSzPts val="800"/>
              <a:buFont typeface="Public Sans"/>
              <a:buNone/>
            </a:pPr>
            <a:r>
              <a:rPr b="0" i="1" lang="en-US" sz="800" u="none" cap="none" strike="noStrike">
                <a:solidFill>
                  <a:srgbClr val="6F655D"/>
                </a:solidFill>
                <a:latin typeface="Public Sans"/>
                <a:ea typeface="Public Sans"/>
                <a:cs typeface="Public Sans"/>
                <a:sym typeface="Public Sans"/>
              </a:rPr>
              <a:t>  </a:t>
            </a:r>
            <a:r>
              <a:rPr b="0" i="1" lang="en-US" sz="800" u="none" cap="none" strike="noStrike">
                <a:solidFill>
                  <a:srgbClr val="000000"/>
                </a:solidFill>
                <a:latin typeface="Public Sans"/>
                <a:ea typeface="Public Sans"/>
                <a:cs typeface="Public Sans"/>
                <a:sym typeface="Public Sans"/>
              </a:rPr>
              <a:t>🎙️</a:t>
            </a:r>
            <a:r>
              <a:rPr b="0" i="1" lang="en-US" sz="800" u="none" cap="none" strike="noStrike">
                <a:solidFill>
                  <a:srgbClr val="6F655D"/>
                </a:solidFill>
                <a:latin typeface="Public Sans"/>
                <a:ea typeface="Public Sans"/>
                <a:cs typeface="Public Sans"/>
                <a:sym typeface="Public Sans"/>
              </a:rPr>
              <a:t> </a:t>
            </a:r>
            <a:r>
              <a:rPr b="1" i="1" lang="en-US" sz="800" u="none" cap="none" strike="noStrike">
                <a:solidFill>
                  <a:srgbClr val="6F655D"/>
                </a:solidFill>
                <a:latin typeface="Public Sans"/>
                <a:ea typeface="Public Sans"/>
                <a:cs typeface="Public Sans"/>
                <a:sym typeface="Public Sans"/>
              </a:rPr>
              <a:t>SPEAKER NOTES:</a:t>
            </a:r>
            <a:r>
              <a:rPr b="0" i="1" lang="en-US" sz="800" u="none" cap="none" strike="noStrike">
                <a:solidFill>
                  <a:srgbClr val="6F655D"/>
                </a:solidFill>
                <a:latin typeface="Public Sans"/>
                <a:ea typeface="Public Sans"/>
                <a:cs typeface="Public Sans"/>
                <a:sym typeface="Public Sans"/>
              </a:rPr>
              <a:t>  "Our final prediction is Neutral-Bearish. We project SPX down 1 to 3 percent. We are manually overriding the AI to call Energy our Leading Sector as a geopolitical hedge, while Technology is our Lagging Sector due to yield pressure. Our thesis is invalidated only if a very cool CPI print sparks a massive relief rally."</a:t>
            </a:r>
            <a:endParaRPr b="0" i="0" sz="800" u="none" cap="none" strike="noStrike"/>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E7DE"/>
        </a:solidFill>
      </p:bgPr>
    </p:bg>
    <p:spTree>
      <p:nvGrpSpPr>
        <p:cNvPr id="636" name="Shape 636"/>
        <p:cNvGrpSpPr/>
        <p:nvPr/>
      </p:nvGrpSpPr>
      <p:grpSpPr>
        <a:xfrm>
          <a:off x="0" y="0"/>
          <a:ext cx="0" cy="0"/>
          <a:chOff x="0" y="0"/>
          <a:chExt cx="0" cy="0"/>
        </a:xfrm>
      </p:grpSpPr>
      <p:sp>
        <p:nvSpPr>
          <p:cNvPr id="637" name="Google Shape;637;p44"/>
          <p:cNvSpPr/>
          <p:nvPr/>
        </p:nvSpPr>
        <p:spPr>
          <a:xfrm>
            <a:off x="1306825" y="344375"/>
            <a:ext cx="15973453" cy="9454245"/>
          </a:xfrm>
          <a:custGeom>
            <a:rect b="b" l="l" r="r" t="t"/>
            <a:pathLst>
              <a:path extrusionOk="0" h="3199406" w="3721247">
                <a:moveTo>
                  <a:pt x="3596786" y="3199405"/>
                </a:moveTo>
                <a:lnTo>
                  <a:pt x="124460" y="3199405"/>
                </a:lnTo>
                <a:cubicBezTo>
                  <a:pt x="55880" y="3199405"/>
                  <a:pt x="0" y="3143526"/>
                  <a:pt x="0" y="3074945"/>
                </a:cubicBezTo>
                <a:lnTo>
                  <a:pt x="0" y="124460"/>
                </a:lnTo>
                <a:cubicBezTo>
                  <a:pt x="0" y="55880"/>
                  <a:pt x="55880" y="0"/>
                  <a:pt x="124460" y="0"/>
                </a:cubicBezTo>
                <a:lnTo>
                  <a:pt x="3596786" y="0"/>
                </a:lnTo>
                <a:cubicBezTo>
                  <a:pt x="3665366" y="0"/>
                  <a:pt x="3721247" y="55880"/>
                  <a:pt x="3721247" y="124460"/>
                </a:cubicBezTo>
                <a:lnTo>
                  <a:pt x="3721247" y="3074946"/>
                </a:lnTo>
                <a:cubicBezTo>
                  <a:pt x="3721247" y="3143526"/>
                  <a:pt x="3665366" y="3199406"/>
                  <a:pt x="3596786" y="3199406"/>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t/>
            </a:r>
            <a:endParaRPr sz="1700">
              <a:solidFill>
                <a:srgbClr val="444444"/>
              </a:solidFill>
              <a:latin typeface="Calibri"/>
              <a:ea typeface="Calibri"/>
              <a:cs typeface="Calibri"/>
              <a:sym typeface="Calibri"/>
            </a:endParaRPr>
          </a:p>
        </p:txBody>
      </p:sp>
      <p:sp>
        <p:nvSpPr>
          <p:cNvPr id="638" name="Google Shape;638;p44"/>
          <p:cNvSpPr txBox="1"/>
          <p:nvPr/>
        </p:nvSpPr>
        <p:spPr>
          <a:xfrm>
            <a:off x="0" y="0"/>
            <a:ext cx="695100" cy="4617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lang="en-US" sz="3000">
                <a:solidFill>
                  <a:srgbClr val="191919"/>
                </a:solidFill>
              </a:rPr>
              <a:t>R8</a:t>
            </a:r>
            <a:endParaRPr sz="3000"/>
          </a:p>
        </p:txBody>
      </p:sp>
      <p:graphicFrame>
        <p:nvGraphicFramePr>
          <p:cNvPr id="639" name="Google Shape;639;p44"/>
          <p:cNvGraphicFramePr/>
          <p:nvPr/>
        </p:nvGraphicFramePr>
        <p:xfrm>
          <a:off x="4758675" y="2196175"/>
          <a:ext cx="3000000" cy="3000000"/>
        </p:xfrm>
        <a:graphic>
          <a:graphicData uri="http://schemas.openxmlformats.org/drawingml/2006/table">
            <a:tbl>
              <a:tblPr>
                <a:noFill/>
                <a:tableStyleId>{78D1B371-E452-4203-B19A-F9DB4F94D651}</a:tableStyleId>
              </a:tblPr>
              <a:tblGrid>
                <a:gridCol w="2124075"/>
                <a:gridCol w="2114550"/>
                <a:gridCol w="2143125"/>
                <a:gridCol w="2124075"/>
              </a:tblGrid>
              <a:tr h="476250">
                <a:tc>
                  <a:txBody>
                    <a:bodyPr/>
                    <a:lstStyle/>
                    <a:p>
                      <a:pPr indent="0" lvl="0" marL="0" rtl="0" algn="ctr">
                        <a:lnSpc>
                          <a:spcPct val="115000"/>
                        </a:lnSpc>
                        <a:spcBef>
                          <a:spcPts val="0"/>
                        </a:spcBef>
                        <a:spcAft>
                          <a:spcPts val="0"/>
                        </a:spcAft>
                        <a:buNone/>
                      </a:pPr>
                      <a:r>
                        <a:rPr b="1" lang="en-US" sz="1500">
                          <a:solidFill>
                            <a:srgbClr val="FFFFFF"/>
                          </a:solidFill>
                          <a:highlight>
                            <a:schemeClr val="accent1"/>
                          </a:highlight>
                          <a:latin typeface="Calibri"/>
                          <a:ea typeface="Calibri"/>
                          <a:cs typeface="Calibri"/>
                          <a:sym typeface="Calibri"/>
                        </a:rPr>
                        <a:t>Index</a:t>
                      </a:r>
                      <a:endParaRPr b="1" sz="1500">
                        <a:solidFill>
                          <a:srgbClr val="FFFFFF"/>
                        </a:solidFill>
                        <a:highlight>
                          <a:schemeClr val="accent1"/>
                        </a:highlight>
                        <a:latin typeface="Calibri"/>
                        <a:ea typeface="Calibri"/>
                        <a:cs typeface="Calibri"/>
                        <a:sym typeface="Calibri"/>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rtl="0" algn="ctr">
                        <a:lnSpc>
                          <a:spcPct val="115000"/>
                        </a:lnSpc>
                        <a:spcBef>
                          <a:spcPts val="0"/>
                        </a:spcBef>
                        <a:spcAft>
                          <a:spcPts val="0"/>
                        </a:spcAft>
                        <a:buNone/>
                      </a:pPr>
                      <a:r>
                        <a:rPr b="1" lang="en-US" sz="1500">
                          <a:solidFill>
                            <a:srgbClr val="FFFFFF"/>
                          </a:solidFill>
                          <a:highlight>
                            <a:schemeClr val="accent1"/>
                          </a:highlight>
                          <a:latin typeface="Calibri"/>
                          <a:ea typeface="Calibri"/>
                          <a:cs typeface="Calibri"/>
                          <a:sym typeface="Calibri"/>
                        </a:rPr>
                        <a:t>Ticker</a:t>
                      </a:r>
                      <a:endParaRPr b="1" sz="1500">
                        <a:solidFill>
                          <a:srgbClr val="FFFFFF"/>
                        </a:solidFill>
                        <a:highlight>
                          <a:schemeClr val="accent1"/>
                        </a:highlight>
                        <a:latin typeface="Calibri"/>
                        <a:ea typeface="Calibri"/>
                        <a:cs typeface="Calibri"/>
                        <a:sym typeface="Calibri"/>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rtl="0" algn="ctr">
                        <a:lnSpc>
                          <a:spcPct val="115000"/>
                        </a:lnSpc>
                        <a:spcBef>
                          <a:spcPts val="0"/>
                        </a:spcBef>
                        <a:spcAft>
                          <a:spcPts val="0"/>
                        </a:spcAft>
                        <a:buNone/>
                      </a:pPr>
                      <a:r>
                        <a:rPr b="1" lang="en-US" sz="1500">
                          <a:solidFill>
                            <a:srgbClr val="FFFFFF"/>
                          </a:solidFill>
                          <a:highlight>
                            <a:schemeClr val="accent1"/>
                          </a:highlight>
                          <a:latin typeface="Calibri"/>
                          <a:ea typeface="Calibri"/>
                          <a:cs typeface="Calibri"/>
                          <a:sym typeface="Calibri"/>
                        </a:rPr>
                        <a:t>Friday Close</a:t>
                      </a:r>
                      <a:endParaRPr b="1" sz="1500">
                        <a:solidFill>
                          <a:srgbClr val="FFFFFF"/>
                        </a:solidFill>
                        <a:highlight>
                          <a:schemeClr val="accent1"/>
                        </a:highlight>
                        <a:latin typeface="Calibri"/>
                        <a:ea typeface="Calibri"/>
                        <a:cs typeface="Calibri"/>
                        <a:sym typeface="Calibri"/>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rtl="0" algn="ctr">
                        <a:lnSpc>
                          <a:spcPct val="115000"/>
                        </a:lnSpc>
                        <a:spcBef>
                          <a:spcPts val="0"/>
                        </a:spcBef>
                        <a:spcAft>
                          <a:spcPts val="0"/>
                        </a:spcAft>
                        <a:buNone/>
                      </a:pPr>
                      <a:r>
                        <a:rPr b="1" lang="en-US" sz="1500">
                          <a:solidFill>
                            <a:srgbClr val="FFFFFF"/>
                          </a:solidFill>
                          <a:highlight>
                            <a:schemeClr val="accent1"/>
                          </a:highlight>
                          <a:latin typeface="Calibri"/>
                          <a:ea typeface="Calibri"/>
                          <a:cs typeface="Calibri"/>
                          <a:sym typeface="Calibri"/>
                        </a:rPr>
                        <a:t>Weekly Change</a:t>
                      </a:r>
                      <a:endParaRPr b="1" sz="1500">
                        <a:solidFill>
                          <a:srgbClr val="FFFFFF"/>
                        </a:solidFill>
                        <a:highlight>
                          <a:schemeClr val="accent1"/>
                        </a:highlight>
                        <a:latin typeface="Calibri"/>
                        <a:ea typeface="Calibri"/>
                        <a:cs typeface="Calibri"/>
                        <a:sym typeface="Calibri"/>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r>
              <a:tr h="476250">
                <a:tc>
                  <a:txBody>
                    <a:bodyPr/>
                    <a:lstStyle/>
                    <a:p>
                      <a:pPr indent="0" lvl="0" marL="0" rtl="0" algn="ctr">
                        <a:lnSpc>
                          <a:spcPct val="115000"/>
                        </a:lnSpc>
                        <a:spcBef>
                          <a:spcPts val="0"/>
                        </a:spcBef>
                        <a:spcAft>
                          <a:spcPts val="0"/>
                        </a:spcAft>
                        <a:buNone/>
                      </a:pPr>
                      <a:r>
                        <a:rPr b="1" lang="en-US">
                          <a:solidFill>
                            <a:srgbClr val="222222"/>
                          </a:solidFill>
                          <a:latin typeface="Calibri"/>
                          <a:ea typeface="Calibri"/>
                          <a:cs typeface="Calibri"/>
                          <a:sym typeface="Calibri"/>
                        </a:rPr>
                        <a:t>S&amp;P 500</a:t>
                      </a:r>
                      <a:endParaRPr b="1">
                        <a:solidFill>
                          <a:srgbClr val="222222"/>
                        </a:solidFill>
                        <a:latin typeface="Calibri"/>
                        <a:ea typeface="Calibri"/>
                        <a:cs typeface="Calibri"/>
                        <a:sym typeface="Calibri"/>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1"/>
                    </a:solidFill>
                  </a:tcPr>
                </a:tc>
                <a:tc>
                  <a:txBody>
                    <a:bodyPr/>
                    <a:lstStyle/>
                    <a:p>
                      <a:pPr indent="0" lvl="0" marL="0" rtl="0" algn="ctr">
                        <a:lnSpc>
                          <a:spcPct val="115000"/>
                        </a:lnSpc>
                        <a:spcBef>
                          <a:spcPts val="0"/>
                        </a:spcBef>
                        <a:spcAft>
                          <a:spcPts val="0"/>
                        </a:spcAft>
                        <a:buNone/>
                      </a:pPr>
                      <a:r>
                        <a:rPr lang="en-US">
                          <a:solidFill>
                            <a:srgbClr val="222222"/>
                          </a:solidFill>
                          <a:latin typeface="Calibri"/>
                          <a:ea typeface="Calibri"/>
                          <a:cs typeface="Calibri"/>
                          <a:sym typeface="Calibri"/>
                        </a:rPr>
                        <a:t>SPX</a:t>
                      </a:r>
                      <a:endParaRPr>
                        <a:solidFill>
                          <a:srgbClr val="222222"/>
                        </a:solidFill>
                        <a:latin typeface="Calibri"/>
                        <a:ea typeface="Calibri"/>
                        <a:cs typeface="Calibri"/>
                        <a:sym typeface="Calibri"/>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1"/>
                    </a:solidFill>
                  </a:tcPr>
                </a:tc>
                <a:tc>
                  <a:txBody>
                    <a:bodyPr/>
                    <a:lstStyle/>
                    <a:p>
                      <a:pPr indent="0" lvl="0" marL="0" rtl="0" algn="ctr">
                        <a:lnSpc>
                          <a:spcPct val="115000"/>
                        </a:lnSpc>
                        <a:spcBef>
                          <a:spcPts val="0"/>
                        </a:spcBef>
                        <a:spcAft>
                          <a:spcPts val="0"/>
                        </a:spcAft>
                        <a:buNone/>
                      </a:pPr>
                      <a:r>
                        <a:rPr lang="en-US">
                          <a:solidFill>
                            <a:srgbClr val="222222"/>
                          </a:solidFill>
                          <a:latin typeface="Calibri"/>
                          <a:ea typeface="Calibri"/>
                          <a:cs typeface="Calibri"/>
                          <a:sym typeface="Calibri"/>
                        </a:rPr>
                        <a:t>7,383.74</a:t>
                      </a:r>
                      <a:endParaRPr>
                        <a:solidFill>
                          <a:srgbClr val="222222"/>
                        </a:solidFill>
                        <a:latin typeface="Calibri"/>
                        <a:ea typeface="Calibri"/>
                        <a:cs typeface="Calibri"/>
                        <a:sym typeface="Calibri"/>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1"/>
                    </a:solidFill>
                  </a:tcPr>
                </a:tc>
                <a:tc>
                  <a:txBody>
                    <a:bodyPr/>
                    <a:lstStyle/>
                    <a:p>
                      <a:pPr indent="0" lvl="0" marL="0" rtl="0" algn="ctr">
                        <a:lnSpc>
                          <a:spcPct val="115000"/>
                        </a:lnSpc>
                        <a:spcBef>
                          <a:spcPts val="0"/>
                        </a:spcBef>
                        <a:spcAft>
                          <a:spcPts val="0"/>
                        </a:spcAft>
                        <a:buNone/>
                      </a:pPr>
                      <a:r>
                        <a:rPr b="1" lang="en-US">
                          <a:solidFill>
                            <a:srgbClr val="C0392B"/>
                          </a:solidFill>
                          <a:latin typeface="Calibri"/>
                          <a:ea typeface="Calibri"/>
                          <a:cs typeface="Calibri"/>
                          <a:sym typeface="Calibri"/>
                        </a:rPr>
                        <a:t>Down 2.59%</a:t>
                      </a:r>
                      <a:endParaRPr b="1">
                        <a:solidFill>
                          <a:srgbClr val="C0392B"/>
                        </a:solidFill>
                        <a:latin typeface="Calibri"/>
                        <a:ea typeface="Calibri"/>
                        <a:cs typeface="Calibri"/>
                        <a:sym typeface="Calibri"/>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1"/>
                    </a:solidFill>
                  </a:tcPr>
                </a:tc>
              </a:tr>
              <a:tr h="476250">
                <a:tc>
                  <a:txBody>
                    <a:bodyPr/>
                    <a:lstStyle/>
                    <a:p>
                      <a:pPr indent="0" lvl="0" marL="0" rtl="0" algn="ctr">
                        <a:lnSpc>
                          <a:spcPct val="115000"/>
                        </a:lnSpc>
                        <a:spcBef>
                          <a:spcPts val="0"/>
                        </a:spcBef>
                        <a:spcAft>
                          <a:spcPts val="0"/>
                        </a:spcAft>
                        <a:buNone/>
                      </a:pPr>
                      <a:r>
                        <a:rPr b="1" lang="en-US">
                          <a:solidFill>
                            <a:srgbClr val="222222"/>
                          </a:solidFill>
                          <a:latin typeface="Calibri"/>
                          <a:ea typeface="Calibri"/>
                          <a:cs typeface="Calibri"/>
                          <a:sym typeface="Calibri"/>
                        </a:rPr>
                        <a:t>Nasdaq 100</a:t>
                      </a:r>
                      <a:endParaRPr b="1">
                        <a:solidFill>
                          <a:srgbClr val="222222"/>
                        </a:solidFill>
                        <a:latin typeface="Calibri"/>
                        <a:ea typeface="Calibri"/>
                        <a:cs typeface="Calibri"/>
                        <a:sym typeface="Calibri"/>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1"/>
                    </a:solidFill>
                  </a:tcPr>
                </a:tc>
                <a:tc>
                  <a:txBody>
                    <a:bodyPr/>
                    <a:lstStyle/>
                    <a:p>
                      <a:pPr indent="0" lvl="0" marL="0" rtl="0" algn="ctr">
                        <a:lnSpc>
                          <a:spcPct val="115000"/>
                        </a:lnSpc>
                        <a:spcBef>
                          <a:spcPts val="0"/>
                        </a:spcBef>
                        <a:spcAft>
                          <a:spcPts val="0"/>
                        </a:spcAft>
                        <a:buNone/>
                      </a:pPr>
                      <a:r>
                        <a:rPr lang="en-US">
                          <a:solidFill>
                            <a:srgbClr val="222222"/>
                          </a:solidFill>
                          <a:latin typeface="Calibri"/>
                          <a:ea typeface="Calibri"/>
                          <a:cs typeface="Calibri"/>
                          <a:sym typeface="Calibri"/>
                        </a:rPr>
                        <a:t>NDX</a:t>
                      </a:r>
                      <a:endParaRPr>
                        <a:solidFill>
                          <a:srgbClr val="222222"/>
                        </a:solidFill>
                        <a:latin typeface="Calibri"/>
                        <a:ea typeface="Calibri"/>
                        <a:cs typeface="Calibri"/>
                        <a:sym typeface="Calibri"/>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1"/>
                    </a:solidFill>
                  </a:tcPr>
                </a:tc>
                <a:tc>
                  <a:txBody>
                    <a:bodyPr/>
                    <a:lstStyle/>
                    <a:p>
                      <a:pPr indent="0" lvl="0" marL="0" rtl="0" algn="ctr">
                        <a:lnSpc>
                          <a:spcPct val="115000"/>
                        </a:lnSpc>
                        <a:spcBef>
                          <a:spcPts val="0"/>
                        </a:spcBef>
                        <a:spcAft>
                          <a:spcPts val="0"/>
                        </a:spcAft>
                        <a:buNone/>
                      </a:pPr>
                      <a:r>
                        <a:rPr lang="en-US">
                          <a:solidFill>
                            <a:srgbClr val="222222"/>
                          </a:solidFill>
                          <a:latin typeface="Calibri"/>
                          <a:ea typeface="Calibri"/>
                          <a:cs typeface="Calibri"/>
                          <a:sym typeface="Calibri"/>
                        </a:rPr>
                        <a:t>28,957.60</a:t>
                      </a:r>
                      <a:endParaRPr>
                        <a:solidFill>
                          <a:srgbClr val="222222"/>
                        </a:solidFill>
                        <a:latin typeface="Calibri"/>
                        <a:ea typeface="Calibri"/>
                        <a:cs typeface="Calibri"/>
                        <a:sym typeface="Calibri"/>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1"/>
                    </a:solidFill>
                  </a:tcPr>
                </a:tc>
                <a:tc>
                  <a:txBody>
                    <a:bodyPr/>
                    <a:lstStyle/>
                    <a:p>
                      <a:pPr indent="0" lvl="0" marL="0" rtl="0" algn="ctr">
                        <a:lnSpc>
                          <a:spcPct val="115000"/>
                        </a:lnSpc>
                        <a:spcBef>
                          <a:spcPts val="0"/>
                        </a:spcBef>
                        <a:spcAft>
                          <a:spcPts val="0"/>
                        </a:spcAft>
                        <a:buNone/>
                      </a:pPr>
                      <a:r>
                        <a:rPr b="1" lang="en-US">
                          <a:solidFill>
                            <a:srgbClr val="C0392B"/>
                          </a:solidFill>
                          <a:latin typeface="Calibri"/>
                          <a:ea typeface="Calibri"/>
                          <a:cs typeface="Calibri"/>
                          <a:sym typeface="Calibri"/>
                        </a:rPr>
                        <a:t>Down 4.53%</a:t>
                      </a:r>
                      <a:endParaRPr b="1">
                        <a:solidFill>
                          <a:srgbClr val="C0392B"/>
                        </a:solidFill>
                        <a:latin typeface="Calibri"/>
                        <a:ea typeface="Calibri"/>
                        <a:cs typeface="Calibri"/>
                        <a:sym typeface="Calibri"/>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1"/>
                    </a:solidFill>
                  </a:tcPr>
                </a:tc>
              </a:tr>
              <a:tr h="476250">
                <a:tc>
                  <a:txBody>
                    <a:bodyPr/>
                    <a:lstStyle/>
                    <a:p>
                      <a:pPr indent="0" lvl="0" marL="0" rtl="0" algn="ctr">
                        <a:lnSpc>
                          <a:spcPct val="115000"/>
                        </a:lnSpc>
                        <a:spcBef>
                          <a:spcPts val="0"/>
                        </a:spcBef>
                        <a:spcAft>
                          <a:spcPts val="0"/>
                        </a:spcAft>
                        <a:buNone/>
                      </a:pPr>
                      <a:r>
                        <a:rPr b="1" lang="en-US">
                          <a:solidFill>
                            <a:srgbClr val="222222"/>
                          </a:solidFill>
                          <a:latin typeface="Calibri"/>
                          <a:ea typeface="Calibri"/>
                          <a:cs typeface="Calibri"/>
                          <a:sym typeface="Calibri"/>
                        </a:rPr>
                        <a:t>Russell 2000</a:t>
                      </a:r>
                      <a:endParaRPr b="1">
                        <a:solidFill>
                          <a:srgbClr val="222222"/>
                        </a:solidFill>
                        <a:latin typeface="Calibri"/>
                        <a:ea typeface="Calibri"/>
                        <a:cs typeface="Calibri"/>
                        <a:sym typeface="Calibri"/>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1"/>
                    </a:solidFill>
                  </a:tcPr>
                </a:tc>
                <a:tc>
                  <a:txBody>
                    <a:bodyPr/>
                    <a:lstStyle/>
                    <a:p>
                      <a:pPr indent="0" lvl="0" marL="0" rtl="0" algn="ctr">
                        <a:lnSpc>
                          <a:spcPct val="115000"/>
                        </a:lnSpc>
                        <a:spcBef>
                          <a:spcPts val="0"/>
                        </a:spcBef>
                        <a:spcAft>
                          <a:spcPts val="0"/>
                        </a:spcAft>
                        <a:buNone/>
                      </a:pPr>
                      <a:r>
                        <a:rPr lang="en-US">
                          <a:solidFill>
                            <a:srgbClr val="222222"/>
                          </a:solidFill>
                          <a:latin typeface="Calibri"/>
                          <a:ea typeface="Calibri"/>
                          <a:cs typeface="Calibri"/>
                          <a:sym typeface="Calibri"/>
                        </a:rPr>
                        <a:t>IWM</a:t>
                      </a:r>
                      <a:endParaRPr>
                        <a:solidFill>
                          <a:srgbClr val="222222"/>
                        </a:solidFill>
                        <a:latin typeface="Calibri"/>
                        <a:ea typeface="Calibri"/>
                        <a:cs typeface="Calibri"/>
                        <a:sym typeface="Calibri"/>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1"/>
                    </a:solidFill>
                  </a:tcPr>
                </a:tc>
                <a:tc>
                  <a:txBody>
                    <a:bodyPr/>
                    <a:lstStyle/>
                    <a:p>
                      <a:pPr indent="0" lvl="0" marL="0" rtl="0" algn="ctr">
                        <a:lnSpc>
                          <a:spcPct val="115000"/>
                        </a:lnSpc>
                        <a:spcBef>
                          <a:spcPts val="0"/>
                        </a:spcBef>
                        <a:spcAft>
                          <a:spcPts val="0"/>
                        </a:spcAft>
                        <a:buNone/>
                      </a:pPr>
                      <a:r>
                        <a:rPr lang="en-US">
                          <a:solidFill>
                            <a:srgbClr val="222222"/>
                          </a:solidFill>
                          <a:latin typeface="Calibri"/>
                          <a:ea typeface="Calibri"/>
                          <a:cs typeface="Calibri"/>
                          <a:sym typeface="Calibri"/>
                        </a:rPr>
                        <a:t>281.65</a:t>
                      </a:r>
                      <a:endParaRPr>
                        <a:solidFill>
                          <a:srgbClr val="222222"/>
                        </a:solidFill>
                        <a:latin typeface="Calibri"/>
                        <a:ea typeface="Calibri"/>
                        <a:cs typeface="Calibri"/>
                        <a:sym typeface="Calibri"/>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1"/>
                    </a:solidFill>
                  </a:tcPr>
                </a:tc>
                <a:tc>
                  <a:txBody>
                    <a:bodyPr/>
                    <a:lstStyle/>
                    <a:p>
                      <a:pPr indent="0" lvl="0" marL="0" rtl="0" algn="ctr">
                        <a:lnSpc>
                          <a:spcPct val="115000"/>
                        </a:lnSpc>
                        <a:spcBef>
                          <a:spcPts val="0"/>
                        </a:spcBef>
                        <a:spcAft>
                          <a:spcPts val="0"/>
                        </a:spcAft>
                        <a:buNone/>
                      </a:pPr>
                      <a:r>
                        <a:rPr b="1" lang="en-US">
                          <a:solidFill>
                            <a:srgbClr val="C0392B"/>
                          </a:solidFill>
                          <a:latin typeface="Calibri"/>
                          <a:ea typeface="Calibri"/>
                          <a:cs typeface="Calibri"/>
                          <a:sym typeface="Calibri"/>
                        </a:rPr>
                        <a:t>Down 3.02%</a:t>
                      </a:r>
                      <a:endParaRPr b="1">
                        <a:solidFill>
                          <a:srgbClr val="C0392B"/>
                        </a:solidFill>
                        <a:latin typeface="Calibri"/>
                        <a:ea typeface="Calibri"/>
                        <a:cs typeface="Calibri"/>
                        <a:sym typeface="Calibri"/>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1"/>
                    </a:solidFill>
                  </a:tcPr>
                </a:tc>
              </a:tr>
            </a:tbl>
          </a:graphicData>
        </a:graphic>
      </p:graphicFrame>
      <p:sp>
        <p:nvSpPr>
          <p:cNvPr id="640" name="Google Shape;640;p44"/>
          <p:cNvSpPr/>
          <p:nvPr/>
        </p:nvSpPr>
        <p:spPr>
          <a:xfrm>
            <a:off x="5872250" y="840900"/>
            <a:ext cx="6278700" cy="10230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US" sz="3400">
                <a:solidFill>
                  <a:srgbClr val="222222"/>
                </a:solidFill>
                <a:latin typeface="Calibri"/>
                <a:ea typeface="Calibri"/>
                <a:cs typeface="Calibri"/>
                <a:sym typeface="Calibri"/>
              </a:rPr>
              <a:t>Week 03 Actuals — Indexes</a:t>
            </a:r>
            <a:endParaRPr b="1" sz="3400">
              <a:solidFill>
                <a:srgbClr val="222222"/>
              </a:solidFill>
              <a:latin typeface="Calibri"/>
              <a:ea typeface="Calibri"/>
              <a:cs typeface="Calibri"/>
              <a:sym typeface="Calibri"/>
            </a:endParaRPr>
          </a:p>
          <a:p>
            <a:pPr indent="0" lvl="0" marL="0" rtl="0" algn="ctr">
              <a:lnSpc>
                <a:spcPct val="115000"/>
              </a:lnSpc>
              <a:spcBef>
                <a:spcPts val="0"/>
              </a:spcBef>
              <a:spcAft>
                <a:spcPts val="0"/>
              </a:spcAft>
              <a:buClr>
                <a:schemeClr val="dk1"/>
              </a:buClr>
              <a:buSzPts val="1100"/>
              <a:buFont typeface="Arial"/>
              <a:buNone/>
            </a:pPr>
            <a:r>
              <a:rPr lang="en-US" sz="1700">
                <a:solidFill>
                  <a:srgbClr val="444444"/>
                </a:solidFill>
                <a:latin typeface="Calibri"/>
                <a:ea typeface="Calibri"/>
                <a:cs typeface="Calibri"/>
                <a:sym typeface="Calibri"/>
              </a:rPr>
              <a:t>S&amp;P snapped 9-week winning streak · first losing week in 10</a:t>
            </a:r>
            <a:endParaRPr sz="1700">
              <a:solidFill>
                <a:srgbClr val="444444"/>
              </a:solidFill>
              <a:latin typeface="Calibri"/>
              <a:ea typeface="Calibri"/>
              <a:cs typeface="Calibri"/>
              <a:sym typeface="Calibri"/>
            </a:endParaRPr>
          </a:p>
        </p:txBody>
      </p:sp>
      <p:sp>
        <p:nvSpPr>
          <p:cNvPr id="641" name="Google Shape;641;p44"/>
          <p:cNvSpPr/>
          <p:nvPr/>
        </p:nvSpPr>
        <p:spPr>
          <a:xfrm>
            <a:off x="6165638" y="4560000"/>
            <a:ext cx="5691900" cy="10230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US" sz="3400">
                <a:solidFill>
                  <a:srgbClr val="222222"/>
                </a:solidFill>
                <a:latin typeface="Calibri"/>
                <a:ea typeface="Calibri"/>
                <a:cs typeface="Calibri"/>
                <a:sym typeface="Calibri"/>
              </a:rPr>
              <a:t>Week 03 Actuals — Macro</a:t>
            </a:r>
            <a:endParaRPr b="1" sz="3400">
              <a:solidFill>
                <a:srgbClr val="222222"/>
              </a:solidFill>
              <a:latin typeface="Calibri"/>
              <a:ea typeface="Calibri"/>
              <a:cs typeface="Calibri"/>
              <a:sym typeface="Calibri"/>
            </a:endParaRPr>
          </a:p>
          <a:p>
            <a:pPr indent="0" lvl="0" marL="0" rtl="0" algn="l">
              <a:lnSpc>
                <a:spcPct val="115000"/>
              </a:lnSpc>
              <a:spcBef>
                <a:spcPts val="0"/>
              </a:spcBef>
              <a:spcAft>
                <a:spcPts val="0"/>
              </a:spcAft>
              <a:buNone/>
            </a:pPr>
            <a:r>
              <a:rPr lang="en-US" sz="1700">
                <a:solidFill>
                  <a:srgbClr val="444444"/>
                </a:solidFill>
                <a:latin typeface="Calibri"/>
                <a:ea typeface="Calibri"/>
                <a:cs typeface="Calibri"/>
                <a:sym typeface="Calibri"/>
              </a:rPr>
              <a:t>Fear spiked · crypto crashed · oil reversed higher</a:t>
            </a:r>
            <a:endParaRPr b="1" sz="3400">
              <a:solidFill>
                <a:srgbClr val="222222"/>
              </a:solidFill>
              <a:latin typeface="Calibri"/>
              <a:ea typeface="Calibri"/>
              <a:cs typeface="Calibri"/>
              <a:sym typeface="Calibri"/>
            </a:endParaRPr>
          </a:p>
        </p:txBody>
      </p:sp>
      <p:graphicFrame>
        <p:nvGraphicFramePr>
          <p:cNvPr id="642" name="Google Shape;642;p44"/>
          <p:cNvGraphicFramePr/>
          <p:nvPr/>
        </p:nvGraphicFramePr>
        <p:xfrm>
          <a:off x="4895838" y="5716325"/>
          <a:ext cx="3000000" cy="3000000"/>
        </p:xfrm>
        <a:graphic>
          <a:graphicData uri="http://schemas.openxmlformats.org/drawingml/2006/table">
            <a:tbl>
              <a:tblPr>
                <a:noFill/>
                <a:tableStyleId>{78D1B371-E452-4203-B19A-F9DB4F94D651}</a:tableStyleId>
              </a:tblPr>
              <a:tblGrid>
                <a:gridCol w="2828925"/>
                <a:gridCol w="2828925"/>
                <a:gridCol w="2838450"/>
              </a:tblGrid>
              <a:tr h="476250">
                <a:tc>
                  <a:txBody>
                    <a:bodyPr/>
                    <a:lstStyle/>
                    <a:p>
                      <a:pPr indent="0" lvl="0" marL="0" rtl="0" algn="ctr">
                        <a:lnSpc>
                          <a:spcPct val="115000"/>
                        </a:lnSpc>
                        <a:spcBef>
                          <a:spcPts val="0"/>
                        </a:spcBef>
                        <a:spcAft>
                          <a:spcPts val="0"/>
                        </a:spcAft>
                        <a:buNone/>
                      </a:pPr>
                      <a:r>
                        <a:rPr b="1" lang="en-US" sz="1500">
                          <a:solidFill>
                            <a:srgbClr val="FFFFFF"/>
                          </a:solidFill>
                          <a:latin typeface="Calibri"/>
                          <a:ea typeface="Calibri"/>
                          <a:cs typeface="Calibri"/>
                          <a:sym typeface="Calibri"/>
                        </a:rPr>
                        <a:t>Asset</a:t>
                      </a:r>
                      <a:endParaRPr b="1" sz="1500">
                        <a:solidFill>
                          <a:srgbClr val="FFFFFF"/>
                        </a:solidFill>
                        <a:latin typeface="Calibri"/>
                        <a:ea typeface="Calibri"/>
                        <a:cs typeface="Calibri"/>
                        <a:sym typeface="Calibri"/>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chemeClr val="accent1"/>
                    </a:solidFill>
                  </a:tcPr>
                </a:tc>
                <a:tc>
                  <a:txBody>
                    <a:bodyPr/>
                    <a:lstStyle/>
                    <a:p>
                      <a:pPr indent="0" lvl="0" marL="0" rtl="0" algn="ctr">
                        <a:lnSpc>
                          <a:spcPct val="115000"/>
                        </a:lnSpc>
                        <a:spcBef>
                          <a:spcPts val="0"/>
                        </a:spcBef>
                        <a:spcAft>
                          <a:spcPts val="0"/>
                        </a:spcAft>
                        <a:buNone/>
                      </a:pPr>
                      <a:r>
                        <a:rPr b="1" lang="en-US" sz="1500">
                          <a:solidFill>
                            <a:srgbClr val="FFFFFF"/>
                          </a:solidFill>
                          <a:latin typeface="Calibri"/>
                          <a:ea typeface="Calibri"/>
                          <a:cs typeface="Calibri"/>
                          <a:sym typeface="Calibri"/>
                        </a:rPr>
                        <a:t>Friday Close</a:t>
                      </a:r>
                      <a:endParaRPr b="1" sz="1500">
                        <a:solidFill>
                          <a:srgbClr val="FFFFFF"/>
                        </a:solidFill>
                        <a:latin typeface="Calibri"/>
                        <a:ea typeface="Calibri"/>
                        <a:cs typeface="Calibri"/>
                        <a:sym typeface="Calibri"/>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chemeClr val="accent1"/>
                    </a:solidFill>
                  </a:tcPr>
                </a:tc>
                <a:tc>
                  <a:txBody>
                    <a:bodyPr/>
                    <a:lstStyle/>
                    <a:p>
                      <a:pPr indent="0" lvl="0" marL="0" rtl="0" algn="ctr">
                        <a:lnSpc>
                          <a:spcPct val="115000"/>
                        </a:lnSpc>
                        <a:spcBef>
                          <a:spcPts val="0"/>
                        </a:spcBef>
                        <a:spcAft>
                          <a:spcPts val="0"/>
                        </a:spcAft>
                        <a:buNone/>
                      </a:pPr>
                      <a:r>
                        <a:rPr b="1" lang="en-US" sz="1500">
                          <a:solidFill>
                            <a:srgbClr val="FFFFFF"/>
                          </a:solidFill>
                          <a:latin typeface="Calibri"/>
                          <a:ea typeface="Calibri"/>
                          <a:cs typeface="Calibri"/>
                          <a:sym typeface="Calibri"/>
                        </a:rPr>
                        <a:t>Weekly Change</a:t>
                      </a:r>
                      <a:endParaRPr b="1" sz="1500">
                        <a:solidFill>
                          <a:srgbClr val="FFFFFF"/>
                        </a:solidFill>
                        <a:latin typeface="Calibri"/>
                        <a:ea typeface="Calibri"/>
                        <a:cs typeface="Calibri"/>
                        <a:sym typeface="Calibri"/>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chemeClr val="accent1"/>
                    </a:solidFill>
                  </a:tcPr>
                </a:tc>
              </a:tr>
              <a:tr h="476250">
                <a:tc>
                  <a:txBody>
                    <a:bodyPr/>
                    <a:lstStyle/>
                    <a:p>
                      <a:pPr indent="0" lvl="0" marL="0" rtl="0" algn="ctr">
                        <a:lnSpc>
                          <a:spcPct val="115000"/>
                        </a:lnSpc>
                        <a:spcBef>
                          <a:spcPts val="0"/>
                        </a:spcBef>
                        <a:spcAft>
                          <a:spcPts val="0"/>
                        </a:spcAft>
                        <a:buNone/>
                      </a:pPr>
                      <a:r>
                        <a:rPr b="1" lang="en-US">
                          <a:solidFill>
                            <a:srgbClr val="222222"/>
                          </a:solidFill>
                          <a:latin typeface="Calibri"/>
                          <a:ea typeface="Calibri"/>
                          <a:cs typeface="Calibri"/>
                          <a:sym typeface="Calibri"/>
                        </a:rPr>
                        <a:t>Gold</a:t>
                      </a:r>
                      <a:endParaRPr b="1">
                        <a:solidFill>
                          <a:srgbClr val="222222"/>
                        </a:solidFill>
                        <a:latin typeface="Calibri"/>
                        <a:ea typeface="Calibri"/>
                        <a:cs typeface="Calibri"/>
                        <a:sym typeface="Calibri"/>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chemeClr val="accent1"/>
                    </a:solidFill>
                  </a:tcPr>
                </a:tc>
                <a:tc>
                  <a:txBody>
                    <a:bodyPr/>
                    <a:lstStyle/>
                    <a:p>
                      <a:pPr indent="0" lvl="0" marL="0" rtl="0" algn="ctr">
                        <a:lnSpc>
                          <a:spcPct val="115000"/>
                        </a:lnSpc>
                        <a:spcBef>
                          <a:spcPts val="0"/>
                        </a:spcBef>
                        <a:spcAft>
                          <a:spcPts val="0"/>
                        </a:spcAft>
                        <a:buNone/>
                      </a:pPr>
                      <a:r>
                        <a:rPr lang="en-US">
                          <a:solidFill>
                            <a:srgbClr val="222222"/>
                          </a:solidFill>
                          <a:latin typeface="Calibri"/>
                          <a:ea typeface="Calibri"/>
                          <a:cs typeface="Calibri"/>
                          <a:sym typeface="Calibri"/>
                        </a:rPr>
                        <a:t>$4,337 / oz</a:t>
                      </a:r>
                      <a:endParaRPr>
                        <a:solidFill>
                          <a:srgbClr val="222222"/>
                        </a:solidFill>
                        <a:latin typeface="Calibri"/>
                        <a:ea typeface="Calibri"/>
                        <a:cs typeface="Calibri"/>
                        <a:sym typeface="Calibri"/>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chemeClr val="accent1"/>
                    </a:solidFill>
                  </a:tcPr>
                </a:tc>
                <a:tc>
                  <a:txBody>
                    <a:bodyPr/>
                    <a:lstStyle/>
                    <a:p>
                      <a:pPr indent="0" lvl="0" marL="0" rtl="0" algn="ctr">
                        <a:lnSpc>
                          <a:spcPct val="115000"/>
                        </a:lnSpc>
                        <a:spcBef>
                          <a:spcPts val="0"/>
                        </a:spcBef>
                        <a:spcAft>
                          <a:spcPts val="0"/>
                        </a:spcAft>
                        <a:buNone/>
                      </a:pPr>
                      <a:r>
                        <a:rPr b="1" lang="en-US">
                          <a:solidFill>
                            <a:srgbClr val="C0392B"/>
                          </a:solidFill>
                          <a:latin typeface="Calibri"/>
                          <a:ea typeface="Calibri"/>
                          <a:cs typeface="Calibri"/>
                          <a:sym typeface="Calibri"/>
                        </a:rPr>
                        <a:t>Down 4.90%</a:t>
                      </a:r>
                      <a:endParaRPr b="1">
                        <a:solidFill>
                          <a:srgbClr val="C0392B"/>
                        </a:solidFill>
                        <a:latin typeface="Calibri"/>
                        <a:ea typeface="Calibri"/>
                        <a:cs typeface="Calibri"/>
                        <a:sym typeface="Calibri"/>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chemeClr val="accent1"/>
                    </a:solidFill>
                  </a:tcPr>
                </a:tc>
              </a:tr>
              <a:tr h="476250">
                <a:tc>
                  <a:txBody>
                    <a:bodyPr/>
                    <a:lstStyle/>
                    <a:p>
                      <a:pPr indent="0" lvl="0" marL="0" rtl="0" algn="ctr">
                        <a:lnSpc>
                          <a:spcPct val="115000"/>
                        </a:lnSpc>
                        <a:spcBef>
                          <a:spcPts val="0"/>
                        </a:spcBef>
                        <a:spcAft>
                          <a:spcPts val="0"/>
                        </a:spcAft>
                        <a:buNone/>
                      </a:pPr>
                      <a:r>
                        <a:rPr b="1" lang="en-US">
                          <a:solidFill>
                            <a:srgbClr val="222222"/>
                          </a:solidFill>
                          <a:latin typeface="Calibri"/>
                          <a:ea typeface="Calibri"/>
                          <a:cs typeface="Calibri"/>
                          <a:sym typeface="Calibri"/>
                        </a:rPr>
                        <a:t>Oil (WTI)</a:t>
                      </a:r>
                      <a:endParaRPr b="1">
                        <a:solidFill>
                          <a:srgbClr val="222222"/>
                        </a:solidFill>
                        <a:latin typeface="Calibri"/>
                        <a:ea typeface="Calibri"/>
                        <a:cs typeface="Calibri"/>
                        <a:sym typeface="Calibri"/>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chemeClr val="accent1"/>
                    </a:solidFill>
                  </a:tcPr>
                </a:tc>
                <a:tc>
                  <a:txBody>
                    <a:bodyPr/>
                    <a:lstStyle/>
                    <a:p>
                      <a:pPr indent="0" lvl="0" marL="0" rtl="0" algn="ctr">
                        <a:lnSpc>
                          <a:spcPct val="115000"/>
                        </a:lnSpc>
                        <a:spcBef>
                          <a:spcPts val="0"/>
                        </a:spcBef>
                        <a:spcAft>
                          <a:spcPts val="0"/>
                        </a:spcAft>
                        <a:buNone/>
                      </a:pPr>
                      <a:r>
                        <a:rPr lang="en-US">
                          <a:solidFill>
                            <a:srgbClr val="222222"/>
                          </a:solidFill>
                          <a:latin typeface="Calibri"/>
                          <a:ea typeface="Calibri"/>
                          <a:cs typeface="Calibri"/>
                          <a:sym typeface="Calibri"/>
                        </a:rPr>
                        <a:t>$90.54 / bbl</a:t>
                      </a:r>
                      <a:endParaRPr>
                        <a:solidFill>
                          <a:srgbClr val="222222"/>
                        </a:solidFill>
                        <a:latin typeface="Calibri"/>
                        <a:ea typeface="Calibri"/>
                        <a:cs typeface="Calibri"/>
                        <a:sym typeface="Calibri"/>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chemeClr val="accent1"/>
                    </a:solidFill>
                  </a:tcPr>
                </a:tc>
                <a:tc>
                  <a:txBody>
                    <a:bodyPr/>
                    <a:lstStyle/>
                    <a:p>
                      <a:pPr indent="0" lvl="0" marL="0" rtl="0" algn="ctr">
                        <a:lnSpc>
                          <a:spcPct val="115000"/>
                        </a:lnSpc>
                        <a:spcBef>
                          <a:spcPts val="0"/>
                        </a:spcBef>
                        <a:spcAft>
                          <a:spcPts val="0"/>
                        </a:spcAft>
                        <a:buNone/>
                      </a:pPr>
                      <a:r>
                        <a:rPr lang="en-US">
                          <a:solidFill>
                            <a:srgbClr val="1B7D3A"/>
                          </a:solidFill>
                          <a:latin typeface="Calibri"/>
                          <a:ea typeface="Calibri"/>
                          <a:cs typeface="Calibri"/>
                          <a:sym typeface="Calibri"/>
                        </a:rPr>
                        <a:t>Up 3.64%</a:t>
                      </a:r>
                      <a:endParaRPr>
                        <a:solidFill>
                          <a:srgbClr val="1B7D3A"/>
                        </a:solidFill>
                        <a:latin typeface="Calibri"/>
                        <a:ea typeface="Calibri"/>
                        <a:cs typeface="Calibri"/>
                        <a:sym typeface="Calibri"/>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chemeClr val="accent1"/>
                    </a:solidFill>
                  </a:tcPr>
                </a:tc>
              </a:tr>
              <a:tr h="476250">
                <a:tc>
                  <a:txBody>
                    <a:bodyPr/>
                    <a:lstStyle/>
                    <a:p>
                      <a:pPr indent="0" lvl="0" marL="0" rtl="0" algn="ctr">
                        <a:lnSpc>
                          <a:spcPct val="115000"/>
                        </a:lnSpc>
                        <a:spcBef>
                          <a:spcPts val="0"/>
                        </a:spcBef>
                        <a:spcAft>
                          <a:spcPts val="0"/>
                        </a:spcAft>
                        <a:buNone/>
                      </a:pPr>
                      <a:r>
                        <a:rPr b="1" lang="en-US">
                          <a:solidFill>
                            <a:srgbClr val="222222"/>
                          </a:solidFill>
                          <a:latin typeface="Calibri"/>
                          <a:ea typeface="Calibri"/>
                          <a:cs typeface="Calibri"/>
                          <a:sym typeface="Calibri"/>
                        </a:rPr>
                        <a:t>10-Year Yield</a:t>
                      </a:r>
                      <a:endParaRPr b="1">
                        <a:solidFill>
                          <a:srgbClr val="222222"/>
                        </a:solidFill>
                        <a:latin typeface="Calibri"/>
                        <a:ea typeface="Calibri"/>
                        <a:cs typeface="Calibri"/>
                        <a:sym typeface="Calibri"/>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chemeClr val="accent1"/>
                    </a:solidFill>
                  </a:tcPr>
                </a:tc>
                <a:tc>
                  <a:txBody>
                    <a:bodyPr/>
                    <a:lstStyle/>
                    <a:p>
                      <a:pPr indent="0" lvl="0" marL="0" rtl="0" algn="ctr">
                        <a:lnSpc>
                          <a:spcPct val="115000"/>
                        </a:lnSpc>
                        <a:spcBef>
                          <a:spcPts val="0"/>
                        </a:spcBef>
                        <a:spcAft>
                          <a:spcPts val="0"/>
                        </a:spcAft>
                        <a:buNone/>
                      </a:pPr>
                      <a:r>
                        <a:rPr lang="en-US">
                          <a:solidFill>
                            <a:srgbClr val="222222"/>
                          </a:solidFill>
                          <a:latin typeface="Calibri"/>
                          <a:ea typeface="Calibri"/>
                          <a:cs typeface="Calibri"/>
                          <a:sym typeface="Calibri"/>
                        </a:rPr>
                        <a:t>4.54%</a:t>
                      </a:r>
                      <a:endParaRPr>
                        <a:solidFill>
                          <a:srgbClr val="222222"/>
                        </a:solidFill>
                        <a:latin typeface="Calibri"/>
                        <a:ea typeface="Calibri"/>
                        <a:cs typeface="Calibri"/>
                        <a:sym typeface="Calibri"/>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chemeClr val="accent1"/>
                    </a:solidFill>
                  </a:tcPr>
                </a:tc>
                <a:tc>
                  <a:txBody>
                    <a:bodyPr/>
                    <a:lstStyle/>
                    <a:p>
                      <a:pPr indent="0" lvl="0" marL="0" rtl="0" algn="ctr">
                        <a:lnSpc>
                          <a:spcPct val="115000"/>
                        </a:lnSpc>
                        <a:spcBef>
                          <a:spcPts val="0"/>
                        </a:spcBef>
                        <a:spcAft>
                          <a:spcPts val="0"/>
                        </a:spcAft>
                        <a:buNone/>
                      </a:pPr>
                      <a:r>
                        <a:rPr lang="en-US">
                          <a:solidFill>
                            <a:srgbClr val="222222"/>
                          </a:solidFill>
                          <a:latin typeface="Calibri"/>
                          <a:ea typeface="Calibri"/>
                          <a:cs typeface="Calibri"/>
                          <a:sym typeface="Calibri"/>
                        </a:rPr>
                        <a:t>Up (+0.09 pts)</a:t>
                      </a:r>
                      <a:endParaRPr>
                        <a:solidFill>
                          <a:srgbClr val="222222"/>
                        </a:solidFill>
                        <a:latin typeface="Calibri"/>
                        <a:ea typeface="Calibri"/>
                        <a:cs typeface="Calibri"/>
                        <a:sym typeface="Calibri"/>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chemeClr val="accent1"/>
                    </a:solidFill>
                  </a:tcPr>
                </a:tc>
              </a:tr>
              <a:tr h="476250">
                <a:tc>
                  <a:txBody>
                    <a:bodyPr/>
                    <a:lstStyle/>
                    <a:p>
                      <a:pPr indent="0" lvl="0" marL="0" rtl="0" algn="ctr">
                        <a:lnSpc>
                          <a:spcPct val="115000"/>
                        </a:lnSpc>
                        <a:spcBef>
                          <a:spcPts val="0"/>
                        </a:spcBef>
                        <a:spcAft>
                          <a:spcPts val="0"/>
                        </a:spcAft>
                        <a:buNone/>
                      </a:pPr>
                      <a:r>
                        <a:rPr b="1" lang="en-US">
                          <a:solidFill>
                            <a:srgbClr val="222222"/>
                          </a:solidFill>
                          <a:latin typeface="Calibri"/>
                          <a:ea typeface="Calibri"/>
                          <a:cs typeface="Calibri"/>
                          <a:sym typeface="Calibri"/>
                        </a:rPr>
                        <a:t>TLT (Bonds)</a:t>
                      </a:r>
                      <a:endParaRPr b="1">
                        <a:solidFill>
                          <a:srgbClr val="222222"/>
                        </a:solidFill>
                        <a:latin typeface="Calibri"/>
                        <a:ea typeface="Calibri"/>
                        <a:cs typeface="Calibri"/>
                        <a:sym typeface="Calibri"/>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chemeClr val="accent1"/>
                    </a:solidFill>
                  </a:tcPr>
                </a:tc>
                <a:tc>
                  <a:txBody>
                    <a:bodyPr/>
                    <a:lstStyle/>
                    <a:p>
                      <a:pPr indent="0" lvl="0" marL="0" rtl="0" algn="ctr">
                        <a:lnSpc>
                          <a:spcPct val="115000"/>
                        </a:lnSpc>
                        <a:spcBef>
                          <a:spcPts val="0"/>
                        </a:spcBef>
                        <a:spcAft>
                          <a:spcPts val="0"/>
                        </a:spcAft>
                        <a:buNone/>
                      </a:pPr>
                      <a:r>
                        <a:rPr lang="en-US">
                          <a:solidFill>
                            <a:srgbClr val="222222"/>
                          </a:solidFill>
                          <a:latin typeface="Calibri"/>
                          <a:ea typeface="Calibri"/>
                          <a:cs typeface="Calibri"/>
                          <a:sym typeface="Calibri"/>
                        </a:rPr>
                        <a:t>$85.06</a:t>
                      </a:r>
                      <a:endParaRPr>
                        <a:solidFill>
                          <a:srgbClr val="222222"/>
                        </a:solidFill>
                        <a:latin typeface="Calibri"/>
                        <a:ea typeface="Calibri"/>
                        <a:cs typeface="Calibri"/>
                        <a:sym typeface="Calibri"/>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chemeClr val="accent1"/>
                    </a:solidFill>
                  </a:tcPr>
                </a:tc>
                <a:tc>
                  <a:txBody>
                    <a:bodyPr/>
                    <a:lstStyle/>
                    <a:p>
                      <a:pPr indent="0" lvl="0" marL="0" rtl="0" algn="ctr">
                        <a:lnSpc>
                          <a:spcPct val="115000"/>
                        </a:lnSpc>
                        <a:spcBef>
                          <a:spcPts val="0"/>
                        </a:spcBef>
                        <a:spcAft>
                          <a:spcPts val="0"/>
                        </a:spcAft>
                        <a:buNone/>
                      </a:pPr>
                      <a:r>
                        <a:rPr b="1" lang="en-US">
                          <a:solidFill>
                            <a:srgbClr val="C0392B"/>
                          </a:solidFill>
                          <a:latin typeface="Calibri"/>
                          <a:ea typeface="Calibri"/>
                          <a:cs typeface="Calibri"/>
                          <a:sym typeface="Calibri"/>
                        </a:rPr>
                        <a:t>Down 0.43%</a:t>
                      </a:r>
                      <a:endParaRPr b="1">
                        <a:solidFill>
                          <a:srgbClr val="C0392B"/>
                        </a:solidFill>
                        <a:latin typeface="Calibri"/>
                        <a:ea typeface="Calibri"/>
                        <a:cs typeface="Calibri"/>
                        <a:sym typeface="Calibri"/>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chemeClr val="accent1"/>
                    </a:solidFill>
                  </a:tcPr>
                </a:tc>
              </a:tr>
              <a:tr h="476250">
                <a:tc>
                  <a:txBody>
                    <a:bodyPr/>
                    <a:lstStyle/>
                    <a:p>
                      <a:pPr indent="0" lvl="0" marL="0" rtl="0" algn="ctr">
                        <a:lnSpc>
                          <a:spcPct val="115000"/>
                        </a:lnSpc>
                        <a:spcBef>
                          <a:spcPts val="0"/>
                        </a:spcBef>
                        <a:spcAft>
                          <a:spcPts val="0"/>
                        </a:spcAft>
                        <a:buNone/>
                      </a:pPr>
                      <a:r>
                        <a:rPr b="1" lang="en-US">
                          <a:solidFill>
                            <a:srgbClr val="222222"/>
                          </a:solidFill>
                          <a:latin typeface="Calibri"/>
                          <a:ea typeface="Calibri"/>
                          <a:cs typeface="Calibri"/>
                          <a:sym typeface="Calibri"/>
                        </a:rPr>
                        <a:t>VIX</a:t>
                      </a:r>
                      <a:endParaRPr b="1">
                        <a:solidFill>
                          <a:srgbClr val="222222"/>
                        </a:solidFill>
                        <a:latin typeface="Calibri"/>
                        <a:ea typeface="Calibri"/>
                        <a:cs typeface="Calibri"/>
                        <a:sym typeface="Calibri"/>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chemeClr val="accent1"/>
                    </a:solidFill>
                  </a:tcPr>
                </a:tc>
                <a:tc>
                  <a:txBody>
                    <a:bodyPr/>
                    <a:lstStyle/>
                    <a:p>
                      <a:pPr indent="0" lvl="0" marL="0" rtl="0" algn="ctr">
                        <a:lnSpc>
                          <a:spcPct val="115000"/>
                        </a:lnSpc>
                        <a:spcBef>
                          <a:spcPts val="0"/>
                        </a:spcBef>
                        <a:spcAft>
                          <a:spcPts val="0"/>
                        </a:spcAft>
                        <a:buNone/>
                      </a:pPr>
                      <a:r>
                        <a:rPr lang="en-US">
                          <a:solidFill>
                            <a:srgbClr val="222222"/>
                          </a:solidFill>
                          <a:latin typeface="Calibri"/>
                          <a:ea typeface="Calibri"/>
                          <a:cs typeface="Calibri"/>
                          <a:sym typeface="Calibri"/>
                        </a:rPr>
                        <a:t>21.51</a:t>
                      </a:r>
                      <a:endParaRPr>
                        <a:solidFill>
                          <a:srgbClr val="222222"/>
                        </a:solidFill>
                        <a:latin typeface="Calibri"/>
                        <a:ea typeface="Calibri"/>
                        <a:cs typeface="Calibri"/>
                        <a:sym typeface="Calibri"/>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chemeClr val="accent1"/>
                    </a:solidFill>
                  </a:tcPr>
                </a:tc>
                <a:tc>
                  <a:txBody>
                    <a:bodyPr/>
                    <a:lstStyle/>
                    <a:p>
                      <a:pPr indent="0" lvl="0" marL="0" rtl="0" algn="ctr">
                        <a:lnSpc>
                          <a:spcPct val="115000"/>
                        </a:lnSpc>
                        <a:spcBef>
                          <a:spcPts val="0"/>
                        </a:spcBef>
                        <a:spcAft>
                          <a:spcPts val="0"/>
                        </a:spcAft>
                        <a:buNone/>
                      </a:pPr>
                      <a:r>
                        <a:rPr lang="en-US">
                          <a:solidFill>
                            <a:srgbClr val="1B7D3A"/>
                          </a:solidFill>
                          <a:latin typeface="Calibri"/>
                          <a:ea typeface="Calibri"/>
                          <a:cs typeface="Calibri"/>
                          <a:sym typeface="Calibri"/>
                        </a:rPr>
                        <a:t>Up 40.40%</a:t>
                      </a:r>
                      <a:endParaRPr>
                        <a:solidFill>
                          <a:srgbClr val="1B7D3A"/>
                        </a:solidFill>
                        <a:latin typeface="Calibri"/>
                        <a:ea typeface="Calibri"/>
                        <a:cs typeface="Calibri"/>
                        <a:sym typeface="Calibri"/>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chemeClr val="accent1"/>
                    </a:solidFill>
                  </a:tcPr>
                </a:tc>
              </a:tr>
              <a:tr h="476250">
                <a:tc>
                  <a:txBody>
                    <a:bodyPr/>
                    <a:lstStyle/>
                    <a:p>
                      <a:pPr indent="0" lvl="0" marL="0" rtl="0" algn="ctr">
                        <a:lnSpc>
                          <a:spcPct val="115000"/>
                        </a:lnSpc>
                        <a:spcBef>
                          <a:spcPts val="0"/>
                        </a:spcBef>
                        <a:spcAft>
                          <a:spcPts val="0"/>
                        </a:spcAft>
                        <a:buNone/>
                      </a:pPr>
                      <a:r>
                        <a:rPr b="1" lang="en-US">
                          <a:solidFill>
                            <a:srgbClr val="222222"/>
                          </a:solidFill>
                          <a:latin typeface="Calibri"/>
                          <a:ea typeface="Calibri"/>
                          <a:cs typeface="Calibri"/>
                          <a:sym typeface="Calibri"/>
                        </a:rPr>
                        <a:t>Bitcoin</a:t>
                      </a:r>
                      <a:endParaRPr b="1">
                        <a:solidFill>
                          <a:srgbClr val="222222"/>
                        </a:solidFill>
                        <a:latin typeface="Calibri"/>
                        <a:ea typeface="Calibri"/>
                        <a:cs typeface="Calibri"/>
                        <a:sym typeface="Calibri"/>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chemeClr val="accent1"/>
                    </a:solidFill>
                  </a:tcPr>
                </a:tc>
                <a:tc>
                  <a:txBody>
                    <a:bodyPr/>
                    <a:lstStyle/>
                    <a:p>
                      <a:pPr indent="0" lvl="0" marL="0" rtl="0" algn="ctr">
                        <a:lnSpc>
                          <a:spcPct val="115000"/>
                        </a:lnSpc>
                        <a:spcBef>
                          <a:spcPts val="0"/>
                        </a:spcBef>
                        <a:spcAft>
                          <a:spcPts val="0"/>
                        </a:spcAft>
                        <a:buNone/>
                      </a:pPr>
                      <a:r>
                        <a:rPr lang="en-US">
                          <a:solidFill>
                            <a:srgbClr val="222222"/>
                          </a:solidFill>
                          <a:latin typeface="Calibri"/>
                          <a:ea typeface="Calibri"/>
                          <a:cs typeface="Calibri"/>
                          <a:sym typeface="Calibri"/>
                        </a:rPr>
                        <a:t>$60,500</a:t>
                      </a:r>
                      <a:endParaRPr>
                        <a:solidFill>
                          <a:srgbClr val="222222"/>
                        </a:solidFill>
                        <a:latin typeface="Calibri"/>
                        <a:ea typeface="Calibri"/>
                        <a:cs typeface="Calibri"/>
                        <a:sym typeface="Calibri"/>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chemeClr val="accent1"/>
                    </a:solidFill>
                  </a:tcPr>
                </a:tc>
                <a:tc>
                  <a:txBody>
                    <a:bodyPr/>
                    <a:lstStyle/>
                    <a:p>
                      <a:pPr indent="0" lvl="0" marL="0" rtl="0" algn="ctr">
                        <a:lnSpc>
                          <a:spcPct val="115000"/>
                        </a:lnSpc>
                        <a:spcBef>
                          <a:spcPts val="0"/>
                        </a:spcBef>
                        <a:spcAft>
                          <a:spcPts val="0"/>
                        </a:spcAft>
                        <a:buNone/>
                      </a:pPr>
                      <a:r>
                        <a:rPr b="1" lang="en-US">
                          <a:solidFill>
                            <a:srgbClr val="C0392B"/>
                          </a:solidFill>
                          <a:latin typeface="Calibri"/>
                          <a:ea typeface="Calibri"/>
                          <a:cs typeface="Calibri"/>
                          <a:sym typeface="Calibri"/>
                        </a:rPr>
                        <a:t>Down 17.54%</a:t>
                      </a:r>
                      <a:endParaRPr b="1">
                        <a:solidFill>
                          <a:srgbClr val="C0392B"/>
                        </a:solidFill>
                        <a:latin typeface="Calibri"/>
                        <a:ea typeface="Calibri"/>
                        <a:cs typeface="Calibri"/>
                        <a:sym typeface="Calibri"/>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chemeClr val="accent1"/>
                    </a:solidFill>
                  </a:tcPr>
                </a:tc>
              </a:tr>
            </a:tbl>
          </a:graphicData>
        </a:graphic>
      </p:graphicFrame>
      <p:sp>
        <p:nvSpPr>
          <p:cNvPr id="643" name="Google Shape;643;p44"/>
          <p:cNvSpPr/>
          <p:nvPr/>
        </p:nvSpPr>
        <p:spPr>
          <a:xfrm>
            <a:off x="1878000" y="2019200"/>
            <a:ext cx="2312400" cy="2787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sz="1100">
                <a:solidFill>
                  <a:schemeClr val="dk1"/>
                </a:solidFill>
              </a:rPr>
              <a:t>This is our Week 03 actuals for the three indexes we track every week.All three finished lower. The S&amp;P closed at 7,383 — down 2.6%. That ended its 9-week winning streak; first red week in ten.The Nasdaq was the worst — down 4.5%, close 28,957. Tech got hit hardest.The Russell 2000 — smaller companies — down 3%, close 281.</a:t>
            </a:r>
            <a:endParaRPr>
              <a:latin typeface="Calibri"/>
              <a:ea typeface="Calibri"/>
              <a:cs typeface="Calibri"/>
              <a:sym typeface="Calibri"/>
            </a:endParaRPr>
          </a:p>
        </p:txBody>
      </p:sp>
      <p:sp>
        <p:nvSpPr>
          <p:cNvPr id="644" name="Google Shape;644;p44"/>
          <p:cNvSpPr/>
          <p:nvPr/>
        </p:nvSpPr>
        <p:spPr>
          <a:xfrm>
            <a:off x="1750100" y="6306025"/>
            <a:ext cx="2821800" cy="2787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On the macro side — gold, oil, bonds, fear, and crypto.</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Fear spiked — the VIX jumped to 21.5, up 40% for the week. Traders got nervous fast.</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Bitcoin had a brutal week — down 17.5%, close around 60,500. One of its worst weeks in years.</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Gold fell almost 5% — down with a stronger dollar.</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Oil reversed — up 3.6% to 90.54 a barrel. Opposite of Week 2.</a:t>
            </a:r>
            <a:endParaRPr sz="12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200">
                <a:solidFill>
                  <a:schemeClr val="dk1"/>
                </a:solidFill>
                <a:latin typeface="Calibri"/>
                <a:ea typeface="Calibri"/>
                <a:cs typeface="Calibri"/>
                <a:sym typeface="Calibri"/>
              </a:rPr>
              <a:t>Yields ticked up to 4.54%. Bonds slightly down.</a:t>
            </a:r>
            <a:endParaRPr sz="1200">
              <a:solidFill>
                <a:schemeClr val="dk1"/>
              </a:solidFill>
              <a:latin typeface="Calibri"/>
              <a:ea typeface="Calibri"/>
              <a:cs typeface="Calibri"/>
              <a:sym typeface="Calibri"/>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E7DE"/>
        </a:solidFill>
      </p:bgPr>
    </p:bg>
    <p:spTree>
      <p:nvGrpSpPr>
        <p:cNvPr id="648" name="Shape 648"/>
        <p:cNvGrpSpPr/>
        <p:nvPr/>
      </p:nvGrpSpPr>
      <p:grpSpPr>
        <a:xfrm>
          <a:off x="0" y="0"/>
          <a:ext cx="0" cy="0"/>
          <a:chOff x="0" y="0"/>
          <a:chExt cx="0" cy="0"/>
        </a:xfrm>
      </p:grpSpPr>
      <p:sp>
        <p:nvSpPr>
          <p:cNvPr id="649" name="Google Shape;649;p45"/>
          <p:cNvSpPr/>
          <p:nvPr/>
        </p:nvSpPr>
        <p:spPr>
          <a:xfrm>
            <a:off x="1306825" y="344375"/>
            <a:ext cx="15973453" cy="9454245"/>
          </a:xfrm>
          <a:custGeom>
            <a:rect b="b" l="l" r="r" t="t"/>
            <a:pathLst>
              <a:path extrusionOk="0" h="3199406" w="3721247">
                <a:moveTo>
                  <a:pt x="3596786" y="3199405"/>
                </a:moveTo>
                <a:lnTo>
                  <a:pt x="124460" y="3199405"/>
                </a:lnTo>
                <a:cubicBezTo>
                  <a:pt x="55880" y="3199405"/>
                  <a:pt x="0" y="3143526"/>
                  <a:pt x="0" y="3074945"/>
                </a:cubicBezTo>
                <a:lnTo>
                  <a:pt x="0" y="124460"/>
                </a:lnTo>
                <a:cubicBezTo>
                  <a:pt x="0" y="55880"/>
                  <a:pt x="55880" y="0"/>
                  <a:pt x="124460" y="0"/>
                </a:cubicBezTo>
                <a:lnTo>
                  <a:pt x="3596786" y="0"/>
                </a:lnTo>
                <a:cubicBezTo>
                  <a:pt x="3665366" y="0"/>
                  <a:pt x="3721247" y="55880"/>
                  <a:pt x="3721247" y="124460"/>
                </a:cubicBezTo>
                <a:lnTo>
                  <a:pt x="3721247" y="3074946"/>
                </a:lnTo>
                <a:cubicBezTo>
                  <a:pt x="3721247" y="3143526"/>
                  <a:pt x="3665366" y="3199406"/>
                  <a:pt x="3596786" y="3199406"/>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800"/>
              </a:spcAft>
              <a:buNone/>
            </a:pPr>
            <a:r>
              <a:t/>
            </a:r>
            <a:endParaRPr>
              <a:solidFill>
                <a:srgbClr val="444444"/>
              </a:solidFill>
              <a:latin typeface="Calibri"/>
              <a:ea typeface="Calibri"/>
              <a:cs typeface="Calibri"/>
              <a:sym typeface="Calibri"/>
            </a:endParaRPr>
          </a:p>
        </p:txBody>
      </p:sp>
      <p:sp>
        <p:nvSpPr>
          <p:cNvPr id="650" name="Google Shape;650;p45"/>
          <p:cNvSpPr txBox="1"/>
          <p:nvPr/>
        </p:nvSpPr>
        <p:spPr>
          <a:xfrm>
            <a:off x="0" y="0"/>
            <a:ext cx="695100" cy="4617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lang="en-US" sz="3000">
                <a:solidFill>
                  <a:srgbClr val="191919"/>
                </a:solidFill>
              </a:rPr>
              <a:t>R8</a:t>
            </a:r>
            <a:endParaRPr sz="3000"/>
          </a:p>
        </p:txBody>
      </p:sp>
      <p:sp>
        <p:nvSpPr>
          <p:cNvPr id="651" name="Google Shape;651;p45"/>
          <p:cNvSpPr/>
          <p:nvPr/>
        </p:nvSpPr>
        <p:spPr>
          <a:xfrm>
            <a:off x="5872250" y="840900"/>
            <a:ext cx="5136000" cy="10230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US" sz="3400">
                <a:solidFill>
                  <a:srgbClr val="222222"/>
                </a:solidFill>
                <a:latin typeface="Calibri"/>
                <a:ea typeface="Calibri"/>
                <a:cs typeface="Calibri"/>
                <a:sym typeface="Calibri"/>
              </a:rPr>
              <a:t>Week 03 — Sector Analysis</a:t>
            </a:r>
            <a:endParaRPr b="1" sz="3400">
              <a:solidFill>
                <a:srgbClr val="222222"/>
              </a:solidFill>
              <a:latin typeface="Calibri"/>
              <a:ea typeface="Calibri"/>
              <a:cs typeface="Calibri"/>
              <a:sym typeface="Calibri"/>
            </a:endParaRPr>
          </a:p>
          <a:p>
            <a:pPr indent="0" lvl="0" marL="0" rtl="0" algn="l">
              <a:lnSpc>
                <a:spcPct val="115000"/>
              </a:lnSpc>
              <a:spcBef>
                <a:spcPts val="0"/>
              </a:spcBef>
              <a:spcAft>
                <a:spcPts val="0"/>
              </a:spcAft>
              <a:buNone/>
            </a:pPr>
            <a:r>
              <a:rPr lang="en-US" sz="1700">
                <a:solidFill>
                  <a:srgbClr val="444444"/>
                </a:solidFill>
                <a:latin typeface="Calibri"/>
                <a:ea typeface="Calibri"/>
                <a:cs typeface="Calibri"/>
                <a:sym typeface="Calibri"/>
              </a:rPr>
              <a:t>Complete flip from Week 2 · tech worst, defensives best</a:t>
            </a:r>
            <a:endParaRPr b="1" sz="3400">
              <a:solidFill>
                <a:srgbClr val="222222"/>
              </a:solidFill>
              <a:latin typeface="Calibri"/>
              <a:ea typeface="Calibri"/>
              <a:cs typeface="Calibri"/>
              <a:sym typeface="Calibri"/>
            </a:endParaRPr>
          </a:p>
        </p:txBody>
      </p:sp>
      <p:graphicFrame>
        <p:nvGraphicFramePr>
          <p:cNvPr id="652" name="Google Shape;652;p45"/>
          <p:cNvGraphicFramePr/>
          <p:nvPr/>
        </p:nvGraphicFramePr>
        <p:xfrm>
          <a:off x="3922400" y="2137300"/>
          <a:ext cx="3000000" cy="3000000"/>
        </p:xfrm>
        <a:graphic>
          <a:graphicData uri="http://schemas.openxmlformats.org/drawingml/2006/table">
            <a:tbl>
              <a:tblPr>
                <a:noFill/>
                <a:tableStyleId>{78D1B371-E452-4203-B19A-F9DB4F94D651}</a:tableStyleId>
              </a:tblPr>
              <a:tblGrid>
                <a:gridCol w="1706725"/>
                <a:gridCol w="2012400"/>
                <a:gridCol w="1783150"/>
              </a:tblGrid>
              <a:tr h="867225">
                <a:tc>
                  <a:txBody>
                    <a:bodyPr/>
                    <a:lstStyle/>
                    <a:p>
                      <a:pPr indent="0" lvl="0" marL="0" rtl="0" algn="ctr">
                        <a:lnSpc>
                          <a:spcPct val="115000"/>
                        </a:lnSpc>
                        <a:spcBef>
                          <a:spcPts val="0"/>
                        </a:spcBef>
                        <a:spcAft>
                          <a:spcPts val="0"/>
                        </a:spcAft>
                        <a:buNone/>
                      </a:pPr>
                      <a:r>
                        <a:rPr b="1" lang="en-US" sz="1500">
                          <a:solidFill>
                            <a:srgbClr val="FFFFFF"/>
                          </a:solidFill>
                          <a:latin typeface="Calibri"/>
                          <a:ea typeface="Calibri"/>
                          <a:cs typeface="Calibri"/>
                          <a:sym typeface="Calibri"/>
                        </a:rPr>
                        <a:t>Rank</a:t>
                      </a:r>
                      <a:endParaRPr b="1" sz="1500">
                        <a:solidFill>
                          <a:srgbClr val="FFFFFF"/>
                        </a:solidFill>
                        <a:latin typeface="Calibri"/>
                        <a:ea typeface="Calibri"/>
                        <a:cs typeface="Calibri"/>
                        <a:sym typeface="Calibri"/>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chemeClr val="accent1"/>
                    </a:solidFill>
                  </a:tcPr>
                </a:tc>
                <a:tc>
                  <a:txBody>
                    <a:bodyPr/>
                    <a:lstStyle/>
                    <a:p>
                      <a:pPr indent="0" lvl="0" marL="0" rtl="0" algn="ctr">
                        <a:lnSpc>
                          <a:spcPct val="115000"/>
                        </a:lnSpc>
                        <a:spcBef>
                          <a:spcPts val="0"/>
                        </a:spcBef>
                        <a:spcAft>
                          <a:spcPts val="0"/>
                        </a:spcAft>
                        <a:buNone/>
                      </a:pPr>
                      <a:r>
                        <a:rPr b="1" lang="en-US" sz="1500">
                          <a:solidFill>
                            <a:srgbClr val="FFFFFF"/>
                          </a:solidFill>
                          <a:latin typeface="Calibri"/>
                          <a:ea typeface="Calibri"/>
                          <a:cs typeface="Calibri"/>
                          <a:sym typeface="Calibri"/>
                        </a:rPr>
                        <a:t>Sector</a:t>
                      </a:r>
                      <a:endParaRPr b="1" sz="1500">
                        <a:solidFill>
                          <a:srgbClr val="FFFFFF"/>
                        </a:solidFill>
                        <a:latin typeface="Calibri"/>
                        <a:ea typeface="Calibri"/>
                        <a:cs typeface="Calibri"/>
                        <a:sym typeface="Calibri"/>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chemeClr val="accent1"/>
                    </a:solidFill>
                  </a:tcPr>
                </a:tc>
                <a:tc>
                  <a:txBody>
                    <a:bodyPr/>
                    <a:lstStyle/>
                    <a:p>
                      <a:pPr indent="0" lvl="0" marL="0" rtl="0" algn="ctr">
                        <a:lnSpc>
                          <a:spcPct val="115000"/>
                        </a:lnSpc>
                        <a:spcBef>
                          <a:spcPts val="0"/>
                        </a:spcBef>
                        <a:spcAft>
                          <a:spcPts val="0"/>
                        </a:spcAft>
                        <a:buNone/>
                      </a:pPr>
                      <a:r>
                        <a:rPr b="1" lang="en-US" sz="1500">
                          <a:solidFill>
                            <a:srgbClr val="FFFFFF"/>
                          </a:solidFill>
                          <a:latin typeface="Calibri"/>
                          <a:ea typeface="Calibri"/>
                          <a:cs typeface="Calibri"/>
                          <a:sym typeface="Calibri"/>
                        </a:rPr>
                        <a:t>Weekly Change</a:t>
                      </a:r>
                      <a:endParaRPr b="1" sz="1500">
                        <a:solidFill>
                          <a:srgbClr val="FFFFFF"/>
                        </a:solidFill>
                        <a:latin typeface="Calibri"/>
                        <a:ea typeface="Calibri"/>
                        <a:cs typeface="Calibri"/>
                        <a:sym typeface="Calibri"/>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chemeClr val="accent1"/>
                    </a:solidFill>
                  </a:tcPr>
                </a:tc>
              </a:tr>
              <a:tr h="521250">
                <a:tc>
                  <a:txBody>
                    <a:bodyPr/>
                    <a:lstStyle/>
                    <a:p>
                      <a:pPr indent="0" lvl="0" marL="0" rtl="0" algn="ctr">
                        <a:lnSpc>
                          <a:spcPct val="115000"/>
                        </a:lnSpc>
                        <a:spcBef>
                          <a:spcPts val="0"/>
                        </a:spcBef>
                        <a:spcAft>
                          <a:spcPts val="0"/>
                        </a:spcAft>
                        <a:buNone/>
                      </a:pPr>
                      <a:r>
                        <a:rPr lang="en-US">
                          <a:solidFill>
                            <a:srgbClr val="222222"/>
                          </a:solidFill>
                          <a:latin typeface="Calibri"/>
                          <a:ea typeface="Calibri"/>
                          <a:cs typeface="Calibri"/>
                          <a:sym typeface="Calibri"/>
                        </a:rPr>
                        <a:t>1</a:t>
                      </a:r>
                      <a:endParaRPr>
                        <a:solidFill>
                          <a:srgbClr val="222222"/>
                        </a:solidFill>
                        <a:latin typeface="Calibri"/>
                        <a:ea typeface="Calibri"/>
                        <a:cs typeface="Calibri"/>
                        <a:sym typeface="Calibri"/>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chemeClr val="accent1"/>
                    </a:solidFill>
                  </a:tcPr>
                </a:tc>
                <a:tc>
                  <a:txBody>
                    <a:bodyPr/>
                    <a:lstStyle/>
                    <a:p>
                      <a:pPr indent="0" lvl="0" marL="0" rtl="0" algn="ctr">
                        <a:lnSpc>
                          <a:spcPct val="115000"/>
                        </a:lnSpc>
                        <a:spcBef>
                          <a:spcPts val="0"/>
                        </a:spcBef>
                        <a:spcAft>
                          <a:spcPts val="0"/>
                        </a:spcAft>
                        <a:buNone/>
                      </a:pPr>
                      <a:r>
                        <a:rPr b="1" lang="en-US">
                          <a:solidFill>
                            <a:srgbClr val="222222"/>
                          </a:solidFill>
                          <a:latin typeface="Calibri"/>
                          <a:ea typeface="Calibri"/>
                          <a:cs typeface="Calibri"/>
                          <a:sym typeface="Calibri"/>
                        </a:rPr>
                        <a:t>Energy</a:t>
                      </a:r>
                      <a:endParaRPr b="1">
                        <a:solidFill>
                          <a:srgbClr val="222222"/>
                        </a:solidFill>
                        <a:latin typeface="Calibri"/>
                        <a:ea typeface="Calibri"/>
                        <a:cs typeface="Calibri"/>
                        <a:sym typeface="Calibri"/>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chemeClr val="accent1"/>
                    </a:solidFill>
                  </a:tcPr>
                </a:tc>
                <a:tc>
                  <a:txBody>
                    <a:bodyPr/>
                    <a:lstStyle/>
                    <a:p>
                      <a:pPr indent="0" lvl="0" marL="0" rtl="0" algn="ctr">
                        <a:lnSpc>
                          <a:spcPct val="115000"/>
                        </a:lnSpc>
                        <a:spcBef>
                          <a:spcPts val="0"/>
                        </a:spcBef>
                        <a:spcAft>
                          <a:spcPts val="0"/>
                        </a:spcAft>
                        <a:buNone/>
                      </a:pPr>
                      <a:r>
                        <a:rPr lang="en-US">
                          <a:solidFill>
                            <a:srgbClr val="1B7D3A"/>
                          </a:solidFill>
                          <a:latin typeface="Calibri"/>
                          <a:ea typeface="Calibri"/>
                          <a:cs typeface="Calibri"/>
                          <a:sym typeface="Calibri"/>
                        </a:rPr>
                        <a:t>Up 2.45%</a:t>
                      </a:r>
                      <a:endParaRPr>
                        <a:solidFill>
                          <a:srgbClr val="1B7D3A"/>
                        </a:solidFill>
                        <a:latin typeface="Calibri"/>
                        <a:ea typeface="Calibri"/>
                        <a:cs typeface="Calibri"/>
                        <a:sym typeface="Calibri"/>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chemeClr val="accent1"/>
                    </a:solidFill>
                  </a:tcPr>
                </a:tc>
              </a:tr>
              <a:tr h="521250">
                <a:tc>
                  <a:txBody>
                    <a:bodyPr/>
                    <a:lstStyle/>
                    <a:p>
                      <a:pPr indent="0" lvl="0" marL="0" rtl="0" algn="ctr">
                        <a:lnSpc>
                          <a:spcPct val="115000"/>
                        </a:lnSpc>
                        <a:spcBef>
                          <a:spcPts val="0"/>
                        </a:spcBef>
                        <a:spcAft>
                          <a:spcPts val="0"/>
                        </a:spcAft>
                        <a:buNone/>
                      </a:pPr>
                      <a:r>
                        <a:rPr lang="en-US">
                          <a:solidFill>
                            <a:srgbClr val="222222"/>
                          </a:solidFill>
                          <a:latin typeface="Calibri"/>
                          <a:ea typeface="Calibri"/>
                          <a:cs typeface="Calibri"/>
                          <a:sym typeface="Calibri"/>
                        </a:rPr>
                        <a:t>2</a:t>
                      </a:r>
                      <a:endParaRPr>
                        <a:solidFill>
                          <a:srgbClr val="222222"/>
                        </a:solidFill>
                        <a:latin typeface="Calibri"/>
                        <a:ea typeface="Calibri"/>
                        <a:cs typeface="Calibri"/>
                        <a:sym typeface="Calibri"/>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chemeClr val="accent1"/>
                    </a:solidFill>
                  </a:tcPr>
                </a:tc>
                <a:tc>
                  <a:txBody>
                    <a:bodyPr/>
                    <a:lstStyle/>
                    <a:p>
                      <a:pPr indent="0" lvl="0" marL="0" rtl="0" algn="ctr">
                        <a:lnSpc>
                          <a:spcPct val="115000"/>
                        </a:lnSpc>
                        <a:spcBef>
                          <a:spcPts val="0"/>
                        </a:spcBef>
                        <a:spcAft>
                          <a:spcPts val="0"/>
                        </a:spcAft>
                        <a:buNone/>
                      </a:pPr>
                      <a:r>
                        <a:rPr b="1" lang="en-US">
                          <a:solidFill>
                            <a:srgbClr val="222222"/>
                          </a:solidFill>
                          <a:latin typeface="Calibri"/>
                          <a:ea typeface="Calibri"/>
                          <a:cs typeface="Calibri"/>
                          <a:sym typeface="Calibri"/>
                        </a:rPr>
                        <a:t>Health care</a:t>
                      </a:r>
                      <a:endParaRPr b="1">
                        <a:solidFill>
                          <a:srgbClr val="222222"/>
                        </a:solidFill>
                        <a:latin typeface="Calibri"/>
                        <a:ea typeface="Calibri"/>
                        <a:cs typeface="Calibri"/>
                        <a:sym typeface="Calibri"/>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chemeClr val="accent1"/>
                    </a:solidFill>
                  </a:tcPr>
                </a:tc>
                <a:tc>
                  <a:txBody>
                    <a:bodyPr/>
                    <a:lstStyle/>
                    <a:p>
                      <a:pPr indent="0" lvl="0" marL="0" rtl="0" algn="ctr">
                        <a:lnSpc>
                          <a:spcPct val="115000"/>
                        </a:lnSpc>
                        <a:spcBef>
                          <a:spcPts val="0"/>
                        </a:spcBef>
                        <a:spcAft>
                          <a:spcPts val="0"/>
                        </a:spcAft>
                        <a:buNone/>
                      </a:pPr>
                      <a:r>
                        <a:rPr lang="en-US">
                          <a:solidFill>
                            <a:srgbClr val="1B7D3A"/>
                          </a:solidFill>
                          <a:latin typeface="Calibri"/>
                          <a:ea typeface="Calibri"/>
                          <a:cs typeface="Calibri"/>
                          <a:sym typeface="Calibri"/>
                        </a:rPr>
                        <a:t>Up 2.37%</a:t>
                      </a:r>
                      <a:endParaRPr>
                        <a:solidFill>
                          <a:srgbClr val="1B7D3A"/>
                        </a:solidFill>
                        <a:latin typeface="Calibri"/>
                        <a:ea typeface="Calibri"/>
                        <a:cs typeface="Calibri"/>
                        <a:sym typeface="Calibri"/>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chemeClr val="accent1"/>
                    </a:solidFill>
                  </a:tcPr>
                </a:tc>
              </a:tr>
              <a:tr h="521250">
                <a:tc>
                  <a:txBody>
                    <a:bodyPr/>
                    <a:lstStyle/>
                    <a:p>
                      <a:pPr indent="0" lvl="0" marL="0" rtl="0" algn="ctr">
                        <a:lnSpc>
                          <a:spcPct val="115000"/>
                        </a:lnSpc>
                        <a:spcBef>
                          <a:spcPts val="0"/>
                        </a:spcBef>
                        <a:spcAft>
                          <a:spcPts val="0"/>
                        </a:spcAft>
                        <a:buNone/>
                      </a:pPr>
                      <a:r>
                        <a:rPr lang="en-US">
                          <a:solidFill>
                            <a:srgbClr val="222222"/>
                          </a:solidFill>
                          <a:latin typeface="Calibri"/>
                          <a:ea typeface="Calibri"/>
                          <a:cs typeface="Calibri"/>
                          <a:sym typeface="Calibri"/>
                        </a:rPr>
                        <a:t>3</a:t>
                      </a:r>
                      <a:endParaRPr>
                        <a:solidFill>
                          <a:srgbClr val="222222"/>
                        </a:solidFill>
                        <a:latin typeface="Calibri"/>
                        <a:ea typeface="Calibri"/>
                        <a:cs typeface="Calibri"/>
                        <a:sym typeface="Calibri"/>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chemeClr val="accent1"/>
                    </a:solidFill>
                  </a:tcPr>
                </a:tc>
                <a:tc>
                  <a:txBody>
                    <a:bodyPr/>
                    <a:lstStyle/>
                    <a:p>
                      <a:pPr indent="0" lvl="0" marL="0" rtl="0" algn="ctr">
                        <a:lnSpc>
                          <a:spcPct val="115000"/>
                        </a:lnSpc>
                        <a:spcBef>
                          <a:spcPts val="0"/>
                        </a:spcBef>
                        <a:spcAft>
                          <a:spcPts val="0"/>
                        </a:spcAft>
                        <a:buNone/>
                      </a:pPr>
                      <a:r>
                        <a:rPr b="1" lang="en-US">
                          <a:solidFill>
                            <a:srgbClr val="222222"/>
                          </a:solidFill>
                          <a:latin typeface="Calibri"/>
                          <a:ea typeface="Calibri"/>
                          <a:cs typeface="Calibri"/>
                          <a:sym typeface="Calibri"/>
                        </a:rPr>
                        <a:t>Real estate</a:t>
                      </a:r>
                      <a:endParaRPr b="1">
                        <a:solidFill>
                          <a:srgbClr val="222222"/>
                        </a:solidFill>
                        <a:latin typeface="Calibri"/>
                        <a:ea typeface="Calibri"/>
                        <a:cs typeface="Calibri"/>
                        <a:sym typeface="Calibri"/>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chemeClr val="accent1"/>
                    </a:solidFill>
                  </a:tcPr>
                </a:tc>
                <a:tc>
                  <a:txBody>
                    <a:bodyPr/>
                    <a:lstStyle/>
                    <a:p>
                      <a:pPr indent="0" lvl="0" marL="0" rtl="0" algn="ctr">
                        <a:lnSpc>
                          <a:spcPct val="115000"/>
                        </a:lnSpc>
                        <a:spcBef>
                          <a:spcPts val="0"/>
                        </a:spcBef>
                        <a:spcAft>
                          <a:spcPts val="0"/>
                        </a:spcAft>
                        <a:buNone/>
                      </a:pPr>
                      <a:r>
                        <a:rPr lang="en-US">
                          <a:solidFill>
                            <a:srgbClr val="1B7D3A"/>
                          </a:solidFill>
                          <a:latin typeface="Calibri"/>
                          <a:ea typeface="Calibri"/>
                          <a:cs typeface="Calibri"/>
                          <a:sym typeface="Calibri"/>
                        </a:rPr>
                        <a:t>Up 1.61%</a:t>
                      </a:r>
                      <a:endParaRPr>
                        <a:solidFill>
                          <a:srgbClr val="1B7D3A"/>
                        </a:solidFill>
                        <a:latin typeface="Calibri"/>
                        <a:ea typeface="Calibri"/>
                        <a:cs typeface="Calibri"/>
                        <a:sym typeface="Calibri"/>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chemeClr val="accent1"/>
                    </a:solidFill>
                  </a:tcPr>
                </a:tc>
              </a:tr>
              <a:tr h="521250">
                <a:tc>
                  <a:txBody>
                    <a:bodyPr/>
                    <a:lstStyle/>
                    <a:p>
                      <a:pPr indent="0" lvl="0" marL="0" rtl="0" algn="ctr">
                        <a:lnSpc>
                          <a:spcPct val="115000"/>
                        </a:lnSpc>
                        <a:spcBef>
                          <a:spcPts val="0"/>
                        </a:spcBef>
                        <a:spcAft>
                          <a:spcPts val="0"/>
                        </a:spcAft>
                        <a:buNone/>
                      </a:pPr>
                      <a:r>
                        <a:rPr lang="en-US">
                          <a:solidFill>
                            <a:srgbClr val="222222"/>
                          </a:solidFill>
                          <a:latin typeface="Calibri"/>
                          <a:ea typeface="Calibri"/>
                          <a:cs typeface="Calibri"/>
                          <a:sym typeface="Calibri"/>
                        </a:rPr>
                        <a:t>4</a:t>
                      </a:r>
                      <a:endParaRPr>
                        <a:solidFill>
                          <a:srgbClr val="222222"/>
                        </a:solidFill>
                        <a:latin typeface="Calibri"/>
                        <a:ea typeface="Calibri"/>
                        <a:cs typeface="Calibri"/>
                        <a:sym typeface="Calibri"/>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chemeClr val="accent1"/>
                    </a:solidFill>
                  </a:tcPr>
                </a:tc>
                <a:tc>
                  <a:txBody>
                    <a:bodyPr/>
                    <a:lstStyle/>
                    <a:p>
                      <a:pPr indent="0" lvl="0" marL="0" rtl="0" algn="ctr">
                        <a:lnSpc>
                          <a:spcPct val="115000"/>
                        </a:lnSpc>
                        <a:spcBef>
                          <a:spcPts val="0"/>
                        </a:spcBef>
                        <a:spcAft>
                          <a:spcPts val="0"/>
                        </a:spcAft>
                        <a:buNone/>
                      </a:pPr>
                      <a:r>
                        <a:rPr b="1" lang="en-US">
                          <a:solidFill>
                            <a:srgbClr val="222222"/>
                          </a:solidFill>
                          <a:latin typeface="Calibri"/>
                          <a:ea typeface="Calibri"/>
                          <a:cs typeface="Calibri"/>
                          <a:sym typeface="Calibri"/>
                        </a:rPr>
                        <a:t>Financials</a:t>
                      </a:r>
                      <a:endParaRPr b="1">
                        <a:solidFill>
                          <a:srgbClr val="222222"/>
                        </a:solidFill>
                        <a:latin typeface="Calibri"/>
                        <a:ea typeface="Calibri"/>
                        <a:cs typeface="Calibri"/>
                        <a:sym typeface="Calibri"/>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chemeClr val="accent1"/>
                    </a:solidFill>
                  </a:tcPr>
                </a:tc>
                <a:tc>
                  <a:txBody>
                    <a:bodyPr/>
                    <a:lstStyle/>
                    <a:p>
                      <a:pPr indent="0" lvl="0" marL="0" rtl="0" algn="ctr">
                        <a:lnSpc>
                          <a:spcPct val="115000"/>
                        </a:lnSpc>
                        <a:spcBef>
                          <a:spcPts val="0"/>
                        </a:spcBef>
                        <a:spcAft>
                          <a:spcPts val="0"/>
                        </a:spcAft>
                        <a:buNone/>
                      </a:pPr>
                      <a:r>
                        <a:rPr lang="en-US">
                          <a:solidFill>
                            <a:srgbClr val="1B7D3A"/>
                          </a:solidFill>
                          <a:latin typeface="Calibri"/>
                          <a:ea typeface="Calibri"/>
                          <a:cs typeface="Calibri"/>
                          <a:sym typeface="Calibri"/>
                        </a:rPr>
                        <a:t>Up 1.40%</a:t>
                      </a:r>
                      <a:endParaRPr>
                        <a:solidFill>
                          <a:srgbClr val="1B7D3A"/>
                        </a:solidFill>
                        <a:latin typeface="Calibri"/>
                        <a:ea typeface="Calibri"/>
                        <a:cs typeface="Calibri"/>
                        <a:sym typeface="Calibri"/>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chemeClr val="accent1"/>
                    </a:solidFill>
                  </a:tcPr>
                </a:tc>
              </a:tr>
              <a:tr h="521250">
                <a:tc>
                  <a:txBody>
                    <a:bodyPr/>
                    <a:lstStyle/>
                    <a:p>
                      <a:pPr indent="0" lvl="0" marL="0" rtl="0" algn="ctr">
                        <a:lnSpc>
                          <a:spcPct val="115000"/>
                        </a:lnSpc>
                        <a:spcBef>
                          <a:spcPts val="0"/>
                        </a:spcBef>
                        <a:spcAft>
                          <a:spcPts val="0"/>
                        </a:spcAft>
                        <a:buNone/>
                      </a:pPr>
                      <a:r>
                        <a:rPr lang="en-US">
                          <a:solidFill>
                            <a:srgbClr val="222222"/>
                          </a:solidFill>
                          <a:latin typeface="Calibri"/>
                          <a:ea typeface="Calibri"/>
                          <a:cs typeface="Calibri"/>
                          <a:sym typeface="Calibri"/>
                        </a:rPr>
                        <a:t>5</a:t>
                      </a:r>
                      <a:endParaRPr>
                        <a:solidFill>
                          <a:srgbClr val="222222"/>
                        </a:solidFill>
                        <a:latin typeface="Calibri"/>
                        <a:ea typeface="Calibri"/>
                        <a:cs typeface="Calibri"/>
                        <a:sym typeface="Calibri"/>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chemeClr val="accent1"/>
                    </a:solidFill>
                  </a:tcPr>
                </a:tc>
                <a:tc>
                  <a:txBody>
                    <a:bodyPr/>
                    <a:lstStyle/>
                    <a:p>
                      <a:pPr indent="0" lvl="0" marL="0" rtl="0" algn="ctr">
                        <a:lnSpc>
                          <a:spcPct val="115000"/>
                        </a:lnSpc>
                        <a:spcBef>
                          <a:spcPts val="0"/>
                        </a:spcBef>
                        <a:spcAft>
                          <a:spcPts val="0"/>
                        </a:spcAft>
                        <a:buNone/>
                      </a:pPr>
                      <a:r>
                        <a:rPr b="1" lang="en-US">
                          <a:solidFill>
                            <a:srgbClr val="222222"/>
                          </a:solidFill>
                          <a:latin typeface="Calibri"/>
                          <a:ea typeface="Calibri"/>
                          <a:cs typeface="Calibri"/>
                          <a:sym typeface="Calibri"/>
                        </a:rPr>
                        <a:t>Consumer staples</a:t>
                      </a:r>
                      <a:endParaRPr b="1">
                        <a:solidFill>
                          <a:srgbClr val="222222"/>
                        </a:solidFill>
                        <a:latin typeface="Calibri"/>
                        <a:ea typeface="Calibri"/>
                        <a:cs typeface="Calibri"/>
                        <a:sym typeface="Calibri"/>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chemeClr val="accent1"/>
                    </a:solidFill>
                  </a:tcPr>
                </a:tc>
                <a:tc>
                  <a:txBody>
                    <a:bodyPr/>
                    <a:lstStyle/>
                    <a:p>
                      <a:pPr indent="0" lvl="0" marL="0" rtl="0" algn="ctr">
                        <a:lnSpc>
                          <a:spcPct val="115000"/>
                        </a:lnSpc>
                        <a:spcBef>
                          <a:spcPts val="0"/>
                        </a:spcBef>
                        <a:spcAft>
                          <a:spcPts val="0"/>
                        </a:spcAft>
                        <a:buNone/>
                      </a:pPr>
                      <a:r>
                        <a:rPr lang="en-US">
                          <a:solidFill>
                            <a:srgbClr val="1B7D3A"/>
                          </a:solidFill>
                          <a:latin typeface="Calibri"/>
                          <a:ea typeface="Calibri"/>
                          <a:cs typeface="Calibri"/>
                          <a:sym typeface="Calibri"/>
                        </a:rPr>
                        <a:t>Up 0.64%</a:t>
                      </a:r>
                      <a:endParaRPr sz="1500">
                        <a:solidFill>
                          <a:srgbClr val="1B7D3A"/>
                        </a:solidFill>
                        <a:latin typeface="Calibri"/>
                        <a:ea typeface="Calibri"/>
                        <a:cs typeface="Calibri"/>
                        <a:sym typeface="Calibri"/>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chemeClr val="accent1"/>
                    </a:solidFill>
                  </a:tcPr>
                </a:tc>
              </a:tr>
              <a:tr h="521250">
                <a:tc>
                  <a:txBody>
                    <a:bodyPr/>
                    <a:lstStyle/>
                    <a:p>
                      <a:pPr indent="0" lvl="0" marL="0" rtl="0" algn="ctr">
                        <a:lnSpc>
                          <a:spcPct val="115000"/>
                        </a:lnSpc>
                        <a:spcBef>
                          <a:spcPts val="0"/>
                        </a:spcBef>
                        <a:spcAft>
                          <a:spcPts val="0"/>
                        </a:spcAft>
                        <a:buNone/>
                      </a:pPr>
                      <a:r>
                        <a:rPr lang="en-US">
                          <a:solidFill>
                            <a:srgbClr val="222222"/>
                          </a:solidFill>
                          <a:latin typeface="Calibri"/>
                          <a:ea typeface="Calibri"/>
                          <a:cs typeface="Calibri"/>
                          <a:sym typeface="Calibri"/>
                        </a:rPr>
                        <a:t>6</a:t>
                      </a:r>
                      <a:endParaRPr>
                        <a:solidFill>
                          <a:srgbClr val="222222"/>
                        </a:solidFill>
                        <a:latin typeface="Calibri"/>
                        <a:ea typeface="Calibri"/>
                        <a:cs typeface="Calibri"/>
                        <a:sym typeface="Calibri"/>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chemeClr val="accent1"/>
                    </a:solidFill>
                  </a:tcPr>
                </a:tc>
                <a:tc>
                  <a:txBody>
                    <a:bodyPr/>
                    <a:lstStyle/>
                    <a:p>
                      <a:pPr indent="0" lvl="0" marL="0" rtl="0" algn="ctr">
                        <a:lnSpc>
                          <a:spcPct val="115000"/>
                        </a:lnSpc>
                        <a:spcBef>
                          <a:spcPts val="0"/>
                        </a:spcBef>
                        <a:spcAft>
                          <a:spcPts val="0"/>
                        </a:spcAft>
                        <a:buNone/>
                      </a:pPr>
                      <a:r>
                        <a:rPr b="1" lang="en-US">
                          <a:solidFill>
                            <a:srgbClr val="222222"/>
                          </a:solidFill>
                          <a:latin typeface="Calibri"/>
                          <a:ea typeface="Calibri"/>
                          <a:cs typeface="Calibri"/>
                          <a:sym typeface="Calibri"/>
                        </a:rPr>
                        <a:t>Industrials</a:t>
                      </a:r>
                      <a:endParaRPr b="1">
                        <a:solidFill>
                          <a:srgbClr val="222222"/>
                        </a:solidFill>
                        <a:latin typeface="Calibri"/>
                        <a:ea typeface="Calibri"/>
                        <a:cs typeface="Calibri"/>
                        <a:sym typeface="Calibri"/>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chemeClr val="accent1"/>
                    </a:solidFill>
                  </a:tcPr>
                </a:tc>
                <a:tc>
                  <a:txBody>
                    <a:bodyPr/>
                    <a:lstStyle/>
                    <a:p>
                      <a:pPr indent="0" lvl="0" marL="0" rtl="0" algn="ctr">
                        <a:lnSpc>
                          <a:spcPct val="115000"/>
                        </a:lnSpc>
                        <a:spcBef>
                          <a:spcPts val="0"/>
                        </a:spcBef>
                        <a:spcAft>
                          <a:spcPts val="0"/>
                        </a:spcAft>
                        <a:buNone/>
                      </a:pPr>
                      <a:r>
                        <a:rPr lang="en-US">
                          <a:solidFill>
                            <a:srgbClr val="1B7D3A"/>
                          </a:solidFill>
                          <a:latin typeface="Calibri"/>
                          <a:ea typeface="Calibri"/>
                          <a:cs typeface="Calibri"/>
                          <a:sym typeface="Calibri"/>
                        </a:rPr>
                        <a:t>Up 0.61%</a:t>
                      </a:r>
                      <a:endParaRPr>
                        <a:solidFill>
                          <a:srgbClr val="1B7D3A"/>
                        </a:solidFill>
                        <a:latin typeface="Calibri"/>
                        <a:ea typeface="Calibri"/>
                        <a:cs typeface="Calibri"/>
                        <a:sym typeface="Calibri"/>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chemeClr val="accent1"/>
                    </a:solidFill>
                  </a:tcPr>
                </a:tc>
              </a:tr>
              <a:tr h="521250">
                <a:tc>
                  <a:txBody>
                    <a:bodyPr/>
                    <a:lstStyle/>
                    <a:p>
                      <a:pPr indent="0" lvl="0" marL="0" rtl="0" algn="ctr">
                        <a:lnSpc>
                          <a:spcPct val="115000"/>
                        </a:lnSpc>
                        <a:spcBef>
                          <a:spcPts val="0"/>
                        </a:spcBef>
                        <a:spcAft>
                          <a:spcPts val="0"/>
                        </a:spcAft>
                        <a:buNone/>
                      </a:pPr>
                      <a:r>
                        <a:rPr lang="en-US">
                          <a:solidFill>
                            <a:srgbClr val="222222"/>
                          </a:solidFill>
                          <a:latin typeface="Calibri"/>
                          <a:ea typeface="Calibri"/>
                          <a:cs typeface="Calibri"/>
                          <a:sym typeface="Calibri"/>
                        </a:rPr>
                        <a:t>7</a:t>
                      </a:r>
                      <a:endParaRPr>
                        <a:solidFill>
                          <a:srgbClr val="222222"/>
                        </a:solidFill>
                        <a:latin typeface="Calibri"/>
                        <a:ea typeface="Calibri"/>
                        <a:cs typeface="Calibri"/>
                        <a:sym typeface="Calibri"/>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chemeClr val="accent1"/>
                    </a:solidFill>
                  </a:tcPr>
                </a:tc>
                <a:tc>
                  <a:txBody>
                    <a:bodyPr/>
                    <a:lstStyle/>
                    <a:p>
                      <a:pPr indent="0" lvl="0" marL="0" rtl="0" algn="ctr">
                        <a:lnSpc>
                          <a:spcPct val="115000"/>
                        </a:lnSpc>
                        <a:spcBef>
                          <a:spcPts val="0"/>
                        </a:spcBef>
                        <a:spcAft>
                          <a:spcPts val="0"/>
                        </a:spcAft>
                        <a:buNone/>
                      </a:pPr>
                      <a:r>
                        <a:rPr b="1" lang="en-US">
                          <a:solidFill>
                            <a:srgbClr val="222222"/>
                          </a:solidFill>
                          <a:latin typeface="Calibri"/>
                          <a:ea typeface="Calibri"/>
                          <a:cs typeface="Calibri"/>
                          <a:sym typeface="Calibri"/>
                        </a:rPr>
                        <a:t>Utilities</a:t>
                      </a:r>
                      <a:endParaRPr b="1">
                        <a:solidFill>
                          <a:srgbClr val="222222"/>
                        </a:solidFill>
                        <a:latin typeface="Calibri"/>
                        <a:ea typeface="Calibri"/>
                        <a:cs typeface="Calibri"/>
                        <a:sym typeface="Calibri"/>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chemeClr val="accent1"/>
                    </a:solidFill>
                  </a:tcPr>
                </a:tc>
                <a:tc>
                  <a:txBody>
                    <a:bodyPr/>
                    <a:lstStyle/>
                    <a:p>
                      <a:pPr indent="0" lvl="0" marL="0" rtl="0" algn="ctr">
                        <a:lnSpc>
                          <a:spcPct val="115000"/>
                        </a:lnSpc>
                        <a:spcBef>
                          <a:spcPts val="0"/>
                        </a:spcBef>
                        <a:spcAft>
                          <a:spcPts val="0"/>
                        </a:spcAft>
                        <a:buNone/>
                      </a:pPr>
                      <a:r>
                        <a:rPr lang="en-US">
                          <a:solidFill>
                            <a:srgbClr val="C0392B"/>
                          </a:solidFill>
                          <a:latin typeface="Calibri"/>
                          <a:ea typeface="Calibri"/>
                          <a:cs typeface="Calibri"/>
                          <a:sym typeface="Calibri"/>
                        </a:rPr>
                        <a:t>Down 0.16%</a:t>
                      </a:r>
                      <a:endParaRPr>
                        <a:solidFill>
                          <a:srgbClr val="C0392B"/>
                        </a:solidFill>
                        <a:latin typeface="Calibri"/>
                        <a:ea typeface="Calibri"/>
                        <a:cs typeface="Calibri"/>
                        <a:sym typeface="Calibri"/>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chemeClr val="accent1"/>
                    </a:solidFill>
                  </a:tcPr>
                </a:tc>
              </a:tr>
              <a:tr h="521250">
                <a:tc>
                  <a:txBody>
                    <a:bodyPr/>
                    <a:lstStyle/>
                    <a:p>
                      <a:pPr indent="0" lvl="0" marL="0" rtl="0" algn="ctr">
                        <a:lnSpc>
                          <a:spcPct val="115000"/>
                        </a:lnSpc>
                        <a:spcBef>
                          <a:spcPts val="0"/>
                        </a:spcBef>
                        <a:spcAft>
                          <a:spcPts val="0"/>
                        </a:spcAft>
                        <a:buNone/>
                      </a:pPr>
                      <a:r>
                        <a:rPr lang="en-US">
                          <a:solidFill>
                            <a:srgbClr val="222222"/>
                          </a:solidFill>
                          <a:latin typeface="Calibri"/>
                          <a:ea typeface="Calibri"/>
                          <a:cs typeface="Calibri"/>
                          <a:sym typeface="Calibri"/>
                        </a:rPr>
                        <a:t>8</a:t>
                      </a:r>
                      <a:endParaRPr>
                        <a:solidFill>
                          <a:srgbClr val="222222"/>
                        </a:solidFill>
                        <a:latin typeface="Calibri"/>
                        <a:ea typeface="Calibri"/>
                        <a:cs typeface="Calibri"/>
                        <a:sym typeface="Calibri"/>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chemeClr val="accent1"/>
                    </a:solidFill>
                  </a:tcPr>
                </a:tc>
                <a:tc>
                  <a:txBody>
                    <a:bodyPr/>
                    <a:lstStyle/>
                    <a:p>
                      <a:pPr indent="0" lvl="0" marL="0" rtl="0" algn="ctr">
                        <a:lnSpc>
                          <a:spcPct val="115000"/>
                        </a:lnSpc>
                        <a:spcBef>
                          <a:spcPts val="0"/>
                        </a:spcBef>
                        <a:spcAft>
                          <a:spcPts val="0"/>
                        </a:spcAft>
                        <a:buNone/>
                      </a:pPr>
                      <a:r>
                        <a:rPr b="1" lang="en-US">
                          <a:solidFill>
                            <a:srgbClr val="222222"/>
                          </a:solidFill>
                          <a:latin typeface="Calibri"/>
                          <a:ea typeface="Calibri"/>
                          <a:cs typeface="Calibri"/>
                          <a:sym typeface="Calibri"/>
                        </a:rPr>
                        <a:t>Materials</a:t>
                      </a:r>
                      <a:endParaRPr b="1">
                        <a:solidFill>
                          <a:srgbClr val="222222"/>
                        </a:solidFill>
                        <a:latin typeface="Calibri"/>
                        <a:ea typeface="Calibri"/>
                        <a:cs typeface="Calibri"/>
                        <a:sym typeface="Calibri"/>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chemeClr val="accent1"/>
                    </a:solidFill>
                  </a:tcPr>
                </a:tc>
                <a:tc>
                  <a:txBody>
                    <a:bodyPr/>
                    <a:lstStyle/>
                    <a:p>
                      <a:pPr indent="0" lvl="0" marL="0" rtl="0" algn="ctr">
                        <a:lnSpc>
                          <a:spcPct val="115000"/>
                        </a:lnSpc>
                        <a:spcBef>
                          <a:spcPts val="0"/>
                        </a:spcBef>
                        <a:spcAft>
                          <a:spcPts val="0"/>
                        </a:spcAft>
                        <a:buNone/>
                      </a:pPr>
                      <a:r>
                        <a:rPr lang="en-US">
                          <a:solidFill>
                            <a:srgbClr val="C0392B"/>
                          </a:solidFill>
                          <a:latin typeface="Calibri"/>
                          <a:ea typeface="Calibri"/>
                          <a:cs typeface="Calibri"/>
                          <a:sym typeface="Calibri"/>
                        </a:rPr>
                        <a:t>Down 1.02%</a:t>
                      </a:r>
                      <a:endParaRPr>
                        <a:solidFill>
                          <a:srgbClr val="C0392B"/>
                        </a:solidFill>
                        <a:latin typeface="Calibri"/>
                        <a:ea typeface="Calibri"/>
                        <a:cs typeface="Calibri"/>
                        <a:sym typeface="Calibri"/>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chemeClr val="accent1"/>
                    </a:solidFill>
                  </a:tcPr>
                </a:tc>
              </a:tr>
              <a:tr h="521250">
                <a:tc>
                  <a:txBody>
                    <a:bodyPr/>
                    <a:lstStyle/>
                    <a:p>
                      <a:pPr indent="0" lvl="0" marL="0" rtl="0" algn="ctr">
                        <a:lnSpc>
                          <a:spcPct val="115000"/>
                        </a:lnSpc>
                        <a:spcBef>
                          <a:spcPts val="0"/>
                        </a:spcBef>
                        <a:spcAft>
                          <a:spcPts val="0"/>
                        </a:spcAft>
                        <a:buNone/>
                      </a:pPr>
                      <a:r>
                        <a:rPr lang="en-US">
                          <a:solidFill>
                            <a:srgbClr val="222222"/>
                          </a:solidFill>
                          <a:latin typeface="Calibri"/>
                          <a:ea typeface="Calibri"/>
                          <a:cs typeface="Calibri"/>
                          <a:sym typeface="Calibri"/>
                        </a:rPr>
                        <a:t>9</a:t>
                      </a:r>
                      <a:endParaRPr>
                        <a:solidFill>
                          <a:srgbClr val="222222"/>
                        </a:solidFill>
                        <a:latin typeface="Calibri"/>
                        <a:ea typeface="Calibri"/>
                        <a:cs typeface="Calibri"/>
                        <a:sym typeface="Calibri"/>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chemeClr val="accent1"/>
                    </a:solidFill>
                  </a:tcPr>
                </a:tc>
                <a:tc>
                  <a:txBody>
                    <a:bodyPr/>
                    <a:lstStyle/>
                    <a:p>
                      <a:pPr indent="0" lvl="0" marL="0" rtl="0" algn="ctr">
                        <a:lnSpc>
                          <a:spcPct val="115000"/>
                        </a:lnSpc>
                        <a:spcBef>
                          <a:spcPts val="0"/>
                        </a:spcBef>
                        <a:spcAft>
                          <a:spcPts val="0"/>
                        </a:spcAft>
                        <a:buNone/>
                      </a:pPr>
                      <a:r>
                        <a:rPr b="1" lang="en-US">
                          <a:solidFill>
                            <a:srgbClr val="222222"/>
                          </a:solidFill>
                          <a:latin typeface="Calibri"/>
                          <a:ea typeface="Calibri"/>
                          <a:cs typeface="Calibri"/>
                          <a:sym typeface="Calibri"/>
                        </a:rPr>
                        <a:t>Communication</a:t>
                      </a:r>
                      <a:endParaRPr b="1">
                        <a:solidFill>
                          <a:srgbClr val="222222"/>
                        </a:solidFill>
                        <a:latin typeface="Calibri"/>
                        <a:ea typeface="Calibri"/>
                        <a:cs typeface="Calibri"/>
                        <a:sym typeface="Calibri"/>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chemeClr val="accent1"/>
                    </a:solidFill>
                  </a:tcPr>
                </a:tc>
                <a:tc>
                  <a:txBody>
                    <a:bodyPr/>
                    <a:lstStyle/>
                    <a:p>
                      <a:pPr indent="0" lvl="0" marL="0" rtl="0" algn="ctr">
                        <a:lnSpc>
                          <a:spcPct val="115000"/>
                        </a:lnSpc>
                        <a:spcBef>
                          <a:spcPts val="0"/>
                        </a:spcBef>
                        <a:spcAft>
                          <a:spcPts val="0"/>
                        </a:spcAft>
                        <a:buNone/>
                      </a:pPr>
                      <a:r>
                        <a:rPr lang="en-US">
                          <a:solidFill>
                            <a:srgbClr val="C0392B"/>
                          </a:solidFill>
                          <a:latin typeface="Calibri"/>
                          <a:ea typeface="Calibri"/>
                          <a:cs typeface="Calibri"/>
                          <a:sym typeface="Calibri"/>
                        </a:rPr>
                        <a:t>Down 3.47%</a:t>
                      </a:r>
                      <a:endParaRPr>
                        <a:solidFill>
                          <a:srgbClr val="C0392B"/>
                        </a:solidFill>
                        <a:latin typeface="Calibri"/>
                        <a:ea typeface="Calibri"/>
                        <a:cs typeface="Calibri"/>
                        <a:sym typeface="Calibri"/>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chemeClr val="accent1"/>
                    </a:solidFill>
                  </a:tcPr>
                </a:tc>
              </a:tr>
              <a:tr h="521250">
                <a:tc>
                  <a:txBody>
                    <a:bodyPr/>
                    <a:lstStyle/>
                    <a:p>
                      <a:pPr indent="0" lvl="0" marL="0" rtl="0" algn="ctr">
                        <a:lnSpc>
                          <a:spcPct val="115000"/>
                        </a:lnSpc>
                        <a:spcBef>
                          <a:spcPts val="0"/>
                        </a:spcBef>
                        <a:spcAft>
                          <a:spcPts val="0"/>
                        </a:spcAft>
                        <a:buNone/>
                      </a:pPr>
                      <a:r>
                        <a:rPr lang="en-US">
                          <a:solidFill>
                            <a:srgbClr val="222222"/>
                          </a:solidFill>
                          <a:latin typeface="Calibri"/>
                          <a:ea typeface="Calibri"/>
                          <a:cs typeface="Calibri"/>
                          <a:sym typeface="Calibri"/>
                        </a:rPr>
                        <a:t>10</a:t>
                      </a:r>
                      <a:endParaRPr>
                        <a:solidFill>
                          <a:srgbClr val="222222"/>
                        </a:solidFill>
                        <a:latin typeface="Calibri"/>
                        <a:ea typeface="Calibri"/>
                        <a:cs typeface="Calibri"/>
                        <a:sym typeface="Calibri"/>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chemeClr val="accent1"/>
                    </a:solidFill>
                  </a:tcPr>
                </a:tc>
                <a:tc>
                  <a:txBody>
                    <a:bodyPr/>
                    <a:lstStyle/>
                    <a:p>
                      <a:pPr indent="0" lvl="0" marL="0" rtl="0" algn="ctr">
                        <a:lnSpc>
                          <a:spcPct val="115000"/>
                        </a:lnSpc>
                        <a:spcBef>
                          <a:spcPts val="0"/>
                        </a:spcBef>
                        <a:spcAft>
                          <a:spcPts val="0"/>
                        </a:spcAft>
                        <a:buNone/>
                      </a:pPr>
                      <a:r>
                        <a:rPr b="1" lang="en-US">
                          <a:solidFill>
                            <a:srgbClr val="222222"/>
                          </a:solidFill>
                          <a:latin typeface="Calibri"/>
                          <a:ea typeface="Calibri"/>
                          <a:cs typeface="Calibri"/>
                          <a:sym typeface="Calibri"/>
                        </a:rPr>
                        <a:t>Consumer disc.</a:t>
                      </a:r>
                      <a:endParaRPr b="1">
                        <a:solidFill>
                          <a:srgbClr val="222222"/>
                        </a:solidFill>
                        <a:latin typeface="Calibri"/>
                        <a:ea typeface="Calibri"/>
                        <a:cs typeface="Calibri"/>
                        <a:sym typeface="Calibri"/>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chemeClr val="accent1"/>
                    </a:solidFill>
                  </a:tcPr>
                </a:tc>
                <a:tc>
                  <a:txBody>
                    <a:bodyPr/>
                    <a:lstStyle/>
                    <a:p>
                      <a:pPr indent="0" lvl="0" marL="0" rtl="0" algn="ctr">
                        <a:lnSpc>
                          <a:spcPct val="115000"/>
                        </a:lnSpc>
                        <a:spcBef>
                          <a:spcPts val="0"/>
                        </a:spcBef>
                        <a:spcAft>
                          <a:spcPts val="0"/>
                        </a:spcAft>
                        <a:buNone/>
                      </a:pPr>
                      <a:r>
                        <a:rPr lang="en-US">
                          <a:solidFill>
                            <a:srgbClr val="C0392B"/>
                          </a:solidFill>
                          <a:latin typeface="Calibri"/>
                          <a:ea typeface="Calibri"/>
                          <a:cs typeface="Calibri"/>
                          <a:sym typeface="Calibri"/>
                        </a:rPr>
                        <a:t>Down 4.97%</a:t>
                      </a:r>
                      <a:endParaRPr>
                        <a:solidFill>
                          <a:srgbClr val="C0392B"/>
                        </a:solidFill>
                        <a:latin typeface="Calibri"/>
                        <a:ea typeface="Calibri"/>
                        <a:cs typeface="Calibri"/>
                        <a:sym typeface="Calibri"/>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chemeClr val="accent1"/>
                    </a:solidFill>
                  </a:tcPr>
                </a:tc>
              </a:tr>
              <a:tr h="521250">
                <a:tc>
                  <a:txBody>
                    <a:bodyPr/>
                    <a:lstStyle/>
                    <a:p>
                      <a:pPr indent="0" lvl="0" marL="0" rtl="0" algn="ctr">
                        <a:lnSpc>
                          <a:spcPct val="115000"/>
                        </a:lnSpc>
                        <a:spcBef>
                          <a:spcPts val="0"/>
                        </a:spcBef>
                        <a:spcAft>
                          <a:spcPts val="0"/>
                        </a:spcAft>
                        <a:buNone/>
                      </a:pPr>
                      <a:r>
                        <a:rPr lang="en-US">
                          <a:solidFill>
                            <a:srgbClr val="222222"/>
                          </a:solidFill>
                          <a:latin typeface="Calibri"/>
                          <a:ea typeface="Calibri"/>
                          <a:cs typeface="Calibri"/>
                          <a:sym typeface="Calibri"/>
                        </a:rPr>
                        <a:t>11</a:t>
                      </a:r>
                      <a:endParaRPr>
                        <a:solidFill>
                          <a:srgbClr val="222222"/>
                        </a:solidFill>
                        <a:latin typeface="Calibri"/>
                        <a:ea typeface="Calibri"/>
                        <a:cs typeface="Calibri"/>
                        <a:sym typeface="Calibri"/>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chemeClr val="accent1"/>
                    </a:solidFill>
                  </a:tcPr>
                </a:tc>
                <a:tc>
                  <a:txBody>
                    <a:bodyPr/>
                    <a:lstStyle/>
                    <a:p>
                      <a:pPr indent="0" lvl="0" marL="0" rtl="0" algn="ctr">
                        <a:lnSpc>
                          <a:spcPct val="115000"/>
                        </a:lnSpc>
                        <a:spcBef>
                          <a:spcPts val="0"/>
                        </a:spcBef>
                        <a:spcAft>
                          <a:spcPts val="0"/>
                        </a:spcAft>
                        <a:buNone/>
                      </a:pPr>
                      <a:r>
                        <a:rPr b="1" lang="en-US">
                          <a:solidFill>
                            <a:srgbClr val="222222"/>
                          </a:solidFill>
                          <a:latin typeface="Calibri"/>
                          <a:ea typeface="Calibri"/>
                          <a:cs typeface="Calibri"/>
                          <a:sym typeface="Calibri"/>
                        </a:rPr>
                        <a:t>Technology</a:t>
                      </a:r>
                      <a:endParaRPr b="1">
                        <a:solidFill>
                          <a:srgbClr val="222222"/>
                        </a:solidFill>
                        <a:latin typeface="Calibri"/>
                        <a:ea typeface="Calibri"/>
                        <a:cs typeface="Calibri"/>
                        <a:sym typeface="Calibri"/>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chemeClr val="accent1"/>
                    </a:solidFill>
                  </a:tcPr>
                </a:tc>
                <a:tc>
                  <a:txBody>
                    <a:bodyPr/>
                    <a:lstStyle/>
                    <a:p>
                      <a:pPr indent="0" lvl="0" marL="0" rtl="0" algn="ctr">
                        <a:lnSpc>
                          <a:spcPct val="115000"/>
                        </a:lnSpc>
                        <a:spcBef>
                          <a:spcPts val="0"/>
                        </a:spcBef>
                        <a:spcAft>
                          <a:spcPts val="0"/>
                        </a:spcAft>
                        <a:buNone/>
                      </a:pPr>
                      <a:r>
                        <a:rPr lang="en-US">
                          <a:solidFill>
                            <a:srgbClr val="C0392B"/>
                          </a:solidFill>
                          <a:latin typeface="Calibri"/>
                          <a:ea typeface="Calibri"/>
                          <a:cs typeface="Calibri"/>
                          <a:sym typeface="Calibri"/>
                        </a:rPr>
                        <a:t>Down 5.61%</a:t>
                      </a:r>
                      <a:endParaRPr>
                        <a:solidFill>
                          <a:srgbClr val="C0392B"/>
                        </a:solidFill>
                        <a:latin typeface="Calibri"/>
                        <a:ea typeface="Calibri"/>
                        <a:cs typeface="Calibri"/>
                        <a:sym typeface="Calibri"/>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chemeClr val="accent1"/>
                    </a:solidFill>
                  </a:tcPr>
                </a:tc>
              </a:tr>
            </a:tbl>
          </a:graphicData>
        </a:graphic>
      </p:graphicFrame>
      <p:sp>
        <p:nvSpPr>
          <p:cNvPr id="653" name="Google Shape;653;p45"/>
          <p:cNvSpPr/>
          <p:nvPr/>
        </p:nvSpPr>
        <p:spPr>
          <a:xfrm>
            <a:off x="10343050" y="2256425"/>
            <a:ext cx="5900400" cy="62085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sz="1900">
                <a:solidFill>
                  <a:srgbClr val="444444"/>
                </a:solidFill>
                <a:latin typeface="Calibri"/>
                <a:ea typeface="Calibri"/>
                <a:cs typeface="Calibri"/>
                <a:sym typeface="Calibri"/>
              </a:rPr>
              <a:t>• </a:t>
            </a:r>
            <a:r>
              <a:rPr b="1" lang="en-US" sz="1900">
                <a:solidFill>
                  <a:srgbClr val="444444"/>
                </a:solidFill>
                <a:latin typeface="Calibri"/>
                <a:ea typeface="Calibri"/>
                <a:cs typeface="Calibri"/>
                <a:sym typeface="Calibri"/>
              </a:rPr>
              <a:t>Best</a:t>
            </a:r>
            <a:r>
              <a:rPr lang="en-US" sz="1900">
                <a:solidFill>
                  <a:srgbClr val="444444"/>
                </a:solidFill>
                <a:latin typeface="Calibri"/>
                <a:ea typeface="Calibri"/>
                <a:cs typeface="Calibri"/>
                <a:sym typeface="Calibri"/>
              </a:rPr>
              <a:t>: Energy (+2.5%), Health care (+2.4%), Real estate (+1.6%)</a:t>
            </a:r>
            <a:endParaRPr sz="1900">
              <a:solidFill>
                <a:srgbClr val="444444"/>
              </a:solidFill>
              <a:latin typeface="Calibri"/>
              <a:ea typeface="Calibri"/>
              <a:cs typeface="Calibri"/>
              <a:sym typeface="Calibri"/>
            </a:endParaRPr>
          </a:p>
          <a:p>
            <a:pPr indent="0" lvl="0" marL="0" rtl="0" algn="l">
              <a:lnSpc>
                <a:spcPct val="115000"/>
              </a:lnSpc>
              <a:spcBef>
                <a:spcPts val="800"/>
              </a:spcBef>
              <a:spcAft>
                <a:spcPts val="0"/>
              </a:spcAft>
              <a:buClr>
                <a:schemeClr val="dk1"/>
              </a:buClr>
              <a:buSzPts val="1100"/>
              <a:buFont typeface="Arial"/>
              <a:buNone/>
            </a:pPr>
            <a:r>
              <a:rPr lang="en-US" sz="1900">
                <a:solidFill>
                  <a:srgbClr val="444444"/>
                </a:solidFill>
                <a:latin typeface="Calibri"/>
                <a:ea typeface="Calibri"/>
                <a:cs typeface="Calibri"/>
                <a:sym typeface="Calibri"/>
              </a:rPr>
              <a:t>• </a:t>
            </a:r>
            <a:r>
              <a:rPr b="1" lang="en-US" sz="1900">
                <a:solidFill>
                  <a:srgbClr val="444444"/>
                </a:solidFill>
                <a:latin typeface="Calibri"/>
                <a:ea typeface="Calibri"/>
                <a:cs typeface="Calibri"/>
                <a:sym typeface="Calibri"/>
              </a:rPr>
              <a:t>Worst</a:t>
            </a:r>
            <a:r>
              <a:rPr lang="en-US" sz="1900">
                <a:solidFill>
                  <a:srgbClr val="444444"/>
                </a:solidFill>
                <a:latin typeface="Calibri"/>
                <a:ea typeface="Calibri"/>
                <a:cs typeface="Calibri"/>
                <a:sym typeface="Calibri"/>
              </a:rPr>
              <a:t>: Technology (−5.6%), Consumer disc. (−5.0%), Communication (−3.5%)</a:t>
            </a:r>
            <a:endParaRPr sz="1900">
              <a:solidFill>
                <a:srgbClr val="444444"/>
              </a:solidFill>
              <a:latin typeface="Calibri"/>
              <a:ea typeface="Calibri"/>
              <a:cs typeface="Calibri"/>
              <a:sym typeface="Calibri"/>
            </a:endParaRPr>
          </a:p>
          <a:p>
            <a:pPr indent="0" lvl="0" marL="0" rtl="0" algn="l">
              <a:lnSpc>
                <a:spcPct val="115000"/>
              </a:lnSpc>
              <a:spcBef>
                <a:spcPts val="800"/>
              </a:spcBef>
              <a:spcAft>
                <a:spcPts val="0"/>
              </a:spcAft>
              <a:buClr>
                <a:schemeClr val="dk1"/>
              </a:buClr>
              <a:buSzPts val="1100"/>
              <a:buFont typeface="Arial"/>
              <a:buNone/>
            </a:pPr>
            <a:r>
              <a:rPr lang="en-US" sz="1900">
                <a:solidFill>
                  <a:srgbClr val="444444"/>
                </a:solidFill>
                <a:latin typeface="Calibri"/>
                <a:ea typeface="Calibri"/>
                <a:cs typeface="Calibri"/>
                <a:sym typeface="Calibri"/>
              </a:rPr>
              <a:t>• Week 2: tech led the rally. Week 3: tech led the drop.</a:t>
            </a:r>
            <a:endParaRPr sz="1900">
              <a:solidFill>
                <a:srgbClr val="444444"/>
              </a:solidFill>
              <a:latin typeface="Calibri"/>
              <a:ea typeface="Calibri"/>
              <a:cs typeface="Calibri"/>
              <a:sym typeface="Calibri"/>
            </a:endParaRPr>
          </a:p>
          <a:p>
            <a:pPr indent="0" lvl="0" marL="0" rtl="0" algn="l">
              <a:lnSpc>
                <a:spcPct val="115000"/>
              </a:lnSpc>
              <a:spcBef>
                <a:spcPts val="800"/>
              </a:spcBef>
              <a:spcAft>
                <a:spcPts val="0"/>
              </a:spcAft>
              <a:buClr>
                <a:schemeClr val="dk1"/>
              </a:buClr>
              <a:buSzPts val="1100"/>
              <a:buFont typeface="Arial"/>
              <a:buNone/>
            </a:pPr>
            <a:r>
              <a:rPr lang="en-US" sz="1900">
                <a:solidFill>
                  <a:srgbClr val="444444"/>
                </a:solidFill>
                <a:latin typeface="Calibri"/>
                <a:ea typeface="Calibri"/>
                <a:cs typeface="Calibri"/>
                <a:sym typeface="Calibri"/>
              </a:rPr>
              <a:t>• Defensive rotation — money moved into energy, health care, staples</a:t>
            </a:r>
            <a:endParaRPr sz="1900">
              <a:solidFill>
                <a:srgbClr val="444444"/>
              </a:solidFill>
              <a:latin typeface="Calibri"/>
              <a:ea typeface="Calibri"/>
              <a:cs typeface="Calibri"/>
              <a:sym typeface="Calibri"/>
            </a:endParaRPr>
          </a:p>
          <a:p>
            <a:pPr indent="0" lvl="0" marL="0" rtl="0" algn="l">
              <a:lnSpc>
                <a:spcPct val="115000"/>
              </a:lnSpc>
              <a:spcBef>
                <a:spcPts val="800"/>
              </a:spcBef>
              <a:spcAft>
                <a:spcPts val="800"/>
              </a:spcAft>
              <a:buClr>
                <a:schemeClr val="dk1"/>
              </a:buClr>
              <a:buSzPts val="1100"/>
              <a:buFont typeface="Arial"/>
              <a:buNone/>
            </a:pPr>
            <a:r>
              <a:rPr lang="en-US" sz="1900">
                <a:solidFill>
                  <a:srgbClr val="444444"/>
                </a:solidFill>
                <a:latin typeface="Calibri"/>
                <a:ea typeface="Calibri"/>
                <a:cs typeface="Calibri"/>
                <a:sym typeface="Calibri"/>
              </a:rPr>
              <a:t>• Semis/AI (Nvidia, Broadcom) hammered after jobs report</a:t>
            </a:r>
            <a:endParaRPr sz="1900">
              <a:solidFill>
                <a:srgbClr val="444444"/>
              </a:solidFill>
              <a:latin typeface="Calibri"/>
              <a:ea typeface="Calibri"/>
              <a:cs typeface="Calibri"/>
              <a:sym typeface="Calibri"/>
            </a:endParaRPr>
          </a:p>
        </p:txBody>
      </p:sp>
      <p:sp>
        <p:nvSpPr>
          <p:cNvPr id="654" name="Google Shape;654;p45"/>
          <p:cNvSpPr/>
          <p:nvPr/>
        </p:nvSpPr>
        <p:spPr>
          <a:xfrm>
            <a:off x="1653775" y="2859050"/>
            <a:ext cx="1948200" cy="3588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Sectors flipped from Week 2.</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Best: Energy, Health care, Real estate — defensive rotation. Worst: Technology down 5.6%, Consumer disc, Communication.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Tech carried Week 2; this week tech dragged the market.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Nvidia and Broadcom hit hard. </a:t>
            </a:r>
            <a:endParaRPr>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8" name="Shape 658"/>
        <p:cNvGrpSpPr/>
        <p:nvPr/>
      </p:nvGrpSpPr>
      <p:grpSpPr>
        <a:xfrm>
          <a:off x="0" y="0"/>
          <a:ext cx="0" cy="0"/>
          <a:chOff x="0" y="0"/>
          <a:chExt cx="0" cy="0"/>
        </a:xfrm>
      </p:grpSpPr>
      <p:pic>
        <p:nvPicPr>
          <p:cNvPr id="659" name="Google Shape;659;p46"/>
          <p:cNvPicPr preferRelativeResize="0"/>
          <p:nvPr/>
        </p:nvPicPr>
        <p:blipFill>
          <a:blip r:embed="rId3">
            <a:alphaModFix/>
          </a:blip>
          <a:stretch>
            <a:fillRect/>
          </a:stretch>
        </p:blipFill>
        <p:spPr>
          <a:xfrm>
            <a:off x="152400" y="152400"/>
            <a:ext cx="18135600" cy="101346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E7DE"/>
        </a:solidFill>
      </p:bgPr>
    </p:bg>
    <p:spTree>
      <p:nvGrpSpPr>
        <p:cNvPr id="663" name="Shape 663"/>
        <p:cNvGrpSpPr/>
        <p:nvPr/>
      </p:nvGrpSpPr>
      <p:grpSpPr>
        <a:xfrm>
          <a:off x="0" y="0"/>
          <a:ext cx="0" cy="0"/>
          <a:chOff x="0" y="0"/>
          <a:chExt cx="0" cy="0"/>
        </a:xfrm>
      </p:grpSpPr>
      <p:sp>
        <p:nvSpPr>
          <p:cNvPr id="664" name="Google Shape;664;p47"/>
          <p:cNvSpPr/>
          <p:nvPr/>
        </p:nvSpPr>
        <p:spPr>
          <a:xfrm>
            <a:off x="-571500" y="0"/>
            <a:ext cx="7970031" cy="10282809"/>
          </a:xfrm>
          <a:custGeom>
            <a:rect b="b" l="l" r="r" t="t"/>
            <a:pathLst>
              <a:path extrusionOk="0" h="3479800" w="2697134">
                <a:moveTo>
                  <a:pt x="2572674" y="3479800"/>
                </a:moveTo>
                <a:lnTo>
                  <a:pt x="124460" y="3479800"/>
                </a:lnTo>
                <a:cubicBezTo>
                  <a:pt x="55880" y="3479800"/>
                  <a:pt x="0" y="3423920"/>
                  <a:pt x="0" y="3355340"/>
                </a:cubicBezTo>
                <a:lnTo>
                  <a:pt x="0" y="124460"/>
                </a:lnTo>
                <a:cubicBezTo>
                  <a:pt x="0" y="55880"/>
                  <a:pt x="55880" y="0"/>
                  <a:pt x="124460" y="0"/>
                </a:cubicBezTo>
                <a:lnTo>
                  <a:pt x="2572674" y="0"/>
                </a:lnTo>
                <a:cubicBezTo>
                  <a:pt x="2641254" y="0"/>
                  <a:pt x="2697134" y="55880"/>
                  <a:pt x="2697134" y="124460"/>
                </a:cubicBezTo>
                <a:lnTo>
                  <a:pt x="2697134" y="3355340"/>
                </a:lnTo>
                <a:cubicBezTo>
                  <a:pt x="2697134" y="3423920"/>
                  <a:pt x="2641254" y="3479800"/>
                  <a:pt x="2572674" y="347980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47"/>
          <p:cNvSpPr/>
          <p:nvPr/>
        </p:nvSpPr>
        <p:spPr>
          <a:xfrm>
            <a:off x="379575" y="488350"/>
            <a:ext cx="2991740" cy="823849"/>
          </a:xfrm>
          <a:custGeom>
            <a:rect b="b" l="l" r="r" t="t"/>
            <a:pathLst>
              <a:path extrusionOk="0" h="660400" w="2063269">
                <a:moveTo>
                  <a:pt x="1938809" y="660400"/>
                </a:moveTo>
                <a:lnTo>
                  <a:pt x="124460" y="660400"/>
                </a:lnTo>
                <a:cubicBezTo>
                  <a:pt x="55880" y="660400"/>
                  <a:pt x="0" y="604520"/>
                  <a:pt x="0" y="535940"/>
                </a:cubicBezTo>
                <a:lnTo>
                  <a:pt x="0" y="124460"/>
                </a:lnTo>
                <a:cubicBezTo>
                  <a:pt x="0" y="55880"/>
                  <a:pt x="55880" y="0"/>
                  <a:pt x="124460" y="0"/>
                </a:cubicBezTo>
                <a:lnTo>
                  <a:pt x="1938809" y="0"/>
                </a:lnTo>
                <a:cubicBezTo>
                  <a:pt x="2007389" y="0"/>
                  <a:pt x="2063269" y="55880"/>
                  <a:pt x="2063269" y="124460"/>
                </a:cubicBezTo>
                <a:lnTo>
                  <a:pt x="2063269" y="535940"/>
                </a:lnTo>
                <a:cubicBezTo>
                  <a:pt x="2063269" y="604520"/>
                  <a:pt x="2007389" y="660400"/>
                  <a:pt x="1938809" y="660400"/>
                </a:cubicBezTo>
                <a:close/>
              </a:path>
            </a:pathLst>
          </a:custGeom>
          <a:solidFill>
            <a:srgbClr val="FF6F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a:t>R10 QA &amp; Learning Log Lead</a:t>
            </a:r>
            <a:endParaRPr b="1"/>
          </a:p>
        </p:txBody>
      </p:sp>
      <p:sp>
        <p:nvSpPr>
          <p:cNvPr id="666" name="Google Shape;666;p47"/>
          <p:cNvSpPr txBox="1"/>
          <p:nvPr/>
        </p:nvSpPr>
        <p:spPr>
          <a:xfrm>
            <a:off x="375450" y="2074325"/>
            <a:ext cx="5819400" cy="193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900">
                <a:solidFill>
                  <a:schemeClr val="dk1"/>
                </a:solidFill>
              </a:rPr>
              <a:t>Calibration status</a:t>
            </a:r>
            <a:endParaRPr b="1" sz="1900">
              <a:solidFill>
                <a:schemeClr val="dk1"/>
              </a:solidFill>
            </a:endParaRPr>
          </a:p>
          <a:p>
            <a:pPr indent="0" lvl="0" marL="0" rtl="0" algn="l">
              <a:spcBef>
                <a:spcPts val="0"/>
              </a:spcBef>
              <a:spcAft>
                <a:spcPts val="0"/>
              </a:spcAft>
              <a:buNone/>
            </a:pPr>
            <a:r>
              <a:rPr b="1" lang="en-US" sz="1900">
                <a:solidFill>
                  <a:schemeClr val="dk1"/>
                </a:solidFill>
              </a:rPr>
              <a:t>• Latest completed calibration: Week 2 = +5 / +9</a:t>
            </a:r>
            <a:endParaRPr b="1" sz="1900">
              <a:solidFill>
                <a:schemeClr val="dk1"/>
              </a:solidFill>
            </a:endParaRPr>
          </a:p>
          <a:p>
            <a:pPr indent="0" lvl="0" marL="0" rtl="0" algn="l">
              <a:spcBef>
                <a:spcPts val="0"/>
              </a:spcBef>
              <a:spcAft>
                <a:spcPts val="0"/>
              </a:spcAft>
              <a:buNone/>
            </a:pPr>
            <a:r>
              <a:rPr b="1" lang="en-US" sz="1900">
                <a:solidFill>
                  <a:schemeClr val="dk1"/>
                </a:solidFill>
              </a:rPr>
              <a:t>• Week 3 prediction has been QA checked</a:t>
            </a:r>
            <a:endParaRPr b="1" sz="1900">
              <a:solidFill>
                <a:schemeClr val="dk1"/>
              </a:solidFill>
            </a:endParaRPr>
          </a:p>
          <a:p>
            <a:pPr indent="0" lvl="0" marL="0" rtl="0" algn="l">
              <a:spcBef>
                <a:spcPts val="0"/>
              </a:spcBef>
              <a:spcAft>
                <a:spcPts val="0"/>
              </a:spcAft>
              <a:buNone/>
            </a:pPr>
            <a:r>
              <a:rPr b="1" lang="en-US" sz="1900">
                <a:solidFill>
                  <a:schemeClr val="dk1"/>
                </a:solidFill>
              </a:rPr>
              <a:t>• W3 score is not calculated yet because the matching actual result has not happened</a:t>
            </a:r>
            <a:endParaRPr b="1" sz="1900">
              <a:solidFill>
                <a:schemeClr val="dk1"/>
              </a:solidFill>
            </a:endParaRPr>
          </a:p>
          <a:p>
            <a:pPr indent="0" lvl="0" marL="0" rtl="0" algn="l">
              <a:spcBef>
                <a:spcPts val="0"/>
              </a:spcBef>
              <a:spcAft>
                <a:spcPts val="0"/>
              </a:spcAft>
              <a:buNone/>
            </a:pPr>
            <a:r>
              <a:t/>
            </a:r>
            <a:endParaRPr b="1" sz="1900">
              <a:solidFill>
                <a:schemeClr val="dk1"/>
              </a:solidFill>
            </a:endParaRPr>
          </a:p>
        </p:txBody>
      </p:sp>
      <p:sp>
        <p:nvSpPr>
          <p:cNvPr id="667" name="Google Shape;667;p47"/>
          <p:cNvSpPr txBox="1"/>
          <p:nvPr/>
        </p:nvSpPr>
        <p:spPr>
          <a:xfrm>
            <a:off x="375450" y="5531550"/>
            <a:ext cx="4831500" cy="1354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900">
                <a:solidFill>
                  <a:schemeClr val="dk1"/>
                </a:solidFill>
              </a:rPr>
              <a:t>W3 prediction checked</a:t>
            </a:r>
            <a:endParaRPr b="1" sz="1900">
              <a:solidFill>
                <a:schemeClr val="dk1"/>
              </a:solidFill>
            </a:endParaRPr>
          </a:p>
          <a:p>
            <a:pPr indent="0" lvl="0" marL="0" rtl="0" algn="l">
              <a:spcBef>
                <a:spcPts val="0"/>
              </a:spcBef>
              <a:spcAft>
                <a:spcPts val="0"/>
              </a:spcAft>
              <a:buNone/>
            </a:pPr>
            <a:r>
              <a:rPr b="1" lang="en-US" sz="1900">
                <a:solidFill>
                  <a:schemeClr val="dk1"/>
                </a:solidFill>
              </a:rPr>
              <a:t>• SPX: Down, -1.0% to -3.0%, Medium</a:t>
            </a:r>
            <a:endParaRPr b="1" sz="1900">
              <a:solidFill>
                <a:schemeClr val="dk1"/>
              </a:solidFill>
            </a:endParaRPr>
          </a:p>
          <a:p>
            <a:pPr indent="0" lvl="0" marL="0" rtl="0" algn="l">
              <a:spcBef>
                <a:spcPts val="0"/>
              </a:spcBef>
              <a:spcAft>
                <a:spcPts val="0"/>
              </a:spcAft>
              <a:buNone/>
            </a:pPr>
            <a:r>
              <a:rPr b="1" lang="en-US" sz="1900">
                <a:solidFill>
                  <a:schemeClr val="dk1"/>
                </a:solidFill>
              </a:rPr>
              <a:t>• NDX: Down, -1.5% to -4.0%, Medium</a:t>
            </a:r>
            <a:endParaRPr b="1" sz="1900">
              <a:solidFill>
                <a:schemeClr val="dk1"/>
              </a:solidFill>
            </a:endParaRPr>
          </a:p>
          <a:p>
            <a:pPr indent="0" lvl="0" marL="0" rtl="0" algn="l">
              <a:spcBef>
                <a:spcPts val="0"/>
              </a:spcBef>
              <a:spcAft>
                <a:spcPts val="0"/>
              </a:spcAft>
              <a:buNone/>
            </a:pPr>
            <a:r>
              <a:rPr b="1" lang="en-US" sz="1900">
                <a:solidFill>
                  <a:schemeClr val="dk1"/>
                </a:solidFill>
              </a:rPr>
              <a:t>• IWM: Down, -1.0% to -3.5%, Medium</a:t>
            </a:r>
            <a:endParaRPr b="1" sz="1900">
              <a:solidFill>
                <a:schemeClr val="dk1"/>
              </a:solidFill>
            </a:endParaRPr>
          </a:p>
        </p:txBody>
      </p:sp>
      <p:sp>
        <p:nvSpPr>
          <p:cNvPr id="668" name="Google Shape;668;p47"/>
          <p:cNvSpPr txBox="1"/>
          <p:nvPr/>
        </p:nvSpPr>
        <p:spPr>
          <a:xfrm>
            <a:off x="14280425" y="3296400"/>
            <a:ext cx="3866400" cy="3694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900">
                <a:solidFill>
                  <a:schemeClr val="dk1"/>
                </a:solidFill>
              </a:rPr>
              <a:t>For my R10 part, I checked whether the team prediction has the required direction, range, confidence, and invalidation condition. The latest completed calibration score is still Week 2, which was +5 out of +9. For Week 3, I am not scoring it yet because this is the prediction we are filing before the market week happens.</a:t>
            </a:r>
            <a:endParaRPr sz="1900"/>
          </a:p>
        </p:txBody>
      </p:sp>
      <p:pic>
        <p:nvPicPr>
          <p:cNvPr id="669" name="Google Shape;669;p47"/>
          <p:cNvPicPr preferRelativeResize="0"/>
          <p:nvPr/>
        </p:nvPicPr>
        <p:blipFill>
          <a:blip r:embed="rId3">
            <a:alphaModFix/>
          </a:blip>
          <a:stretch>
            <a:fillRect/>
          </a:stretch>
        </p:blipFill>
        <p:spPr>
          <a:xfrm>
            <a:off x="7502237" y="5026700"/>
            <a:ext cx="6674463" cy="2364203"/>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E7DE"/>
        </a:solidFill>
      </p:bgPr>
    </p:bg>
    <p:spTree>
      <p:nvGrpSpPr>
        <p:cNvPr id="673" name="Shape 673"/>
        <p:cNvGrpSpPr/>
        <p:nvPr/>
      </p:nvGrpSpPr>
      <p:grpSpPr>
        <a:xfrm>
          <a:off x="0" y="0"/>
          <a:ext cx="0" cy="0"/>
          <a:chOff x="0" y="0"/>
          <a:chExt cx="0" cy="0"/>
        </a:xfrm>
      </p:grpSpPr>
      <p:sp>
        <p:nvSpPr>
          <p:cNvPr id="674" name="Google Shape;674;p48"/>
          <p:cNvSpPr/>
          <p:nvPr/>
        </p:nvSpPr>
        <p:spPr>
          <a:xfrm>
            <a:off x="-571500" y="0"/>
            <a:ext cx="7970031" cy="10282809"/>
          </a:xfrm>
          <a:custGeom>
            <a:rect b="b" l="l" r="r" t="t"/>
            <a:pathLst>
              <a:path extrusionOk="0" h="3479800" w="2697134">
                <a:moveTo>
                  <a:pt x="2572674" y="3479800"/>
                </a:moveTo>
                <a:lnTo>
                  <a:pt x="124460" y="3479800"/>
                </a:lnTo>
                <a:cubicBezTo>
                  <a:pt x="55880" y="3479800"/>
                  <a:pt x="0" y="3423920"/>
                  <a:pt x="0" y="3355340"/>
                </a:cubicBezTo>
                <a:lnTo>
                  <a:pt x="0" y="124460"/>
                </a:lnTo>
                <a:cubicBezTo>
                  <a:pt x="0" y="55880"/>
                  <a:pt x="55880" y="0"/>
                  <a:pt x="124460" y="0"/>
                </a:cubicBezTo>
                <a:lnTo>
                  <a:pt x="2572674" y="0"/>
                </a:lnTo>
                <a:cubicBezTo>
                  <a:pt x="2641254" y="0"/>
                  <a:pt x="2697134" y="55880"/>
                  <a:pt x="2697134" y="124460"/>
                </a:cubicBezTo>
                <a:lnTo>
                  <a:pt x="2697134" y="3355340"/>
                </a:lnTo>
                <a:cubicBezTo>
                  <a:pt x="2697134" y="3423920"/>
                  <a:pt x="2641254" y="3479800"/>
                  <a:pt x="2572674" y="347980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48"/>
          <p:cNvSpPr/>
          <p:nvPr/>
        </p:nvSpPr>
        <p:spPr>
          <a:xfrm>
            <a:off x="379575" y="488350"/>
            <a:ext cx="2991740" cy="823849"/>
          </a:xfrm>
          <a:custGeom>
            <a:rect b="b" l="l" r="r" t="t"/>
            <a:pathLst>
              <a:path extrusionOk="0" h="660400" w="2063269">
                <a:moveTo>
                  <a:pt x="1938809" y="660400"/>
                </a:moveTo>
                <a:lnTo>
                  <a:pt x="124460" y="660400"/>
                </a:lnTo>
                <a:cubicBezTo>
                  <a:pt x="55880" y="660400"/>
                  <a:pt x="0" y="604520"/>
                  <a:pt x="0" y="535940"/>
                </a:cubicBezTo>
                <a:lnTo>
                  <a:pt x="0" y="124460"/>
                </a:lnTo>
                <a:cubicBezTo>
                  <a:pt x="0" y="55880"/>
                  <a:pt x="55880" y="0"/>
                  <a:pt x="124460" y="0"/>
                </a:cubicBezTo>
                <a:lnTo>
                  <a:pt x="1938809" y="0"/>
                </a:lnTo>
                <a:cubicBezTo>
                  <a:pt x="2007389" y="0"/>
                  <a:pt x="2063269" y="55880"/>
                  <a:pt x="2063269" y="124460"/>
                </a:cubicBezTo>
                <a:lnTo>
                  <a:pt x="2063269" y="535940"/>
                </a:lnTo>
                <a:cubicBezTo>
                  <a:pt x="2063269" y="604520"/>
                  <a:pt x="2007389" y="660400"/>
                  <a:pt x="1938809" y="660400"/>
                </a:cubicBezTo>
                <a:close/>
              </a:path>
            </a:pathLst>
          </a:custGeom>
          <a:solidFill>
            <a:srgbClr val="FF6F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a:t>R10 QA &amp; Learning Log Lead</a:t>
            </a:r>
            <a:endParaRPr b="1"/>
          </a:p>
        </p:txBody>
      </p:sp>
      <p:sp>
        <p:nvSpPr>
          <p:cNvPr id="676" name="Google Shape;676;p48"/>
          <p:cNvSpPr txBox="1"/>
          <p:nvPr/>
        </p:nvSpPr>
        <p:spPr>
          <a:xfrm>
            <a:off x="375450" y="1862650"/>
            <a:ext cx="6228600" cy="7203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900">
                <a:solidFill>
                  <a:schemeClr val="dk1"/>
                </a:solidFill>
              </a:rPr>
              <a:t>LLM Horse Race</a:t>
            </a:r>
            <a:endParaRPr b="1" sz="1900">
              <a:solidFill>
                <a:schemeClr val="dk1"/>
              </a:solidFill>
            </a:endParaRPr>
          </a:p>
          <a:p>
            <a:pPr indent="0" lvl="0" marL="0" rtl="0" algn="l">
              <a:spcBef>
                <a:spcPts val="0"/>
              </a:spcBef>
              <a:spcAft>
                <a:spcPts val="0"/>
              </a:spcAft>
              <a:buNone/>
            </a:pPr>
            <a:r>
              <a:t/>
            </a:r>
            <a:endParaRPr b="1" sz="1900">
              <a:solidFill>
                <a:schemeClr val="dk1"/>
              </a:solidFill>
            </a:endParaRPr>
          </a:p>
          <a:p>
            <a:pPr indent="0" lvl="0" marL="0" rtl="0" algn="l">
              <a:spcBef>
                <a:spcPts val="0"/>
              </a:spcBef>
              <a:spcAft>
                <a:spcPts val="0"/>
              </a:spcAft>
              <a:buNone/>
            </a:pPr>
            <a:r>
              <a:t/>
            </a:r>
            <a:endParaRPr b="1" sz="1900">
              <a:solidFill>
                <a:schemeClr val="dk1"/>
              </a:solidFill>
            </a:endParaRPr>
          </a:p>
          <a:p>
            <a:pPr indent="0" lvl="0" marL="0" rtl="0" algn="l">
              <a:spcBef>
                <a:spcPts val="0"/>
              </a:spcBef>
              <a:spcAft>
                <a:spcPts val="0"/>
              </a:spcAft>
              <a:buNone/>
            </a:pPr>
            <a:r>
              <a:t/>
            </a:r>
            <a:endParaRPr b="1" sz="1900">
              <a:solidFill>
                <a:schemeClr val="dk1"/>
              </a:solidFill>
            </a:endParaRPr>
          </a:p>
          <a:p>
            <a:pPr indent="0" lvl="0" marL="0" rtl="0" algn="l">
              <a:spcBef>
                <a:spcPts val="0"/>
              </a:spcBef>
              <a:spcAft>
                <a:spcPts val="0"/>
              </a:spcAft>
              <a:buNone/>
            </a:pPr>
            <a:r>
              <a:rPr b="1" lang="en-US" sz="1900">
                <a:solidFill>
                  <a:schemeClr val="dk1"/>
                </a:solidFill>
              </a:rPr>
              <a:t>Week 2 winner</a:t>
            </a:r>
            <a:endParaRPr b="1" sz="1900">
              <a:solidFill>
                <a:schemeClr val="dk1"/>
              </a:solidFill>
            </a:endParaRPr>
          </a:p>
          <a:p>
            <a:pPr indent="0" lvl="0" marL="0" rtl="0" algn="l">
              <a:spcBef>
                <a:spcPts val="0"/>
              </a:spcBef>
              <a:spcAft>
                <a:spcPts val="0"/>
              </a:spcAft>
              <a:buNone/>
            </a:pPr>
            <a:r>
              <a:rPr b="1" lang="en-US" sz="1900">
                <a:solidFill>
                  <a:schemeClr val="dk1"/>
                </a:solidFill>
              </a:rPr>
              <a:t>• DeepSeek was closest for SPX</a:t>
            </a:r>
            <a:endParaRPr b="1" sz="1900">
              <a:solidFill>
                <a:schemeClr val="dk1"/>
              </a:solidFill>
            </a:endParaRPr>
          </a:p>
          <a:p>
            <a:pPr indent="0" lvl="0" marL="0" rtl="0" algn="l">
              <a:spcBef>
                <a:spcPts val="0"/>
              </a:spcBef>
              <a:spcAft>
                <a:spcPts val="0"/>
              </a:spcAft>
              <a:buNone/>
            </a:pPr>
            <a:r>
              <a:t/>
            </a:r>
            <a:endParaRPr b="1" sz="1900">
              <a:solidFill>
                <a:schemeClr val="dk1"/>
              </a:solidFill>
            </a:endParaRPr>
          </a:p>
          <a:p>
            <a:pPr indent="0" lvl="0" marL="0" rtl="0" algn="l">
              <a:spcBef>
                <a:spcPts val="0"/>
              </a:spcBef>
              <a:spcAft>
                <a:spcPts val="0"/>
              </a:spcAft>
              <a:buNone/>
            </a:pPr>
            <a:r>
              <a:t/>
            </a:r>
            <a:endParaRPr b="1" sz="1900">
              <a:solidFill>
                <a:schemeClr val="dk1"/>
              </a:solidFill>
            </a:endParaRPr>
          </a:p>
          <a:p>
            <a:pPr indent="0" lvl="0" marL="0" rtl="0" algn="l">
              <a:spcBef>
                <a:spcPts val="0"/>
              </a:spcBef>
              <a:spcAft>
                <a:spcPts val="0"/>
              </a:spcAft>
              <a:buNone/>
            </a:pPr>
            <a:r>
              <a:t/>
            </a:r>
            <a:endParaRPr b="1" sz="1900">
              <a:solidFill>
                <a:schemeClr val="dk1"/>
              </a:solidFill>
            </a:endParaRPr>
          </a:p>
          <a:p>
            <a:pPr indent="0" lvl="0" marL="0" rtl="0" algn="l">
              <a:spcBef>
                <a:spcPts val="0"/>
              </a:spcBef>
              <a:spcAft>
                <a:spcPts val="0"/>
              </a:spcAft>
              <a:buNone/>
            </a:pPr>
            <a:r>
              <a:rPr b="1" lang="en-US" sz="1900">
                <a:solidFill>
                  <a:schemeClr val="dk1"/>
                </a:solidFill>
              </a:rPr>
              <a:t>Week 3 model comparison</a:t>
            </a:r>
            <a:endParaRPr b="1" sz="1900">
              <a:solidFill>
                <a:schemeClr val="dk1"/>
              </a:solidFill>
            </a:endParaRPr>
          </a:p>
          <a:p>
            <a:pPr indent="0" lvl="0" marL="0" rtl="0" algn="l">
              <a:spcBef>
                <a:spcPts val="0"/>
              </a:spcBef>
              <a:spcAft>
                <a:spcPts val="0"/>
              </a:spcAft>
              <a:buNone/>
            </a:pPr>
            <a:r>
              <a:rPr b="1" lang="en-US" sz="1900">
                <a:solidFill>
                  <a:schemeClr val="dk1"/>
                </a:solidFill>
              </a:rPr>
              <a:t>• All four models are bearish</a:t>
            </a:r>
            <a:endParaRPr b="1" sz="1900">
              <a:solidFill>
                <a:schemeClr val="dk1"/>
              </a:solidFill>
            </a:endParaRPr>
          </a:p>
          <a:p>
            <a:pPr indent="0" lvl="0" marL="0" rtl="0" algn="l">
              <a:spcBef>
                <a:spcPts val="0"/>
              </a:spcBef>
              <a:spcAft>
                <a:spcPts val="0"/>
              </a:spcAft>
              <a:buNone/>
            </a:pPr>
            <a:r>
              <a:rPr b="1" lang="en-US" sz="1900">
                <a:solidFill>
                  <a:schemeClr val="dk1"/>
                </a:solidFill>
              </a:rPr>
              <a:t>• Main shared risk: CPI could change the setup quickly</a:t>
            </a:r>
            <a:endParaRPr b="1" sz="1900">
              <a:solidFill>
                <a:schemeClr val="dk1"/>
              </a:solidFill>
            </a:endParaRPr>
          </a:p>
          <a:p>
            <a:pPr indent="0" lvl="0" marL="0" rtl="0" algn="l">
              <a:spcBef>
                <a:spcPts val="0"/>
              </a:spcBef>
              <a:spcAft>
                <a:spcPts val="0"/>
              </a:spcAft>
              <a:buNone/>
            </a:pPr>
            <a:r>
              <a:rPr b="1" lang="en-US" sz="1900">
                <a:solidFill>
                  <a:schemeClr val="dk1"/>
                </a:solidFill>
              </a:rPr>
              <a:t>• W3 winner will be scored after the matching SPX actual result is available</a:t>
            </a:r>
            <a:endParaRPr b="1" sz="1900">
              <a:solidFill>
                <a:schemeClr val="dk1"/>
              </a:solidFill>
            </a:endParaRPr>
          </a:p>
          <a:p>
            <a:pPr indent="0" lvl="0" marL="0" rtl="0" algn="l">
              <a:spcBef>
                <a:spcPts val="0"/>
              </a:spcBef>
              <a:spcAft>
                <a:spcPts val="0"/>
              </a:spcAft>
              <a:buNone/>
            </a:pPr>
            <a:r>
              <a:t/>
            </a:r>
            <a:endParaRPr b="1" sz="1900">
              <a:solidFill>
                <a:schemeClr val="dk1"/>
              </a:solidFill>
            </a:endParaRPr>
          </a:p>
          <a:p>
            <a:pPr indent="0" lvl="0" marL="0" rtl="0" algn="l">
              <a:spcBef>
                <a:spcPts val="0"/>
              </a:spcBef>
              <a:spcAft>
                <a:spcPts val="0"/>
              </a:spcAft>
              <a:buNone/>
            </a:pPr>
            <a:r>
              <a:t/>
            </a:r>
            <a:endParaRPr b="1" sz="1900">
              <a:solidFill>
                <a:schemeClr val="dk1"/>
              </a:solidFill>
            </a:endParaRPr>
          </a:p>
          <a:p>
            <a:pPr indent="0" lvl="0" marL="0" rtl="0" algn="l">
              <a:spcBef>
                <a:spcPts val="0"/>
              </a:spcBef>
              <a:spcAft>
                <a:spcPts val="0"/>
              </a:spcAft>
              <a:buNone/>
            </a:pPr>
            <a:r>
              <a:t/>
            </a:r>
            <a:endParaRPr b="1" sz="1900">
              <a:solidFill>
                <a:schemeClr val="dk1"/>
              </a:solidFill>
            </a:endParaRPr>
          </a:p>
          <a:p>
            <a:pPr indent="0" lvl="0" marL="0" rtl="0" algn="l">
              <a:spcBef>
                <a:spcPts val="0"/>
              </a:spcBef>
              <a:spcAft>
                <a:spcPts val="0"/>
              </a:spcAft>
              <a:buNone/>
            </a:pPr>
            <a:r>
              <a:rPr b="1" lang="en-US" sz="1900">
                <a:solidFill>
                  <a:schemeClr val="dk1"/>
                </a:solidFill>
              </a:rPr>
              <a:t>One change next sprint</a:t>
            </a:r>
            <a:endParaRPr b="1" sz="1900">
              <a:solidFill>
                <a:schemeClr val="dk1"/>
              </a:solidFill>
            </a:endParaRPr>
          </a:p>
          <a:p>
            <a:pPr indent="0" lvl="0" marL="0" rtl="0" algn="l">
              <a:spcBef>
                <a:spcPts val="0"/>
              </a:spcBef>
              <a:spcAft>
                <a:spcPts val="0"/>
              </a:spcAft>
              <a:buNone/>
            </a:pPr>
            <a:r>
              <a:rPr b="1" lang="en-US" sz="1900">
                <a:solidFill>
                  <a:schemeClr val="dk1"/>
                </a:solidFill>
              </a:rPr>
              <a:t>• R10 will do a pre-submission QA check before the release tag</a:t>
            </a:r>
            <a:endParaRPr b="1" sz="1900">
              <a:solidFill>
                <a:schemeClr val="dk1"/>
              </a:solidFill>
            </a:endParaRPr>
          </a:p>
          <a:p>
            <a:pPr indent="0" lvl="0" marL="0" rtl="0" algn="l">
              <a:spcBef>
                <a:spcPts val="0"/>
              </a:spcBef>
              <a:spcAft>
                <a:spcPts val="0"/>
              </a:spcAft>
              <a:buNone/>
            </a:pPr>
            <a:r>
              <a:rPr b="1" lang="en-US" sz="1900">
                <a:solidFill>
                  <a:schemeClr val="dk1"/>
                </a:solidFill>
              </a:rPr>
              <a:t>• Final prediction must clearly show direction, range, confidence, prediction week, and invalidation condition</a:t>
            </a:r>
            <a:endParaRPr b="1" sz="1900">
              <a:solidFill>
                <a:schemeClr val="dk1"/>
              </a:solidFill>
            </a:endParaRPr>
          </a:p>
        </p:txBody>
      </p:sp>
      <p:pic>
        <p:nvPicPr>
          <p:cNvPr id="677" name="Google Shape;677;p48"/>
          <p:cNvPicPr preferRelativeResize="0"/>
          <p:nvPr/>
        </p:nvPicPr>
        <p:blipFill>
          <a:blip r:embed="rId3">
            <a:alphaModFix/>
          </a:blip>
          <a:stretch>
            <a:fillRect/>
          </a:stretch>
        </p:blipFill>
        <p:spPr>
          <a:xfrm>
            <a:off x="7581898" y="2285300"/>
            <a:ext cx="4077550" cy="2287400"/>
          </a:xfrm>
          <a:prstGeom prst="rect">
            <a:avLst/>
          </a:prstGeom>
          <a:noFill/>
          <a:ln>
            <a:noFill/>
          </a:ln>
        </p:spPr>
      </p:pic>
      <p:pic>
        <p:nvPicPr>
          <p:cNvPr id="678" name="Google Shape;678;p48"/>
          <p:cNvPicPr preferRelativeResize="0"/>
          <p:nvPr/>
        </p:nvPicPr>
        <p:blipFill>
          <a:blip r:embed="rId4">
            <a:alphaModFix/>
          </a:blip>
          <a:stretch>
            <a:fillRect/>
          </a:stretch>
        </p:blipFill>
        <p:spPr>
          <a:xfrm>
            <a:off x="7581898" y="4766725"/>
            <a:ext cx="3202360" cy="2287400"/>
          </a:xfrm>
          <a:prstGeom prst="rect">
            <a:avLst/>
          </a:prstGeom>
          <a:noFill/>
          <a:ln>
            <a:noFill/>
          </a:ln>
        </p:spPr>
      </p:pic>
      <p:pic>
        <p:nvPicPr>
          <p:cNvPr id="679" name="Google Shape;679;p48"/>
          <p:cNvPicPr preferRelativeResize="0"/>
          <p:nvPr/>
        </p:nvPicPr>
        <p:blipFill>
          <a:blip r:embed="rId5">
            <a:alphaModFix/>
          </a:blip>
          <a:stretch>
            <a:fillRect/>
          </a:stretch>
        </p:blipFill>
        <p:spPr>
          <a:xfrm>
            <a:off x="7581899" y="7264400"/>
            <a:ext cx="3202350" cy="2134900"/>
          </a:xfrm>
          <a:prstGeom prst="rect">
            <a:avLst/>
          </a:prstGeom>
          <a:noFill/>
          <a:ln>
            <a:noFill/>
          </a:ln>
        </p:spPr>
      </p:pic>
      <p:sp>
        <p:nvSpPr>
          <p:cNvPr id="680" name="Google Shape;680;p48"/>
          <p:cNvSpPr txBox="1"/>
          <p:nvPr/>
        </p:nvSpPr>
        <p:spPr>
          <a:xfrm>
            <a:off x="12637300" y="3588900"/>
            <a:ext cx="4572000" cy="3109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900">
                <a:solidFill>
                  <a:schemeClr val="dk1"/>
                </a:solidFill>
              </a:rPr>
              <a:t>For the LLM horse race, the latest completed result is Week 2, where DeepSeek was closest to the actual SPX move. For Week 3, all four models agreed on a bearish view, but I cannot choose a winner yet because the actual SPX result is not available. My improvement for next sprint is to check the final prediction file earlier, before the release tag is created.</a:t>
            </a:r>
            <a:endParaRPr sz="19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E7DE"/>
        </a:solidFill>
      </p:bgPr>
    </p:bg>
    <p:spTree>
      <p:nvGrpSpPr>
        <p:cNvPr id="684" name="Shape 684"/>
        <p:cNvGrpSpPr/>
        <p:nvPr/>
      </p:nvGrpSpPr>
      <p:grpSpPr>
        <a:xfrm>
          <a:off x="0" y="0"/>
          <a:ext cx="0" cy="0"/>
          <a:chOff x="0" y="0"/>
          <a:chExt cx="0" cy="0"/>
        </a:xfrm>
      </p:grpSpPr>
      <p:pic>
        <p:nvPicPr>
          <p:cNvPr id="685" name="Google Shape;685;p49"/>
          <p:cNvPicPr preferRelativeResize="0"/>
          <p:nvPr/>
        </p:nvPicPr>
        <p:blipFill>
          <a:blip r:embed="rId3">
            <a:alphaModFix/>
          </a:blip>
          <a:stretch>
            <a:fillRect/>
          </a:stretch>
        </p:blipFill>
        <p:spPr>
          <a:xfrm>
            <a:off x="14604432" y="618250"/>
            <a:ext cx="2685518" cy="9050502"/>
          </a:xfrm>
          <a:prstGeom prst="rect">
            <a:avLst/>
          </a:prstGeom>
          <a:noFill/>
          <a:ln>
            <a:noFill/>
          </a:ln>
        </p:spPr>
      </p:pic>
      <p:pic>
        <p:nvPicPr>
          <p:cNvPr id="686" name="Google Shape;686;p49"/>
          <p:cNvPicPr preferRelativeResize="0"/>
          <p:nvPr/>
        </p:nvPicPr>
        <p:blipFill>
          <a:blip r:embed="rId4">
            <a:alphaModFix/>
          </a:blip>
          <a:stretch>
            <a:fillRect/>
          </a:stretch>
        </p:blipFill>
        <p:spPr>
          <a:xfrm>
            <a:off x="7568800" y="618250"/>
            <a:ext cx="6388625" cy="2877086"/>
          </a:xfrm>
          <a:prstGeom prst="rect">
            <a:avLst/>
          </a:prstGeom>
          <a:noFill/>
          <a:ln>
            <a:noFill/>
          </a:ln>
        </p:spPr>
      </p:pic>
      <p:pic>
        <p:nvPicPr>
          <p:cNvPr id="687" name="Google Shape;687;p49"/>
          <p:cNvPicPr preferRelativeResize="0"/>
          <p:nvPr/>
        </p:nvPicPr>
        <p:blipFill>
          <a:blip r:embed="rId5">
            <a:alphaModFix/>
          </a:blip>
          <a:stretch>
            <a:fillRect/>
          </a:stretch>
        </p:blipFill>
        <p:spPr>
          <a:xfrm>
            <a:off x="7568800" y="4229950"/>
            <a:ext cx="6388624" cy="5438801"/>
          </a:xfrm>
          <a:prstGeom prst="rect">
            <a:avLst/>
          </a:prstGeom>
          <a:noFill/>
          <a:ln>
            <a:noFill/>
          </a:ln>
        </p:spPr>
      </p:pic>
      <p:sp>
        <p:nvSpPr>
          <p:cNvPr id="688" name="Google Shape;688;p49"/>
          <p:cNvSpPr/>
          <p:nvPr/>
        </p:nvSpPr>
        <p:spPr>
          <a:xfrm>
            <a:off x="400189" y="339824"/>
            <a:ext cx="6118496" cy="9603440"/>
          </a:xfrm>
          <a:custGeom>
            <a:rect b="b" l="l" r="r" t="t"/>
            <a:pathLst>
              <a:path extrusionOk="0" h="3249895" w="2070557">
                <a:moveTo>
                  <a:pt x="1946097" y="3249894"/>
                </a:moveTo>
                <a:lnTo>
                  <a:pt x="124460" y="3249894"/>
                </a:lnTo>
                <a:cubicBezTo>
                  <a:pt x="55880" y="3249894"/>
                  <a:pt x="0" y="3194015"/>
                  <a:pt x="0" y="3125434"/>
                </a:cubicBezTo>
                <a:lnTo>
                  <a:pt x="0" y="124460"/>
                </a:lnTo>
                <a:cubicBezTo>
                  <a:pt x="0" y="55880"/>
                  <a:pt x="55880" y="0"/>
                  <a:pt x="124460" y="0"/>
                </a:cubicBezTo>
                <a:lnTo>
                  <a:pt x="1946097" y="0"/>
                </a:lnTo>
                <a:cubicBezTo>
                  <a:pt x="2014677" y="0"/>
                  <a:pt x="2070557" y="55880"/>
                  <a:pt x="2070557" y="124460"/>
                </a:cubicBezTo>
                <a:lnTo>
                  <a:pt x="2070557" y="3125435"/>
                </a:lnTo>
                <a:cubicBezTo>
                  <a:pt x="2070557" y="3194015"/>
                  <a:pt x="2014677" y="3249895"/>
                  <a:pt x="1946097" y="3249895"/>
                </a:cubicBezTo>
                <a:close/>
              </a:path>
            </a:pathLst>
          </a:custGeom>
          <a:solidFill>
            <a:srgbClr val="FF6F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89" name="Google Shape;689;p49"/>
          <p:cNvGrpSpPr/>
          <p:nvPr/>
        </p:nvGrpSpPr>
        <p:grpSpPr>
          <a:xfrm>
            <a:off x="1028700" y="758500"/>
            <a:ext cx="4732700" cy="6606625"/>
            <a:chOff x="0" y="-3012273"/>
            <a:chExt cx="6310267" cy="8808833"/>
          </a:xfrm>
        </p:grpSpPr>
        <p:sp>
          <p:nvSpPr>
            <p:cNvPr id="690" name="Google Shape;690;p49"/>
            <p:cNvSpPr txBox="1"/>
            <p:nvPr/>
          </p:nvSpPr>
          <p:spPr>
            <a:xfrm>
              <a:off x="0" y="274460"/>
              <a:ext cx="6310200" cy="5522100"/>
            </a:xfrm>
            <a:prstGeom prst="rect">
              <a:avLst/>
            </a:prstGeom>
            <a:noFill/>
            <a:ln>
              <a:noFill/>
            </a:ln>
          </p:spPr>
          <p:txBody>
            <a:bodyPr anchorCtr="0" anchor="t" bIns="0" lIns="0" spcFirstLastPara="1" rIns="0" wrap="square" tIns="0">
              <a:spAutoFit/>
            </a:bodyPr>
            <a:lstStyle/>
            <a:p>
              <a:pPr indent="-386779" lvl="0" marL="457200" marR="0" rtl="0" algn="l">
                <a:lnSpc>
                  <a:spcPct val="140024"/>
                </a:lnSpc>
                <a:spcBef>
                  <a:spcPts val="0"/>
                </a:spcBef>
                <a:spcAft>
                  <a:spcPts val="0"/>
                </a:spcAft>
                <a:buClr>
                  <a:srgbClr val="FFFFFF"/>
                </a:buClr>
                <a:buSzPts val="2491"/>
                <a:buChar char="●"/>
              </a:pPr>
              <a:r>
                <a:rPr lang="en-US" sz="2491">
                  <a:solidFill>
                    <a:srgbClr val="FFFFFF"/>
                  </a:solidFill>
                </a:rPr>
                <a:t>Team members became more adapted to the workflow</a:t>
              </a:r>
              <a:endParaRPr sz="2491">
                <a:solidFill>
                  <a:srgbClr val="FFFFFF"/>
                </a:solidFill>
              </a:endParaRPr>
            </a:p>
            <a:p>
              <a:pPr indent="-386779" lvl="0" marL="457200" marR="0" rtl="0" algn="l">
                <a:lnSpc>
                  <a:spcPct val="140024"/>
                </a:lnSpc>
                <a:spcBef>
                  <a:spcPts val="0"/>
                </a:spcBef>
                <a:spcAft>
                  <a:spcPts val="0"/>
                </a:spcAft>
                <a:buClr>
                  <a:srgbClr val="FFFFFF"/>
                </a:buClr>
                <a:buSzPts val="2491"/>
                <a:buChar char="●"/>
              </a:pPr>
              <a:r>
                <a:rPr lang="en-US" sz="2491">
                  <a:solidFill>
                    <a:srgbClr val="FFFFFF"/>
                  </a:solidFill>
                </a:rPr>
                <a:t>All team members contributed</a:t>
              </a:r>
              <a:endParaRPr sz="2491">
                <a:solidFill>
                  <a:srgbClr val="FFFFFF"/>
                </a:solidFill>
              </a:endParaRPr>
            </a:p>
            <a:p>
              <a:pPr indent="-386779" lvl="0" marL="457200" marR="0" rtl="0" algn="l">
                <a:lnSpc>
                  <a:spcPct val="140024"/>
                </a:lnSpc>
                <a:spcBef>
                  <a:spcPts val="0"/>
                </a:spcBef>
                <a:spcAft>
                  <a:spcPts val="0"/>
                </a:spcAft>
                <a:buClr>
                  <a:srgbClr val="FFFFFF"/>
                </a:buClr>
                <a:buSzPts val="2491"/>
                <a:buChar char="●"/>
              </a:pPr>
              <a:r>
                <a:rPr lang="en-US" sz="2491">
                  <a:solidFill>
                    <a:srgbClr val="FFFFFF"/>
                  </a:solidFill>
                </a:rPr>
                <a:t>All planned PRs merged</a:t>
              </a:r>
              <a:endParaRPr sz="2491">
                <a:solidFill>
                  <a:srgbClr val="FFFFFF"/>
                </a:solidFill>
              </a:endParaRPr>
            </a:p>
            <a:p>
              <a:pPr indent="-386779" lvl="0" marL="457200" marR="0" rtl="0" algn="l">
                <a:lnSpc>
                  <a:spcPct val="140024"/>
                </a:lnSpc>
                <a:spcBef>
                  <a:spcPts val="0"/>
                </a:spcBef>
                <a:spcAft>
                  <a:spcPts val="0"/>
                </a:spcAft>
                <a:buClr>
                  <a:srgbClr val="FFFFFF"/>
                </a:buClr>
                <a:buSzPts val="2491"/>
                <a:buChar char="●"/>
              </a:pPr>
              <a:r>
                <a:rPr lang="en-US" sz="2491">
                  <a:solidFill>
                    <a:srgbClr val="FFFFFF"/>
                  </a:solidFill>
                </a:rPr>
                <a:t>README up to date</a:t>
              </a:r>
              <a:endParaRPr sz="2491">
                <a:solidFill>
                  <a:srgbClr val="FFFFFF"/>
                </a:solidFill>
              </a:endParaRPr>
            </a:p>
            <a:p>
              <a:pPr indent="-386779" lvl="0" marL="457200" marR="0" rtl="0" algn="l">
                <a:lnSpc>
                  <a:spcPct val="140024"/>
                </a:lnSpc>
                <a:spcBef>
                  <a:spcPts val="0"/>
                </a:spcBef>
                <a:spcAft>
                  <a:spcPts val="0"/>
                </a:spcAft>
                <a:buClr>
                  <a:srgbClr val="FFFFFF"/>
                </a:buClr>
                <a:buSzPts val="2491"/>
                <a:buChar char="●"/>
              </a:pPr>
              <a:r>
                <a:rPr lang="en-US" sz="2491">
                  <a:solidFill>
                    <a:srgbClr val="FFFFFF"/>
                  </a:solidFill>
                </a:rPr>
                <a:t>Formatting checkers had a successful integration into team’s workflow</a:t>
              </a:r>
              <a:endParaRPr sz="2491">
                <a:solidFill>
                  <a:srgbClr val="FFFFFF"/>
                </a:solidFill>
              </a:endParaRPr>
            </a:p>
          </p:txBody>
        </p:sp>
        <p:sp>
          <p:nvSpPr>
            <p:cNvPr id="691" name="Google Shape;691;p49"/>
            <p:cNvSpPr txBox="1"/>
            <p:nvPr/>
          </p:nvSpPr>
          <p:spPr>
            <a:xfrm>
              <a:off x="171667" y="-3012273"/>
              <a:ext cx="6138600" cy="27849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lang="en-US" sz="5900">
                  <a:solidFill>
                    <a:srgbClr val="FFFFFF"/>
                  </a:solidFill>
                </a:rPr>
                <a:t>GitHub</a:t>
              </a:r>
              <a:endParaRPr b="1" sz="5900">
                <a:solidFill>
                  <a:srgbClr val="FFFFFF"/>
                </a:solidFill>
              </a:endParaRPr>
            </a:p>
            <a:p>
              <a:pPr indent="0" lvl="0" marL="0" marR="0" rtl="0" algn="l">
                <a:lnSpc>
                  <a:spcPct val="130000"/>
                </a:lnSpc>
                <a:spcBef>
                  <a:spcPts val="0"/>
                </a:spcBef>
                <a:spcAft>
                  <a:spcPts val="0"/>
                </a:spcAft>
                <a:buNone/>
              </a:pPr>
              <a:r>
                <a:rPr b="1" lang="en-US" sz="5900">
                  <a:solidFill>
                    <a:srgbClr val="FFFFFF"/>
                  </a:solidFill>
                </a:rPr>
                <a:t>Repository</a:t>
              </a:r>
              <a:endParaRPr b="1" sz="5900">
                <a:solidFill>
                  <a:srgbClr val="FFFFFF"/>
                </a:solidFill>
              </a:endParaRPr>
            </a:p>
          </p:txBody>
        </p:sp>
      </p:gr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E7DE"/>
        </a:solidFill>
      </p:bgPr>
    </p:bg>
    <p:spTree>
      <p:nvGrpSpPr>
        <p:cNvPr id="695" name="Shape 695"/>
        <p:cNvGrpSpPr/>
        <p:nvPr/>
      </p:nvGrpSpPr>
      <p:grpSpPr>
        <a:xfrm>
          <a:off x="0" y="0"/>
          <a:ext cx="0" cy="0"/>
          <a:chOff x="0" y="0"/>
          <a:chExt cx="0" cy="0"/>
        </a:xfrm>
      </p:grpSpPr>
      <p:sp>
        <p:nvSpPr>
          <p:cNvPr id="696" name="Google Shape;696;p50"/>
          <p:cNvSpPr/>
          <p:nvPr/>
        </p:nvSpPr>
        <p:spPr>
          <a:xfrm>
            <a:off x="959039" y="7306023"/>
            <a:ext cx="16300261" cy="1952277"/>
          </a:xfrm>
          <a:custGeom>
            <a:rect b="b" l="l" r="r" t="t"/>
            <a:pathLst>
              <a:path extrusionOk="0" h="660400" w="5513915">
                <a:moveTo>
                  <a:pt x="5389455" y="660400"/>
                </a:moveTo>
                <a:lnTo>
                  <a:pt x="124460" y="660400"/>
                </a:lnTo>
                <a:cubicBezTo>
                  <a:pt x="55880" y="660400"/>
                  <a:pt x="0" y="604520"/>
                  <a:pt x="0" y="535940"/>
                </a:cubicBezTo>
                <a:lnTo>
                  <a:pt x="0" y="124460"/>
                </a:lnTo>
                <a:cubicBezTo>
                  <a:pt x="0" y="55880"/>
                  <a:pt x="55880" y="0"/>
                  <a:pt x="124460" y="0"/>
                </a:cubicBezTo>
                <a:lnTo>
                  <a:pt x="5389456" y="0"/>
                </a:lnTo>
                <a:cubicBezTo>
                  <a:pt x="5458035" y="0"/>
                  <a:pt x="5513915" y="55880"/>
                  <a:pt x="5513915" y="124460"/>
                </a:cubicBezTo>
                <a:lnTo>
                  <a:pt x="5513915" y="535940"/>
                </a:lnTo>
                <a:cubicBezTo>
                  <a:pt x="5513915" y="604520"/>
                  <a:pt x="5458035" y="660400"/>
                  <a:pt x="5389456" y="66040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50"/>
          <p:cNvSpPr/>
          <p:nvPr/>
        </p:nvSpPr>
        <p:spPr>
          <a:xfrm>
            <a:off x="1028700" y="1028700"/>
            <a:ext cx="16300261" cy="5989525"/>
          </a:xfrm>
          <a:custGeom>
            <a:rect b="b" l="l" r="r" t="t"/>
            <a:pathLst>
              <a:path extrusionOk="0" h="2026086" w="5513915">
                <a:moveTo>
                  <a:pt x="5389455" y="2026086"/>
                </a:moveTo>
                <a:lnTo>
                  <a:pt x="124460" y="2026086"/>
                </a:lnTo>
                <a:cubicBezTo>
                  <a:pt x="55880" y="2026086"/>
                  <a:pt x="0" y="1970206"/>
                  <a:pt x="0" y="1901626"/>
                </a:cubicBezTo>
                <a:lnTo>
                  <a:pt x="0" y="124460"/>
                </a:lnTo>
                <a:cubicBezTo>
                  <a:pt x="0" y="55880"/>
                  <a:pt x="55880" y="0"/>
                  <a:pt x="124460" y="0"/>
                </a:cubicBezTo>
                <a:lnTo>
                  <a:pt x="5389456" y="0"/>
                </a:lnTo>
                <a:cubicBezTo>
                  <a:pt x="5458035" y="0"/>
                  <a:pt x="5513915" y="55880"/>
                  <a:pt x="5513915" y="124460"/>
                </a:cubicBezTo>
                <a:lnTo>
                  <a:pt x="5513915" y="1901626"/>
                </a:lnTo>
                <a:cubicBezTo>
                  <a:pt x="5513915" y="1970206"/>
                  <a:pt x="5458035" y="2026086"/>
                  <a:pt x="5389456" y="2026086"/>
                </a:cubicBezTo>
                <a:close/>
              </a:path>
            </a:pathLst>
          </a:custGeom>
          <a:solidFill>
            <a:srgbClr val="FF6F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50"/>
          <p:cNvSpPr txBox="1"/>
          <p:nvPr/>
        </p:nvSpPr>
        <p:spPr>
          <a:xfrm>
            <a:off x="3194782" y="3404338"/>
            <a:ext cx="11898435" cy="1228725"/>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US" sz="8000" u="none" cap="none" strike="noStrike">
                <a:solidFill>
                  <a:srgbClr val="FFFFFF"/>
                </a:solidFill>
                <a:latin typeface="Ultra"/>
                <a:ea typeface="Ultra"/>
                <a:cs typeface="Ultra"/>
                <a:sym typeface="Ultra"/>
              </a:rPr>
              <a:t>Thank you!</a:t>
            </a:r>
            <a:endParaRPr/>
          </a:p>
        </p:txBody>
      </p:sp>
      <p:sp>
        <p:nvSpPr>
          <p:cNvPr id="699" name="Google Shape;699;p50"/>
          <p:cNvSpPr txBox="1"/>
          <p:nvPr/>
        </p:nvSpPr>
        <p:spPr>
          <a:xfrm>
            <a:off x="4603385" y="8038956"/>
            <a:ext cx="9011570" cy="438785"/>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2600" u="none" cap="none" strike="noStrike">
                <a:solidFill>
                  <a:srgbClr val="191919"/>
                </a:solidFill>
                <a:latin typeface="Arial"/>
                <a:ea typeface="Arial"/>
                <a:cs typeface="Arial"/>
                <a:sym typeface="Arial"/>
              </a:rPr>
              <a:t>Do you have any questions?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